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1.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30"/>
  </p:notesMasterIdLst>
  <p:sldIdLst>
    <p:sldId id="1832" r:id="rId3"/>
    <p:sldId id="1844" r:id="rId4"/>
    <p:sldId id="2490" r:id="rId5"/>
    <p:sldId id="2514" r:id="rId6"/>
    <p:sldId id="2492" r:id="rId7"/>
    <p:sldId id="2497" r:id="rId8"/>
    <p:sldId id="2493" r:id="rId9"/>
    <p:sldId id="2512" r:id="rId10"/>
    <p:sldId id="2513" r:id="rId11"/>
    <p:sldId id="2494" r:id="rId12"/>
    <p:sldId id="2499" r:id="rId13"/>
    <p:sldId id="2495" r:id="rId14"/>
    <p:sldId id="2502" r:id="rId15"/>
    <p:sldId id="2501" r:id="rId16"/>
    <p:sldId id="2500" r:id="rId17"/>
    <p:sldId id="2504" r:id="rId18"/>
    <p:sldId id="2505" r:id="rId19"/>
    <p:sldId id="2506" r:id="rId20"/>
    <p:sldId id="2507" r:id="rId21"/>
    <p:sldId id="2508" r:id="rId22"/>
    <p:sldId id="2509" r:id="rId23"/>
    <p:sldId id="2510" r:id="rId24"/>
    <p:sldId id="2511" r:id="rId25"/>
    <p:sldId id="2503" r:id="rId26"/>
    <p:sldId id="1835" r:id="rId27"/>
    <p:sldId id="2491" r:id="rId28"/>
    <p:sldId id="2515"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749" autoAdjust="0"/>
    <p:restoredTop sz="91348" autoAdjust="0"/>
  </p:normalViewPr>
  <p:slideViewPr>
    <p:cSldViewPr snapToGrid="0">
      <p:cViewPr varScale="1">
        <p:scale>
          <a:sx n="60" d="100"/>
          <a:sy n="60" d="100"/>
        </p:scale>
        <p:origin x="23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8" Type="http://schemas.openxmlformats.org/officeDocument/2006/relationships/slide" Target="slides/slide6.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1T04:41:16.623"/>
    </inkml:context>
    <inkml:brush xml:id="br0">
      <inkml:brushProperty name="width" value="0.05292" units="cm"/>
      <inkml:brushProperty name="height" value="0.05292" units="cm"/>
      <inkml:brushProperty name="color" value="#E71224"/>
    </inkml:brush>
  </inkml:definitions>
  <inkml:trace contextRef="#ctx0" brushRef="#br0">2370 292 24575,'1'82'0,"-3"93"0,-4-138 0,-1-1 0,-21 62 0,18-63 0,6-24 0,-7 26 0,-9 52 0,13-49 0,-22 73 0,23-94 0,-1-1 0,-1 0 0,-1 0 0,0-1 0,-23 32 0,-10 6 0,21-26 0,-43 46 0,-119 78 0,146-118 0,-68 51 0,43-36 0,47-37 0,-1 0 0,0 0 0,-1-2 0,-20 11 0,-91 50 0,110-62 0,0-2 0,-1 0 0,-32 8 0,-7 3 0,13-4 0,30-10 0,0 0 0,0 1 0,0 0 0,1 1 0,0 0 0,-15 12 0,12-8 0,-1-1 0,0 0 0,0-2 0,-1 0 0,0-1 0,0 0 0,-25 3 0,18-3 0,0 1 0,0 0 0,-33 18 0,30-13 0,-1 0 0,-1-2 0,-60 13 0,-30 11 0,45-11 0,52-17 0,1 0 0,0 1 0,0 1 0,-37 21 0,52-23 0,0-1 0,1 1 0,0 1 0,-9 11 0,-8 8 0,0 1 0,1 2 0,1 0 0,-19 36 0,33-52 0,-1 3 0,2 0 0,0 1 0,0 0 0,2 1 0,0-1 0,2 1 0,0 0 0,-1 26 0,3-31 0,-12 59 0,8-50 0,1 1 0,-2 28 0,7 406 0,-1-445 0,1 1 0,0-1 0,1 0 0,1 0 0,0 0 0,0 0 0,1 0 0,1-1 0,0 1 0,1-1 0,1 0 0,-1-1 0,2 0 0,16 20 0,10 12 0,-27-34 0,0 0 0,0-1 0,0 0 0,1 0 0,16 13 0,37 22 0,135 86 0,-170-114 0,-15-8 0,1 0 0,0-1 0,0-1 0,0 1 0,18 3 0,112 21 0,1-2 0,-127-24 0,-1 0 0,0 0 0,23 11 0,-25-9 0,1 0 0,0-1 0,0-1 0,20 3 0,39 7 0,-48-8 0,47 4 0,23 5 0,-70-10 0,0-1 0,29 2 0,101 12 0,-82-8 0,-3 4 0,-48-9 0,1-1 0,34 2 0,105-8 0,75 4 0,-160 11 0,-55-8 0,-1-1 0,31 2 0,360-5 0,-196-3 0,-191 0 0,0-1 0,0-1 0,0-2 0,-1 0 0,0-2 0,32-14 0,30-9 0,46-7 0,-77 15 0,11-4 0,-32 18 0,90-26 0,-112 30 0,1 0 0,-1-1 0,0 0 0,0-1 0,-1-1 0,0 0 0,13-11 0,-3 2 0,0 0 0,2 1 0,44-22 0,-36 20 0,44-31 0,19-32 0,-76 65 0,2 2 0,20-14 0,-19 15 0,35-30 0,-40 29 0,0 0 0,-2-2 0,1 1 0,-2-2 0,-1 0 0,0 0 0,13-26 0,1-10 0,-7 15 0,-1 0 0,-3-1 0,19-67 0,-27 81 0,1 0 0,1 1 0,18-35 0,9-20 0,-3-25 0,6-16 0,-23 74 0,-2 0 0,8-49 0,-5 21 0,-4 11 0,-9 40 0,1-1 0,11-33 0,-8 29 0,-1-1 0,-1 0 0,-1 0 0,-2 0 0,-1 0 0,-2-1 0,-3-36 0,4-87 0,13 76 0,-9 57 0,-1-1 0,2-32 0,-5-20 0,-2 37 0,2 0 0,2 1 0,10-54 0,-6 43 0,-2-1 0,-1 0 0,-3 0 0,-5-49 0,2-9 0,3 3 0,-3-109 0,0 199 0,0 1 0,-1 0 0,0 1 0,-1-1 0,0 0 0,-1 1 0,0 0 0,0 0 0,-1 0 0,-10-12 0,9 12 0,-51-102 0,43 87 0,-1 1 0,-1 0 0,-1 1 0,-2 2 0,0 0 0,0 1 0,-2 0 0,-1 2 0,-45-28 0,51 38 0,-2 0 0,1 1 0,-1 1 0,0 1 0,-35-5 0,26 5 0,-48-15 0,56 12 0,-1 0 0,0 2 0,-1 1 0,1 1 0,-1 0 0,-40 0 0,42 4 0,-13 1 0,-1-2 0,1-1 0,-60-12 0,48 7 0,0 1 0,-1 3 0,1 1 0,-58 6 0,-1-1 0,-7-5 0,-120 4 0,213 1 0,0 1 0,1 0 0,-33 13 0,33-10 0,0-2 0,-1 1 0,-29 3 0,-8 0 0,0 3 0,-88 30 0,80-22 0,53-16 15,1 0 0,0 1 0,0 0-1,0 0 1,1 1 0,-1 0 0,2 1 0,-11 10-1,8-8-313,1-1-1,-2 0 0,1 0 1,-13 7-1,6-7-6526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A7920A-6B8E-4BF9-955B-10A88CEA2558}" type="datetimeFigureOut">
              <a:rPr lang="zh-CN" altLang="en-US" smtClean="0"/>
              <a:t>2026/1/21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8658DE-EBD0-4C71-9426-E748953FA5EF}" type="slidenum">
              <a:rPr lang="zh-CN" altLang="en-US" smtClean="0"/>
              <a:t>‹#›</a:t>
            </a:fld>
            <a:endParaRPr lang="zh-CN" altLang="en-US"/>
          </a:p>
        </p:txBody>
      </p:sp>
    </p:spTree>
    <p:extLst>
      <p:ext uri="{BB962C8B-B14F-4D97-AF65-F5344CB8AC3E}">
        <p14:creationId xmlns:p14="http://schemas.microsoft.com/office/powerpoint/2010/main" val="39765216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各位老师好，我叫陈林峰，导师是陆慧梅老师，今天我报告的题目是基于语言机制的内核模块隔离研究</a:t>
            </a: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7A2CCA-E5D5-4859-8035-B358016F08F8}"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我将按照以下几个部分逐一介绍本报告的内容</a:t>
            </a:r>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t>2</a:t>
            </a:fld>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我们知道，操作系统内核在计算机系统中扮演着很重要的角色，它向上为用户程序提供服务，向下管理者硬件资源，所以它需要很高的性能、安全性、稳定性。</a:t>
            </a:r>
            <a:endParaRPr lang="en-US" altLang="zh-CN" dirty="0"/>
          </a:p>
          <a:p>
            <a:r>
              <a:rPr lang="zh-CN" altLang="en-US" dirty="0"/>
              <a:t>根据 </a:t>
            </a:r>
            <a:r>
              <a:rPr lang="en-US" altLang="zh-CN" dirty="0"/>
              <a:t>google …. </a:t>
            </a:r>
            <a:r>
              <a:rPr lang="zh-CN" altLang="en-US" dirty="0"/>
              <a:t>的报告，</a:t>
            </a:r>
            <a:r>
              <a:rPr kumimoji="0" lang="zh-CN" altLang="en-US" sz="1200" b="0" i="0" u="none" strike="noStrike" kern="1200" cap="none" spc="300" normalizeH="0" baseline="0" noProof="0" dirty="0">
                <a:ln>
                  <a:noFill/>
                </a:ln>
                <a:solidFill>
                  <a:srgbClr val="FF0000"/>
                </a:solidFill>
                <a:effectLst/>
                <a:uLnTx/>
                <a:uFillTx/>
                <a:latin typeface="微软雅黑"/>
                <a:ea typeface="微软雅黑"/>
                <a:cs typeface="+mn-cs"/>
              </a:rPr>
              <a:t>内存安全问题占它们发现的漏洞的 </a:t>
            </a:r>
            <a:r>
              <a:rPr kumimoji="0" lang="en-US" altLang="zh-CN" sz="1200" b="0" i="0" u="none" strike="noStrike" kern="1200" cap="none" spc="300" normalizeH="0" baseline="0" noProof="0" dirty="0">
                <a:ln>
                  <a:noFill/>
                </a:ln>
                <a:solidFill>
                  <a:srgbClr val="FF0000"/>
                </a:solidFill>
                <a:effectLst/>
                <a:uLnTx/>
                <a:uFillTx/>
                <a:latin typeface="微软雅黑"/>
                <a:ea typeface="微软雅黑"/>
                <a:cs typeface="+mn-cs"/>
              </a:rPr>
              <a:t>60%–70%</a:t>
            </a:r>
            <a:r>
              <a:rPr kumimoji="0" lang="zh-CN" altLang="en-US" sz="1200" b="0" i="0" u="none" strike="noStrike" kern="1200" cap="none" spc="300" normalizeH="0" baseline="0" noProof="0" dirty="0">
                <a:ln>
                  <a:noFill/>
                </a:ln>
                <a:solidFill>
                  <a:srgbClr val="FF0000"/>
                </a:solidFill>
                <a:effectLst/>
                <a:uLnTx/>
                <a:uFillTx/>
                <a:latin typeface="微软雅黑"/>
                <a:ea typeface="微软雅黑"/>
                <a:cs typeface="+mn-cs"/>
              </a:rPr>
              <a:t>左右</a:t>
            </a:r>
            <a:endParaRPr kumimoji="0" lang="en-US" altLang="zh-CN" sz="1200" b="0" i="0" u="none" strike="noStrike" kern="1200" cap="none" spc="300" normalizeH="0" baseline="0" noProof="0" dirty="0">
              <a:ln>
                <a:noFill/>
              </a:ln>
              <a:solidFill>
                <a:srgbClr val="FF0000"/>
              </a:solidFill>
              <a:effectLst/>
              <a:uLnTx/>
              <a:uFillTx/>
              <a:latin typeface="微软雅黑"/>
              <a:ea typeface="微软雅黑"/>
              <a:cs typeface="+mn-cs"/>
            </a:endParaRPr>
          </a:p>
          <a:p>
            <a:r>
              <a:rPr kumimoji="0" lang="zh-CN" altLang="en-US" sz="1200" b="0" i="0" u="none" strike="noStrike" kern="1200" cap="none" spc="300" normalizeH="0" baseline="0" noProof="0" dirty="0">
                <a:ln>
                  <a:noFill/>
                </a:ln>
                <a:solidFill>
                  <a:srgbClr val="FF0000"/>
                </a:solidFill>
                <a:effectLst/>
                <a:uLnTx/>
                <a:uFillTx/>
                <a:latin typeface="微软雅黑"/>
                <a:ea typeface="微软雅黑"/>
                <a:cs typeface="+mn-cs"/>
              </a:rPr>
              <a:t>在用户态进程隔离提高用户程序的安全性和稳定性</a:t>
            </a:r>
            <a:endParaRPr kumimoji="0" lang="en-US" altLang="zh-CN" sz="1200" b="0" i="0" u="none" strike="noStrike" kern="1200" cap="none" spc="300" normalizeH="0" baseline="0" noProof="0" dirty="0">
              <a:ln>
                <a:noFill/>
              </a:ln>
              <a:solidFill>
                <a:srgbClr val="FF0000"/>
              </a:solidFill>
              <a:effectLst/>
              <a:uLnTx/>
              <a:uFillTx/>
              <a:latin typeface="微软雅黑"/>
              <a:ea typeface="微软雅黑"/>
              <a:cs typeface="+mn-cs"/>
            </a:endParaRPr>
          </a:p>
          <a:p>
            <a:r>
              <a:rPr lang="zh-CN" altLang="en-US" dirty="0"/>
              <a:t>在内核中</a:t>
            </a:r>
            <a:r>
              <a:rPr lang="en-US" altLang="zh-CN" dirty="0"/>
              <a:t>, </a:t>
            </a:r>
            <a:r>
              <a:rPr lang="zh-CN" altLang="en-US" dirty="0"/>
              <a:t>也受到这些内存安全问题的影响，但是缺乏有效的隔离方法。</a:t>
            </a:r>
            <a:endParaRPr lang="en-US" altLang="zh-CN" dirty="0"/>
          </a:p>
          <a:p>
            <a:endParaRPr lang="en-US" altLang="zh-CN" dirty="0"/>
          </a:p>
          <a:p>
            <a:r>
              <a:rPr lang="zh-CN" altLang="en-US" dirty="0"/>
              <a:t>那随着编程语言的发展，一些语言开始从语言设计层面上来解决常见的内存安全问题，像</a:t>
            </a:r>
            <a:r>
              <a:rPr lang="en-US" altLang="zh-CN" dirty="0"/>
              <a:t>Rust</a:t>
            </a:r>
            <a:r>
              <a:rPr lang="zh-CN" altLang="en-US" dirty="0"/>
              <a:t>这样的系统级编程语言，</a:t>
            </a:r>
            <a:endParaRPr lang="en-US" altLang="zh-CN" dirty="0"/>
          </a:p>
          <a:p>
            <a:endParaRPr lang="en-US" altLang="zh-CN" dirty="0"/>
          </a:p>
          <a:p>
            <a:r>
              <a:rPr lang="zh-CN" altLang="en-US" dirty="0"/>
              <a:t>高性能、内存安全编程语言的发展也为实现内核模块的隔离带来了一些机遇。</a:t>
            </a:r>
            <a:endParaRPr lang="en-US" altLang="zh-CN" dirty="0"/>
          </a:p>
          <a:p>
            <a:endParaRPr lang="en-US" altLang="zh-CN" dirty="0"/>
          </a:p>
          <a:p>
            <a:r>
              <a:rPr lang="zh-CN" altLang="en-US" dirty="0"/>
              <a:t>总结来说就是，操作系统内核模块需要通过模块隔离，来提示其安全性和稳定性。</a:t>
            </a:r>
            <a:endParaRPr lang="en-US" altLang="zh-CN" dirty="0"/>
          </a:p>
          <a:p>
            <a:endParaRPr lang="en-US" altLang="zh-CN" dirty="0"/>
          </a:p>
          <a:p>
            <a:endParaRPr lang="en-US" altLang="zh-CN" dirty="0"/>
          </a:p>
          <a:p>
            <a:endParaRPr lang="en-US" altLang="zh-CN" dirty="0"/>
          </a:p>
          <a:p>
            <a:endParaRPr lang="en-US" altLang="zh-CN" dirty="0"/>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t>3</a:t>
            </a:fld>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82982-6B5A-AAD9-A481-838EE055ADA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CCF377C-7A2A-7087-132D-635D57BAB2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A039008-7FFB-7122-7AEF-D6CB128DBA22}"/>
              </a:ext>
            </a:extLst>
          </p:cNvPr>
          <p:cNvSpPr>
            <a:spLocks noGrp="1"/>
          </p:cNvSpPr>
          <p:nvPr>
            <p:ph type="body" idx="1"/>
          </p:nvPr>
        </p:nvSpPr>
        <p:spPr/>
        <p:txBody>
          <a:bodyPr/>
          <a:lstStyle/>
          <a:p>
            <a:r>
              <a:rPr lang="zh-CN" altLang="en-US" dirty="0"/>
              <a:t>基于上述背景，本课题明确了研究目的：即 </a:t>
            </a:r>
            <a:r>
              <a:rPr lang="en-US" altLang="zh-CN" dirty="0"/>
              <a:t>……</a:t>
            </a:r>
          </a:p>
          <a:p>
            <a:r>
              <a:rPr lang="zh-CN" altLang="en-US" dirty="0"/>
              <a:t>我们主要关注这几个问题：</a:t>
            </a:r>
            <a:endParaRPr lang="en-US" altLang="zh-CN" dirty="0"/>
          </a:p>
          <a:p>
            <a:pPr marL="228600" indent="-228600">
              <a:buAutoNum type="arabicPeriod"/>
            </a:pPr>
            <a:r>
              <a:rPr lang="zh-CN" altLang="en-US" dirty="0"/>
              <a:t>解决宏内核模块缺乏安全边界的问题；在传统的的</a:t>
            </a:r>
            <a:r>
              <a:rPr lang="en-US" altLang="zh-CN" dirty="0"/>
              <a:t>C</a:t>
            </a:r>
            <a:r>
              <a:rPr lang="zh-CN" altLang="en-US" dirty="0"/>
              <a:t>内核模块开发中</a:t>
            </a:r>
            <a:r>
              <a:rPr lang="en-US" altLang="zh-CN" dirty="0"/>
              <a:t>,</a:t>
            </a:r>
            <a:r>
              <a:rPr lang="zh-CN" altLang="en-US" dirty="0"/>
              <a:t>没有安全边界的概念，而引入安全语言之后，语言定义了那些是内存安全</a:t>
            </a:r>
            <a:r>
              <a:rPr lang="en-US" altLang="zh-CN" dirty="0"/>
              <a:t>/</a:t>
            </a:r>
            <a:r>
              <a:rPr lang="zh-CN" altLang="en-US" dirty="0"/>
              <a:t>不安全的操作，而只有使用安全的部分才具备语言的提供的安全保障</a:t>
            </a:r>
            <a:endParaRPr lang="en-US" altLang="zh-CN" dirty="0"/>
          </a:p>
          <a:p>
            <a:pPr marL="0" indent="0">
              <a:buNone/>
            </a:pPr>
            <a:r>
              <a:rPr lang="zh-CN" altLang="en-US" dirty="0"/>
              <a:t>那些不安全操作，比如裸指针访问，内联汇编操作等则缺乏保障。我们知道，这些操作在内核中是非常常见的。因此，我们需要对不安全的部分进行安全的抽象，从而提供一个安全的接口，这样模块才能完全使用安全的代码编写。</a:t>
            </a:r>
            <a:endParaRPr lang="en-US" altLang="zh-CN" dirty="0"/>
          </a:p>
          <a:p>
            <a:pPr marL="0" indent="0">
              <a:buNone/>
            </a:pPr>
            <a:r>
              <a:rPr lang="en-US" altLang="zh-CN" dirty="0"/>
              <a:t>2. </a:t>
            </a:r>
            <a:r>
              <a:rPr lang="zh-CN" altLang="en-US" dirty="0"/>
              <a:t>在此基础上，我们才能进一步利用语言的机制实现模块的内存隔离和故障隔离</a:t>
            </a:r>
            <a:endParaRPr lang="en-US" altLang="zh-CN" dirty="0"/>
          </a:p>
          <a:p>
            <a:pPr marL="0" indent="0">
              <a:buNone/>
            </a:pPr>
            <a:r>
              <a:rPr lang="en-US" altLang="zh-CN" dirty="0"/>
              <a:t>3. </a:t>
            </a:r>
            <a:r>
              <a:rPr lang="zh-CN" altLang="en-US" dirty="0"/>
              <a:t>同时，这个框架应该灵活、通用，可以应用到已有的内核中，和已有的模块共存</a:t>
            </a:r>
            <a:endParaRPr lang="en-US" altLang="zh-CN" dirty="0"/>
          </a:p>
          <a:p>
            <a:pPr marL="0" indent="0">
              <a:buNone/>
            </a:pPr>
            <a:r>
              <a:rPr lang="en-US" altLang="zh-CN" dirty="0"/>
              <a:t>3. </a:t>
            </a:r>
            <a:r>
              <a:rPr lang="zh-CN" altLang="en-US" dirty="0"/>
              <a:t>我们还需要尽可能避免引入隔离后损害内核性能</a:t>
            </a:r>
            <a:endParaRPr lang="en-US" altLang="zh-CN" dirty="0"/>
          </a:p>
          <a:p>
            <a:pPr marL="0" indent="0">
              <a:buNone/>
            </a:pPr>
            <a:r>
              <a:rPr lang="en-US" altLang="zh-CN" dirty="0"/>
              <a:t>4. </a:t>
            </a:r>
            <a:r>
              <a:rPr lang="zh-CN" altLang="en-US" dirty="0"/>
              <a:t>最后，我们希望为</a:t>
            </a:r>
            <a:r>
              <a:rPr lang="en-US" altLang="zh-CN" dirty="0"/>
              <a:t>….</a:t>
            </a:r>
          </a:p>
          <a:p>
            <a:pPr marL="0" indent="0">
              <a:buNone/>
            </a:pPr>
            <a:r>
              <a:rPr lang="zh-CN" altLang="en-US" dirty="0"/>
              <a:t>对内核模块实施热更新是一项富有挑战的任务</a:t>
            </a:r>
            <a:r>
              <a:rPr lang="en-US" altLang="zh-CN" dirty="0"/>
              <a:t>,</a:t>
            </a:r>
            <a:r>
              <a:rPr lang="zh-CN" altLang="en-US" dirty="0"/>
              <a:t>支持热更新允许对运行良好的模块进行升级以增加额外的功能，或者对发生故障的模块进行替换以修复已存在的错误。而热更新和模块的隔离是息息相关的，这在之前的许多工作中没有被考虑到。</a:t>
            </a:r>
            <a:endParaRPr lang="en-US" altLang="zh-CN" dirty="0"/>
          </a:p>
          <a:p>
            <a:pPr marL="0" indent="0">
              <a:buNone/>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简而言之，本课题的意义探索了安全语言对内核设计的影响、并借助语言的能力来提升内核稳定性与安全性</a:t>
            </a:r>
            <a:endParaRPr lang="en-US" altLang="zh-CN" dirty="0"/>
          </a:p>
          <a:p>
            <a:pPr marL="0" indent="0">
              <a:buNone/>
            </a:pPr>
            <a:endParaRPr lang="zh-CN" altLang="en-US" dirty="0"/>
          </a:p>
        </p:txBody>
      </p:sp>
      <p:sp>
        <p:nvSpPr>
          <p:cNvPr id="4" name="灯片编号占位符 3">
            <a:extLst>
              <a:ext uri="{FF2B5EF4-FFF2-40B4-BE49-F238E27FC236}">
                <a16:creationId xmlns:a16="http://schemas.microsoft.com/office/drawing/2014/main" id="{8034D3CD-B615-7623-31B5-6749F5C64C7A}"/>
              </a:ext>
            </a:extLst>
          </p:cNvPr>
          <p:cNvSpPr>
            <a:spLocks noGrp="1"/>
          </p:cNvSpPr>
          <p:nvPr>
            <p:ph type="sldNum" sz="quarter" idx="10"/>
          </p:nvPr>
        </p:nvSpPr>
        <p:spPr/>
        <p:txBody>
          <a:bodyPr/>
          <a:lstStyle/>
          <a:p>
            <a:pPr>
              <a:defRPr/>
            </a:pPr>
            <a:fld id="{CD7A2CCA-E5D5-4859-8035-B358016F08F8}" type="slidenum">
              <a:rPr lang="zh-CN" altLang="en-US" smtClean="0"/>
              <a:t>4</a:t>
            </a:fld>
            <a:endParaRPr lang="zh-CN" altLang="en-US" dirty="0"/>
          </a:p>
        </p:txBody>
      </p:sp>
    </p:spTree>
    <p:extLst>
      <p:ext uri="{BB962C8B-B14F-4D97-AF65-F5344CB8AC3E}">
        <p14:creationId xmlns:p14="http://schemas.microsoft.com/office/powerpoint/2010/main" val="37714978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C1DB2-300B-AA4D-6D99-4B4E382A344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672FEB3-F0C6-01CB-7780-BB06AD8A83C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96836CC-86FB-525D-F0BE-697CD8A1E589}"/>
              </a:ext>
            </a:extLst>
          </p:cNvPr>
          <p:cNvSpPr>
            <a:spLocks noGrp="1"/>
          </p:cNvSpPr>
          <p:nvPr>
            <p:ph type="body" idx="1"/>
          </p:nvPr>
        </p:nvSpPr>
        <p:spPr/>
        <p:txBody>
          <a:bodyPr/>
          <a:lstStyle/>
          <a:p>
            <a:r>
              <a:rPr lang="zh-CN" altLang="en-US" dirty="0"/>
              <a:t>在内核隔离上已经有许多相关工作</a:t>
            </a:r>
            <a:r>
              <a:rPr lang="en-US" altLang="zh-CN" dirty="0"/>
              <a:t>:</a:t>
            </a:r>
          </a:p>
          <a:p>
            <a:r>
              <a:rPr lang="zh-CN" altLang="en-US" dirty="0"/>
              <a:t>第一种是基于硬件的隔离方案：比如虚拟化或者特殊硬件隔离原语</a:t>
            </a:r>
            <a:endParaRPr lang="en-US" altLang="zh-CN" dirty="0"/>
          </a:p>
          <a:p>
            <a:r>
              <a:rPr lang="zh-CN" altLang="en-US" dirty="0"/>
              <a:t>第二种是基于软件方法的方案，比如软件故障隔离以及微内核架构设计等</a:t>
            </a:r>
            <a:endParaRPr lang="en-US" altLang="zh-CN" dirty="0"/>
          </a:p>
          <a:p>
            <a:r>
              <a:rPr lang="zh-CN" altLang="en-US" dirty="0"/>
              <a:t>第三种是基于传统安全语言的方案，但由于这些安全语言通常使用垃圾回收，并且缺乏低级硬件访问能力，在内核开发中问题明显</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第四种是近年来发展的基于</a:t>
            </a:r>
            <a:r>
              <a:rPr lang="en-US" altLang="zh-CN" dirty="0"/>
              <a:t>Rust</a:t>
            </a:r>
            <a:r>
              <a:rPr lang="zh-CN" altLang="en-US" dirty="0"/>
              <a:t>安全语言的方法，像</a:t>
            </a:r>
            <a:r>
              <a:rPr lang="en-US" altLang="zh-CN" dirty="0"/>
              <a:t>Redleaf</a:t>
            </a:r>
            <a:r>
              <a:rPr lang="zh-CN" altLang="en-US" dirty="0"/>
              <a:t>、</a:t>
            </a:r>
            <a:r>
              <a:rPr lang="en-US" altLang="zh-CN" dirty="0"/>
              <a:t>Theseus</a:t>
            </a:r>
            <a:r>
              <a:rPr lang="zh-CN" altLang="en-US" dirty="0"/>
              <a:t>、星战等，它们都是完全</a:t>
            </a:r>
            <a:r>
              <a:rPr lang="zh-CN" altLang="en-US" sz="1200" i="1" dirty="0"/>
              <a:t>完全用</a:t>
            </a:r>
            <a:r>
              <a:rPr lang="en-US" altLang="zh-CN" sz="1200" i="1" dirty="0"/>
              <a:t>Rust</a:t>
            </a:r>
            <a:r>
              <a:rPr lang="zh-CN" altLang="en-US" sz="1200" i="1" dirty="0"/>
              <a:t>重写一个全新的操作系统来替代</a:t>
            </a:r>
            <a:r>
              <a:rPr lang="en-US" altLang="zh-CN" sz="1200" i="1" dirty="0"/>
              <a:t>Linux</a:t>
            </a:r>
            <a:r>
              <a:rPr lang="zh-CN" altLang="en-US" sz="1200" i="1" dirty="0"/>
              <a:t>等现有系统</a:t>
            </a:r>
            <a:endParaRPr lang="en-US" altLang="zh-CN" sz="1200" i="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i="0" dirty="0"/>
              <a:t>最后是关于热更新方面的工作，目前，功能级别的热更新已经非常成熟，但是缺乏比较通用的模块级别的热更新，一些已有方案也只能工作在特定的模块上</a:t>
            </a:r>
            <a:endParaRPr lang="en-US" altLang="zh-CN" sz="1200" i="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i="0" dirty="0"/>
              <a:t>这些工作存在一些缺陷，它们</a:t>
            </a:r>
            <a:r>
              <a:rPr lang="zh-CN" altLang="en-US" sz="1200" b="1" dirty="0">
                <a:solidFill>
                  <a:srgbClr val="FF0000"/>
                </a:solidFill>
              </a:rPr>
              <a:t>无法在不牺牲性能</a:t>
            </a:r>
            <a:r>
              <a:rPr lang="zh-CN" altLang="en-US" sz="1200" b="1" dirty="0"/>
              <a:t>、</a:t>
            </a:r>
            <a:r>
              <a:rPr lang="zh-CN" altLang="en-US" sz="1200" b="1" dirty="0">
                <a:solidFill>
                  <a:srgbClr val="FF0000"/>
                </a:solidFill>
              </a:rPr>
              <a:t>不破坏现有生态</a:t>
            </a:r>
            <a:r>
              <a:rPr lang="zh-CN" altLang="en-US" sz="1200" b="1" dirty="0"/>
              <a:t>的前提下，轻松地适配到现有内核中</a:t>
            </a:r>
            <a:endParaRPr lang="en-US" altLang="zh-CN" sz="1200" i="0" dirty="0"/>
          </a:p>
        </p:txBody>
      </p:sp>
      <p:sp>
        <p:nvSpPr>
          <p:cNvPr id="4" name="灯片编号占位符 3">
            <a:extLst>
              <a:ext uri="{FF2B5EF4-FFF2-40B4-BE49-F238E27FC236}">
                <a16:creationId xmlns:a16="http://schemas.microsoft.com/office/drawing/2014/main" id="{8A9FB259-5508-CE22-DBB7-2AED5F11FD9D}"/>
              </a:ext>
            </a:extLst>
          </p:cNvPr>
          <p:cNvSpPr>
            <a:spLocks noGrp="1"/>
          </p:cNvSpPr>
          <p:nvPr>
            <p:ph type="sldNum" sz="quarter" idx="10"/>
          </p:nvPr>
        </p:nvSpPr>
        <p:spPr/>
        <p:txBody>
          <a:bodyPr/>
          <a:lstStyle/>
          <a:p>
            <a:pPr>
              <a:defRPr/>
            </a:pPr>
            <a:fld id="{CD7A2CCA-E5D5-4859-8035-B358016F08F8}" type="slidenum">
              <a:rPr lang="zh-CN" altLang="en-US" smtClean="0"/>
              <a:t>5</a:t>
            </a:fld>
            <a:endParaRPr lang="zh-CN" altLang="en-US" dirty="0"/>
          </a:p>
        </p:txBody>
      </p:sp>
    </p:spTree>
    <p:extLst>
      <p:ext uri="{BB962C8B-B14F-4D97-AF65-F5344CB8AC3E}">
        <p14:creationId xmlns:p14="http://schemas.microsoft.com/office/powerpoint/2010/main" val="29475319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1532F-5C4B-8D31-6C2A-1A0BB620511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D886EB0-DED4-6DEB-6DD9-A5ACA02856D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8FF40A2-60F8-92C5-8BFD-5D2DAF47BF4C}"/>
              </a:ext>
            </a:extLst>
          </p:cNvPr>
          <p:cNvSpPr>
            <a:spLocks noGrp="1"/>
          </p:cNvSpPr>
          <p:nvPr>
            <p:ph type="body" idx="1"/>
          </p:nvPr>
        </p:nvSpPr>
        <p:spPr/>
        <p:txBody>
          <a:bodyPr/>
          <a:lstStyle/>
          <a:p>
            <a:r>
              <a:rPr lang="zh-CN" altLang="en-US" dirty="0"/>
              <a:t>这张图对这些工作进行了一个总结和分类，其中最后一栏的</a:t>
            </a:r>
            <a:r>
              <a:rPr lang="en-US" altLang="zh-CN" dirty="0"/>
              <a:t>Moat</a:t>
            </a:r>
            <a:r>
              <a:rPr lang="zh-CN" altLang="en-US" dirty="0"/>
              <a:t>是我即将介绍的工作，这些已有的工作的许多思想也深刻影响着</a:t>
            </a:r>
            <a:r>
              <a:rPr lang="en-US" altLang="zh-CN" dirty="0"/>
              <a:t>Moat</a:t>
            </a:r>
            <a:r>
              <a:rPr lang="zh-CN" altLang="en-US" dirty="0"/>
              <a:t>的设计。</a:t>
            </a:r>
            <a:endParaRPr lang="en-US" altLang="zh-CN" dirty="0"/>
          </a:p>
        </p:txBody>
      </p:sp>
      <p:sp>
        <p:nvSpPr>
          <p:cNvPr id="4" name="灯片编号占位符 3">
            <a:extLst>
              <a:ext uri="{FF2B5EF4-FFF2-40B4-BE49-F238E27FC236}">
                <a16:creationId xmlns:a16="http://schemas.microsoft.com/office/drawing/2014/main" id="{BE63B267-2E7A-5E46-DFFA-2BD76EF7FEEB}"/>
              </a:ext>
            </a:extLst>
          </p:cNvPr>
          <p:cNvSpPr>
            <a:spLocks noGrp="1"/>
          </p:cNvSpPr>
          <p:nvPr>
            <p:ph type="sldNum" sz="quarter" idx="10"/>
          </p:nvPr>
        </p:nvSpPr>
        <p:spPr/>
        <p:txBody>
          <a:bodyPr/>
          <a:lstStyle/>
          <a:p>
            <a:pPr>
              <a:defRPr/>
            </a:pPr>
            <a:fld id="{CD7A2CCA-E5D5-4859-8035-B358016F08F8}" type="slidenum">
              <a:rPr lang="zh-CN" altLang="en-US" smtClean="0"/>
              <a:t>6</a:t>
            </a:fld>
            <a:endParaRPr lang="zh-CN" altLang="en-US" dirty="0"/>
          </a:p>
        </p:txBody>
      </p:sp>
    </p:spTree>
    <p:extLst>
      <p:ext uri="{BB962C8B-B14F-4D97-AF65-F5344CB8AC3E}">
        <p14:creationId xmlns:p14="http://schemas.microsoft.com/office/powerpoint/2010/main" val="36245644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F7625-6579-F62D-373F-567C5529228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62D1886-3E61-B759-1713-F6242E7744E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53440EE-95E8-22D7-66D7-1B0A172CFA8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t>为了实现这个目标，</a:t>
            </a:r>
            <a:r>
              <a:rPr lang="en-US" altLang="zh-CN" sz="1200" b="1" dirty="0"/>
              <a:t>Moat</a:t>
            </a:r>
            <a:r>
              <a:rPr lang="zh-CN" altLang="en-US" sz="1200" b="1" dirty="0"/>
              <a:t>的核心思路是：</a:t>
            </a:r>
            <a:endParaRPr lang="en-US" altLang="zh-CN" sz="1200" b="1"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zh-CN" altLang="en-US" b="1" dirty="0"/>
              <a:t>解耦隔离的机制和策略，使得隔离模块的开发者不用关注隔离的具体实现方法</a:t>
            </a:r>
            <a:endParaRPr lang="en-US" altLang="zh-CN" b="1"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zh-CN" altLang="en-US" dirty="0"/>
              <a:t>为了做到这一点，</a:t>
            </a:r>
            <a:r>
              <a:rPr lang="en-US" altLang="zh-CN" dirty="0"/>
              <a:t>Moat</a:t>
            </a:r>
            <a:r>
              <a:rPr lang="zh-CN" altLang="en-US" dirty="0"/>
              <a:t>将内核划分为两个部分，一个部分是隔离域集合，如左图上方所示，隔离域就是具有隔离属性的内核模块。</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一个部分是</a:t>
            </a:r>
            <a:r>
              <a:rPr lang="en-US" altLang="zh-CN" dirty="0"/>
              <a:t>TCB</a:t>
            </a:r>
            <a:r>
              <a:rPr lang="zh-CN" altLang="en-US" dirty="0"/>
              <a:t>，如左图下方所示，这个部分，进一步划分为域基础库和域管理运行时部分。不管是域基础库还是域管理运行时，都由更小的通用组件和非通用组件构成，以确保其通用性和可移植性。</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t>我们首先来看隔离域集合，它们是内核的核心，负责实现内核的各种功能。与传统的内核模块不同，这些隔离域的提供的服务完全由域接口定义，每个隔离域都会实现特定的接口。</a:t>
            </a:r>
            <a:endParaRPr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t>在内部，这些隔离域完全由安全的</a:t>
            </a:r>
            <a:r>
              <a:rPr lang="en-US" altLang="zh-CN" sz="1200" b="1" dirty="0"/>
              <a:t>Rust</a:t>
            </a:r>
            <a:r>
              <a:rPr lang="zh-CN" altLang="en-US" sz="1200" b="1" dirty="0"/>
              <a:t>部分实现，从而获得</a:t>
            </a:r>
            <a:r>
              <a:rPr lang="en-US" altLang="zh-CN" sz="1200" b="1" dirty="0"/>
              <a:t>Rust</a:t>
            </a:r>
            <a:r>
              <a:rPr lang="zh-CN" altLang="en-US" sz="1200" b="1" dirty="0"/>
              <a:t>语言的安全保障</a:t>
            </a:r>
            <a:endParaRPr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t>这些隔离域只能依赖那些不包含不安全</a:t>
            </a:r>
            <a:r>
              <a:rPr lang="en-US" altLang="zh-CN" sz="1200" b="1" dirty="0"/>
              <a:t>Rust</a:t>
            </a:r>
            <a:r>
              <a:rPr lang="zh-CN" altLang="en-US" sz="1200" b="1" dirty="0"/>
              <a:t>的库，这意味着它们依赖的不安全库只有域基础库</a:t>
            </a:r>
            <a:endParaRPr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t>为了实现隔离，紧紧使用安全的</a:t>
            </a:r>
            <a:r>
              <a:rPr lang="en-US" altLang="zh-CN" sz="1200" b="1" dirty="0"/>
              <a:t>Rust</a:t>
            </a:r>
            <a:r>
              <a:rPr lang="zh-CN" altLang="en-US" sz="1200" b="1" dirty="0"/>
              <a:t>还不够，因此，我们为每个域分配了独立的私有堆，它们共享同一个共享堆，我们将在下文介绍为什么需要这些堆，此外，每个域还有一个自定义堆来存储其状态数据以实现热更新。</a:t>
            </a:r>
            <a:endParaRPr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t>隔离域之间使用域接口进行通信，但这些接口在引入私有堆、共享堆后，具有额外的限制，从而来实现隔离</a:t>
            </a:r>
            <a:endParaRPr lang="en-US" altLang="zh-CN" sz="1200" b="1" dirty="0"/>
          </a:p>
        </p:txBody>
      </p:sp>
      <p:sp>
        <p:nvSpPr>
          <p:cNvPr id="4" name="灯片编号占位符 3">
            <a:extLst>
              <a:ext uri="{FF2B5EF4-FFF2-40B4-BE49-F238E27FC236}">
                <a16:creationId xmlns:a16="http://schemas.microsoft.com/office/drawing/2014/main" id="{6E62E2FD-16B0-A3B1-90B6-7C39C77ED1BE}"/>
              </a:ext>
            </a:extLst>
          </p:cNvPr>
          <p:cNvSpPr>
            <a:spLocks noGrp="1"/>
          </p:cNvSpPr>
          <p:nvPr>
            <p:ph type="sldNum" sz="quarter" idx="10"/>
          </p:nvPr>
        </p:nvSpPr>
        <p:spPr/>
        <p:txBody>
          <a:bodyPr/>
          <a:lstStyle/>
          <a:p>
            <a:pPr>
              <a:defRPr/>
            </a:pPr>
            <a:fld id="{CD7A2CCA-E5D5-4859-8035-B358016F08F8}" type="slidenum">
              <a:rPr lang="zh-CN" altLang="en-US" smtClean="0"/>
              <a:t>7</a:t>
            </a:fld>
            <a:endParaRPr lang="zh-CN" altLang="en-US" dirty="0"/>
          </a:p>
        </p:txBody>
      </p:sp>
    </p:spTree>
    <p:extLst>
      <p:ext uri="{BB962C8B-B14F-4D97-AF65-F5344CB8AC3E}">
        <p14:creationId xmlns:p14="http://schemas.microsoft.com/office/powerpoint/2010/main" val="329235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07CFA-17C1-9DD5-327B-1615AF41C0C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F233E6C-164A-0F77-91EC-3CDB4C44A03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371A736-EC76-DDAF-558D-D8AF505A8A45}"/>
              </a:ext>
            </a:extLst>
          </p:cNvPr>
          <p:cNvSpPr>
            <a:spLocks noGrp="1"/>
          </p:cNvSpPr>
          <p:nvPr>
            <p:ph type="body" idx="1"/>
          </p:nvPr>
        </p:nvSpPr>
        <p:spPr/>
        <p:txBody>
          <a:bodyPr/>
          <a:lstStyle/>
          <a:p>
            <a:r>
              <a:rPr lang="zh-CN" altLang="en-US" dirty="0"/>
              <a:t>接下来我们看域基础库部分：</a:t>
            </a:r>
            <a:endParaRPr lang="en-US" altLang="zh-CN" dirty="0"/>
          </a:p>
          <a:p>
            <a:r>
              <a:rPr lang="zh-CN" altLang="en-US" dirty="0"/>
              <a:t>我们已经要求隔离域中不能包含不安全的</a:t>
            </a:r>
            <a:r>
              <a:rPr lang="en-US" altLang="zh-CN" dirty="0"/>
              <a:t>Rust</a:t>
            </a:r>
            <a:r>
              <a:rPr lang="zh-CN" altLang="en-US" dirty="0"/>
              <a:t>代码，但是我们知道，不同的内核模块执行不同的任务，</a:t>
            </a:r>
            <a:endParaRPr lang="en-US" altLang="zh-CN" dirty="0"/>
          </a:p>
          <a:p>
            <a:r>
              <a:rPr lang="zh-CN" altLang="en-US" dirty="0"/>
              <a:t>有的模块不得不使用许多在</a:t>
            </a:r>
            <a:r>
              <a:rPr lang="en-US" altLang="zh-CN" dirty="0"/>
              <a:t>Rust</a:t>
            </a:r>
            <a:r>
              <a:rPr lang="zh-CN" altLang="en-US" dirty="0"/>
              <a:t>语言定义中不安全的操作，比如读取寄存器，设备</a:t>
            </a:r>
            <a:r>
              <a:rPr lang="en-US" altLang="zh-CN" dirty="0"/>
              <a:t>I/O</a:t>
            </a:r>
            <a:r>
              <a:rPr lang="zh-CN" altLang="en-US" dirty="0"/>
              <a:t>等，</a:t>
            </a:r>
            <a:endParaRPr lang="en-US" altLang="zh-CN" dirty="0"/>
          </a:p>
          <a:p>
            <a:r>
              <a:rPr lang="zh-CN" altLang="en-US" dirty="0"/>
              <a:t>对于这些操作，</a:t>
            </a:r>
            <a:r>
              <a:rPr lang="en-US" altLang="zh-CN" dirty="0"/>
              <a:t>Rust</a:t>
            </a:r>
            <a:r>
              <a:rPr lang="zh-CN" altLang="en-US" dirty="0"/>
              <a:t>没有任何的安全保障</a:t>
            </a:r>
            <a:r>
              <a:rPr lang="en-US" altLang="zh-CN" dirty="0"/>
              <a:t>.</a:t>
            </a:r>
          </a:p>
          <a:p>
            <a:r>
              <a:rPr lang="zh-CN" altLang="en-US" dirty="0"/>
              <a:t>域基础库的目标就是划分安全的边界，对这些不安全操作进行封装和安全抽象，从而向隔离域提供安全的接口。</a:t>
            </a:r>
            <a:endParaRPr lang="en-US" altLang="zh-CN" dirty="0"/>
          </a:p>
          <a:p>
            <a:endParaRPr lang="en-US" altLang="zh-CN" dirty="0"/>
          </a:p>
          <a:p>
            <a:r>
              <a:rPr lang="zh-CN" altLang="en-US" dirty="0"/>
              <a:t>域基础库遵循最小化原则：即其只会对最底层的低级内核资源和相关联的不安全操作进行安全抽象，而可以由这些资源和安全接口组成的高级抽象和接口则是由域自行实施</a:t>
            </a:r>
            <a:endParaRPr lang="en-US" altLang="zh-CN" dirty="0"/>
          </a:p>
          <a:p>
            <a:endParaRPr lang="en-US" altLang="zh-CN" dirty="0"/>
          </a:p>
          <a:p>
            <a:r>
              <a:rPr lang="zh-CN" altLang="en-US" dirty="0"/>
              <a:t>具体而言，域基础库包含以下几个部分：</a:t>
            </a:r>
            <a:endParaRPr lang="en-US" altLang="zh-CN" dirty="0"/>
          </a:p>
          <a:p>
            <a:pPr marL="228600" indent="-228600">
              <a:buAutoNum type="arabicPeriod"/>
            </a:pPr>
            <a:r>
              <a:rPr lang="zh-CN" altLang="en-US" dirty="0"/>
              <a:t>确保内核资源的安全回收：所有需要手动分配和释放的资源都必须进行封装并实现</a:t>
            </a:r>
            <a:r>
              <a:rPr lang="en-US" altLang="zh-CN" dirty="0"/>
              <a:t>Rust </a:t>
            </a:r>
            <a:r>
              <a:rPr lang="zh-CN" altLang="en-US" dirty="0"/>
              <a:t>内置的 </a:t>
            </a:r>
            <a:r>
              <a:rPr lang="en-US" altLang="zh-CN" dirty="0"/>
              <a:t>Drop </a:t>
            </a:r>
            <a:r>
              <a:rPr lang="zh-CN" altLang="en-US" dirty="0"/>
              <a:t>特性。这将内核资源管理从开发人员的手动操作转变为编译器驱动的自动化操作</a:t>
            </a:r>
            <a:endParaRPr lang="en-US" altLang="zh-CN" dirty="0"/>
          </a:p>
          <a:p>
            <a:pPr marL="228600" indent="-228600">
              <a:buAutoNum type="arabicPeriod"/>
            </a:pPr>
            <a:r>
              <a:rPr lang="zh-CN" altLang="en-US" dirty="0"/>
              <a:t>确保域状态数据的安全存储：域的状态数据需要分配到特殊的自定义堆中</a:t>
            </a:r>
            <a:endParaRPr lang="en-US" altLang="zh-CN" dirty="0"/>
          </a:p>
          <a:p>
            <a:pPr marL="228600" indent="-228600">
              <a:buAutoNum type="arabicPeriod"/>
            </a:pPr>
            <a:r>
              <a:rPr lang="zh-CN" altLang="en-US" dirty="0"/>
              <a:t>确保安全的内存访问：通过划分不同的内存类型并进行安全检查</a:t>
            </a:r>
            <a:r>
              <a:rPr lang="en-US" altLang="zh-CN" dirty="0"/>
              <a:t>, </a:t>
            </a:r>
            <a:r>
              <a:rPr lang="zh-CN" altLang="en-US" dirty="0"/>
              <a:t>将编译器检查的不变量 </a:t>
            </a:r>
            <a:r>
              <a:rPr lang="en-US" altLang="zh-CN" dirty="0"/>
              <a:t>(</a:t>
            </a:r>
            <a:r>
              <a:rPr lang="zh-CN" altLang="en-US" dirty="0"/>
              <a:t>无缓冲区溢出，无释放后使用</a:t>
            </a:r>
            <a:r>
              <a:rPr lang="en-US" altLang="zh-CN" dirty="0"/>
              <a:t>) </a:t>
            </a:r>
            <a:r>
              <a:rPr lang="zh-CN" altLang="en-US" dirty="0"/>
              <a:t>扩展到这些类型上</a:t>
            </a:r>
            <a:endParaRPr lang="en-US" altLang="zh-CN" dirty="0"/>
          </a:p>
          <a:p>
            <a:pPr marL="228600" indent="-228600">
              <a:buAutoNum type="arabicPeriod"/>
            </a:pPr>
            <a:r>
              <a:rPr lang="zh-CN" altLang="en-US" dirty="0"/>
              <a:t>最后一个是确保正确裸指针访问</a:t>
            </a:r>
            <a:endParaRPr lang="en-US" altLang="zh-CN" dirty="0"/>
          </a:p>
          <a:p>
            <a:pPr marL="228600" indent="-228600">
              <a:buAutoNum type="arabicPeriod"/>
            </a:pPr>
            <a:endParaRPr lang="en-US" altLang="zh-CN" dirty="0"/>
          </a:p>
          <a:p>
            <a:pPr marL="0" indent="0">
              <a:buNone/>
            </a:pPr>
            <a:r>
              <a:rPr lang="zh-CN" altLang="en-US" dirty="0"/>
              <a:t>具体而言，基础库实现了内核资源的安全回收，状态数据的安全存储，以及内存、指针的安全访问等</a:t>
            </a:r>
            <a:endParaRPr lang="en-US" altLang="zh-CN" dirty="0"/>
          </a:p>
          <a:p>
            <a:pPr marL="0" indent="0">
              <a:buNone/>
            </a:pPr>
            <a:r>
              <a:rPr lang="zh-CN" altLang="en-US" dirty="0"/>
              <a:t>图示列举了域基础库中主要的数据结构和接口。</a:t>
            </a:r>
          </a:p>
        </p:txBody>
      </p:sp>
      <p:sp>
        <p:nvSpPr>
          <p:cNvPr id="4" name="灯片编号占位符 3">
            <a:extLst>
              <a:ext uri="{FF2B5EF4-FFF2-40B4-BE49-F238E27FC236}">
                <a16:creationId xmlns:a16="http://schemas.microsoft.com/office/drawing/2014/main" id="{2DF9EC62-9310-65D0-807D-00882ABF3C02}"/>
              </a:ext>
            </a:extLst>
          </p:cNvPr>
          <p:cNvSpPr>
            <a:spLocks noGrp="1"/>
          </p:cNvSpPr>
          <p:nvPr>
            <p:ph type="sldNum" sz="quarter" idx="10"/>
          </p:nvPr>
        </p:nvSpPr>
        <p:spPr/>
        <p:txBody>
          <a:bodyPr/>
          <a:lstStyle/>
          <a:p>
            <a:pPr>
              <a:defRPr/>
            </a:pPr>
            <a:fld id="{CD7A2CCA-E5D5-4859-8035-B358016F08F8}" type="slidenum">
              <a:rPr lang="zh-CN" altLang="en-US" smtClean="0"/>
              <a:t>8</a:t>
            </a:fld>
            <a:endParaRPr lang="zh-CN" altLang="en-US" dirty="0"/>
          </a:p>
        </p:txBody>
      </p:sp>
    </p:spTree>
    <p:extLst>
      <p:ext uri="{BB962C8B-B14F-4D97-AF65-F5344CB8AC3E}">
        <p14:creationId xmlns:p14="http://schemas.microsoft.com/office/powerpoint/2010/main" val="2066973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5272A-093B-04D3-AFE1-BB1E65300B3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DDEE37D-732A-C668-FBC7-01DA1844B1A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3726D53-9963-3670-60BD-79B908D8E25E}"/>
              </a:ext>
            </a:extLst>
          </p:cNvPr>
          <p:cNvSpPr>
            <a:spLocks noGrp="1"/>
          </p:cNvSpPr>
          <p:nvPr>
            <p:ph type="body" idx="1"/>
          </p:nvPr>
        </p:nvSpPr>
        <p:spPr/>
        <p:txBody>
          <a:bodyPr/>
          <a:lstStyle/>
          <a:p>
            <a:r>
              <a:rPr lang="zh-CN" altLang="en-US" dirty="0"/>
              <a:t>通常，不同系统的初始化代码是不一样的，与域基础库一样，</a:t>
            </a:r>
            <a:r>
              <a:rPr lang="en-US" altLang="zh-CN" dirty="0"/>
              <a:t>Moat </a:t>
            </a:r>
            <a:r>
              <a:rPr lang="zh-CN" altLang="en-US" dirty="0"/>
              <a:t>也将域管理运行时分解为较小的组件，</a:t>
            </a:r>
            <a:endParaRPr lang="en-US" altLang="zh-CN" dirty="0"/>
          </a:p>
          <a:p>
            <a:r>
              <a:rPr lang="zh-CN" altLang="en-US" dirty="0"/>
              <a:t>从而将域的加载器和管理器等基础设施与其它部分分开来。</a:t>
            </a:r>
            <a:endParaRPr lang="en-US" altLang="zh-CN" dirty="0"/>
          </a:p>
          <a:p>
            <a:r>
              <a:rPr lang="zh-CN" altLang="en-US" dirty="0"/>
              <a:t>为了让 </a:t>
            </a:r>
            <a:r>
              <a:rPr lang="en-US" altLang="zh-CN" dirty="0"/>
              <a:t>TCB </a:t>
            </a:r>
            <a:r>
              <a:rPr lang="zh-CN" altLang="en-US" dirty="0"/>
              <a:t>尽可能保持小巧，以此让绝大部分内核功能受益于语言的类型和内存安全，</a:t>
            </a:r>
            <a:r>
              <a:rPr lang="en-US" altLang="zh-CN" dirty="0"/>
              <a:t>Moat </a:t>
            </a:r>
            <a:r>
              <a:rPr lang="zh-CN" altLang="en-US" dirty="0"/>
              <a:t>建议减少域管理运行时负责的功能</a:t>
            </a:r>
            <a:endParaRPr lang="en-US" altLang="zh-CN" dirty="0"/>
          </a:p>
          <a:p>
            <a:endParaRPr lang="en-US" altLang="zh-CN" dirty="0"/>
          </a:p>
          <a:p>
            <a:r>
              <a:rPr lang="zh-CN" altLang="en-US" dirty="0"/>
              <a:t>具体来说，运行时包含处理以下工作：</a:t>
            </a:r>
            <a:endParaRPr lang="en-US" altLang="zh-CN" dirty="0"/>
          </a:p>
          <a:p>
            <a:pPr marL="228600" indent="-228600">
              <a:buAutoNum type="arabicPeriod"/>
            </a:pPr>
            <a:r>
              <a:rPr lang="zh-CN" altLang="en-US" dirty="0"/>
              <a:t>它初始化硬件、管理物理内存、处理特权级切换以及处理硬件中断或异常</a:t>
            </a:r>
            <a:r>
              <a:rPr lang="en-US" altLang="zh-CN" dirty="0"/>
              <a:t>, </a:t>
            </a:r>
            <a:r>
              <a:rPr lang="zh-CN" altLang="en-US" dirty="0"/>
              <a:t>并分发到具体的隔离域中进行处理</a:t>
            </a:r>
            <a:endParaRPr lang="en-US" altLang="zh-CN" dirty="0"/>
          </a:p>
          <a:p>
            <a:pPr marL="228600" indent="-228600">
              <a:buAutoNum type="arabicPeriod"/>
            </a:pPr>
            <a:r>
              <a:rPr lang="zh-CN" altLang="en-US" dirty="0"/>
              <a:t>它将域加载到内核地址空间或从内核地址空间卸载，从而实现隔离域的动态管理</a:t>
            </a:r>
            <a:endParaRPr lang="en-US" altLang="zh-CN" dirty="0"/>
          </a:p>
          <a:p>
            <a:pPr marL="228600" indent="-228600">
              <a:buAutoNum type="arabicPeriod"/>
            </a:pPr>
            <a:r>
              <a:rPr lang="zh-CN" altLang="en-US" dirty="0"/>
              <a:t>此外，运行时还对已有的内核模块接口进行包装，并重定向到域接口上</a:t>
            </a:r>
            <a:endParaRPr lang="en-US" altLang="zh-CN" dirty="0"/>
          </a:p>
          <a:p>
            <a:pPr marL="0" indent="0">
              <a:buNone/>
            </a:pPr>
            <a:endParaRPr lang="en-US" altLang="zh-CN" dirty="0"/>
          </a:p>
          <a:p>
            <a:pPr marL="0" indent="0">
              <a:buNone/>
            </a:pPr>
            <a:r>
              <a:rPr lang="zh-CN" altLang="en-US" dirty="0"/>
              <a:t>作为初始模块，运行时被首先启动，然后逐步加载其它隔离域。</a:t>
            </a:r>
            <a:endParaRPr lang="en-US" altLang="zh-CN" dirty="0"/>
          </a:p>
          <a:p>
            <a:pPr marL="0" indent="0">
              <a:buNone/>
            </a:pPr>
            <a:endParaRPr lang="en-US" altLang="zh-CN" dirty="0"/>
          </a:p>
          <a:p>
            <a:pPr marL="0" indent="0">
              <a:buNone/>
            </a:pPr>
            <a:r>
              <a:rPr lang="zh-CN" altLang="en-US" dirty="0"/>
              <a:t>图示展示了运行时的主要接口</a:t>
            </a:r>
            <a:endParaRPr lang="en-US" altLang="zh-CN" dirty="0"/>
          </a:p>
          <a:p>
            <a:pPr marL="228600" indent="-228600">
              <a:buAutoNum type="arabicPeriod"/>
            </a:pPr>
            <a:endParaRPr lang="en-US" altLang="zh-CN" dirty="0"/>
          </a:p>
          <a:p>
            <a:endParaRPr lang="en-US" altLang="zh-CN" dirty="0"/>
          </a:p>
        </p:txBody>
      </p:sp>
      <p:sp>
        <p:nvSpPr>
          <p:cNvPr id="4" name="灯片编号占位符 3">
            <a:extLst>
              <a:ext uri="{FF2B5EF4-FFF2-40B4-BE49-F238E27FC236}">
                <a16:creationId xmlns:a16="http://schemas.microsoft.com/office/drawing/2014/main" id="{3479811B-3089-E466-E59A-7A4570D6236D}"/>
              </a:ext>
            </a:extLst>
          </p:cNvPr>
          <p:cNvSpPr>
            <a:spLocks noGrp="1"/>
          </p:cNvSpPr>
          <p:nvPr>
            <p:ph type="sldNum" sz="quarter" idx="10"/>
          </p:nvPr>
        </p:nvSpPr>
        <p:spPr/>
        <p:txBody>
          <a:bodyPr/>
          <a:lstStyle/>
          <a:p>
            <a:pPr>
              <a:defRPr/>
            </a:pPr>
            <a:fld id="{CD7A2CCA-E5D5-4859-8035-B358016F08F8}" type="slidenum">
              <a:rPr lang="zh-CN" altLang="en-US" smtClean="0"/>
              <a:t>9</a:t>
            </a:fld>
            <a:endParaRPr lang="zh-CN" altLang="en-US" dirty="0"/>
          </a:p>
        </p:txBody>
      </p:sp>
    </p:spTree>
    <p:extLst>
      <p:ext uri="{BB962C8B-B14F-4D97-AF65-F5344CB8AC3E}">
        <p14:creationId xmlns:p14="http://schemas.microsoft.com/office/powerpoint/2010/main" val="27922982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BC99E-8732-F038-57C0-D75E0D65D1F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15808BD-DAC3-D2D4-FFE0-01F0276E562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FCEB5D6-816C-5E64-C957-3C486F280247}"/>
              </a:ext>
            </a:extLst>
          </p:cNvPr>
          <p:cNvSpPr>
            <a:spLocks noGrp="1"/>
          </p:cNvSpPr>
          <p:nvPr>
            <p:ph type="body" idx="1"/>
          </p:nvPr>
        </p:nvSpPr>
        <p:spPr/>
        <p:txBody>
          <a:bodyPr/>
          <a:lstStyle/>
          <a:p>
            <a:r>
              <a:rPr lang="zh-CN" altLang="en-US" dirty="0"/>
              <a:t>在了解了</a:t>
            </a:r>
            <a:r>
              <a:rPr lang="en-US" altLang="zh-CN" dirty="0"/>
              <a:t>Moat</a:t>
            </a:r>
            <a:r>
              <a:rPr lang="zh-CN" altLang="en-US" dirty="0"/>
              <a:t>的各个组成部分后，我们来解释如何实现域隔离：</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刚才我们已经阐述了隔离域需要完全使用安全的</a:t>
            </a:r>
            <a:r>
              <a:rPr lang="en-US" altLang="zh-CN" dirty="0"/>
              <a:t>rust</a:t>
            </a:r>
            <a:r>
              <a:rPr lang="zh-CN" altLang="en-US" dirty="0"/>
              <a:t>实现，并且通过域接口进行域间通信。但是要实现内存隔离，仅仅使用安全的</a:t>
            </a:r>
            <a:r>
              <a:rPr lang="en-US" altLang="zh-CN" dirty="0"/>
              <a:t>rust</a:t>
            </a:r>
            <a:r>
              <a:rPr lang="zh-CN" altLang="en-US" dirty="0"/>
              <a:t>实现还不够，因为</a:t>
            </a:r>
            <a:r>
              <a:rPr lang="zh-CN" altLang="en-US" sz="1200" b="1" dirty="0"/>
              <a:t>域仍然可能通过域接口传递包含复杂层次和引用关系的对象</a:t>
            </a:r>
          </a:p>
          <a:p>
            <a:endParaRPr lang="en-US" altLang="zh-CN" dirty="0"/>
          </a:p>
          <a:p>
            <a:r>
              <a:rPr lang="zh-CN" altLang="en-US" dirty="0"/>
              <a:t>为了解决这个问题，我们为域实现堆隔离，具体来说，</a:t>
            </a:r>
            <a:endParaRPr lang="en-US" altLang="zh-CN" dirty="0"/>
          </a:p>
          <a:p>
            <a:endParaRPr lang="en-US" altLang="zh-CN" dirty="0"/>
          </a:p>
          <a:p>
            <a:r>
              <a:rPr lang="en-US" altLang="zh-CN" b="1" dirty="0"/>
              <a:t>Moat</a:t>
            </a:r>
            <a:r>
              <a:rPr lang="zh-CN" altLang="en-US" b="1" dirty="0"/>
              <a:t>为每个域提供一个私有堆满足域内部的堆分配</a:t>
            </a:r>
            <a:endParaRPr lang="en-US" altLang="zh-CN" b="1" dirty="0"/>
          </a:p>
          <a:p>
            <a:r>
              <a:rPr lang="zh-CN" altLang="en-US" b="1" dirty="0"/>
              <a:t>然后，</a:t>
            </a:r>
            <a:r>
              <a:rPr lang="en-US" altLang="zh-CN" b="1" dirty="0"/>
              <a:t>moat</a:t>
            </a:r>
            <a:r>
              <a:rPr lang="zh-CN" altLang="en-US" b="1" dirty="0"/>
              <a:t>为所有域再提供了一个共享的共享堆，在进行域间调用时，只能通过共享堆上的数据结构进行数据共享或传递。</a:t>
            </a:r>
            <a:endParaRPr lang="en-US" altLang="zh-CN" b="1" dirty="0"/>
          </a:p>
          <a:p>
            <a:r>
              <a:rPr lang="zh-CN" altLang="en-US" i="0" u="none" dirty="0"/>
              <a:t>对于共享堆的数据结构，需要满足几个要求：</a:t>
            </a:r>
            <a:endParaRPr lang="en-US" altLang="zh-CN" i="0" u="none" dirty="0"/>
          </a:p>
          <a:p>
            <a:pPr marL="228600" indent="-228600">
              <a:buAutoNum type="arabicPeriod"/>
            </a:pPr>
            <a:r>
              <a:rPr lang="en-US" altLang="zh-CN" i="0" u="none" dirty="0"/>
              <a:t>…</a:t>
            </a:r>
          </a:p>
          <a:p>
            <a:pPr marL="228600" indent="-228600">
              <a:buAutoNum type="arabicPeriod"/>
            </a:pPr>
            <a:r>
              <a:rPr lang="en-US" altLang="zh-CN" i="0" u="none" dirty="0"/>
              <a:t>…</a:t>
            </a:r>
          </a:p>
          <a:p>
            <a:pPr marL="228600" indent="-228600">
              <a:buAutoNum type="arabicPeriod"/>
            </a:pPr>
            <a:r>
              <a:rPr lang="zh-CN" altLang="en-US" i="0" u="none" dirty="0"/>
              <a:t>在进行数据传递时使用所有权移动而不是使用可变引用，因为可变引用会导致故障隔离变得困难。</a:t>
            </a:r>
            <a:endParaRPr lang="en-US" altLang="zh-CN" i="0" u="none" dirty="0"/>
          </a:p>
          <a:p>
            <a:pPr marL="228600" indent="-228600">
              <a:buAutoNum type="arabicPeriod"/>
            </a:pPr>
            <a:endParaRPr lang="en-US" altLang="zh-CN" dirty="0"/>
          </a:p>
          <a:p>
            <a:pPr marL="0" indent="0">
              <a:buNone/>
            </a:pPr>
            <a:r>
              <a:rPr lang="zh-CN" altLang="en-US" b="1" dirty="0"/>
              <a:t>共享堆上的数据结构需要满足特定的条件从而确保私有堆数据不会通过共享堆泄露到其它域中，从而实现内存隔离。</a:t>
            </a:r>
            <a:endParaRPr lang="en-US" altLang="zh-CN" b="1" dirty="0"/>
          </a:p>
          <a:p>
            <a:pPr marL="0" indent="0">
              <a:buNone/>
            </a:pPr>
            <a:endParaRPr lang="en-US" altLang="zh-CN" dirty="0"/>
          </a:p>
          <a:p>
            <a:pPr marL="0" indent="0">
              <a:buNone/>
            </a:pPr>
            <a:r>
              <a:rPr lang="zh-CN" altLang="en-US" dirty="0"/>
              <a:t>此外，为了存储域内部的状态数据，与私有堆类似，</a:t>
            </a:r>
            <a:r>
              <a:rPr lang="en-US" altLang="zh-CN" dirty="0"/>
              <a:t>Moat</a:t>
            </a:r>
            <a:r>
              <a:rPr lang="zh-CN" altLang="en-US" dirty="0"/>
              <a:t>为每一个域提供一个自定义堆</a:t>
            </a:r>
            <a:endParaRPr lang="en-US" altLang="zh-CN" dirty="0"/>
          </a:p>
          <a:p>
            <a:pPr marL="0" indent="0">
              <a:buNone/>
            </a:pPr>
            <a:endParaRPr lang="en-US" altLang="zh-CN" dirty="0"/>
          </a:p>
          <a:p>
            <a:pPr marL="0" indent="0">
              <a:buNone/>
            </a:pPr>
            <a:r>
              <a:rPr lang="zh-CN" altLang="en-US" dirty="0"/>
              <a:t>所以，为了和现有的非隔离模块交互，运行时也需要在进行接口重定向时将数据做相应的转换从而满足域接口的要求。</a:t>
            </a:r>
            <a:endParaRPr lang="en-US" altLang="zh-CN" dirty="0"/>
          </a:p>
        </p:txBody>
      </p:sp>
      <p:sp>
        <p:nvSpPr>
          <p:cNvPr id="4" name="灯片编号占位符 3">
            <a:extLst>
              <a:ext uri="{FF2B5EF4-FFF2-40B4-BE49-F238E27FC236}">
                <a16:creationId xmlns:a16="http://schemas.microsoft.com/office/drawing/2014/main" id="{5F518476-B3D2-59D7-C782-1875FCBD297E}"/>
              </a:ext>
            </a:extLst>
          </p:cNvPr>
          <p:cNvSpPr>
            <a:spLocks noGrp="1"/>
          </p:cNvSpPr>
          <p:nvPr>
            <p:ph type="sldNum" sz="quarter" idx="10"/>
          </p:nvPr>
        </p:nvSpPr>
        <p:spPr/>
        <p:txBody>
          <a:bodyPr/>
          <a:lstStyle/>
          <a:p>
            <a:pPr>
              <a:defRPr/>
            </a:pPr>
            <a:fld id="{CD7A2CCA-E5D5-4859-8035-B358016F08F8}" type="slidenum">
              <a:rPr lang="zh-CN" altLang="en-US" smtClean="0"/>
              <a:t>10</a:t>
            </a:fld>
            <a:endParaRPr lang="zh-CN" altLang="en-US" dirty="0"/>
          </a:p>
        </p:txBody>
      </p:sp>
    </p:spTree>
    <p:extLst>
      <p:ext uri="{BB962C8B-B14F-4D97-AF65-F5344CB8AC3E}">
        <p14:creationId xmlns:p14="http://schemas.microsoft.com/office/powerpoint/2010/main" val="30220789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83A9C-396B-BB9F-5CC4-2982E5F0EA2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53508BB-9EE4-3EA8-6D00-8168920E8E3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D9D20FB-D805-F4C7-A668-69D2BC3C8818}"/>
              </a:ext>
            </a:extLst>
          </p:cNvPr>
          <p:cNvSpPr>
            <a:spLocks noGrp="1"/>
          </p:cNvSpPr>
          <p:nvPr>
            <p:ph type="body" idx="1"/>
          </p:nvPr>
        </p:nvSpPr>
        <p:spPr/>
        <p:txBody>
          <a:bodyPr/>
          <a:lstStyle/>
          <a:p>
            <a:r>
              <a:rPr lang="zh-CN" altLang="en-US" dirty="0"/>
              <a:t>在解决内存隔离后，我们来解决故障隔离：</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t>域可能因为违背某些安全属性而出现故障，如何正确处理故障</a:t>
            </a:r>
            <a:r>
              <a:rPr lang="en-US" altLang="zh-CN" sz="1200" b="1"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t>我们利用了</a:t>
            </a:r>
            <a:r>
              <a:rPr lang="en-US" altLang="zh-CN" sz="1200" b="0" dirty="0"/>
              <a:t>Rust</a:t>
            </a:r>
            <a:r>
              <a:rPr lang="zh-CN" altLang="en-US" sz="1200" b="0" dirty="0"/>
              <a:t>语言提供的语言级异常处理机制</a:t>
            </a:r>
            <a:endParaRPr lang="en-US" altLang="zh-CN" sz="1200"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t>我们通过拦截域接口调用，将真正的调用包装在语言内置的一个特殊函数</a:t>
            </a:r>
            <a:r>
              <a:rPr lang="en-US" altLang="zh-CN" sz="1200" b="0" dirty="0" err="1"/>
              <a:t>catch_unwind</a:t>
            </a:r>
            <a:r>
              <a:rPr lang="zh-CN" altLang="en-US" sz="1200" b="0" dirty="0"/>
              <a:t>中，使得编译器生成特定的信息，产生一个捕获点。</a:t>
            </a:r>
            <a:endParaRPr lang="en-US" altLang="zh-CN" sz="12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t>同时，</a:t>
            </a:r>
            <a:r>
              <a:rPr lang="en-US" altLang="zh-CN" sz="1200" b="0" dirty="0"/>
              <a:t>Moat</a:t>
            </a:r>
            <a:r>
              <a:rPr lang="zh-CN" altLang="en-US" sz="1200" b="0" dirty="0"/>
              <a:t>为域定义了</a:t>
            </a:r>
            <a:r>
              <a:rPr lang="en-US" altLang="zh-CN" sz="1200" b="0" dirty="0"/>
              <a:t>panic</a:t>
            </a:r>
            <a:r>
              <a:rPr lang="zh-CN" altLang="en-US" sz="1200" b="0" dirty="0"/>
              <a:t>钩子，在钩子中定义了故障恢复的处理流程。</a:t>
            </a:r>
            <a:endParaRPr lang="en-US" altLang="zh-CN" sz="12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t>当域发生故障时，比如缓冲区溢出，执行流将会进入到</a:t>
            </a:r>
            <a:r>
              <a:rPr lang="en-US" altLang="zh-CN" sz="1200" b="0" dirty="0"/>
              <a:t>panic</a:t>
            </a:r>
            <a:r>
              <a:rPr lang="zh-CN" altLang="en-US" sz="1200" b="0" dirty="0"/>
              <a:t>钩子中，在其处理流程中：</a:t>
            </a:r>
            <a:endParaRPr lang="en-US" altLang="zh-CN" sz="1200" b="0"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zh-CN" altLang="en-US" sz="1200" b="0" dirty="0"/>
              <a:t>需要逐级地对堆栈进行回退</a:t>
            </a:r>
            <a:endParaRPr lang="en-US" altLang="zh-CN" sz="1200" b="0"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zh-CN" altLang="en-US" sz="1200" b="0" dirty="0"/>
              <a:t>在每一个函数堆栈中，调用栈中每个活跃对象的 </a:t>
            </a:r>
            <a:r>
              <a:rPr lang="en-US" altLang="zh-CN" sz="1200" b="0" dirty="0"/>
              <a:t>Drop </a:t>
            </a:r>
            <a:r>
              <a:rPr lang="zh-CN" altLang="en-US" sz="1200" b="0" dirty="0"/>
              <a:t>方法，确保资源被释放</a:t>
            </a:r>
            <a:endParaRPr lang="en-US" altLang="zh-CN" sz="1200" b="0"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zh-CN" altLang="en-US" sz="1200" b="0" dirty="0"/>
              <a:t>堆栈展开将会在</a:t>
            </a:r>
            <a:r>
              <a:rPr lang="en-US" altLang="zh-CN" sz="1200" b="0" dirty="0" err="1"/>
              <a:t>catch_unwind</a:t>
            </a:r>
            <a:r>
              <a:rPr lang="zh-CN" altLang="en-US" sz="1200" b="0" dirty="0"/>
              <a:t>处停下来。从而完成故障处理</a:t>
            </a:r>
            <a:endParaRPr lang="en-US" altLang="zh-CN" sz="1200" b="0"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altLang="zh-CN" sz="12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t>在捕获该故障后，调用者可以选择向上返回错误，或者重新发起调用，以隐藏调用失败的情况。</a:t>
            </a:r>
            <a:endParaRPr lang="en-US" altLang="zh-CN" sz="1200"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dirty="0"/>
              <a:t>Moat</a:t>
            </a:r>
            <a:r>
              <a:rPr lang="zh-CN" altLang="en-US" sz="1200" b="0" dirty="0"/>
              <a:t>引入了故障代理来完成这些事情，从而对开发者隐藏其细节</a:t>
            </a:r>
            <a:endParaRPr lang="en-US" altLang="zh-CN" sz="1200"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t>到这里，我们就实现了模块的隔离</a:t>
            </a:r>
            <a:endParaRPr lang="en-US" altLang="zh-CN" sz="1200"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dirty="0"/>
          </a:p>
        </p:txBody>
      </p:sp>
      <p:sp>
        <p:nvSpPr>
          <p:cNvPr id="4" name="灯片编号占位符 3">
            <a:extLst>
              <a:ext uri="{FF2B5EF4-FFF2-40B4-BE49-F238E27FC236}">
                <a16:creationId xmlns:a16="http://schemas.microsoft.com/office/drawing/2014/main" id="{5AEAAF65-E23B-50EF-A12C-B30582BC6116}"/>
              </a:ext>
            </a:extLst>
          </p:cNvPr>
          <p:cNvSpPr>
            <a:spLocks noGrp="1"/>
          </p:cNvSpPr>
          <p:nvPr>
            <p:ph type="sldNum" sz="quarter" idx="10"/>
          </p:nvPr>
        </p:nvSpPr>
        <p:spPr/>
        <p:txBody>
          <a:bodyPr/>
          <a:lstStyle/>
          <a:p>
            <a:pPr>
              <a:defRPr/>
            </a:pPr>
            <a:fld id="{CD7A2CCA-E5D5-4859-8035-B358016F08F8}" type="slidenum">
              <a:rPr lang="zh-CN" altLang="en-US" smtClean="0"/>
              <a:t>11</a:t>
            </a:fld>
            <a:endParaRPr lang="zh-CN" altLang="en-US" dirty="0"/>
          </a:p>
        </p:txBody>
      </p:sp>
    </p:spTree>
    <p:extLst>
      <p:ext uri="{BB962C8B-B14F-4D97-AF65-F5344CB8AC3E}">
        <p14:creationId xmlns:p14="http://schemas.microsoft.com/office/powerpoint/2010/main" val="26808350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670F8-BE73-813D-0326-99B63BAF7B7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60F53C0-63A7-A7DD-92AF-51F919FDCF4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FEFB669-CF7E-95BF-B3BE-04F2786A59EA}"/>
              </a:ext>
            </a:extLst>
          </p:cNvPr>
          <p:cNvSpPr>
            <a:spLocks noGrp="1"/>
          </p:cNvSpPr>
          <p:nvPr>
            <p:ph type="body" idx="1"/>
          </p:nvPr>
        </p:nvSpPr>
        <p:spPr/>
        <p:txBody>
          <a:bodyPr/>
          <a:lstStyle/>
          <a:p>
            <a:r>
              <a:rPr lang="zh-CN" altLang="en-US" dirty="0"/>
              <a:t>接下来，我们解决热更新的问题：</a:t>
            </a:r>
            <a:endParaRPr lang="en-US" altLang="zh-CN" dirty="0"/>
          </a:p>
          <a:p>
            <a:r>
              <a:rPr lang="zh-CN" altLang="en-US" dirty="0"/>
              <a:t>传统的内核模块互相交织导致模块的状态可能被多个模块共享和修改，使得热更新很难保存和同步模块的状态</a:t>
            </a:r>
            <a:endParaRPr lang="en-US" altLang="zh-CN" dirty="0"/>
          </a:p>
          <a:p>
            <a:endParaRPr lang="en-US" altLang="zh-CN" dirty="0"/>
          </a:p>
          <a:p>
            <a:r>
              <a:rPr lang="zh-CN" altLang="en-US" dirty="0"/>
              <a:t>我们没有单独处理热更新这个问题，而是将隔离的属性和热更新的需求结合。</a:t>
            </a:r>
            <a:endParaRPr lang="en-US" altLang="zh-CN" dirty="0"/>
          </a:p>
          <a:p>
            <a:endParaRPr lang="en-US" altLang="zh-CN" dirty="0"/>
          </a:p>
          <a:p>
            <a:r>
              <a:rPr lang="zh-CN" altLang="en-US" dirty="0"/>
              <a:t>这些隔离域通过接口来以及共享堆来进行通信，这意味着它们不会直接共享和操作特殊的全局状态。</a:t>
            </a:r>
            <a:endParaRPr lang="en-US" altLang="zh-CN" dirty="0"/>
          </a:p>
          <a:p>
            <a:r>
              <a:rPr lang="zh-CN" altLang="en-US" dirty="0"/>
              <a:t>而且由于每一个域是独立的，它们的状态数据也是独立的</a:t>
            </a:r>
            <a:endParaRPr lang="en-US" altLang="zh-CN" dirty="0"/>
          </a:p>
          <a:p>
            <a:r>
              <a:rPr lang="zh-CN" altLang="en-US" dirty="0"/>
              <a:t>而在域内部，它们的状态数据通常保存在全局变量上或者堆上，与其它普通数据有明显的区别。同时，我们发现，</a:t>
            </a:r>
            <a:endParaRPr lang="en-US" altLang="zh-CN" dirty="0"/>
          </a:p>
          <a:p>
            <a:r>
              <a:rPr lang="zh-CN" altLang="en-US" dirty="0"/>
              <a:t>有些域不包含状态数据。</a:t>
            </a:r>
            <a:endParaRPr lang="en-US" altLang="zh-CN" dirty="0"/>
          </a:p>
          <a:p>
            <a:endParaRPr lang="en-US" altLang="zh-CN" dirty="0"/>
          </a:p>
          <a:p>
            <a:r>
              <a:rPr lang="zh-CN" altLang="en-US" dirty="0"/>
              <a:t>基于这个观察，我们划分了无状态域</a:t>
            </a:r>
            <a:r>
              <a:rPr lang="en-US" altLang="zh-CN" dirty="0"/>
              <a:t>/</a:t>
            </a:r>
            <a:r>
              <a:rPr lang="zh-CN" altLang="en-US" dirty="0"/>
              <a:t>有状态域</a:t>
            </a:r>
            <a:r>
              <a:rPr lang="en-US" altLang="zh-CN" dirty="0"/>
              <a:t>-&gt; </a:t>
            </a:r>
            <a:r>
              <a:rPr lang="zh-CN" altLang="en-US" dirty="0"/>
              <a:t>针对有状态域，我们提供了一个自定义堆，从而为域的状态数据提供一个特定的存储区域。</a:t>
            </a:r>
            <a:endParaRPr lang="en-US" altLang="zh-CN" dirty="0"/>
          </a:p>
          <a:p>
            <a:endParaRPr lang="en-US" altLang="zh-CN" dirty="0"/>
          </a:p>
          <a:p>
            <a:r>
              <a:rPr lang="zh-CN" altLang="en-US" dirty="0"/>
              <a:t>左图展示一个调度器存储其任务队列的例子。</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当然，引入自定义堆后，开发者就需要针对热更新需求来</a:t>
            </a:r>
            <a:r>
              <a:rPr lang="zh-CN" altLang="en-US" sz="1200" dirty="0"/>
              <a:t>区分域内的状态数据和非状态数据然后使用自定义堆存储和索引状态数据</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虽然自定义堆的引入带来了对象分配方式上的改变，</a:t>
            </a:r>
            <a:r>
              <a:rPr lang="en-US" altLang="zh-CN" dirty="0"/>
              <a:t>Moat </a:t>
            </a:r>
            <a:r>
              <a:rPr lang="zh-CN" altLang="en-US" dirty="0"/>
              <a:t>尽量保持接口简洁易用以降低开发负担</a:t>
            </a:r>
            <a:endParaRPr lang="en-US" altLang="zh-CN" dirty="0"/>
          </a:p>
          <a:p>
            <a:endParaRPr lang="en-US" altLang="zh-CN" dirty="0"/>
          </a:p>
          <a:p>
            <a:endParaRPr lang="en-US" altLang="zh-CN" dirty="0"/>
          </a:p>
        </p:txBody>
      </p:sp>
      <p:sp>
        <p:nvSpPr>
          <p:cNvPr id="4" name="灯片编号占位符 3">
            <a:extLst>
              <a:ext uri="{FF2B5EF4-FFF2-40B4-BE49-F238E27FC236}">
                <a16:creationId xmlns:a16="http://schemas.microsoft.com/office/drawing/2014/main" id="{F9E5E011-ABE1-82CF-6D54-32191262D100}"/>
              </a:ext>
            </a:extLst>
          </p:cNvPr>
          <p:cNvSpPr>
            <a:spLocks noGrp="1"/>
          </p:cNvSpPr>
          <p:nvPr>
            <p:ph type="sldNum" sz="quarter" idx="10"/>
          </p:nvPr>
        </p:nvSpPr>
        <p:spPr/>
        <p:txBody>
          <a:bodyPr/>
          <a:lstStyle/>
          <a:p>
            <a:pPr>
              <a:defRPr/>
            </a:pPr>
            <a:fld id="{CD7A2CCA-E5D5-4859-8035-B358016F08F8}" type="slidenum">
              <a:rPr lang="zh-CN" altLang="en-US" smtClean="0"/>
              <a:t>12</a:t>
            </a:fld>
            <a:endParaRPr lang="zh-CN" altLang="en-US" dirty="0"/>
          </a:p>
        </p:txBody>
      </p:sp>
    </p:spTree>
    <p:extLst>
      <p:ext uri="{BB962C8B-B14F-4D97-AF65-F5344CB8AC3E}">
        <p14:creationId xmlns:p14="http://schemas.microsoft.com/office/powerpoint/2010/main" val="17440279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F37C3-1C8D-54C5-29F2-788587FA35E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05C210E-5366-CC23-4575-8B57EE72274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3009C05-B4E5-512D-251B-20540143C2F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解决域的状态数据存储后，我们来解决状态数据的同步。这里的核心问题是状态同步可能会导致服务暂停，如何减少尽可能减少其暂停时间。</a:t>
            </a:r>
            <a:endParaRPr lang="en-US" altLang="zh-CN" dirty="0"/>
          </a:p>
          <a:p>
            <a:endParaRPr lang="en-US" altLang="zh-CN" dirty="0"/>
          </a:p>
          <a:p>
            <a:r>
              <a:rPr lang="zh-CN" altLang="en-US" dirty="0"/>
              <a:t>为了解决这个问题，</a:t>
            </a:r>
            <a:r>
              <a:rPr lang="en-US" altLang="zh-CN" dirty="0"/>
              <a:t>Moat</a:t>
            </a:r>
            <a:r>
              <a:rPr lang="zh-CN" altLang="en-US" dirty="0"/>
              <a:t>针对无状态域</a:t>
            </a:r>
            <a:r>
              <a:rPr lang="en-US" altLang="zh-CN" dirty="0"/>
              <a:t>/</a:t>
            </a:r>
            <a:r>
              <a:rPr lang="zh-CN" altLang="en-US" dirty="0"/>
              <a:t>有状态域采用了不同的方法：</a:t>
            </a:r>
            <a:endParaRPr lang="en-US" altLang="zh-CN" dirty="0"/>
          </a:p>
          <a:p>
            <a:endParaRPr lang="en-US" altLang="zh-CN" dirty="0"/>
          </a:p>
          <a:p>
            <a:r>
              <a:rPr lang="zh-CN" altLang="en-US" dirty="0"/>
              <a:t>对于无状态域，</a:t>
            </a:r>
            <a:r>
              <a:rPr lang="en-US" altLang="zh-CN" dirty="0"/>
              <a:t>Moat</a:t>
            </a:r>
            <a:r>
              <a:rPr lang="zh-CN" altLang="en-US" dirty="0"/>
              <a:t>使用了</a:t>
            </a:r>
            <a:r>
              <a:rPr lang="en-US" altLang="zh-CN" dirty="0"/>
              <a:t>RCU</a:t>
            </a:r>
            <a:r>
              <a:rPr lang="zh-CN" altLang="en-US" dirty="0"/>
              <a:t>机制来进行任务状态同步，</a:t>
            </a:r>
            <a:r>
              <a:rPr lang="en-US" altLang="zh-CN" dirty="0"/>
              <a:t>RCU</a:t>
            </a:r>
            <a:r>
              <a:rPr lang="zh-CN" altLang="en-US" dirty="0"/>
              <a:t>是一种类似读写锁的同步机制，但是它可以允许我们执行以下操作：</a:t>
            </a:r>
            <a:endParaRPr lang="en-US" altLang="zh-CN" dirty="0"/>
          </a:p>
          <a:p>
            <a:pPr marL="228600" indent="-228600">
              <a:buAutoNum type="arabicPeriod"/>
            </a:pPr>
            <a:r>
              <a:rPr lang="zh-CN" altLang="en-US" dirty="0"/>
              <a:t>在对域进行热更新时，旧的域仍然可以提供服务</a:t>
            </a:r>
            <a:endParaRPr lang="en-US" altLang="zh-CN" dirty="0"/>
          </a:p>
          <a:p>
            <a:pPr marL="228600" indent="-228600">
              <a:buAutoNum type="arabicPeriod"/>
            </a:pPr>
            <a:r>
              <a:rPr lang="zh-CN" altLang="en-US" dirty="0"/>
              <a:t>加载新域到内核地址空间中后，新到来的任务可以使用新的域的服务</a:t>
            </a:r>
            <a:endParaRPr lang="en-US" altLang="zh-CN" dirty="0"/>
          </a:p>
          <a:p>
            <a:pPr marL="228600" indent="-228600">
              <a:buAutoNum type="arabicPeriod"/>
            </a:pPr>
            <a:r>
              <a:rPr lang="zh-CN" altLang="en-US" dirty="0"/>
              <a:t>当旧的域中任务全部离开后，再卸载旧的域，回收其资源</a:t>
            </a:r>
            <a:endParaRPr lang="en-US" altLang="zh-CN" dirty="0"/>
          </a:p>
          <a:p>
            <a:endParaRPr lang="zh-CN" altLang="en-US" dirty="0"/>
          </a:p>
        </p:txBody>
      </p:sp>
      <p:sp>
        <p:nvSpPr>
          <p:cNvPr id="4" name="灯片编号占位符 3">
            <a:extLst>
              <a:ext uri="{FF2B5EF4-FFF2-40B4-BE49-F238E27FC236}">
                <a16:creationId xmlns:a16="http://schemas.microsoft.com/office/drawing/2014/main" id="{B2E79674-F5D8-3C2C-DA4B-9724170756FF}"/>
              </a:ext>
            </a:extLst>
          </p:cNvPr>
          <p:cNvSpPr>
            <a:spLocks noGrp="1"/>
          </p:cNvSpPr>
          <p:nvPr>
            <p:ph type="sldNum" sz="quarter" idx="10"/>
          </p:nvPr>
        </p:nvSpPr>
        <p:spPr/>
        <p:txBody>
          <a:bodyPr/>
          <a:lstStyle/>
          <a:p>
            <a:pPr>
              <a:defRPr/>
            </a:pPr>
            <a:fld id="{CD7A2CCA-E5D5-4859-8035-B358016F08F8}" type="slidenum">
              <a:rPr lang="zh-CN" altLang="en-US" smtClean="0"/>
              <a:t>13</a:t>
            </a:fld>
            <a:endParaRPr lang="zh-CN" altLang="en-US" dirty="0"/>
          </a:p>
        </p:txBody>
      </p:sp>
    </p:spTree>
    <p:extLst>
      <p:ext uri="{BB962C8B-B14F-4D97-AF65-F5344CB8AC3E}">
        <p14:creationId xmlns:p14="http://schemas.microsoft.com/office/powerpoint/2010/main" val="6863405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4FFA1-CD35-0E93-E096-F8CDB40E153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61C1228-5EC0-D9F4-3DDA-70E63F9CE47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0E95808-BFD6-E7B6-7383-0E5F1CB2EA3E}"/>
              </a:ext>
            </a:extLst>
          </p:cNvPr>
          <p:cNvSpPr>
            <a:spLocks noGrp="1"/>
          </p:cNvSpPr>
          <p:nvPr>
            <p:ph type="body" idx="1"/>
          </p:nvPr>
        </p:nvSpPr>
        <p:spPr/>
        <p:txBody>
          <a:bodyPr/>
          <a:lstStyle/>
          <a:p>
            <a:r>
              <a:rPr lang="zh-CN" altLang="en-US" dirty="0"/>
              <a:t>对于有状态的域：由于</a:t>
            </a:r>
            <a:r>
              <a:rPr lang="zh-CN" altLang="en-US" sz="1200" b="1" dirty="0"/>
              <a:t>有状态域提供的服务依赖内部的状态数据，更新需要确保所有的任务已经离开旧域并阻止新的任务进入旧域中才能安全地重新初始化新域</a:t>
            </a:r>
            <a:endParaRPr lang="en-US" altLang="zh-CN" sz="1200" b="1" dirty="0"/>
          </a:p>
          <a:p>
            <a:endParaRPr lang="en-US" altLang="zh-CN" sz="1200" b="1" dirty="0"/>
          </a:p>
          <a:p>
            <a:r>
              <a:rPr lang="zh-CN" altLang="en-US" sz="1200" b="0" dirty="0"/>
              <a:t>为了解决这个问题：我们采用了一种动态锁的方法：具体来说</a:t>
            </a:r>
            <a:endParaRPr lang="en-US" altLang="zh-CN" sz="1200" b="0" dirty="0"/>
          </a:p>
          <a:p>
            <a:r>
              <a:rPr lang="en-US" altLang="zh-CN" sz="1200" b="0" dirty="0"/>
              <a:t>Moat</a:t>
            </a:r>
            <a:r>
              <a:rPr lang="zh-CN" altLang="en-US" sz="1200" b="0" dirty="0"/>
              <a:t>为每个域维护了一个全局标记，</a:t>
            </a:r>
            <a:endParaRPr lang="en-US" altLang="zh-CN" sz="1200" b="0" dirty="0"/>
          </a:p>
          <a:p>
            <a:endParaRPr lang="en-US" altLang="zh-CN" sz="1200" b="0" dirty="0"/>
          </a:p>
          <a:p>
            <a:r>
              <a:rPr lang="zh-CN" altLang="en-US" sz="1200" b="0" dirty="0"/>
              <a:t>在正常运行期间，访问者调用域时因为全局标记未使能 走一个无锁路径，左图中的路径</a:t>
            </a:r>
            <a:r>
              <a:rPr lang="en-US" altLang="zh-CN" sz="1200" b="0" dirty="0"/>
              <a:t>2</a:t>
            </a:r>
            <a:r>
              <a:rPr lang="zh-CN" altLang="en-US" sz="1200" b="0" dirty="0"/>
              <a:t>，这里，会使用一个</a:t>
            </a:r>
            <a:r>
              <a:rPr lang="en-US" altLang="zh-CN" sz="1200" b="0" dirty="0"/>
              <a:t>Per-</a:t>
            </a:r>
            <a:r>
              <a:rPr lang="en-US" altLang="zh-CN" sz="1200" b="0" dirty="0" err="1"/>
              <a:t>cpu</a:t>
            </a:r>
            <a:r>
              <a:rPr lang="zh-CN" altLang="en-US" sz="1200" b="0" dirty="0"/>
              <a:t>变量来统计每个域的任务进入和离开计数</a:t>
            </a:r>
            <a:endParaRPr lang="en-US" altLang="zh-CN" sz="1200" b="0" dirty="0"/>
          </a:p>
          <a:p>
            <a:endParaRPr lang="en-US" altLang="zh-CN" sz="1200" b="0" dirty="0"/>
          </a:p>
          <a:p>
            <a:r>
              <a:rPr lang="zh-CN" altLang="en-US" sz="1200" b="0" dirty="0"/>
              <a:t>在执行热更新期间，更新者会先获取锁并使能全局标记，如图中路径</a:t>
            </a:r>
            <a:r>
              <a:rPr lang="en-US" altLang="zh-CN" sz="1200" b="0" dirty="0"/>
              <a:t>3</a:t>
            </a:r>
          </a:p>
          <a:p>
            <a:r>
              <a:rPr lang="zh-CN" altLang="en-US" sz="1200" b="0" dirty="0"/>
              <a:t>这会导致后续的访问者因为标记使能而走有锁路径，但由于更新者已经拿到锁，所以后续的访问者被阻塞</a:t>
            </a:r>
            <a:endParaRPr lang="en-US" altLang="zh-CN" sz="1200" b="0" dirty="0"/>
          </a:p>
          <a:p>
            <a:endParaRPr lang="en-US" altLang="zh-CN" sz="1200" b="0" dirty="0"/>
          </a:p>
          <a:p>
            <a:r>
              <a:rPr lang="zh-CN" altLang="en-US" sz="1200" b="0" dirty="0"/>
              <a:t>更新者检查任务计数来确定域中之前的访问者已经全部离开，然后加载新的域，并将旧域的自定义堆迁移到新域中</a:t>
            </a:r>
            <a:endParaRPr lang="en-US" altLang="zh-CN" sz="1200" b="0" dirty="0"/>
          </a:p>
          <a:p>
            <a:r>
              <a:rPr lang="zh-CN" altLang="en-US" sz="1200" b="0" dirty="0"/>
              <a:t>然后关闭全局标记</a:t>
            </a:r>
            <a:endParaRPr lang="en-US" altLang="zh-CN" sz="1200" b="0" dirty="0"/>
          </a:p>
          <a:p>
            <a:endParaRPr lang="en-US" altLang="zh-CN" dirty="0"/>
          </a:p>
          <a:p>
            <a:endParaRPr lang="zh-CN" altLang="en-US" b="1" dirty="0"/>
          </a:p>
        </p:txBody>
      </p:sp>
      <p:sp>
        <p:nvSpPr>
          <p:cNvPr id="4" name="灯片编号占位符 3">
            <a:extLst>
              <a:ext uri="{FF2B5EF4-FFF2-40B4-BE49-F238E27FC236}">
                <a16:creationId xmlns:a16="http://schemas.microsoft.com/office/drawing/2014/main" id="{7908D121-4677-9EB4-C23E-4B31F1A4FFC7}"/>
              </a:ext>
            </a:extLst>
          </p:cNvPr>
          <p:cNvSpPr>
            <a:spLocks noGrp="1"/>
          </p:cNvSpPr>
          <p:nvPr>
            <p:ph type="sldNum" sz="quarter" idx="10"/>
          </p:nvPr>
        </p:nvSpPr>
        <p:spPr/>
        <p:txBody>
          <a:bodyPr/>
          <a:lstStyle/>
          <a:p>
            <a:pPr>
              <a:defRPr/>
            </a:pPr>
            <a:fld id="{CD7A2CCA-E5D5-4859-8035-B358016F08F8}" type="slidenum">
              <a:rPr lang="zh-CN" altLang="en-US" smtClean="0"/>
              <a:t>14</a:t>
            </a:fld>
            <a:endParaRPr lang="zh-CN" altLang="en-US" dirty="0"/>
          </a:p>
        </p:txBody>
      </p:sp>
    </p:spTree>
    <p:extLst>
      <p:ext uri="{BB962C8B-B14F-4D97-AF65-F5344CB8AC3E}">
        <p14:creationId xmlns:p14="http://schemas.microsoft.com/office/powerpoint/2010/main" val="8147070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22E28-E99D-CF7D-EBFF-9F8175DBF0E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E2897D2-8FC5-2503-FBFF-4817C58A998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EF9D9F9-A5E2-46EF-A8FB-0FEB61D332F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t>但我们发现</a:t>
            </a:r>
            <a:r>
              <a:rPr lang="en-US" altLang="zh-CN" sz="1200" b="1" dirty="0"/>
              <a:t>,</a:t>
            </a:r>
            <a:r>
              <a:rPr lang="zh-CN" altLang="en-US" sz="1200" b="1" dirty="0"/>
              <a:t>多核场景下，这个方法会出现一些问题。</a:t>
            </a:r>
            <a:endParaRPr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t>如右上图所示，如果更新者在统计任务计数时访问者还未增加计数，可能会导致更新者错误地进入更新阶段</a:t>
            </a:r>
            <a:endParaRPr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t>这个并发问题的根源在于检查标记和修改计数并非一个不可打断的操作，因此，解决它的方法就是让它成为一个不可中断的操作</a:t>
            </a:r>
            <a:endParaRPr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t>基于这个想法，访问者需要在检查标记和修改计数前后开关中断，而更新者需要通过向其它核心发送</a:t>
            </a:r>
            <a:r>
              <a:rPr lang="en-US" altLang="zh-CN" sz="1200" b="1" dirty="0"/>
              <a:t>IPI</a:t>
            </a:r>
            <a:r>
              <a:rPr lang="zh-CN" altLang="en-US" sz="1200" b="1" dirty="0"/>
              <a:t>并等待确认之后再进行任务计数</a:t>
            </a:r>
            <a:endParaRPr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t>这样就可以解决这个并发的问题。</a:t>
            </a:r>
            <a:endParaRPr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t>和故障代理类似，</a:t>
            </a:r>
            <a:r>
              <a:rPr lang="en-US" altLang="zh-CN" sz="1200" b="1" dirty="0"/>
              <a:t>Moat</a:t>
            </a:r>
            <a:r>
              <a:rPr lang="zh-CN" altLang="en-US" sz="1200" b="1" dirty="0"/>
              <a:t>也为热更新引入了一个热更新代理来执行这些操作，从而向开发者</a:t>
            </a:r>
            <a:r>
              <a:rPr lang="zh-CN" altLang="en-US" dirty="0"/>
              <a:t>隐藏具体的热更新处理逻辑</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dirty="0"/>
          </a:p>
        </p:txBody>
      </p:sp>
      <p:sp>
        <p:nvSpPr>
          <p:cNvPr id="4" name="灯片编号占位符 3">
            <a:extLst>
              <a:ext uri="{FF2B5EF4-FFF2-40B4-BE49-F238E27FC236}">
                <a16:creationId xmlns:a16="http://schemas.microsoft.com/office/drawing/2014/main" id="{E4AB5CF2-B02B-4C37-D8EE-4DE5B745A38F}"/>
              </a:ext>
            </a:extLst>
          </p:cNvPr>
          <p:cNvSpPr>
            <a:spLocks noGrp="1"/>
          </p:cNvSpPr>
          <p:nvPr>
            <p:ph type="sldNum" sz="quarter" idx="10"/>
          </p:nvPr>
        </p:nvSpPr>
        <p:spPr/>
        <p:txBody>
          <a:bodyPr/>
          <a:lstStyle/>
          <a:p>
            <a:pPr>
              <a:defRPr/>
            </a:pPr>
            <a:fld id="{CD7A2CCA-E5D5-4859-8035-B358016F08F8}" type="slidenum">
              <a:rPr lang="zh-CN" altLang="en-US" smtClean="0"/>
              <a:t>15</a:t>
            </a:fld>
            <a:endParaRPr lang="zh-CN" altLang="en-US" dirty="0"/>
          </a:p>
        </p:txBody>
      </p:sp>
    </p:spTree>
    <p:extLst>
      <p:ext uri="{BB962C8B-B14F-4D97-AF65-F5344CB8AC3E}">
        <p14:creationId xmlns:p14="http://schemas.microsoft.com/office/powerpoint/2010/main" val="24135616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6A88C-875A-A751-8EFA-A1B92FEC4D2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EB01560-AD0A-0EC5-2B01-94FBA353BF9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60566CE-9043-BA45-DAF4-2991F7F118D9}"/>
              </a:ext>
            </a:extLst>
          </p:cNvPr>
          <p:cNvSpPr>
            <a:spLocks noGrp="1"/>
          </p:cNvSpPr>
          <p:nvPr>
            <p:ph type="body" idx="1"/>
          </p:nvPr>
        </p:nvSpPr>
        <p:spPr/>
        <p:txBody>
          <a:bodyPr/>
          <a:lstStyle/>
          <a:p>
            <a:r>
              <a:rPr lang="zh-CN" altLang="en-US" dirty="0"/>
              <a:t>为了评估这个框架的有效性，我们按照框架结构从零实现了一个原型</a:t>
            </a:r>
            <a:r>
              <a:rPr lang="en-US" altLang="zh-CN" dirty="0"/>
              <a:t>OS-Alien</a:t>
            </a:r>
            <a:r>
              <a:rPr lang="zh-CN" altLang="en-US" dirty="0"/>
              <a:t>，并将该框架适配到了</a:t>
            </a:r>
            <a:r>
              <a:rPr lang="en-US" altLang="zh-CN" dirty="0"/>
              <a:t>Linux</a:t>
            </a:r>
            <a:r>
              <a:rPr lang="zh-CN" altLang="en-US" dirty="0"/>
              <a:t>内核中，在已有的</a:t>
            </a:r>
            <a:r>
              <a:rPr lang="en-US" altLang="zh-CN" dirty="0"/>
              <a:t>RFL</a:t>
            </a:r>
            <a:r>
              <a:rPr lang="zh-CN" altLang="en-US" dirty="0"/>
              <a:t>工作的基础上，我们实现了几个内核模块的域隔离改造。</a:t>
            </a:r>
            <a:endParaRPr lang="en-US" altLang="zh-CN" dirty="0"/>
          </a:p>
          <a:p>
            <a:endParaRPr lang="en-US" altLang="zh-CN" dirty="0"/>
          </a:p>
          <a:p>
            <a:endParaRPr lang="zh-CN" altLang="en-US" dirty="0"/>
          </a:p>
        </p:txBody>
      </p:sp>
      <p:sp>
        <p:nvSpPr>
          <p:cNvPr id="4" name="灯片编号占位符 3">
            <a:extLst>
              <a:ext uri="{FF2B5EF4-FFF2-40B4-BE49-F238E27FC236}">
                <a16:creationId xmlns:a16="http://schemas.microsoft.com/office/drawing/2014/main" id="{DB27A6B1-C4D1-9C12-1BF3-033CC0561F51}"/>
              </a:ext>
            </a:extLst>
          </p:cNvPr>
          <p:cNvSpPr>
            <a:spLocks noGrp="1"/>
          </p:cNvSpPr>
          <p:nvPr>
            <p:ph type="sldNum" sz="quarter" idx="10"/>
          </p:nvPr>
        </p:nvSpPr>
        <p:spPr/>
        <p:txBody>
          <a:bodyPr/>
          <a:lstStyle/>
          <a:p>
            <a:pPr>
              <a:defRPr/>
            </a:pPr>
            <a:fld id="{CD7A2CCA-E5D5-4859-8035-B358016F08F8}" type="slidenum">
              <a:rPr lang="zh-CN" altLang="en-US" smtClean="0"/>
              <a:t>16</a:t>
            </a:fld>
            <a:endParaRPr lang="zh-CN" altLang="en-US" dirty="0"/>
          </a:p>
        </p:txBody>
      </p:sp>
    </p:spTree>
    <p:extLst>
      <p:ext uri="{BB962C8B-B14F-4D97-AF65-F5344CB8AC3E}">
        <p14:creationId xmlns:p14="http://schemas.microsoft.com/office/powerpoint/2010/main" val="29713823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4202-EE49-4CA5-B441-08BE655B3A2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8A00291-58D3-4AD7-6A21-4D164E1025B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EABF793-D756-4BE2-19D9-7A29D3CB6548}"/>
              </a:ext>
            </a:extLst>
          </p:cNvPr>
          <p:cNvSpPr>
            <a:spLocks noGrp="1"/>
          </p:cNvSpPr>
          <p:nvPr>
            <p:ph type="body" idx="1"/>
          </p:nvPr>
        </p:nvSpPr>
        <p:spPr/>
        <p:txBody>
          <a:bodyPr/>
          <a:lstStyle/>
          <a:p>
            <a:r>
              <a:rPr lang="zh-CN" altLang="en-US" dirty="0"/>
              <a:t>接下来我们介绍实验评估部分， 这些实验主要回答以下几个问题：</a:t>
            </a:r>
            <a:endParaRPr lang="en-US" altLang="zh-CN" dirty="0"/>
          </a:p>
          <a:p>
            <a:pPr marL="228600" indent="-228600">
              <a:buAutoNum type="arabicPeriod"/>
            </a:pPr>
            <a:r>
              <a:rPr lang="en-US" altLang="zh-CN" dirty="0"/>
              <a:t>….</a:t>
            </a:r>
          </a:p>
          <a:p>
            <a:pPr marL="228600" indent="-228600">
              <a:buAutoNum type="arabicPeriod"/>
            </a:pPr>
            <a:r>
              <a:rPr lang="en-US" altLang="zh-CN" dirty="0"/>
              <a:t>….</a:t>
            </a:r>
          </a:p>
          <a:p>
            <a:pPr marL="228600" indent="-228600">
              <a:buAutoNum type="arabicPeriod"/>
            </a:pPr>
            <a:r>
              <a:rPr lang="en-US" altLang="zh-CN" dirty="0"/>
              <a:t>….</a:t>
            </a:r>
          </a:p>
          <a:p>
            <a:pPr marL="228600" indent="-228600">
              <a:buAutoNum type="arabicPeriod"/>
            </a:pPr>
            <a:endParaRPr lang="en-US" altLang="zh-CN" dirty="0"/>
          </a:p>
          <a:p>
            <a:pPr marL="0" indent="0">
              <a:buNone/>
            </a:pPr>
            <a:r>
              <a:rPr lang="zh-CN" altLang="en-US" dirty="0"/>
              <a:t>大多数的实验在</a:t>
            </a:r>
            <a:r>
              <a:rPr lang="en-US" altLang="zh-CN" dirty="0"/>
              <a:t>Linux</a:t>
            </a:r>
            <a:r>
              <a:rPr lang="zh-CN" altLang="en-US" dirty="0"/>
              <a:t>系统上完成，其配置如图表所示，热更新的示例在</a:t>
            </a:r>
            <a:r>
              <a:rPr lang="en-US" altLang="zh-CN" dirty="0"/>
              <a:t>Alien </a:t>
            </a:r>
            <a:r>
              <a:rPr lang="zh-CN" altLang="en-US" dirty="0"/>
              <a:t>原型系统完成，该系统运行在一个</a:t>
            </a:r>
            <a:r>
              <a:rPr lang="en-US" altLang="zh-CN" dirty="0" err="1"/>
              <a:t>riscv</a:t>
            </a:r>
            <a:r>
              <a:rPr lang="zh-CN" altLang="en-US" dirty="0"/>
              <a:t>架构的开发板上</a:t>
            </a:r>
          </a:p>
        </p:txBody>
      </p:sp>
      <p:sp>
        <p:nvSpPr>
          <p:cNvPr id="4" name="灯片编号占位符 3">
            <a:extLst>
              <a:ext uri="{FF2B5EF4-FFF2-40B4-BE49-F238E27FC236}">
                <a16:creationId xmlns:a16="http://schemas.microsoft.com/office/drawing/2014/main" id="{61A8F4B6-7EFA-7CE5-9B27-B79B0A4192E4}"/>
              </a:ext>
            </a:extLst>
          </p:cNvPr>
          <p:cNvSpPr>
            <a:spLocks noGrp="1"/>
          </p:cNvSpPr>
          <p:nvPr>
            <p:ph type="sldNum" sz="quarter" idx="10"/>
          </p:nvPr>
        </p:nvSpPr>
        <p:spPr/>
        <p:txBody>
          <a:bodyPr/>
          <a:lstStyle/>
          <a:p>
            <a:pPr>
              <a:defRPr/>
            </a:pPr>
            <a:fld id="{CD7A2CCA-E5D5-4859-8035-B358016F08F8}" type="slidenum">
              <a:rPr lang="zh-CN" altLang="en-US" smtClean="0"/>
              <a:t>17</a:t>
            </a:fld>
            <a:endParaRPr lang="zh-CN" altLang="en-US" dirty="0"/>
          </a:p>
        </p:txBody>
      </p:sp>
    </p:spTree>
    <p:extLst>
      <p:ext uri="{BB962C8B-B14F-4D97-AF65-F5344CB8AC3E}">
        <p14:creationId xmlns:p14="http://schemas.microsoft.com/office/powerpoint/2010/main" val="35842385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088F6-0AB9-B168-2665-F0B484540AB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C2E91A6-21D7-34B3-88BE-6F059F52825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109510E-BF2B-EEB7-5463-0EE880A2E622}"/>
              </a:ext>
            </a:extLst>
          </p:cNvPr>
          <p:cNvSpPr>
            <a:spLocks noGrp="1"/>
          </p:cNvSpPr>
          <p:nvPr>
            <p:ph type="body" idx="1"/>
          </p:nvPr>
        </p:nvSpPr>
        <p:spPr/>
        <p:txBody>
          <a:bodyPr/>
          <a:lstStyle/>
          <a:p>
            <a:pPr marL="0" indent="0">
              <a:buFont typeface="Wingdings" panose="05000000000000000000" pitchFamily="2" charset="2"/>
              <a:buNone/>
            </a:pPr>
            <a:endParaRPr lang="en-US" altLang="zh-CN" dirty="0"/>
          </a:p>
          <a:p>
            <a:pPr marL="285750" indent="-285750">
              <a:buFont typeface="Wingdings" panose="05000000000000000000" pitchFamily="2" charset="2"/>
              <a:buChar char="Ø"/>
            </a:pPr>
            <a:r>
              <a:rPr lang="zh-CN" altLang="en-US" sz="1400" dirty="0"/>
              <a:t>降低调用延迟，比</a:t>
            </a:r>
            <a:r>
              <a:rPr lang="en-US" altLang="zh-CN" sz="1400" dirty="0" err="1"/>
              <a:t>RedLeaf</a:t>
            </a:r>
            <a:r>
              <a:rPr lang="zh-CN" altLang="en-US" sz="1400" dirty="0"/>
              <a:t>快约</a:t>
            </a:r>
            <a:r>
              <a:rPr lang="en-US" altLang="zh-CN" sz="1400" dirty="0">
                <a:solidFill>
                  <a:srgbClr val="FF0000"/>
                </a:solidFill>
              </a:rPr>
              <a:t>3</a:t>
            </a:r>
            <a:r>
              <a:rPr lang="zh-CN" altLang="en-US" sz="1400" dirty="0">
                <a:solidFill>
                  <a:srgbClr val="FF0000"/>
                </a:solidFill>
              </a:rPr>
              <a:t>倍</a:t>
            </a:r>
            <a:endParaRPr lang="en-US" altLang="zh-CN" sz="1200" dirty="0">
              <a:solidFill>
                <a:srgbClr val="FF0000"/>
              </a:solidFill>
            </a:endParaRPr>
          </a:p>
          <a:p>
            <a:pPr marL="285750" indent="-285750">
              <a:buFont typeface="Wingdings" panose="05000000000000000000" pitchFamily="2" charset="2"/>
              <a:buChar char="Ø"/>
            </a:pPr>
            <a:r>
              <a:rPr lang="zh-CN" altLang="en-US" sz="1400" dirty="0"/>
              <a:t>与硬件隔离机制相同的性能水平</a:t>
            </a:r>
            <a:endParaRPr lang="en-US" altLang="zh-CN" sz="1400" dirty="0"/>
          </a:p>
          <a:p>
            <a:pPr marL="285750" indent="-285750">
              <a:buFont typeface="Wingdings" panose="05000000000000000000" pitchFamily="2" charset="2"/>
              <a:buChar char="Ø"/>
            </a:pPr>
            <a:r>
              <a:rPr lang="zh-CN" altLang="en-US" sz="1200" dirty="0"/>
              <a:t>移除实时更新代理后，</a:t>
            </a:r>
            <a:r>
              <a:rPr lang="en-US" altLang="zh-CN" sz="1200" dirty="0"/>
              <a:t>MOAT</a:t>
            </a:r>
            <a:r>
              <a:rPr lang="zh-CN" altLang="en-US" sz="1200" dirty="0"/>
              <a:t>的调用延迟可进一步</a:t>
            </a:r>
            <a:r>
              <a:rPr lang="zh-CN" altLang="en-US" sz="1200" dirty="0">
                <a:solidFill>
                  <a:srgbClr val="FF0000"/>
                </a:solidFill>
              </a:rPr>
              <a:t>降低至</a:t>
            </a:r>
            <a:r>
              <a:rPr lang="en-US" altLang="zh-CN" sz="1200" dirty="0">
                <a:solidFill>
                  <a:srgbClr val="FF0000"/>
                </a:solidFill>
              </a:rPr>
              <a:t>5-49</a:t>
            </a:r>
            <a:r>
              <a:rPr lang="zh-CN" altLang="en-US" sz="1200" dirty="0">
                <a:solidFill>
                  <a:srgbClr val="FF0000"/>
                </a:solidFill>
              </a:rPr>
              <a:t>周期</a:t>
            </a:r>
            <a:r>
              <a:rPr lang="zh-CN" altLang="en-US" sz="1200" dirty="0"/>
              <a:t>，表明其架构的灵活性。</a:t>
            </a:r>
            <a:endParaRPr lang="en-US" altLang="zh-CN" sz="1200" dirty="0"/>
          </a:p>
          <a:p>
            <a:pPr marL="285750" indent="-285750">
              <a:buFont typeface="Wingdings" panose="05000000000000000000" pitchFamily="2" charset="2"/>
              <a:buChar char="Ø"/>
            </a:pPr>
            <a:r>
              <a:rPr lang="zh-CN" altLang="en-US" sz="1200" dirty="0"/>
              <a:t>最简单的系统调用（</a:t>
            </a:r>
            <a:r>
              <a:rPr lang="en-US" altLang="zh-CN" sz="1200" dirty="0" err="1"/>
              <a:t>getpid</a:t>
            </a:r>
            <a:r>
              <a:rPr lang="zh-CN" altLang="en-US" sz="1200" dirty="0"/>
              <a:t>）需要</a:t>
            </a:r>
            <a:r>
              <a:rPr lang="en-US" altLang="zh-CN" sz="1200" dirty="0"/>
              <a:t>270</a:t>
            </a:r>
            <a:r>
              <a:rPr lang="zh-CN" altLang="en-US" sz="1200" dirty="0"/>
              <a:t>周期，凸显了语言级隔离在避免特权级切换上的巨大优势</a:t>
            </a:r>
            <a:endParaRPr lang="en-US" altLang="zh-CN" sz="1200" dirty="0"/>
          </a:p>
          <a:p>
            <a:endParaRPr lang="en-US" altLang="zh-CN" dirty="0"/>
          </a:p>
          <a:p>
            <a:r>
              <a:rPr lang="zh-CN" altLang="en-US" dirty="0"/>
              <a:t>在第一个实验中，我们进行微基准测试以 评估跨域调用开销，我们与另一个同样基于语言机制实现隔离的系统比较</a:t>
            </a:r>
            <a:endParaRPr lang="en-US" altLang="zh-CN" dirty="0"/>
          </a:p>
          <a:p>
            <a:r>
              <a:rPr lang="zh-CN" altLang="en-US" dirty="0"/>
              <a:t>实验结果表明：</a:t>
            </a:r>
            <a:endParaRPr lang="en-US" altLang="zh-CN"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zh-CN" altLang="en-US" dirty="0"/>
              <a:t>相较于</a:t>
            </a:r>
            <a:r>
              <a:rPr lang="en-US" altLang="zh-CN" dirty="0" err="1"/>
              <a:t>redleaf</a:t>
            </a:r>
            <a:r>
              <a:rPr lang="zh-CN" altLang="en-US" dirty="0"/>
              <a:t>，</a:t>
            </a:r>
            <a:r>
              <a:rPr lang="en-US" altLang="zh-CN" dirty="0"/>
              <a:t>Moat</a:t>
            </a:r>
            <a:r>
              <a:rPr lang="zh-CN" altLang="en-US" dirty="0"/>
              <a:t>显著降低了调用延迟，</a:t>
            </a:r>
            <a:r>
              <a:rPr lang="zh-CN" altLang="en-US" sz="1200" dirty="0"/>
              <a:t>将延迟降低到了数十个周期，因为</a:t>
            </a:r>
            <a:r>
              <a:rPr lang="en-US" altLang="zh-CN" sz="1200" dirty="0"/>
              <a:t>Moat</a:t>
            </a:r>
            <a:r>
              <a:rPr lang="zh-CN" altLang="en-US" sz="1200" dirty="0"/>
              <a:t>使用语言级异常实现故障隔离而不是状态检查点的方法。</a:t>
            </a:r>
            <a:endParaRPr lang="en-US" altLang="zh-CN" sz="1100" dirty="0">
              <a:solidFill>
                <a:srgbClr val="FF0000"/>
              </a:solidFill>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zh-CN" altLang="en-US" dirty="0"/>
              <a:t>我们测量了单个</a:t>
            </a:r>
            <a:r>
              <a:rPr lang="en-US" altLang="zh-CN" dirty="0"/>
              <a:t>MPK</a:t>
            </a:r>
            <a:r>
              <a:rPr lang="zh-CN" altLang="en-US" dirty="0"/>
              <a:t>指令的周期，这是一种特定用于支持隔离的原语，理论上，</a:t>
            </a:r>
            <a:r>
              <a:rPr lang="en-US" altLang="zh-CN" dirty="0"/>
              <a:t>Moat</a:t>
            </a:r>
            <a:r>
              <a:rPr lang="zh-CN" altLang="en-US" dirty="0"/>
              <a:t>可以实现</a:t>
            </a:r>
            <a:r>
              <a:rPr lang="zh-CN" altLang="en-US" sz="1200" dirty="0"/>
              <a:t>与硬件隔离机制相同的性能水平</a:t>
            </a:r>
            <a:endParaRPr lang="en-US" altLang="zh-CN" sz="1200"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altLang="zh-CN" sz="1200" dirty="0" err="1"/>
              <a:t>getpid</a:t>
            </a:r>
            <a:r>
              <a:rPr lang="zh-CN" altLang="en-US" sz="1200" dirty="0"/>
              <a:t>系统调用花费</a:t>
            </a:r>
            <a:r>
              <a:rPr lang="en-US" altLang="zh-CN" sz="1200" dirty="0"/>
              <a:t>270</a:t>
            </a:r>
            <a:r>
              <a:rPr lang="zh-CN" altLang="en-US" sz="1200" dirty="0"/>
              <a:t>个时钟周期，这意味着类似微内核这样的方法会引入较大的上下文切换开销</a:t>
            </a:r>
            <a:endParaRPr lang="en-US" altLang="zh-CN" dirty="0"/>
          </a:p>
          <a:p>
            <a:endParaRPr lang="zh-CN" altLang="en-US" dirty="0"/>
          </a:p>
        </p:txBody>
      </p:sp>
      <p:sp>
        <p:nvSpPr>
          <p:cNvPr id="4" name="灯片编号占位符 3">
            <a:extLst>
              <a:ext uri="{FF2B5EF4-FFF2-40B4-BE49-F238E27FC236}">
                <a16:creationId xmlns:a16="http://schemas.microsoft.com/office/drawing/2014/main" id="{5104C79A-66F6-E689-E15B-9DCC0ABCF222}"/>
              </a:ext>
            </a:extLst>
          </p:cNvPr>
          <p:cNvSpPr>
            <a:spLocks noGrp="1"/>
          </p:cNvSpPr>
          <p:nvPr>
            <p:ph type="sldNum" sz="quarter" idx="10"/>
          </p:nvPr>
        </p:nvSpPr>
        <p:spPr/>
        <p:txBody>
          <a:bodyPr/>
          <a:lstStyle/>
          <a:p>
            <a:pPr>
              <a:defRPr/>
            </a:pPr>
            <a:fld id="{CD7A2CCA-E5D5-4859-8035-B358016F08F8}" type="slidenum">
              <a:rPr lang="zh-CN" altLang="en-US" smtClean="0"/>
              <a:t>18</a:t>
            </a:fld>
            <a:endParaRPr lang="zh-CN" altLang="en-US" dirty="0"/>
          </a:p>
        </p:txBody>
      </p:sp>
    </p:spTree>
    <p:extLst>
      <p:ext uri="{BB962C8B-B14F-4D97-AF65-F5344CB8AC3E}">
        <p14:creationId xmlns:p14="http://schemas.microsoft.com/office/powerpoint/2010/main" val="1858159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3D83C-C823-7E9F-3D21-A62F5D46B48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0A83D71-8687-9518-8EAF-F3AA7B4CAEB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DD612DC-EE41-C154-5ABF-B87E95A1C1CD}"/>
              </a:ext>
            </a:extLst>
          </p:cNvPr>
          <p:cNvSpPr>
            <a:spLocks noGrp="1"/>
          </p:cNvSpPr>
          <p:nvPr>
            <p:ph type="body" idx="1"/>
          </p:nvPr>
        </p:nvSpPr>
        <p:spPr/>
        <p:txBody>
          <a:bodyPr/>
          <a:lstStyle/>
          <a:p>
            <a:endParaRPr lang="en-US" altLang="zh-CN" dirty="0"/>
          </a:p>
          <a:p>
            <a:pPr marL="285750" indent="-285750">
              <a:buFont typeface="Wingdings" panose="05000000000000000000" pitchFamily="2" charset="2"/>
              <a:buChar char="Ø"/>
            </a:pPr>
            <a:r>
              <a:rPr lang="zh-CN" altLang="en-US" sz="1200" dirty="0"/>
              <a:t>在绝大多数测试场景下，隔离后的驱动与原生</a:t>
            </a:r>
            <a:r>
              <a:rPr lang="en-US" altLang="zh-CN" sz="1200" dirty="0"/>
              <a:t>C</a:t>
            </a:r>
            <a:r>
              <a:rPr lang="zh-CN" altLang="en-US" sz="1200" dirty="0"/>
              <a:t>语言驱动或未隔离的</a:t>
            </a:r>
            <a:r>
              <a:rPr lang="en-US" altLang="zh-CN" sz="1200" dirty="0"/>
              <a:t>Rust</a:t>
            </a:r>
            <a:r>
              <a:rPr lang="zh-CN" altLang="en-US" sz="1200" dirty="0"/>
              <a:t>驱动相比，仅引入</a:t>
            </a:r>
            <a:r>
              <a:rPr lang="en-US" altLang="zh-CN" sz="1200" dirty="0">
                <a:solidFill>
                  <a:srgbClr val="FF0000"/>
                </a:solidFill>
              </a:rPr>
              <a:t>1%</a:t>
            </a:r>
            <a:r>
              <a:rPr lang="zh-CN" altLang="en-US" sz="1200" dirty="0">
                <a:solidFill>
                  <a:srgbClr val="FF0000"/>
                </a:solidFill>
              </a:rPr>
              <a:t>至</a:t>
            </a:r>
            <a:r>
              <a:rPr lang="en-US" altLang="zh-CN" sz="1200" dirty="0">
                <a:solidFill>
                  <a:srgbClr val="FF0000"/>
                </a:solidFill>
              </a:rPr>
              <a:t>2%</a:t>
            </a:r>
            <a:r>
              <a:rPr lang="zh-CN" altLang="en-US" sz="1200" dirty="0"/>
              <a:t>的平均吞吐量开销。</a:t>
            </a:r>
            <a:endParaRPr lang="en-US" altLang="zh-CN" sz="1200" dirty="0"/>
          </a:p>
          <a:p>
            <a:pPr marL="285750" indent="-285750">
              <a:buFont typeface="Wingdings" panose="05000000000000000000" pitchFamily="2" charset="2"/>
              <a:buChar char="Ø"/>
            </a:pPr>
            <a:r>
              <a:rPr lang="zh-CN" altLang="en-US" sz="1200" dirty="0"/>
              <a:t>未隔离的</a:t>
            </a:r>
            <a:r>
              <a:rPr lang="en-US" altLang="zh-CN" sz="1200" dirty="0"/>
              <a:t>Rust</a:t>
            </a:r>
            <a:r>
              <a:rPr lang="zh-CN" altLang="en-US" sz="1200" dirty="0"/>
              <a:t>驱动性能与原生</a:t>
            </a:r>
            <a:r>
              <a:rPr lang="en-US" altLang="zh-CN" sz="1200" dirty="0"/>
              <a:t>C</a:t>
            </a:r>
            <a:r>
              <a:rPr lang="zh-CN" altLang="en-US" sz="1200" dirty="0"/>
              <a:t>驱动相当，甚至在部分场景（如</a:t>
            </a:r>
            <a:r>
              <a:rPr lang="en-US" altLang="zh-CN" sz="1200" dirty="0" err="1"/>
              <a:t>nullblk</a:t>
            </a:r>
            <a:r>
              <a:rPr lang="zh-CN" altLang="en-US" sz="1200" dirty="0"/>
              <a:t>随机写）因代码路径更优而略有提升，证明了</a:t>
            </a:r>
            <a:r>
              <a:rPr lang="en-US" altLang="zh-CN" sz="1200" dirty="0">
                <a:solidFill>
                  <a:srgbClr val="FF0000"/>
                </a:solidFill>
              </a:rPr>
              <a:t>Rust</a:t>
            </a:r>
            <a:r>
              <a:rPr lang="zh-CN" altLang="en-US" sz="1200" dirty="0">
                <a:solidFill>
                  <a:srgbClr val="FF0000"/>
                </a:solidFill>
              </a:rPr>
              <a:t>本身的高效性</a:t>
            </a:r>
            <a:r>
              <a:rPr lang="zh-CN" altLang="en-US" sz="1200" dirty="0"/>
              <a:t>。</a:t>
            </a:r>
            <a:endParaRPr lang="en-US" altLang="zh-CN" sz="1200" dirty="0"/>
          </a:p>
          <a:p>
            <a:pPr marL="285750" indent="-285750">
              <a:buFont typeface="Wingdings" panose="05000000000000000000" pitchFamily="2" charset="2"/>
              <a:buChar char="Ø"/>
            </a:pPr>
            <a:r>
              <a:rPr lang="zh-CN" altLang="en-US" sz="1200" dirty="0"/>
              <a:t>在持续的高负载下（如全盘写入），</a:t>
            </a:r>
            <a:r>
              <a:rPr lang="en-US" altLang="zh-CN" sz="1200" dirty="0"/>
              <a:t>MOAT</a:t>
            </a:r>
            <a:r>
              <a:rPr lang="zh-CN" altLang="en-US" sz="1200" dirty="0"/>
              <a:t>隔离驱动的性能波动与原生驱动基本一致，说明其开销相对于设备自身的能力是微不足道的</a:t>
            </a:r>
            <a:endParaRPr lang="en-US" altLang="zh-CN" sz="1200" dirty="0"/>
          </a:p>
          <a:p>
            <a:pPr marL="0" indent="0">
              <a:buFont typeface="Wingdings" panose="05000000000000000000" pitchFamily="2" charset="2"/>
              <a:buNone/>
            </a:pP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在这个实验中，我们对隔离驱动的性能进行综合评估</a:t>
            </a:r>
            <a:endParaRPr lang="en-US" altLang="zh-CN" dirty="0"/>
          </a:p>
          <a:p>
            <a:r>
              <a:rPr lang="zh-CN" altLang="en-US" sz="1200" dirty="0"/>
              <a:t>多数测试场景下，隔离后的驱动与原生</a:t>
            </a:r>
            <a:r>
              <a:rPr lang="en-US" altLang="zh-CN" sz="1200" dirty="0"/>
              <a:t>C</a:t>
            </a:r>
            <a:r>
              <a:rPr lang="zh-CN" altLang="en-US" sz="1200" dirty="0"/>
              <a:t>语言驱动或未隔离的</a:t>
            </a:r>
            <a:r>
              <a:rPr lang="en-US" altLang="zh-CN" sz="1200" dirty="0"/>
              <a:t>Rust</a:t>
            </a:r>
            <a:r>
              <a:rPr lang="zh-CN" altLang="en-US" sz="1200" dirty="0"/>
              <a:t>驱动相比，仅引入</a:t>
            </a:r>
            <a:r>
              <a:rPr lang="en-US" altLang="zh-CN" sz="1200" dirty="0">
                <a:solidFill>
                  <a:srgbClr val="FF0000"/>
                </a:solidFill>
              </a:rPr>
              <a:t>1%</a:t>
            </a:r>
            <a:r>
              <a:rPr lang="zh-CN" altLang="en-US" sz="1200" dirty="0">
                <a:solidFill>
                  <a:srgbClr val="FF0000"/>
                </a:solidFill>
              </a:rPr>
              <a:t>至</a:t>
            </a:r>
            <a:r>
              <a:rPr lang="en-US" altLang="zh-CN" sz="1200" dirty="0">
                <a:solidFill>
                  <a:srgbClr val="FF0000"/>
                </a:solidFill>
              </a:rPr>
              <a:t>2%</a:t>
            </a:r>
            <a:r>
              <a:rPr lang="zh-CN" altLang="en-US" sz="1200" dirty="0"/>
              <a:t>的平均吞吐量开销</a:t>
            </a:r>
            <a:endParaRPr lang="en-US" altLang="zh-CN" dirty="0"/>
          </a:p>
          <a:p>
            <a:r>
              <a:rPr lang="zh-CN" altLang="en-US" dirty="0"/>
              <a:t>这说明隔离并不会严重影响内核模块的性能</a:t>
            </a:r>
            <a:r>
              <a:rPr lang="en-US" altLang="zh-CN" dirty="0"/>
              <a:t>, </a:t>
            </a:r>
            <a:r>
              <a:rPr lang="zh-CN" altLang="en-US" dirty="0"/>
              <a:t>而且隔离的开销相比设备本身的影响有限</a:t>
            </a:r>
          </a:p>
        </p:txBody>
      </p:sp>
      <p:sp>
        <p:nvSpPr>
          <p:cNvPr id="4" name="灯片编号占位符 3">
            <a:extLst>
              <a:ext uri="{FF2B5EF4-FFF2-40B4-BE49-F238E27FC236}">
                <a16:creationId xmlns:a16="http://schemas.microsoft.com/office/drawing/2014/main" id="{35C14C76-E6B4-0A5E-6955-0502A3AB13BE}"/>
              </a:ext>
            </a:extLst>
          </p:cNvPr>
          <p:cNvSpPr>
            <a:spLocks noGrp="1"/>
          </p:cNvSpPr>
          <p:nvPr>
            <p:ph type="sldNum" sz="quarter" idx="10"/>
          </p:nvPr>
        </p:nvSpPr>
        <p:spPr/>
        <p:txBody>
          <a:bodyPr/>
          <a:lstStyle/>
          <a:p>
            <a:pPr>
              <a:defRPr/>
            </a:pPr>
            <a:fld id="{CD7A2CCA-E5D5-4859-8035-B358016F08F8}" type="slidenum">
              <a:rPr lang="zh-CN" altLang="en-US" smtClean="0"/>
              <a:t>19</a:t>
            </a:fld>
            <a:endParaRPr lang="zh-CN" altLang="en-US" dirty="0"/>
          </a:p>
        </p:txBody>
      </p:sp>
    </p:spTree>
    <p:extLst>
      <p:ext uri="{BB962C8B-B14F-4D97-AF65-F5344CB8AC3E}">
        <p14:creationId xmlns:p14="http://schemas.microsoft.com/office/powerpoint/2010/main" val="42296319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DDC5D-E42C-7A7D-AF3A-67699DFB1DD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7930448-3562-726A-8F05-1EB5016B3A9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C25F3DA-9FB8-606C-23DE-29E0B295FEF9}"/>
              </a:ext>
            </a:extLst>
          </p:cNvPr>
          <p:cNvSpPr>
            <a:spLocks noGrp="1"/>
          </p:cNvSpPr>
          <p:nvPr>
            <p:ph type="body" idx="1"/>
          </p:nvPr>
        </p:nvSpPr>
        <p:spPr/>
        <p:txBody>
          <a:bodyPr/>
          <a:lstStyle/>
          <a:p>
            <a:pPr marL="285750" indent="-285750">
              <a:buFont typeface="Wingdings" panose="05000000000000000000" pitchFamily="2" charset="2"/>
              <a:buChar char="Ø"/>
            </a:pPr>
            <a:r>
              <a:rPr lang="zh-CN" altLang="en-US" sz="1200" dirty="0"/>
              <a:t>测试场景：在单个</a:t>
            </a:r>
            <a:r>
              <a:rPr lang="en-US" altLang="zh-CN" sz="1200" dirty="0"/>
              <a:t>I/O</a:t>
            </a:r>
            <a:r>
              <a:rPr lang="zh-CN" altLang="en-US" sz="1200" dirty="0"/>
              <a:t>请求周期内，多次调用一个位于独立隔离域中的函数（如缓冲区随机化）。</a:t>
            </a:r>
            <a:endParaRPr lang="en-US" altLang="zh-CN" sz="1200" dirty="0"/>
          </a:p>
          <a:p>
            <a:pPr marL="285750" indent="-285750">
              <a:buFont typeface="Wingdings" panose="05000000000000000000" pitchFamily="2" charset="2"/>
              <a:buChar char="Ø"/>
            </a:pPr>
            <a:r>
              <a:rPr lang="zh-CN" altLang="en-US" sz="1200" dirty="0"/>
              <a:t>测试指标：吞吐量</a:t>
            </a:r>
            <a:endParaRPr lang="en-US" altLang="zh-CN" sz="1200" dirty="0"/>
          </a:p>
          <a:p>
            <a:pPr marL="285750" indent="-285750">
              <a:buFont typeface="Wingdings" panose="05000000000000000000" pitchFamily="2" charset="2"/>
              <a:buChar char="Ø"/>
            </a:pPr>
            <a:r>
              <a:rPr lang="zh-CN" altLang="en-US" sz="1200" dirty="0"/>
              <a:t>实验变量：跨域调用次数</a:t>
            </a:r>
            <a:r>
              <a:rPr lang="en-US" altLang="zh-CN" sz="1200" dirty="0"/>
              <a:t>/</a:t>
            </a:r>
            <a:r>
              <a:rPr lang="zh-CN" altLang="en-US" sz="1200" dirty="0"/>
              <a:t>域内工作负载强度</a:t>
            </a:r>
          </a:p>
          <a:p>
            <a:endParaRPr lang="en-US" altLang="zh-CN" dirty="0"/>
          </a:p>
          <a:p>
            <a:pPr marL="285750" indent="-285750">
              <a:buFont typeface="Wingdings" panose="05000000000000000000" pitchFamily="2" charset="2"/>
              <a:buChar char="Ø"/>
            </a:pPr>
            <a:r>
              <a:rPr lang="zh-CN" altLang="en-US" sz="1200" dirty="0"/>
              <a:t>开销与请求的计算负载成反比。对于</a:t>
            </a:r>
            <a:r>
              <a:rPr lang="zh-CN" altLang="en-US" sz="1200" dirty="0">
                <a:solidFill>
                  <a:srgbClr val="FF0000"/>
                </a:solidFill>
              </a:rPr>
              <a:t>计算量小</a:t>
            </a:r>
            <a:r>
              <a:rPr lang="zh-CN" altLang="en-US" sz="1200" dirty="0"/>
              <a:t>的请求（如</a:t>
            </a:r>
            <a:r>
              <a:rPr lang="en-US" altLang="zh-CN" sz="1200" dirty="0"/>
              <a:t>512B</a:t>
            </a:r>
            <a:r>
              <a:rPr lang="zh-CN" altLang="en-US" sz="1200" dirty="0"/>
              <a:t>），多次调用会导致可观测的性能下降（</a:t>
            </a:r>
            <a:r>
              <a:rPr lang="en-US" altLang="zh-CN" sz="1200" dirty="0">
                <a:solidFill>
                  <a:srgbClr val="FF0000"/>
                </a:solidFill>
              </a:rPr>
              <a:t>8</a:t>
            </a:r>
            <a:r>
              <a:rPr lang="zh-CN" altLang="en-US" sz="1200" dirty="0">
                <a:solidFill>
                  <a:srgbClr val="FF0000"/>
                </a:solidFill>
              </a:rPr>
              <a:t>次调用时下降</a:t>
            </a:r>
            <a:r>
              <a:rPr lang="en-US" altLang="zh-CN" sz="1200" dirty="0">
                <a:solidFill>
                  <a:srgbClr val="FF0000"/>
                </a:solidFill>
              </a:rPr>
              <a:t>6%</a:t>
            </a:r>
            <a:r>
              <a:rPr lang="zh-CN" altLang="en-US" sz="1200" dirty="0"/>
              <a:t>）</a:t>
            </a:r>
            <a:endParaRPr lang="en-US" altLang="zh-CN" sz="1200" dirty="0"/>
          </a:p>
          <a:p>
            <a:pPr marL="285750" indent="-285750">
              <a:buFont typeface="Wingdings" panose="05000000000000000000" pitchFamily="2" charset="2"/>
              <a:buChar char="Ø"/>
            </a:pPr>
            <a:r>
              <a:rPr lang="zh-CN" altLang="en-US" sz="1200" dirty="0"/>
              <a:t>对于</a:t>
            </a:r>
            <a:r>
              <a:rPr lang="zh-CN" altLang="en-US" sz="1200" dirty="0">
                <a:solidFill>
                  <a:srgbClr val="FF0000"/>
                </a:solidFill>
              </a:rPr>
              <a:t>计算量大</a:t>
            </a:r>
            <a:r>
              <a:rPr lang="zh-CN" altLang="en-US" sz="1200" dirty="0"/>
              <a:t>的请求（如</a:t>
            </a:r>
            <a:r>
              <a:rPr lang="en-US" altLang="zh-CN" sz="1200" dirty="0"/>
              <a:t>4KB</a:t>
            </a:r>
            <a:r>
              <a:rPr lang="zh-CN" altLang="en-US" sz="1200" dirty="0"/>
              <a:t>），</a:t>
            </a:r>
            <a:r>
              <a:rPr lang="zh-CN" altLang="en-US" sz="1200" dirty="0">
                <a:solidFill>
                  <a:srgbClr val="FF0000"/>
                </a:solidFill>
              </a:rPr>
              <a:t>开销被有效摊销</a:t>
            </a:r>
            <a:r>
              <a:rPr lang="zh-CN" altLang="en-US" sz="1200" dirty="0"/>
              <a:t>，即使</a:t>
            </a:r>
            <a:r>
              <a:rPr lang="en-US" altLang="zh-CN" sz="1200" dirty="0"/>
              <a:t>8</a:t>
            </a:r>
            <a:r>
              <a:rPr lang="zh-CN" altLang="en-US" sz="1200" dirty="0"/>
              <a:t>次调用性能下降也</a:t>
            </a:r>
            <a:r>
              <a:rPr lang="zh-CN" altLang="en-US" sz="1200" dirty="0">
                <a:solidFill>
                  <a:srgbClr val="FF0000"/>
                </a:solidFill>
              </a:rPr>
              <a:t>仅为</a:t>
            </a:r>
            <a:r>
              <a:rPr lang="en-US" altLang="zh-CN" sz="1200" dirty="0">
                <a:solidFill>
                  <a:srgbClr val="FF0000"/>
                </a:solidFill>
              </a:rPr>
              <a:t>1.5%</a:t>
            </a:r>
            <a:r>
              <a:rPr lang="zh-CN" altLang="en-US" sz="1200" dirty="0"/>
              <a:t>。</a:t>
            </a:r>
            <a:endParaRPr lang="en-US" altLang="zh-CN" sz="1200" dirty="0"/>
          </a:p>
          <a:p>
            <a:pPr marL="285750" indent="-285750">
              <a:buFont typeface="Wingdings" panose="05000000000000000000" pitchFamily="2" charset="2"/>
              <a:buChar char="Ø"/>
            </a:pPr>
            <a:r>
              <a:rPr lang="zh-CN" altLang="en-US" sz="1200" dirty="0"/>
              <a:t>指导意义：该实验为域的精简设计提供了重要启示，</a:t>
            </a:r>
            <a:r>
              <a:rPr lang="zh-CN" altLang="en-US" sz="1200" dirty="0">
                <a:solidFill>
                  <a:srgbClr val="FF0000"/>
                </a:solidFill>
              </a:rPr>
              <a:t>即应避免将过于细粒度的功能拆分为独立的域，以确保隔离开销被充分摊销</a:t>
            </a:r>
            <a:endParaRPr lang="zh-CN" altLang="en-US" dirty="0"/>
          </a:p>
        </p:txBody>
      </p:sp>
      <p:sp>
        <p:nvSpPr>
          <p:cNvPr id="4" name="灯片编号占位符 3">
            <a:extLst>
              <a:ext uri="{FF2B5EF4-FFF2-40B4-BE49-F238E27FC236}">
                <a16:creationId xmlns:a16="http://schemas.microsoft.com/office/drawing/2014/main" id="{B2C9F0CE-2C23-5DFF-7BEC-27265C606CCC}"/>
              </a:ext>
            </a:extLst>
          </p:cNvPr>
          <p:cNvSpPr>
            <a:spLocks noGrp="1"/>
          </p:cNvSpPr>
          <p:nvPr>
            <p:ph type="sldNum" sz="quarter" idx="10"/>
          </p:nvPr>
        </p:nvSpPr>
        <p:spPr/>
        <p:txBody>
          <a:bodyPr/>
          <a:lstStyle/>
          <a:p>
            <a:pPr>
              <a:defRPr/>
            </a:pPr>
            <a:fld id="{CD7A2CCA-E5D5-4859-8035-B358016F08F8}" type="slidenum">
              <a:rPr lang="zh-CN" altLang="en-US" smtClean="0"/>
              <a:t>20</a:t>
            </a:fld>
            <a:endParaRPr lang="zh-CN" altLang="en-US" dirty="0"/>
          </a:p>
        </p:txBody>
      </p:sp>
    </p:spTree>
    <p:extLst>
      <p:ext uri="{BB962C8B-B14F-4D97-AF65-F5344CB8AC3E}">
        <p14:creationId xmlns:p14="http://schemas.microsoft.com/office/powerpoint/2010/main" val="23617817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205BF-480B-C52A-08EC-180258C5EF8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B824920-1FC5-46D9-D8CF-0E87EE09D4E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63481D4-7841-81F5-9433-E6E98FD157A3}"/>
              </a:ext>
            </a:extLst>
          </p:cNvPr>
          <p:cNvSpPr>
            <a:spLocks noGrp="1"/>
          </p:cNvSpPr>
          <p:nvPr>
            <p:ph type="body" idx="1"/>
          </p:nvPr>
        </p:nvSpPr>
        <p:spPr/>
        <p:txBody>
          <a:bodyPr/>
          <a:lstStyle/>
          <a:p>
            <a:r>
              <a:rPr lang="zh-CN" altLang="en-US" dirty="0"/>
              <a:t>我们通过周期性注入故障并测量设备吞吐量以及统计模块大小来评估故障恢复机制的有效性和开销</a:t>
            </a:r>
            <a:endParaRPr lang="en-US" altLang="zh-CN" dirty="0"/>
          </a:p>
          <a:p>
            <a:endParaRPr lang="en-US" altLang="zh-CN" dirty="0"/>
          </a:p>
          <a:p>
            <a:r>
              <a:rPr lang="zh-CN" altLang="en-US" dirty="0"/>
              <a:t>实验结果表明，这些故障被捕获并处理，而服务没有被中断，即使高频注入下，吞吐量</a:t>
            </a:r>
            <a:r>
              <a:rPr lang="zh-CN" altLang="en-US" sz="1200" dirty="0"/>
              <a:t>下降约</a:t>
            </a:r>
            <a:r>
              <a:rPr lang="en-US" altLang="zh-CN" sz="1200" dirty="0"/>
              <a:t>13%</a:t>
            </a:r>
          </a:p>
          <a:p>
            <a:r>
              <a:rPr lang="zh-CN" altLang="en-US" sz="1200" dirty="0"/>
              <a:t>而支持故障恢复所必需的调试信息增加了</a:t>
            </a:r>
            <a:r>
              <a:rPr lang="en-US" altLang="zh-CN" sz="1200" dirty="0"/>
              <a:t>11%-15%</a:t>
            </a:r>
            <a:r>
              <a:rPr lang="zh-CN" altLang="en-US" sz="1200" dirty="0"/>
              <a:t>的体积。</a:t>
            </a:r>
            <a:endParaRPr lang="en-US" altLang="zh-CN" sz="1200" dirty="0"/>
          </a:p>
          <a:p>
            <a:endParaRPr lang="en-US" altLang="zh-CN" dirty="0"/>
          </a:p>
          <a:p>
            <a:endParaRPr lang="en-US" altLang="zh-CN" dirty="0"/>
          </a:p>
          <a:p>
            <a:pPr marL="0" indent="0">
              <a:buFont typeface="Wingdings" panose="05000000000000000000" pitchFamily="2" charset="2"/>
              <a:buNone/>
            </a:pPr>
            <a:r>
              <a:rPr lang="zh-CN" altLang="en-US" sz="1200" dirty="0"/>
              <a:t>性能影响与故障频率相关：当每</a:t>
            </a:r>
            <a:r>
              <a:rPr lang="en-US" altLang="zh-CN" sz="1200" dirty="0"/>
              <a:t>100</a:t>
            </a:r>
            <a:r>
              <a:rPr lang="zh-CN" altLang="en-US" sz="1200" dirty="0"/>
              <a:t>微秒注入一次故障时，吞吐量下降约</a:t>
            </a:r>
            <a:r>
              <a:rPr lang="en-US" altLang="zh-CN" sz="1200" dirty="0"/>
              <a:t>13%</a:t>
            </a:r>
            <a:r>
              <a:rPr lang="zh-CN" altLang="en-US" sz="1200" dirty="0"/>
              <a:t>。每次恢复过程会产生</a:t>
            </a:r>
            <a:r>
              <a:rPr lang="en-US" altLang="zh-CN" sz="1200" dirty="0"/>
              <a:t>20-25</a:t>
            </a:r>
            <a:r>
              <a:rPr lang="zh-CN" altLang="en-US" sz="1200" dirty="0"/>
              <a:t>微秒的延迟，而单个 </a:t>
            </a:r>
            <a:r>
              <a:rPr lang="en-US" altLang="zh-CN" sz="1200" dirty="0"/>
              <a:t>I/O </a:t>
            </a:r>
            <a:r>
              <a:rPr lang="zh-CN" altLang="en-US" sz="1200" dirty="0"/>
              <a:t>请求的时间平均为 </a:t>
            </a:r>
            <a:r>
              <a:rPr lang="en-US" altLang="zh-CN" sz="1200" dirty="0"/>
              <a:t>2us</a:t>
            </a:r>
          </a:p>
        </p:txBody>
      </p:sp>
      <p:sp>
        <p:nvSpPr>
          <p:cNvPr id="4" name="灯片编号占位符 3">
            <a:extLst>
              <a:ext uri="{FF2B5EF4-FFF2-40B4-BE49-F238E27FC236}">
                <a16:creationId xmlns:a16="http://schemas.microsoft.com/office/drawing/2014/main" id="{A9785E24-2D05-47B0-CE08-09D1F994ADFD}"/>
              </a:ext>
            </a:extLst>
          </p:cNvPr>
          <p:cNvSpPr>
            <a:spLocks noGrp="1"/>
          </p:cNvSpPr>
          <p:nvPr>
            <p:ph type="sldNum" sz="quarter" idx="10"/>
          </p:nvPr>
        </p:nvSpPr>
        <p:spPr/>
        <p:txBody>
          <a:bodyPr/>
          <a:lstStyle/>
          <a:p>
            <a:pPr>
              <a:defRPr/>
            </a:pPr>
            <a:fld id="{CD7A2CCA-E5D5-4859-8035-B358016F08F8}" type="slidenum">
              <a:rPr lang="zh-CN" altLang="en-US" smtClean="0"/>
              <a:t>21</a:t>
            </a:fld>
            <a:endParaRPr lang="zh-CN" altLang="en-US" dirty="0"/>
          </a:p>
        </p:txBody>
      </p:sp>
    </p:spTree>
    <p:extLst>
      <p:ext uri="{BB962C8B-B14F-4D97-AF65-F5344CB8AC3E}">
        <p14:creationId xmlns:p14="http://schemas.microsoft.com/office/powerpoint/2010/main" val="36121805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AC53A-66A0-16B7-B83B-6A41FD1CDF9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4DB0924-713C-6923-133B-5DE7CD44C39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374140E-F20E-9223-2BD6-A4A444E4E5A5}"/>
              </a:ext>
            </a:extLst>
          </p:cNvPr>
          <p:cNvSpPr>
            <a:spLocks noGrp="1"/>
          </p:cNvSpPr>
          <p:nvPr>
            <p:ph type="body" idx="1"/>
          </p:nvPr>
        </p:nvSpPr>
        <p:spPr/>
        <p:txBody>
          <a:bodyPr/>
          <a:lstStyle/>
          <a:p>
            <a:pPr marL="285750" indent="-285750">
              <a:buFont typeface="Wingdings" panose="05000000000000000000" pitchFamily="2" charset="2"/>
              <a:buChar char="Ø"/>
            </a:pPr>
            <a:r>
              <a:rPr lang="zh-CN" altLang="en-US" sz="1200" dirty="0"/>
              <a:t>测试对象：分别对有状态域（如</a:t>
            </a:r>
            <a:r>
              <a:rPr lang="en-US" altLang="zh-CN" sz="1200" dirty="0" err="1"/>
              <a:t>nullblk</a:t>
            </a:r>
            <a:r>
              <a:rPr lang="zh-CN" altLang="en-US" sz="1200" dirty="0"/>
              <a:t>驱动）和无状态域进行实时更新，并分解各阶段耗时。</a:t>
            </a:r>
            <a:endParaRPr lang="en-US" altLang="zh-CN" sz="1200" dirty="0"/>
          </a:p>
          <a:p>
            <a:endParaRPr lang="en-US" altLang="zh-CN" dirty="0"/>
          </a:p>
          <a:p>
            <a:pPr marL="285750" indent="-285750">
              <a:buFont typeface="Wingdings" panose="05000000000000000000" pitchFamily="2" charset="2"/>
              <a:buChar char="Ø"/>
            </a:pPr>
            <a:r>
              <a:rPr lang="zh-CN" altLang="en-US" sz="1200" dirty="0"/>
              <a:t>服务中断时间极短：对于有状态域，服务中断时间被控制在</a:t>
            </a:r>
            <a:r>
              <a:rPr lang="en-US" altLang="zh-CN" sz="1200" dirty="0">
                <a:solidFill>
                  <a:srgbClr val="FF0000"/>
                </a:solidFill>
              </a:rPr>
              <a:t>146</a:t>
            </a:r>
            <a:r>
              <a:rPr lang="zh-CN" altLang="en-US" sz="1200" dirty="0">
                <a:solidFill>
                  <a:srgbClr val="FF0000"/>
                </a:solidFill>
              </a:rPr>
              <a:t>微秒</a:t>
            </a:r>
            <a:r>
              <a:rPr lang="zh-CN" altLang="en-US" sz="1200" dirty="0"/>
              <a:t>以内，这主要消耗在任务同步和状态迁移上。</a:t>
            </a:r>
            <a:endParaRPr lang="en-US" altLang="zh-CN" sz="1200" dirty="0"/>
          </a:p>
          <a:p>
            <a:pPr marL="285750" indent="-285750">
              <a:buFont typeface="Wingdings" panose="05000000000000000000" pitchFamily="2" charset="2"/>
              <a:buChar char="Ø"/>
            </a:pPr>
            <a:r>
              <a:rPr lang="zh-CN" altLang="en-US" sz="1200" dirty="0"/>
              <a:t>有状态域更新总时间约为</a:t>
            </a:r>
            <a:r>
              <a:rPr lang="en-US" altLang="zh-CN" sz="1200" dirty="0"/>
              <a:t>1070</a:t>
            </a:r>
            <a:r>
              <a:rPr lang="zh-CN" altLang="en-US" sz="1200" dirty="0"/>
              <a:t>微秒，无状态域约为</a:t>
            </a:r>
            <a:r>
              <a:rPr lang="en-US" altLang="zh-CN" sz="1200" dirty="0"/>
              <a:t>760</a:t>
            </a:r>
            <a:r>
              <a:rPr lang="zh-CN" altLang="en-US" sz="1200" dirty="0"/>
              <a:t>微秒，其中大部分时间花在后台加载新域和清理旧资源上，不影响服务连续性</a:t>
            </a:r>
            <a:endParaRPr lang="en-US" altLang="zh-CN" sz="1200" dirty="0"/>
          </a:p>
          <a:p>
            <a:pPr marL="285750" indent="-285750">
              <a:buFont typeface="Wingdings" panose="05000000000000000000" pitchFamily="2" charset="2"/>
              <a:buChar char="Ø"/>
            </a:pPr>
            <a:r>
              <a:rPr lang="zh-CN" altLang="en-US" sz="1200" dirty="0"/>
              <a:t>与传统</a:t>
            </a:r>
            <a:r>
              <a:rPr lang="en-US" altLang="zh-CN" sz="1200" dirty="0"/>
              <a:t>Linux</a:t>
            </a:r>
            <a:r>
              <a:rPr lang="zh-CN" altLang="en-US" sz="1200" dirty="0"/>
              <a:t>更新工具</a:t>
            </a:r>
            <a:r>
              <a:rPr lang="en-US" altLang="zh-CN" sz="1200" dirty="0" err="1"/>
              <a:t>kpatch</a:t>
            </a:r>
            <a:r>
              <a:rPr lang="zh-CN" altLang="en-US" sz="1200" dirty="0"/>
              <a:t>需要暂停所有</a:t>
            </a:r>
            <a:r>
              <a:rPr lang="en-US" altLang="zh-CN" sz="1200" dirty="0"/>
              <a:t>CPU</a:t>
            </a:r>
            <a:r>
              <a:rPr lang="zh-CN" altLang="en-US" sz="1200" dirty="0"/>
              <a:t>（导致</a:t>
            </a:r>
            <a:r>
              <a:rPr lang="en-US" altLang="zh-CN" sz="1200" dirty="0"/>
              <a:t>2800-3000</a:t>
            </a:r>
            <a:r>
              <a:rPr lang="zh-CN" altLang="en-US" sz="1200" dirty="0"/>
              <a:t>微秒服务中断）相比，</a:t>
            </a:r>
            <a:r>
              <a:rPr lang="en-US" altLang="zh-CN" sz="1200" dirty="0"/>
              <a:t>MOAT</a:t>
            </a:r>
            <a:r>
              <a:rPr lang="zh-CN" altLang="en-US" sz="1200" dirty="0"/>
              <a:t>将中断时间缩短了约</a:t>
            </a:r>
            <a:r>
              <a:rPr lang="en-US" altLang="zh-CN" sz="1200" dirty="0"/>
              <a:t>20</a:t>
            </a:r>
            <a:r>
              <a:rPr lang="zh-CN" altLang="en-US" sz="1200" dirty="0"/>
              <a:t>倍</a:t>
            </a:r>
            <a:endParaRPr lang="en-US" altLang="zh-CN" sz="1200" dirty="0"/>
          </a:p>
          <a:p>
            <a:pPr marL="285750" indent="-285750">
              <a:buFont typeface="Wingdings" panose="05000000000000000000" pitchFamily="2" charset="2"/>
              <a:buChar char="Ø"/>
            </a:pPr>
            <a:endParaRPr lang="en-US" altLang="zh-CN" sz="1200" dirty="0"/>
          </a:p>
          <a:p>
            <a:pPr marL="0" indent="0">
              <a:buFont typeface="Wingdings" panose="05000000000000000000" pitchFamily="2" charset="2"/>
              <a:buNone/>
            </a:pPr>
            <a:r>
              <a:rPr lang="zh-CN" altLang="en-US" sz="1200" dirty="0"/>
              <a:t>这个实验中，我们通过展示调度器热更新的例子来说明热更新的有效性。</a:t>
            </a:r>
            <a:endParaRPr lang="en-US" altLang="zh-CN" sz="1200" dirty="0"/>
          </a:p>
          <a:p>
            <a:pPr marL="0" indent="0">
              <a:buFont typeface="Wingdings" panose="05000000000000000000" pitchFamily="2" charset="2"/>
              <a:buNone/>
            </a:pPr>
            <a:r>
              <a:rPr lang="zh-CN" altLang="en-US" sz="1200" dirty="0"/>
              <a:t>然后，我们对有状态域和无状态域热更新各阶段耗时进行了统计，结果如表所示</a:t>
            </a:r>
            <a:endParaRPr lang="en-US" altLang="zh-CN" sz="1200" dirty="0"/>
          </a:p>
          <a:p>
            <a:pPr marL="0" indent="0">
              <a:buFont typeface="Wingdings" panose="05000000000000000000" pitchFamily="2" charset="2"/>
              <a:buNone/>
            </a:pPr>
            <a:r>
              <a:rPr lang="zh-CN" altLang="en-US" sz="1200" dirty="0"/>
              <a:t>相比传统的功能级更新工具，</a:t>
            </a:r>
            <a:r>
              <a:rPr lang="en-US" altLang="zh-CN" sz="1200" dirty="0"/>
              <a:t>Moat</a:t>
            </a:r>
            <a:r>
              <a:rPr lang="zh-CN" altLang="en-US" sz="1200" dirty="0"/>
              <a:t>可以显著降低热更新导致的服务暂停时间</a:t>
            </a:r>
            <a:endParaRPr lang="en-US" altLang="zh-CN" sz="1200" dirty="0"/>
          </a:p>
          <a:p>
            <a:pPr marL="0" indent="0">
              <a:buFont typeface="Wingdings" panose="05000000000000000000" pitchFamily="2" charset="2"/>
              <a:buNone/>
            </a:pPr>
            <a:endParaRPr lang="en-US" altLang="zh-CN" sz="1200" dirty="0"/>
          </a:p>
          <a:p>
            <a:pPr marL="0" indent="0">
              <a:buFont typeface="Wingdings" panose="05000000000000000000" pitchFamily="2" charset="2"/>
              <a:buNone/>
            </a:pPr>
            <a:endParaRPr lang="en-US" altLang="zh-CN" sz="1200" dirty="0"/>
          </a:p>
          <a:p>
            <a:endParaRPr lang="zh-CN" altLang="en-US" dirty="0"/>
          </a:p>
        </p:txBody>
      </p:sp>
      <p:sp>
        <p:nvSpPr>
          <p:cNvPr id="4" name="灯片编号占位符 3">
            <a:extLst>
              <a:ext uri="{FF2B5EF4-FFF2-40B4-BE49-F238E27FC236}">
                <a16:creationId xmlns:a16="http://schemas.microsoft.com/office/drawing/2014/main" id="{E1601ED4-CD4D-94F2-787A-DB61768589A4}"/>
              </a:ext>
            </a:extLst>
          </p:cNvPr>
          <p:cNvSpPr>
            <a:spLocks noGrp="1"/>
          </p:cNvSpPr>
          <p:nvPr>
            <p:ph type="sldNum" sz="quarter" idx="10"/>
          </p:nvPr>
        </p:nvSpPr>
        <p:spPr/>
        <p:txBody>
          <a:bodyPr/>
          <a:lstStyle/>
          <a:p>
            <a:pPr>
              <a:defRPr/>
            </a:pPr>
            <a:fld id="{CD7A2CCA-E5D5-4859-8035-B358016F08F8}" type="slidenum">
              <a:rPr lang="zh-CN" altLang="en-US" smtClean="0"/>
              <a:t>22</a:t>
            </a:fld>
            <a:endParaRPr lang="zh-CN" altLang="en-US" dirty="0"/>
          </a:p>
        </p:txBody>
      </p:sp>
    </p:spTree>
    <p:extLst>
      <p:ext uri="{BB962C8B-B14F-4D97-AF65-F5344CB8AC3E}">
        <p14:creationId xmlns:p14="http://schemas.microsoft.com/office/powerpoint/2010/main" val="38577375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0EDAD-167C-A4C1-3097-9880B6BCE8A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7F3FDAD-448E-FDD0-9A36-A22132C36D9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F27B496-A82B-CC9E-3B60-322709427F76}"/>
              </a:ext>
            </a:extLst>
          </p:cNvPr>
          <p:cNvSpPr>
            <a:spLocks noGrp="1"/>
          </p:cNvSpPr>
          <p:nvPr>
            <p:ph type="body" idx="1"/>
          </p:nvPr>
        </p:nvSpPr>
        <p:spPr/>
        <p:txBody>
          <a:bodyPr/>
          <a:lstStyle/>
          <a:p>
            <a:r>
              <a:rPr lang="zh-CN" altLang="en-US" sz="1200" dirty="0"/>
              <a:t>最后，我们测量了</a:t>
            </a:r>
            <a:r>
              <a:rPr lang="en-US" altLang="zh-CN" sz="1200" dirty="0"/>
              <a:t>CPU</a:t>
            </a:r>
            <a:r>
              <a:rPr lang="zh-CN" altLang="en-US" sz="1200" dirty="0"/>
              <a:t>数量以及活跃进程数量对热更新的影响</a:t>
            </a:r>
            <a:endParaRPr lang="en-US" altLang="zh-CN" sz="1200" dirty="0"/>
          </a:p>
          <a:p>
            <a:r>
              <a:rPr lang="zh-CN" altLang="en-US" sz="1200" dirty="0">
                <a:solidFill>
                  <a:srgbClr val="FF0000"/>
                </a:solidFill>
              </a:rPr>
              <a:t>随着</a:t>
            </a:r>
            <a:r>
              <a:rPr lang="en-US" altLang="zh-CN" sz="1200" dirty="0">
                <a:solidFill>
                  <a:srgbClr val="FF0000"/>
                </a:solidFill>
              </a:rPr>
              <a:t>CPU</a:t>
            </a:r>
            <a:r>
              <a:rPr lang="zh-CN" altLang="en-US" sz="1200" dirty="0">
                <a:solidFill>
                  <a:srgbClr val="FF0000"/>
                </a:solidFill>
              </a:rPr>
              <a:t>核心数增加，任务同步时间会增长</a:t>
            </a:r>
            <a:endParaRPr lang="en-US" altLang="zh-CN" sz="1200" dirty="0">
              <a:solidFill>
                <a:srgbClr val="FF0000"/>
              </a:solidFill>
            </a:endParaRPr>
          </a:p>
          <a:p>
            <a:r>
              <a:rPr lang="zh-CN" altLang="en-US" sz="1200" dirty="0">
                <a:solidFill>
                  <a:srgbClr val="FF0000"/>
                </a:solidFill>
              </a:rPr>
              <a:t>活跃任务数增加反而可能减少同步时间</a:t>
            </a:r>
            <a:r>
              <a:rPr lang="zh-CN" altLang="en-US" sz="1200" dirty="0"/>
              <a:t>，因为更多</a:t>
            </a:r>
            <a:r>
              <a:rPr lang="en-US" altLang="zh-CN" sz="1200" dirty="0"/>
              <a:t>CPU</a:t>
            </a:r>
            <a:r>
              <a:rPr lang="zh-CN" altLang="en-US" sz="1200" dirty="0"/>
              <a:t>可能已处于内核态，加快了中断处理速度</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因此，即使在规模较大的系统中，</a:t>
            </a:r>
            <a:r>
              <a:rPr lang="en-US" altLang="zh-CN" sz="1200" dirty="0"/>
              <a:t>Moat</a:t>
            </a:r>
            <a:r>
              <a:rPr lang="zh-CN" altLang="en-US" sz="1200" dirty="0">
                <a:solidFill>
                  <a:srgbClr val="FF0000"/>
                </a:solidFill>
              </a:rPr>
              <a:t>也仍然具有可预测的较低的服务中断时间。</a:t>
            </a:r>
            <a:endParaRPr lang="en-US" altLang="zh-CN" sz="1200" dirty="0"/>
          </a:p>
          <a:p>
            <a:endParaRPr lang="en-US" altLang="zh-CN" sz="1200" dirty="0"/>
          </a:p>
          <a:p>
            <a:pPr marL="285750" indent="-285750">
              <a:buFont typeface="Wingdings" panose="05000000000000000000" pitchFamily="2" charset="2"/>
              <a:buChar char="Ø"/>
            </a:pPr>
            <a:r>
              <a:rPr lang="zh-CN" altLang="en-US" sz="1200" dirty="0">
                <a:solidFill>
                  <a:srgbClr val="FF0000"/>
                </a:solidFill>
              </a:rPr>
              <a:t>随着</a:t>
            </a:r>
            <a:r>
              <a:rPr lang="en-US" altLang="zh-CN" sz="1200" dirty="0">
                <a:solidFill>
                  <a:srgbClr val="FF0000"/>
                </a:solidFill>
              </a:rPr>
              <a:t>CPU</a:t>
            </a:r>
            <a:r>
              <a:rPr lang="zh-CN" altLang="en-US" sz="1200" dirty="0">
                <a:solidFill>
                  <a:srgbClr val="FF0000"/>
                </a:solidFill>
              </a:rPr>
              <a:t>核心数增加，任务同步时间会增长</a:t>
            </a:r>
            <a:r>
              <a:rPr lang="zh-CN" altLang="en-US" sz="1200" dirty="0"/>
              <a:t>（</a:t>
            </a:r>
            <a:r>
              <a:rPr lang="en-US" altLang="zh-CN" sz="1200" dirty="0"/>
              <a:t>1</a:t>
            </a:r>
            <a:r>
              <a:rPr lang="zh-CN" altLang="en-US" sz="1200" dirty="0"/>
              <a:t>微秒</a:t>
            </a:r>
            <a:r>
              <a:rPr lang="en-US" altLang="zh-CN" sz="1200" dirty="0"/>
              <a:t>-143</a:t>
            </a:r>
            <a:r>
              <a:rPr lang="zh-CN" altLang="en-US" sz="1200" dirty="0"/>
              <a:t>微秒），但关键的域替换和状态迁移时间保持稳定有状</a:t>
            </a:r>
            <a:endParaRPr lang="en-US" altLang="zh-CN" sz="1200" dirty="0"/>
          </a:p>
        </p:txBody>
      </p:sp>
      <p:sp>
        <p:nvSpPr>
          <p:cNvPr id="4" name="灯片编号占位符 3">
            <a:extLst>
              <a:ext uri="{FF2B5EF4-FFF2-40B4-BE49-F238E27FC236}">
                <a16:creationId xmlns:a16="http://schemas.microsoft.com/office/drawing/2014/main" id="{EE59D4B9-AD5C-0FAB-71F7-938DB23C3FCF}"/>
              </a:ext>
            </a:extLst>
          </p:cNvPr>
          <p:cNvSpPr>
            <a:spLocks noGrp="1"/>
          </p:cNvSpPr>
          <p:nvPr>
            <p:ph type="sldNum" sz="quarter" idx="10"/>
          </p:nvPr>
        </p:nvSpPr>
        <p:spPr/>
        <p:txBody>
          <a:bodyPr/>
          <a:lstStyle/>
          <a:p>
            <a:pPr>
              <a:defRPr/>
            </a:pPr>
            <a:fld id="{CD7A2CCA-E5D5-4859-8035-B358016F08F8}" type="slidenum">
              <a:rPr lang="zh-CN" altLang="en-US" smtClean="0"/>
              <a:t>23</a:t>
            </a:fld>
            <a:endParaRPr lang="zh-CN" altLang="en-US" dirty="0"/>
          </a:p>
        </p:txBody>
      </p:sp>
    </p:spTree>
    <p:extLst>
      <p:ext uri="{BB962C8B-B14F-4D97-AF65-F5344CB8AC3E}">
        <p14:creationId xmlns:p14="http://schemas.microsoft.com/office/powerpoint/2010/main" val="22078224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CAA4F-6EE1-A189-2771-6252FBE6027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5599C42-0A68-AD22-3D5E-32599E11A8F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D468D47-91CF-40A0-01AC-8660A898C65D}"/>
              </a:ext>
            </a:extLst>
          </p:cNvPr>
          <p:cNvSpPr>
            <a:spLocks noGrp="1"/>
          </p:cNvSpPr>
          <p:nvPr>
            <p:ph type="body" idx="1"/>
          </p:nvPr>
        </p:nvSpPr>
        <p:spPr/>
        <p:txBody>
          <a:bodyPr/>
          <a:lstStyle/>
          <a:p>
            <a:r>
              <a:rPr lang="zh-CN" altLang="en-US" dirty="0"/>
              <a:t>我们利用</a:t>
            </a:r>
            <a:r>
              <a:rPr lang="en-US" altLang="zh-CN" dirty="0"/>
              <a:t>rust</a:t>
            </a:r>
            <a:r>
              <a:rPr lang="zh-CN" altLang="en-US" dirty="0"/>
              <a:t>语言构建了一个</a:t>
            </a:r>
            <a:r>
              <a:rPr lang="zh-CN" altLang="en-US" sz="1200" dirty="0"/>
              <a:t>通用的用于实施模块隔离的框架</a:t>
            </a:r>
            <a:r>
              <a:rPr lang="en-US" altLang="zh-CN" sz="1200" dirty="0"/>
              <a:t>Moat</a:t>
            </a:r>
            <a:r>
              <a:rPr lang="zh-CN" altLang="en-US" sz="1200" dirty="0"/>
              <a:t>，在模块隔离的基础上，Moat 提供了对隔离模块的组件级热更新支持。</a:t>
            </a:r>
            <a:endParaRPr lang="en-US" altLang="zh-CN" sz="1200" dirty="0"/>
          </a:p>
          <a:p>
            <a:endParaRPr lang="en-US" altLang="zh-CN" sz="1200" dirty="0"/>
          </a:p>
          <a:p>
            <a:endParaRPr lang="en-US" altLang="zh-CN" dirty="0"/>
          </a:p>
          <a:p>
            <a:r>
              <a:rPr lang="zh-CN" altLang="en-US" dirty="0"/>
              <a:t>当然，我们仍然有许多可以继续做的工作。。。。</a:t>
            </a:r>
          </a:p>
        </p:txBody>
      </p:sp>
      <p:sp>
        <p:nvSpPr>
          <p:cNvPr id="4" name="灯片编号占位符 3">
            <a:extLst>
              <a:ext uri="{FF2B5EF4-FFF2-40B4-BE49-F238E27FC236}">
                <a16:creationId xmlns:a16="http://schemas.microsoft.com/office/drawing/2014/main" id="{AAACAA41-1563-9283-054E-FE6CAF53C171}"/>
              </a:ext>
            </a:extLst>
          </p:cNvPr>
          <p:cNvSpPr>
            <a:spLocks noGrp="1"/>
          </p:cNvSpPr>
          <p:nvPr>
            <p:ph type="sldNum" sz="quarter" idx="10"/>
          </p:nvPr>
        </p:nvSpPr>
        <p:spPr/>
        <p:txBody>
          <a:bodyPr/>
          <a:lstStyle/>
          <a:p>
            <a:pPr>
              <a:defRPr/>
            </a:pPr>
            <a:fld id="{CD7A2CCA-E5D5-4859-8035-B358016F08F8}" type="slidenum">
              <a:rPr lang="zh-CN" altLang="en-US" smtClean="0"/>
              <a:t>24</a:t>
            </a:fld>
            <a:endParaRPr lang="zh-CN" altLang="en-US" dirty="0"/>
          </a:p>
        </p:txBody>
      </p:sp>
    </p:spTree>
    <p:extLst>
      <p:ext uri="{BB962C8B-B14F-4D97-AF65-F5344CB8AC3E}">
        <p14:creationId xmlns:p14="http://schemas.microsoft.com/office/powerpoint/2010/main" val="36246104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t>25</a:t>
            </a:fld>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1B971-40F7-9DFA-AF5E-DB56D2370D0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5838980-9BE9-58E5-8E8B-278C83033C5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C5C7E2F-F002-9198-6340-38472B58B10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945FD9A-381B-9AB3-7892-441825BB92D4}"/>
              </a:ext>
            </a:extLst>
          </p:cNvPr>
          <p:cNvSpPr>
            <a:spLocks noGrp="1"/>
          </p:cNvSpPr>
          <p:nvPr>
            <p:ph type="sldNum" sz="quarter" idx="10"/>
          </p:nvPr>
        </p:nvSpPr>
        <p:spPr/>
        <p:txBody>
          <a:bodyPr/>
          <a:lstStyle/>
          <a:p>
            <a:pPr>
              <a:defRPr/>
            </a:pPr>
            <a:fld id="{CD7A2CCA-E5D5-4859-8035-B358016F08F8}" type="slidenum">
              <a:rPr lang="zh-CN" altLang="en-US" smtClean="0"/>
              <a:t>26</a:t>
            </a:fld>
            <a:endParaRPr lang="zh-CN" altLang="en-US" dirty="0"/>
          </a:p>
        </p:txBody>
      </p:sp>
    </p:spTree>
    <p:extLst>
      <p:ext uri="{BB962C8B-B14F-4D97-AF65-F5344CB8AC3E}">
        <p14:creationId xmlns:p14="http://schemas.microsoft.com/office/powerpoint/2010/main" val="1601636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CFE09-1E05-A076-1652-FF7C08C5BAE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FF95BFD-C511-1548-8AEB-2FCC5FEE528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7C3A3EC-4DBE-D58D-F4B6-FAC94D4B940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AC0C6E4-4BDB-75A9-7C8D-4D4DDF812095}"/>
              </a:ext>
            </a:extLst>
          </p:cNvPr>
          <p:cNvSpPr>
            <a:spLocks noGrp="1"/>
          </p:cNvSpPr>
          <p:nvPr>
            <p:ph type="sldNum" sz="quarter" idx="10"/>
          </p:nvPr>
        </p:nvSpPr>
        <p:spPr/>
        <p:txBody>
          <a:bodyPr/>
          <a:lstStyle/>
          <a:p>
            <a:pPr>
              <a:defRPr/>
            </a:pPr>
            <a:fld id="{CD7A2CCA-E5D5-4859-8035-B358016F08F8}" type="slidenum">
              <a:rPr lang="zh-CN" altLang="en-US" smtClean="0"/>
              <a:t>27</a:t>
            </a:fld>
            <a:endParaRPr lang="zh-CN" altLang="en-US" dirty="0"/>
          </a:p>
        </p:txBody>
      </p:sp>
    </p:spTree>
    <p:extLst>
      <p:ext uri="{BB962C8B-B14F-4D97-AF65-F5344CB8AC3E}">
        <p14:creationId xmlns:p14="http://schemas.microsoft.com/office/powerpoint/2010/main" val="41977165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5.xml"/></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xml"/><Relationship Id="rId1" Type="http://schemas.openxmlformats.org/officeDocument/2006/relationships/tags" Target="../tags/tag6.xml"/><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1BC16E-92AF-F994-9B5D-007EB76AE494}"/>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AA47DB77-00E6-3C90-05E1-869DAA9061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9BEAC0D-1AC8-2CE7-8865-F74611ADB0D3}"/>
              </a:ext>
            </a:extLst>
          </p:cNvPr>
          <p:cNvSpPr>
            <a:spLocks noGrp="1"/>
          </p:cNvSpPr>
          <p:nvPr>
            <p:ph type="dt" sz="half" idx="10"/>
          </p:nvPr>
        </p:nvSpPr>
        <p:spPr/>
        <p:txBody>
          <a:bodyPr/>
          <a:lstStyle/>
          <a:p>
            <a:fld id="{4E902D31-C982-452B-9EAD-C970DC9ABCC5}" type="datetimeFigureOut">
              <a:rPr lang="zh-CN" altLang="en-US" smtClean="0"/>
              <a:t>2026/1/21</a:t>
            </a:fld>
            <a:endParaRPr lang="zh-CN" altLang="en-US"/>
          </a:p>
        </p:txBody>
      </p:sp>
      <p:sp>
        <p:nvSpPr>
          <p:cNvPr id="5" name="页脚占位符 4">
            <a:extLst>
              <a:ext uri="{FF2B5EF4-FFF2-40B4-BE49-F238E27FC236}">
                <a16:creationId xmlns:a16="http://schemas.microsoft.com/office/drawing/2014/main" id="{22BBAEBB-8FE8-78DE-D32C-B84E015C7D9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51EAA1B-204F-AAA4-9DCD-95EB64277A23}"/>
              </a:ext>
            </a:extLst>
          </p:cNvPr>
          <p:cNvSpPr>
            <a:spLocks noGrp="1"/>
          </p:cNvSpPr>
          <p:nvPr>
            <p:ph type="sldNum" sz="quarter" idx="12"/>
          </p:nvPr>
        </p:nvSpPr>
        <p:spPr/>
        <p:txBody>
          <a:bodyPr/>
          <a:lstStyle/>
          <a:p>
            <a:fld id="{CEEF401C-C1B0-4E9D-BD7A-D7B91F088445}" type="slidenum">
              <a:rPr lang="zh-CN" altLang="en-US" smtClean="0"/>
              <a:t>‹#›</a:t>
            </a:fld>
            <a:endParaRPr lang="zh-CN" altLang="en-US"/>
          </a:p>
        </p:txBody>
      </p:sp>
    </p:spTree>
    <p:extLst>
      <p:ext uri="{BB962C8B-B14F-4D97-AF65-F5344CB8AC3E}">
        <p14:creationId xmlns:p14="http://schemas.microsoft.com/office/powerpoint/2010/main" val="28967751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7F764D-4207-B5EC-C4E8-D1D8420E6F0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61F3BFA-F745-D637-C550-06F244CC66DD}"/>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442C6F2-01EF-B18F-57A2-EE4B1E5B9654}"/>
              </a:ext>
            </a:extLst>
          </p:cNvPr>
          <p:cNvSpPr>
            <a:spLocks noGrp="1"/>
          </p:cNvSpPr>
          <p:nvPr>
            <p:ph type="dt" sz="half" idx="10"/>
          </p:nvPr>
        </p:nvSpPr>
        <p:spPr/>
        <p:txBody>
          <a:bodyPr/>
          <a:lstStyle/>
          <a:p>
            <a:fld id="{4E902D31-C982-452B-9EAD-C970DC9ABCC5}" type="datetimeFigureOut">
              <a:rPr lang="zh-CN" altLang="en-US" smtClean="0"/>
              <a:t>2026/1/21</a:t>
            </a:fld>
            <a:endParaRPr lang="zh-CN" altLang="en-US"/>
          </a:p>
        </p:txBody>
      </p:sp>
      <p:sp>
        <p:nvSpPr>
          <p:cNvPr id="5" name="页脚占位符 4">
            <a:extLst>
              <a:ext uri="{FF2B5EF4-FFF2-40B4-BE49-F238E27FC236}">
                <a16:creationId xmlns:a16="http://schemas.microsoft.com/office/drawing/2014/main" id="{37A8753B-F5DC-4D78-B273-1C4770988BC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384D97A-4997-3AC7-0059-6E43E280739C}"/>
              </a:ext>
            </a:extLst>
          </p:cNvPr>
          <p:cNvSpPr>
            <a:spLocks noGrp="1"/>
          </p:cNvSpPr>
          <p:nvPr>
            <p:ph type="sldNum" sz="quarter" idx="12"/>
          </p:nvPr>
        </p:nvSpPr>
        <p:spPr/>
        <p:txBody>
          <a:bodyPr/>
          <a:lstStyle/>
          <a:p>
            <a:fld id="{CEEF401C-C1B0-4E9D-BD7A-D7B91F088445}" type="slidenum">
              <a:rPr lang="zh-CN" altLang="en-US" smtClean="0"/>
              <a:t>‹#›</a:t>
            </a:fld>
            <a:endParaRPr lang="zh-CN" altLang="en-US"/>
          </a:p>
        </p:txBody>
      </p:sp>
    </p:spTree>
    <p:extLst>
      <p:ext uri="{BB962C8B-B14F-4D97-AF65-F5344CB8AC3E}">
        <p14:creationId xmlns:p14="http://schemas.microsoft.com/office/powerpoint/2010/main" val="2051353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1D7917-A941-2B14-A444-8B180828C3EB}"/>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A6D4F1DB-E36C-9A2F-BD17-88A0FEF7DE0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8EC2A04-1CD0-CE53-E5EE-B96AE36FD187}"/>
              </a:ext>
            </a:extLst>
          </p:cNvPr>
          <p:cNvSpPr>
            <a:spLocks noGrp="1"/>
          </p:cNvSpPr>
          <p:nvPr>
            <p:ph type="dt" sz="half" idx="10"/>
          </p:nvPr>
        </p:nvSpPr>
        <p:spPr/>
        <p:txBody>
          <a:bodyPr/>
          <a:lstStyle/>
          <a:p>
            <a:fld id="{4E902D31-C982-452B-9EAD-C970DC9ABCC5}" type="datetimeFigureOut">
              <a:rPr lang="zh-CN" altLang="en-US" smtClean="0"/>
              <a:t>2026/1/21</a:t>
            </a:fld>
            <a:endParaRPr lang="zh-CN" altLang="en-US"/>
          </a:p>
        </p:txBody>
      </p:sp>
      <p:sp>
        <p:nvSpPr>
          <p:cNvPr id="5" name="页脚占位符 4">
            <a:extLst>
              <a:ext uri="{FF2B5EF4-FFF2-40B4-BE49-F238E27FC236}">
                <a16:creationId xmlns:a16="http://schemas.microsoft.com/office/drawing/2014/main" id="{227D231E-B22D-186F-9AED-F7476297D0E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F421BD5-DAA0-A19A-36F7-B5F5E354FA62}"/>
              </a:ext>
            </a:extLst>
          </p:cNvPr>
          <p:cNvSpPr>
            <a:spLocks noGrp="1"/>
          </p:cNvSpPr>
          <p:nvPr>
            <p:ph type="sldNum" sz="quarter" idx="12"/>
          </p:nvPr>
        </p:nvSpPr>
        <p:spPr/>
        <p:txBody>
          <a:bodyPr/>
          <a:lstStyle/>
          <a:p>
            <a:fld id="{CEEF401C-C1B0-4E9D-BD7A-D7B91F088445}" type="slidenum">
              <a:rPr lang="zh-CN" altLang="en-US" smtClean="0"/>
              <a:t>‹#›</a:t>
            </a:fld>
            <a:endParaRPr lang="zh-CN" altLang="en-US"/>
          </a:p>
        </p:txBody>
      </p:sp>
    </p:spTree>
    <p:extLst>
      <p:ext uri="{BB962C8B-B14F-4D97-AF65-F5344CB8AC3E}">
        <p14:creationId xmlns:p14="http://schemas.microsoft.com/office/powerpoint/2010/main" val="1052043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A81E92-8788-2BE2-5062-C13EF661260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9EA80D6-8FDC-1335-70B2-E1EC2E9715A1}"/>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2F8C5EF4-9119-F07B-B657-02F4C92F7855}"/>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5F7C24E-5029-B4E9-5A64-75DACCAB34FF}"/>
              </a:ext>
            </a:extLst>
          </p:cNvPr>
          <p:cNvSpPr>
            <a:spLocks noGrp="1"/>
          </p:cNvSpPr>
          <p:nvPr>
            <p:ph type="dt" sz="half" idx="10"/>
          </p:nvPr>
        </p:nvSpPr>
        <p:spPr/>
        <p:txBody>
          <a:bodyPr/>
          <a:lstStyle/>
          <a:p>
            <a:fld id="{4E902D31-C982-452B-9EAD-C970DC9ABCC5}" type="datetimeFigureOut">
              <a:rPr lang="zh-CN" altLang="en-US" smtClean="0"/>
              <a:t>2026/1/21</a:t>
            </a:fld>
            <a:endParaRPr lang="zh-CN" altLang="en-US"/>
          </a:p>
        </p:txBody>
      </p:sp>
      <p:sp>
        <p:nvSpPr>
          <p:cNvPr id="6" name="页脚占位符 5">
            <a:extLst>
              <a:ext uri="{FF2B5EF4-FFF2-40B4-BE49-F238E27FC236}">
                <a16:creationId xmlns:a16="http://schemas.microsoft.com/office/drawing/2014/main" id="{3A616B1C-F661-A8E9-F6EA-5D08BCAFBA7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B493F66-2D51-3493-2CCC-9F87DD43E785}"/>
              </a:ext>
            </a:extLst>
          </p:cNvPr>
          <p:cNvSpPr>
            <a:spLocks noGrp="1"/>
          </p:cNvSpPr>
          <p:nvPr>
            <p:ph type="sldNum" sz="quarter" idx="12"/>
          </p:nvPr>
        </p:nvSpPr>
        <p:spPr/>
        <p:txBody>
          <a:bodyPr/>
          <a:lstStyle/>
          <a:p>
            <a:fld id="{CEEF401C-C1B0-4E9D-BD7A-D7B91F088445}" type="slidenum">
              <a:rPr lang="zh-CN" altLang="en-US" smtClean="0"/>
              <a:t>‹#›</a:t>
            </a:fld>
            <a:endParaRPr lang="zh-CN" altLang="en-US"/>
          </a:p>
        </p:txBody>
      </p:sp>
    </p:spTree>
    <p:extLst>
      <p:ext uri="{BB962C8B-B14F-4D97-AF65-F5344CB8AC3E}">
        <p14:creationId xmlns:p14="http://schemas.microsoft.com/office/powerpoint/2010/main" val="15492948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A9062-E620-734C-BBFC-56C519893C3C}"/>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E8A5BED-ADC7-6AF0-C9A3-B21E92B37C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B58E6B09-9792-5365-2DA0-FD1FEEE05DDF}"/>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1B3F2BFD-EF29-5C40-C1EE-01573BCB07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E583CA5-6041-A1F6-FBD8-A839C30A2B1E}"/>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6D1F390-DFBD-6886-75CA-7290BBF1758E}"/>
              </a:ext>
            </a:extLst>
          </p:cNvPr>
          <p:cNvSpPr>
            <a:spLocks noGrp="1"/>
          </p:cNvSpPr>
          <p:nvPr>
            <p:ph type="dt" sz="half" idx="10"/>
          </p:nvPr>
        </p:nvSpPr>
        <p:spPr/>
        <p:txBody>
          <a:bodyPr/>
          <a:lstStyle/>
          <a:p>
            <a:fld id="{4E902D31-C982-452B-9EAD-C970DC9ABCC5}" type="datetimeFigureOut">
              <a:rPr lang="zh-CN" altLang="en-US" smtClean="0"/>
              <a:t>2026/1/21</a:t>
            </a:fld>
            <a:endParaRPr lang="zh-CN" altLang="en-US"/>
          </a:p>
        </p:txBody>
      </p:sp>
      <p:sp>
        <p:nvSpPr>
          <p:cNvPr id="8" name="页脚占位符 7">
            <a:extLst>
              <a:ext uri="{FF2B5EF4-FFF2-40B4-BE49-F238E27FC236}">
                <a16:creationId xmlns:a16="http://schemas.microsoft.com/office/drawing/2014/main" id="{4FC6EEB0-41FF-DBF5-7A85-6A8B5B8308FB}"/>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989148EC-AC0A-F297-9948-AEC024F92832}"/>
              </a:ext>
            </a:extLst>
          </p:cNvPr>
          <p:cNvSpPr>
            <a:spLocks noGrp="1"/>
          </p:cNvSpPr>
          <p:nvPr>
            <p:ph type="sldNum" sz="quarter" idx="12"/>
          </p:nvPr>
        </p:nvSpPr>
        <p:spPr/>
        <p:txBody>
          <a:bodyPr/>
          <a:lstStyle/>
          <a:p>
            <a:fld id="{CEEF401C-C1B0-4E9D-BD7A-D7B91F088445}" type="slidenum">
              <a:rPr lang="zh-CN" altLang="en-US" smtClean="0"/>
              <a:t>‹#›</a:t>
            </a:fld>
            <a:endParaRPr lang="zh-CN" altLang="en-US"/>
          </a:p>
        </p:txBody>
      </p:sp>
    </p:spTree>
    <p:extLst>
      <p:ext uri="{BB962C8B-B14F-4D97-AF65-F5344CB8AC3E}">
        <p14:creationId xmlns:p14="http://schemas.microsoft.com/office/powerpoint/2010/main" val="39223462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B76C0D-2D87-2635-09D6-EC632D41ED3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EB73E2EB-95C1-E898-DAAB-39C9165C8B16}"/>
              </a:ext>
            </a:extLst>
          </p:cNvPr>
          <p:cNvSpPr>
            <a:spLocks noGrp="1"/>
          </p:cNvSpPr>
          <p:nvPr>
            <p:ph type="dt" sz="half" idx="10"/>
          </p:nvPr>
        </p:nvSpPr>
        <p:spPr/>
        <p:txBody>
          <a:bodyPr/>
          <a:lstStyle/>
          <a:p>
            <a:fld id="{4E902D31-C982-452B-9EAD-C970DC9ABCC5}" type="datetimeFigureOut">
              <a:rPr lang="zh-CN" altLang="en-US" smtClean="0"/>
              <a:t>2026/1/21</a:t>
            </a:fld>
            <a:endParaRPr lang="zh-CN" altLang="en-US"/>
          </a:p>
        </p:txBody>
      </p:sp>
      <p:sp>
        <p:nvSpPr>
          <p:cNvPr id="4" name="页脚占位符 3">
            <a:extLst>
              <a:ext uri="{FF2B5EF4-FFF2-40B4-BE49-F238E27FC236}">
                <a16:creationId xmlns:a16="http://schemas.microsoft.com/office/drawing/2014/main" id="{E99DCEA9-EF54-E798-E8EA-F4966566BEA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180E1076-2225-B4EB-9D60-41436959495C}"/>
              </a:ext>
            </a:extLst>
          </p:cNvPr>
          <p:cNvSpPr>
            <a:spLocks noGrp="1"/>
          </p:cNvSpPr>
          <p:nvPr>
            <p:ph type="sldNum" sz="quarter" idx="12"/>
          </p:nvPr>
        </p:nvSpPr>
        <p:spPr/>
        <p:txBody>
          <a:bodyPr/>
          <a:lstStyle/>
          <a:p>
            <a:fld id="{CEEF401C-C1B0-4E9D-BD7A-D7B91F088445}" type="slidenum">
              <a:rPr lang="zh-CN" altLang="en-US" smtClean="0"/>
              <a:t>‹#›</a:t>
            </a:fld>
            <a:endParaRPr lang="zh-CN" altLang="en-US"/>
          </a:p>
        </p:txBody>
      </p:sp>
    </p:spTree>
    <p:extLst>
      <p:ext uri="{BB962C8B-B14F-4D97-AF65-F5344CB8AC3E}">
        <p14:creationId xmlns:p14="http://schemas.microsoft.com/office/powerpoint/2010/main" val="4771899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40343CB-B9CD-E9EE-23F9-4E7528C86AB2}"/>
              </a:ext>
            </a:extLst>
          </p:cNvPr>
          <p:cNvSpPr>
            <a:spLocks noGrp="1"/>
          </p:cNvSpPr>
          <p:nvPr>
            <p:ph type="dt" sz="half" idx="10"/>
          </p:nvPr>
        </p:nvSpPr>
        <p:spPr/>
        <p:txBody>
          <a:bodyPr/>
          <a:lstStyle/>
          <a:p>
            <a:fld id="{4E902D31-C982-452B-9EAD-C970DC9ABCC5}" type="datetimeFigureOut">
              <a:rPr lang="zh-CN" altLang="en-US" smtClean="0"/>
              <a:t>2026/1/21</a:t>
            </a:fld>
            <a:endParaRPr lang="zh-CN" altLang="en-US"/>
          </a:p>
        </p:txBody>
      </p:sp>
      <p:sp>
        <p:nvSpPr>
          <p:cNvPr id="3" name="页脚占位符 2">
            <a:extLst>
              <a:ext uri="{FF2B5EF4-FFF2-40B4-BE49-F238E27FC236}">
                <a16:creationId xmlns:a16="http://schemas.microsoft.com/office/drawing/2014/main" id="{0888128B-737A-5F69-A17F-B5692A19FD8F}"/>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3FA5D6D-971E-1FF7-4121-DAA70537CAAC}"/>
              </a:ext>
            </a:extLst>
          </p:cNvPr>
          <p:cNvSpPr>
            <a:spLocks noGrp="1"/>
          </p:cNvSpPr>
          <p:nvPr>
            <p:ph type="sldNum" sz="quarter" idx="12"/>
          </p:nvPr>
        </p:nvSpPr>
        <p:spPr/>
        <p:txBody>
          <a:bodyPr/>
          <a:lstStyle/>
          <a:p>
            <a:fld id="{CEEF401C-C1B0-4E9D-BD7A-D7B91F088445}" type="slidenum">
              <a:rPr lang="zh-CN" altLang="en-US" smtClean="0"/>
              <a:t>‹#›</a:t>
            </a:fld>
            <a:endParaRPr lang="zh-CN" altLang="en-US"/>
          </a:p>
        </p:txBody>
      </p:sp>
    </p:spTree>
    <p:extLst>
      <p:ext uri="{BB962C8B-B14F-4D97-AF65-F5344CB8AC3E}">
        <p14:creationId xmlns:p14="http://schemas.microsoft.com/office/powerpoint/2010/main" val="858028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DF6E84-A163-26E8-ECF1-233C96185C1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9A1D5C5-E15D-FEC3-80A5-C9A798D271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AD0C4AF-74DD-CA57-A1E9-2B369FF621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EED5508-5981-A9D7-E83A-F913B99CBB8C}"/>
              </a:ext>
            </a:extLst>
          </p:cNvPr>
          <p:cNvSpPr>
            <a:spLocks noGrp="1"/>
          </p:cNvSpPr>
          <p:nvPr>
            <p:ph type="dt" sz="half" idx="10"/>
          </p:nvPr>
        </p:nvSpPr>
        <p:spPr/>
        <p:txBody>
          <a:bodyPr/>
          <a:lstStyle/>
          <a:p>
            <a:fld id="{4E902D31-C982-452B-9EAD-C970DC9ABCC5}" type="datetimeFigureOut">
              <a:rPr lang="zh-CN" altLang="en-US" smtClean="0"/>
              <a:t>2026/1/21</a:t>
            </a:fld>
            <a:endParaRPr lang="zh-CN" altLang="en-US"/>
          </a:p>
        </p:txBody>
      </p:sp>
      <p:sp>
        <p:nvSpPr>
          <p:cNvPr id="6" name="页脚占位符 5">
            <a:extLst>
              <a:ext uri="{FF2B5EF4-FFF2-40B4-BE49-F238E27FC236}">
                <a16:creationId xmlns:a16="http://schemas.microsoft.com/office/drawing/2014/main" id="{84B02A38-136B-57B7-2C81-285F4155125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46CDFF5-FB15-FD60-5BB1-CFFF8957C58A}"/>
              </a:ext>
            </a:extLst>
          </p:cNvPr>
          <p:cNvSpPr>
            <a:spLocks noGrp="1"/>
          </p:cNvSpPr>
          <p:nvPr>
            <p:ph type="sldNum" sz="quarter" idx="12"/>
          </p:nvPr>
        </p:nvSpPr>
        <p:spPr/>
        <p:txBody>
          <a:bodyPr/>
          <a:lstStyle/>
          <a:p>
            <a:fld id="{CEEF401C-C1B0-4E9D-BD7A-D7B91F088445}" type="slidenum">
              <a:rPr lang="zh-CN" altLang="en-US" smtClean="0"/>
              <a:t>‹#›</a:t>
            </a:fld>
            <a:endParaRPr lang="zh-CN" altLang="en-US"/>
          </a:p>
        </p:txBody>
      </p:sp>
    </p:spTree>
    <p:extLst>
      <p:ext uri="{BB962C8B-B14F-4D97-AF65-F5344CB8AC3E}">
        <p14:creationId xmlns:p14="http://schemas.microsoft.com/office/powerpoint/2010/main" val="19535579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D61443-6687-5B8A-D1C0-9E4C6349E93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69452CF-7087-F6D9-ABA3-B100B7E97E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C72722A-3C19-DCD5-A351-7D81504C8E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4422F05-9F5B-7758-F8B0-66224A6136F8}"/>
              </a:ext>
            </a:extLst>
          </p:cNvPr>
          <p:cNvSpPr>
            <a:spLocks noGrp="1"/>
          </p:cNvSpPr>
          <p:nvPr>
            <p:ph type="dt" sz="half" idx="10"/>
          </p:nvPr>
        </p:nvSpPr>
        <p:spPr/>
        <p:txBody>
          <a:bodyPr/>
          <a:lstStyle/>
          <a:p>
            <a:fld id="{4E902D31-C982-452B-9EAD-C970DC9ABCC5}" type="datetimeFigureOut">
              <a:rPr lang="zh-CN" altLang="en-US" smtClean="0"/>
              <a:t>2026/1/21</a:t>
            </a:fld>
            <a:endParaRPr lang="zh-CN" altLang="en-US"/>
          </a:p>
        </p:txBody>
      </p:sp>
      <p:sp>
        <p:nvSpPr>
          <p:cNvPr id="6" name="页脚占位符 5">
            <a:extLst>
              <a:ext uri="{FF2B5EF4-FFF2-40B4-BE49-F238E27FC236}">
                <a16:creationId xmlns:a16="http://schemas.microsoft.com/office/drawing/2014/main" id="{54BB1139-68C3-8798-5383-89CA9A753D0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8FE9D08-DB46-9753-663F-B5344A131B45}"/>
              </a:ext>
            </a:extLst>
          </p:cNvPr>
          <p:cNvSpPr>
            <a:spLocks noGrp="1"/>
          </p:cNvSpPr>
          <p:nvPr>
            <p:ph type="sldNum" sz="quarter" idx="12"/>
          </p:nvPr>
        </p:nvSpPr>
        <p:spPr/>
        <p:txBody>
          <a:bodyPr/>
          <a:lstStyle/>
          <a:p>
            <a:fld id="{CEEF401C-C1B0-4E9D-BD7A-D7B91F088445}" type="slidenum">
              <a:rPr lang="zh-CN" altLang="en-US" smtClean="0"/>
              <a:t>‹#›</a:t>
            </a:fld>
            <a:endParaRPr lang="zh-CN" altLang="en-US"/>
          </a:p>
        </p:txBody>
      </p:sp>
    </p:spTree>
    <p:extLst>
      <p:ext uri="{BB962C8B-B14F-4D97-AF65-F5344CB8AC3E}">
        <p14:creationId xmlns:p14="http://schemas.microsoft.com/office/powerpoint/2010/main" val="42763919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F57B57-8654-A482-BFB0-FFD455B2657A}"/>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42143AC4-C4D9-04F7-2906-31198F0F7C9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2378361-18E8-710C-5CB3-3E4CEFDC282E}"/>
              </a:ext>
            </a:extLst>
          </p:cNvPr>
          <p:cNvSpPr>
            <a:spLocks noGrp="1"/>
          </p:cNvSpPr>
          <p:nvPr>
            <p:ph type="dt" sz="half" idx="10"/>
          </p:nvPr>
        </p:nvSpPr>
        <p:spPr/>
        <p:txBody>
          <a:bodyPr/>
          <a:lstStyle/>
          <a:p>
            <a:fld id="{4E902D31-C982-452B-9EAD-C970DC9ABCC5}" type="datetimeFigureOut">
              <a:rPr lang="zh-CN" altLang="en-US" smtClean="0"/>
              <a:t>2026/1/21</a:t>
            </a:fld>
            <a:endParaRPr lang="zh-CN" altLang="en-US"/>
          </a:p>
        </p:txBody>
      </p:sp>
      <p:sp>
        <p:nvSpPr>
          <p:cNvPr id="5" name="页脚占位符 4">
            <a:extLst>
              <a:ext uri="{FF2B5EF4-FFF2-40B4-BE49-F238E27FC236}">
                <a16:creationId xmlns:a16="http://schemas.microsoft.com/office/drawing/2014/main" id="{A72D456A-8785-81F7-52BB-7DAA19CBDE6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BDB7113-8B60-F59F-56F3-B52B69967C02}"/>
              </a:ext>
            </a:extLst>
          </p:cNvPr>
          <p:cNvSpPr>
            <a:spLocks noGrp="1"/>
          </p:cNvSpPr>
          <p:nvPr>
            <p:ph type="sldNum" sz="quarter" idx="12"/>
          </p:nvPr>
        </p:nvSpPr>
        <p:spPr/>
        <p:txBody>
          <a:bodyPr/>
          <a:lstStyle/>
          <a:p>
            <a:fld id="{CEEF401C-C1B0-4E9D-BD7A-D7B91F088445}" type="slidenum">
              <a:rPr lang="zh-CN" altLang="en-US" smtClean="0"/>
              <a:t>‹#›</a:t>
            </a:fld>
            <a:endParaRPr lang="zh-CN" altLang="en-US"/>
          </a:p>
        </p:txBody>
      </p:sp>
    </p:spTree>
    <p:extLst>
      <p:ext uri="{BB962C8B-B14F-4D97-AF65-F5344CB8AC3E}">
        <p14:creationId xmlns:p14="http://schemas.microsoft.com/office/powerpoint/2010/main" val="33422220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500E173-C004-0C45-8671-2A220E3C310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753FE74-8FA5-701B-AAF9-F25E9F62E360}"/>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0445CCF-0A83-16F5-E41A-8A18A1EB9FF8}"/>
              </a:ext>
            </a:extLst>
          </p:cNvPr>
          <p:cNvSpPr>
            <a:spLocks noGrp="1"/>
          </p:cNvSpPr>
          <p:nvPr>
            <p:ph type="dt" sz="half" idx="10"/>
          </p:nvPr>
        </p:nvSpPr>
        <p:spPr/>
        <p:txBody>
          <a:bodyPr/>
          <a:lstStyle/>
          <a:p>
            <a:fld id="{4E902D31-C982-452B-9EAD-C970DC9ABCC5}" type="datetimeFigureOut">
              <a:rPr lang="zh-CN" altLang="en-US" smtClean="0"/>
              <a:t>2026/1/21</a:t>
            </a:fld>
            <a:endParaRPr lang="zh-CN" altLang="en-US"/>
          </a:p>
        </p:txBody>
      </p:sp>
      <p:sp>
        <p:nvSpPr>
          <p:cNvPr id="5" name="页脚占位符 4">
            <a:extLst>
              <a:ext uri="{FF2B5EF4-FFF2-40B4-BE49-F238E27FC236}">
                <a16:creationId xmlns:a16="http://schemas.microsoft.com/office/drawing/2014/main" id="{F02843D0-3CA6-28CE-0B77-AE3166F77C5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FBA5CCF-8B4F-037E-6F64-97FDF6F83E6E}"/>
              </a:ext>
            </a:extLst>
          </p:cNvPr>
          <p:cNvSpPr>
            <a:spLocks noGrp="1"/>
          </p:cNvSpPr>
          <p:nvPr>
            <p:ph type="sldNum" sz="quarter" idx="12"/>
          </p:nvPr>
        </p:nvSpPr>
        <p:spPr/>
        <p:txBody>
          <a:bodyPr/>
          <a:lstStyle/>
          <a:p>
            <a:fld id="{CEEF401C-C1B0-4E9D-BD7A-D7B91F088445}" type="slidenum">
              <a:rPr lang="zh-CN" altLang="en-US" smtClean="0"/>
              <a:t>‹#›</a:t>
            </a:fld>
            <a:endParaRPr lang="zh-CN" altLang="en-US"/>
          </a:p>
        </p:txBody>
      </p:sp>
    </p:spTree>
    <p:extLst>
      <p:ext uri="{BB962C8B-B14F-4D97-AF65-F5344CB8AC3E}">
        <p14:creationId xmlns:p14="http://schemas.microsoft.com/office/powerpoint/2010/main" val="4293159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封面样式2-首页1">
    <p:spTree>
      <p:nvGrpSpPr>
        <p:cNvPr id="1" name=""/>
        <p:cNvGrpSpPr/>
        <p:nvPr/>
      </p:nvGrpSpPr>
      <p:grpSpPr>
        <a:xfrm>
          <a:off x="0" y="0"/>
          <a:ext cx="0" cy="0"/>
          <a:chOff x="0" y="0"/>
          <a:chExt cx="0" cy="0"/>
        </a:xfrm>
      </p:grpSpPr>
      <p:sp>
        <p:nvSpPr>
          <p:cNvPr id="6" name="PA-矩形 7"/>
          <p:cNvSpPr/>
          <p:nvPr userDrawn="1">
            <p:custDataLst>
              <p:tags r:id="rId1"/>
            </p:custData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 name="PA-矩形 7"/>
          <p:cNvSpPr/>
          <p:nvPr userDrawn="1">
            <p:custDataLst>
              <p:tags r:id="rId2"/>
            </p:custDataLst>
          </p:nvPr>
        </p:nvSpPr>
        <p:spPr>
          <a:xfrm>
            <a:off x="0" y="0"/>
            <a:ext cx="12192000" cy="6858000"/>
          </a:xfrm>
          <a:prstGeom prst="rect">
            <a:avLst/>
          </a:prstGeom>
          <a:gradFill>
            <a:gsLst>
              <a:gs pos="0">
                <a:srgbClr val="008244"/>
              </a:gs>
              <a:gs pos="100000">
                <a:schemeClr val="accent1"/>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 name="任意多边形: 形状 39"/>
          <p:cNvSpPr/>
          <p:nvPr userDrawn="1"/>
        </p:nvSpPr>
        <p:spPr>
          <a:xfrm>
            <a:off x="221886" y="0"/>
            <a:ext cx="7536857" cy="6858000"/>
          </a:xfrm>
          <a:custGeom>
            <a:avLst/>
            <a:gdLst>
              <a:gd name="connsiteX0" fmla="*/ 0 w 7536857"/>
              <a:gd name="connsiteY0" fmla="*/ 0 h 6858000"/>
              <a:gd name="connsiteX1" fmla="*/ 6351816 w 7536857"/>
              <a:gd name="connsiteY1" fmla="*/ 0 h 6858000"/>
              <a:gd name="connsiteX2" fmla="*/ 6432300 w 7536857"/>
              <a:gd name="connsiteY2" fmla="*/ 102417 h 6858000"/>
              <a:gd name="connsiteX3" fmla="*/ 7536857 w 7536857"/>
              <a:gd name="connsiteY3" fmla="*/ 3429000 h 6858000"/>
              <a:gd name="connsiteX4" fmla="*/ 6432300 w 7536857"/>
              <a:gd name="connsiteY4" fmla="*/ 6755583 h 6858000"/>
              <a:gd name="connsiteX5" fmla="*/ 6351816 w 7536857"/>
              <a:gd name="connsiteY5" fmla="*/ 6858000 h 6858000"/>
              <a:gd name="connsiteX6" fmla="*/ 0 w 753685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36857" h="6858000">
                <a:moveTo>
                  <a:pt x="0" y="0"/>
                </a:moveTo>
                <a:lnTo>
                  <a:pt x="6351816" y="0"/>
                </a:lnTo>
                <a:lnTo>
                  <a:pt x="6432300" y="102417"/>
                </a:lnTo>
                <a:cubicBezTo>
                  <a:pt x="7126033" y="1030047"/>
                  <a:pt x="7536857" y="2181547"/>
                  <a:pt x="7536857" y="3429000"/>
                </a:cubicBezTo>
                <a:cubicBezTo>
                  <a:pt x="7536857" y="4676454"/>
                  <a:pt x="7126033" y="5827953"/>
                  <a:pt x="6432300" y="6755583"/>
                </a:cubicBezTo>
                <a:lnTo>
                  <a:pt x="6351816" y="6858000"/>
                </a:lnTo>
                <a:lnTo>
                  <a:pt x="0" y="6858000"/>
                </a:lnTo>
                <a:close/>
              </a:path>
            </a:pathLst>
          </a:custGeom>
          <a:pattFill prst="pct5">
            <a:fgClr>
              <a:schemeClr val="bg1">
                <a:lumMod val="85000"/>
              </a:schemeClr>
            </a:fgClr>
            <a:bgClr>
              <a:schemeClr val="bg1"/>
            </a:bgClr>
          </a:pattFill>
          <a:ln>
            <a:noFill/>
          </a:ln>
          <a:effectLst>
            <a:outerShdw blurRad="190500" sx="101000" sy="101000" algn="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9" name="任意多边形: 形状 39"/>
          <p:cNvSpPr/>
          <p:nvPr userDrawn="1"/>
        </p:nvSpPr>
        <p:spPr>
          <a:xfrm>
            <a:off x="189674" y="0"/>
            <a:ext cx="7536857" cy="6858000"/>
          </a:xfrm>
          <a:custGeom>
            <a:avLst/>
            <a:gdLst>
              <a:gd name="connsiteX0" fmla="*/ 0 w 7536857"/>
              <a:gd name="connsiteY0" fmla="*/ 0 h 6858000"/>
              <a:gd name="connsiteX1" fmla="*/ 6351816 w 7536857"/>
              <a:gd name="connsiteY1" fmla="*/ 0 h 6858000"/>
              <a:gd name="connsiteX2" fmla="*/ 6432300 w 7536857"/>
              <a:gd name="connsiteY2" fmla="*/ 102417 h 6858000"/>
              <a:gd name="connsiteX3" fmla="*/ 7536857 w 7536857"/>
              <a:gd name="connsiteY3" fmla="*/ 3429000 h 6858000"/>
              <a:gd name="connsiteX4" fmla="*/ 6432300 w 7536857"/>
              <a:gd name="connsiteY4" fmla="*/ 6755583 h 6858000"/>
              <a:gd name="connsiteX5" fmla="*/ 6351816 w 7536857"/>
              <a:gd name="connsiteY5" fmla="*/ 6858000 h 6858000"/>
              <a:gd name="connsiteX6" fmla="*/ 0 w 753685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36857" h="6858000">
                <a:moveTo>
                  <a:pt x="0" y="0"/>
                </a:moveTo>
                <a:lnTo>
                  <a:pt x="6351816" y="0"/>
                </a:lnTo>
                <a:lnTo>
                  <a:pt x="6432300" y="102417"/>
                </a:lnTo>
                <a:cubicBezTo>
                  <a:pt x="7126033" y="1030047"/>
                  <a:pt x="7536857" y="2181547"/>
                  <a:pt x="7536857" y="3429000"/>
                </a:cubicBezTo>
                <a:cubicBezTo>
                  <a:pt x="7536857" y="4676454"/>
                  <a:pt x="7126033" y="5827953"/>
                  <a:pt x="6432300" y="6755583"/>
                </a:cubicBezTo>
                <a:lnTo>
                  <a:pt x="6351816" y="6858000"/>
                </a:lnTo>
                <a:lnTo>
                  <a:pt x="0" y="6858000"/>
                </a:lnTo>
                <a:close/>
              </a:path>
            </a:pathLst>
          </a:custGeom>
          <a:solidFill>
            <a:srgbClr val="A13F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0" name="任意多边形: 形状 39"/>
          <p:cNvSpPr/>
          <p:nvPr userDrawn="1"/>
        </p:nvSpPr>
        <p:spPr>
          <a:xfrm>
            <a:off x="0" y="0"/>
            <a:ext cx="7536857" cy="6858000"/>
          </a:xfrm>
          <a:custGeom>
            <a:avLst/>
            <a:gdLst>
              <a:gd name="connsiteX0" fmla="*/ 0 w 7536857"/>
              <a:gd name="connsiteY0" fmla="*/ 0 h 6858000"/>
              <a:gd name="connsiteX1" fmla="*/ 6351816 w 7536857"/>
              <a:gd name="connsiteY1" fmla="*/ 0 h 6858000"/>
              <a:gd name="connsiteX2" fmla="*/ 6432300 w 7536857"/>
              <a:gd name="connsiteY2" fmla="*/ 102417 h 6858000"/>
              <a:gd name="connsiteX3" fmla="*/ 7536857 w 7536857"/>
              <a:gd name="connsiteY3" fmla="*/ 3429000 h 6858000"/>
              <a:gd name="connsiteX4" fmla="*/ 6432300 w 7536857"/>
              <a:gd name="connsiteY4" fmla="*/ 6755583 h 6858000"/>
              <a:gd name="connsiteX5" fmla="*/ 6351816 w 7536857"/>
              <a:gd name="connsiteY5" fmla="*/ 6858000 h 6858000"/>
              <a:gd name="connsiteX6" fmla="*/ 0 w 753685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36857" h="6858000">
                <a:moveTo>
                  <a:pt x="0" y="0"/>
                </a:moveTo>
                <a:lnTo>
                  <a:pt x="6351816" y="0"/>
                </a:lnTo>
                <a:lnTo>
                  <a:pt x="6432300" y="102417"/>
                </a:lnTo>
                <a:cubicBezTo>
                  <a:pt x="7126033" y="1030047"/>
                  <a:pt x="7536857" y="2181547"/>
                  <a:pt x="7536857" y="3429000"/>
                </a:cubicBezTo>
                <a:cubicBezTo>
                  <a:pt x="7536857" y="4676454"/>
                  <a:pt x="7126033" y="5827953"/>
                  <a:pt x="6432300" y="6755583"/>
                </a:cubicBezTo>
                <a:lnTo>
                  <a:pt x="6351816" y="6858000"/>
                </a:lnTo>
                <a:lnTo>
                  <a:pt x="0" y="6858000"/>
                </a:lnTo>
                <a:close/>
              </a:path>
            </a:pathLst>
          </a:custGeom>
          <a:solidFill>
            <a:schemeClr val="bg1"/>
          </a:solidFill>
          <a:ln>
            <a:noFill/>
          </a:ln>
          <a:effectLst>
            <a:outerShdw blurRad="76200" sx="101000" sy="101000" algn="l"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1" name="任意多边形: 形状 74"/>
          <p:cNvSpPr/>
          <p:nvPr userDrawn="1"/>
        </p:nvSpPr>
        <p:spPr>
          <a:xfrm flipV="1">
            <a:off x="660400" y="3829587"/>
            <a:ext cx="6489382" cy="193259"/>
          </a:xfrm>
          <a:custGeom>
            <a:avLst/>
            <a:gdLst>
              <a:gd name="connsiteX0" fmla="*/ 0 w 6415214"/>
              <a:gd name="connsiteY0" fmla="*/ 171407 h 171407"/>
              <a:gd name="connsiteX1" fmla="*/ 6415214 w 6415214"/>
              <a:gd name="connsiteY1" fmla="*/ 171407 h 171407"/>
              <a:gd name="connsiteX2" fmla="*/ 6415214 w 6415214"/>
              <a:gd name="connsiteY2" fmla="*/ 100390 h 171407"/>
              <a:gd name="connsiteX3" fmla="*/ 511261 w 6415214"/>
              <a:gd name="connsiteY3" fmla="*/ 100390 h 171407"/>
              <a:gd name="connsiteX4" fmla="*/ 229919 w 6415214"/>
              <a:gd name="connsiteY4" fmla="*/ 0 h 171407"/>
              <a:gd name="connsiteX5" fmla="*/ 229919 w 6415214"/>
              <a:gd name="connsiteY5" fmla="*/ 100390 h 171407"/>
              <a:gd name="connsiteX6" fmla="*/ 0 w 6415214"/>
              <a:gd name="connsiteY6" fmla="*/ 100390 h 171407"/>
              <a:gd name="connsiteX0-1" fmla="*/ 0 w 6415214"/>
              <a:gd name="connsiteY0-2" fmla="*/ 171407 h 262847"/>
              <a:gd name="connsiteX1-3" fmla="*/ 6415214 w 6415214"/>
              <a:gd name="connsiteY1-4" fmla="*/ 171407 h 262847"/>
              <a:gd name="connsiteX2-5" fmla="*/ 6415214 w 6415214"/>
              <a:gd name="connsiteY2-6" fmla="*/ 100390 h 262847"/>
              <a:gd name="connsiteX3-7" fmla="*/ 511261 w 6415214"/>
              <a:gd name="connsiteY3-8" fmla="*/ 100390 h 262847"/>
              <a:gd name="connsiteX4-9" fmla="*/ 229919 w 6415214"/>
              <a:gd name="connsiteY4-10" fmla="*/ 0 h 262847"/>
              <a:gd name="connsiteX5-11" fmla="*/ 229919 w 6415214"/>
              <a:gd name="connsiteY5-12" fmla="*/ 100390 h 262847"/>
              <a:gd name="connsiteX6-13" fmla="*/ 0 w 6415214"/>
              <a:gd name="connsiteY6-14" fmla="*/ 100390 h 262847"/>
              <a:gd name="connsiteX7" fmla="*/ 91440 w 6415214"/>
              <a:gd name="connsiteY7" fmla="*/ 262847 h 262847"/>
              <a:gd name="connsiteX0-15" fmla="*/ 0 w 6415214"/>
              <a:gd name="connsiteY0-16" fmla="*/ 171407 h 171407"/>
              <a:gd name="connsiteX1-17" fmla="*/ 6415214 w 6415214"/>
              <a:gd name="connsiteY1-18" fmla="*/ 171407 h 171407"/>
              <a:gd name="connsiteX2-19" fmla="*/ 6415214 w 6415214"/>
              <a:gd name="connsiteY2-20" fmla="*/ 100390 h 171407"/>
              <a:gd name="connsiteX3-21" fmla="*/ 511261 w 6415214"/>
              <a:gd name="connsiteY3-22" fmla="*/ 100390 h 171407"/>
              <a:gd name="connsiteX4-23" fmla="*/ 229919 w 6415214"/>
              <a:gd name="connsiteY4-24" fmla="*/ 0 h 171407"/>
              <a:gd name="connsiteX5-25" fmla="*/ 229919 w 6415214"/>
              <a:gd name="connsiteY5-26" fmla="*/ 100390 h 171407"/>
              <a:gd name="connsiteX6-27" fmla="*/ 0 w 6415214"/>
              <a:gd name="connsiteY6-28" fmla="*/ 100390 h 171407"/>
              <a:gd name="connsiteX0-29" fmla="*/ 0 w 6415214"/>
              <a:gd name="connsiteY0-30" fmla="*/ 171407 h 171407"/>
              <a:gd name="connsiteX1-31" fmla="*/ 6415214 w 6415214"/>
              <a:gd name="connsiteY1-32" fmla="*/ 100390 h 171407"/>
              <a:gd name="connsiteX2-33" fmla="*/ 511261 w 6415214"/>
              <a:gd name="connsiteY2-34" fmla="*/ 100390 h 171407"/>
              <a:gd name="connsiteX3-35" fmla="*/ 229919 w 6415214"/>
              <a:gd name="connsiteY3-36" fmla="*/ 0 h 171407"/>
              <a:gd name="connsiteX4-37" fmla="*/ 229919 w 6415214"/>
              <a:gd name="connsiteY4-38" fmla="*/ 100390 h 171407"/>
              <a:gd name="connsiteX5-39" fmla="*/ 0 w 6415214"/>
              <a:gd name="connsiteY5-40" fmla="*/ 100390 h 171407"/>
              <a:gd name="connsiteX0-41" fmla="*/ 6415214 w 6415214"/>
              <a:gd name="connsiteY0-42" fmla="*/ 100390 h 100390"/>
              <a:gd name="connsiteX1-43" fmla="*/ 511261 w 6415214"/>
              <a:gd name="connsiteY1-44" fmla="*/ 100390 h 100390"/>
              <a:gd name="connsiteX2-45" fmla="*/ 229919 w 6415214"/>
              <a:gd name="connsiteY2-46" fmla="*/ 0 h 100390"/>
              <a:gd name="connsiteX3-47" fmla="*/ 229919 w 6415214"/>
              <a:gd name="connsiteY3-48" fmla="*/ 100390 h 100390"/>
              <a:gd name="connsiteX4-49" fmla="*/ 0 w 6415214"/>
              <a:gd name="connsiteY4-50" fmla="*/ 100390 h 100390"/>
              <a:gd name="connsiteX0-51" fmla="*/ 6415214 w 6415214"/>
              <a:gd name="connsiteY0-52" fmla="*/ 195640 h 195640"/>
              <a:gd name="connsiteX1-53" fmla="*/ 511261 w 6415214"/>
              <a:gd name="connsiteY1-54" fmla="*/ 195640 h 195640"/>
              <a:gd name="connsiteX2-55" fmla="*/ 227538 w 6415214"/>
              <a:gd name="connsiteY2-56" fmla="*/ 0 h 195640"/>
              <a:gd name="connsiteX3-57" fmla="*/ 229919 w 6415214"/>
              <a:gd name="connsiteY3-58" fmla="*/ 195640 h 195640"/>
              <a:gd name="connsiteX4-59" fmla="*/ 0 w 6415214"/>
              <a:gd name="connsiteY4-60" fmla="*/ 195640 h 195640"/>
              <a:gd name="connsiteX0-61" fmla="*/ 6415214 w 6415214"/>
              <a:gd name="connsiteY0-62" fmla="*/ 193259 h 193259"/>
              <a:gd name="connsiteX1-63" fmla="*/ 511261 w 6415214"/>
              <a:gd name="connsiteY1-64" fmla="*/ 193259 h 193259"/>
              <a:gd name="connsiteX2-65" fmla="*/ 232301 w 6415214"/>
              <a:gd name="connsiteY2-66" fmla="*/ 0 h 193259"/>
              <a:gd name="connsiteX3-67" fmla="*/ 229919 w 6415214"/>
              <a:gd name="connsiteY3-68" fmla="*/ 193259 h 193259"/>
              <a:gd name="connsiteX4-69" fmla="*/ 0 w 6415214"/>
              <a:gd name="connsiteY4-70" fmla="*/ 193259 h 19325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415214" h="193259">
                <a:moveTo>
                  <a:pt x="6415214" y="193259"/>
                </a:moveTo>
                <a:lnTo>
                  <a:pt x="511261" y="193259"/>
                </a:lnTo>
                <a:lnTo>
                  <a:pt x="232301" y="0"/>
                </a:lnTo>
                <a:cubicBezTo>
                  <a:pt x="233095" y="65213"/>
                  <a:pt x="229125" y="128046"/>
                  <a:pt x="229919" y="193259"/>
                </a:cubicBezTo>
                <a:lnTo>
                  <a:pt x="0" y="193259"/>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3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2" name="标题 47"/>
          <p:cNvSpPr>
            <a:spLocks noGrp="1"/>
          </p:cNvSpPr>
          <p:nvPr>
            <p:ph type="title" hasCustomPrompt="1"/>
          </p:nvPr>
        </p:nvSpPr>
        <p:spPr>
          <a:xfrm>
            <a:off x="671368" y="2616692"/>
            <a:ext cx="7015008" cy="1200329"/>
          </a:xfrm>
          <a:prstGeom prst="rect">
            <a:avLst/>
          </a:prstGeom>
          <a:noFill/>
        </p:spPr>
        <p:txBody>
          <a:bodyPr wrap="square" lIns="0" rtlCol="0">
            <a:spAutoFit/>
          </a:bodyPr>
          <a:lstStyle>
            <a:lvl1pPr>
              <a:lnSpc>
                <a:spcPct val="100000"/>
              </a:lnSpc>
              <a:defRPr lang="zh-CN" altLang="en-US" sz="3600" b="1" spc="100" dirty="0">
                <a:latin typeface="微软雅黑" panose="020B0503020204020204" pitchFamily="34" charset="-122"/>
                <a:ea typeface="微软雅黑" panose="020B0503020204020204" pitchFamily="34" charset="-122"/>
                <a:cs typeface="+mn-ea"/>
              </a:defRPr>
            </a:lvl1pPr>
          </a:lstStyle>
          <a:p>
            <a:pPr marL="0" lvl="0"/>
            <a:r>
              <a:rPr lang="zh-CN" altLang="en-US" dirty="0"/>
              <a:t>请在此输入标题</a:t>
            </a:r>
            <a:br>
              <a:rPr lang="zh-CN" altLang="en-US" dirty="0"/>
            </a:br>
            <a:r>
              <a:rPr lang="zh-CN" altLang="en-US" dirty="0"/>
              <a:t>尽量回车保证标题为两行</a:t>
            </a:r>
          </a:p>
        </p:txBody>
      </p:sp>
      <p:sp>
        <p:nvSpPr>
          <p:cNvPr id="13" name="文本占位符 87"/>
          <p:cNvSpPr>
            <a:spLocks noGrp="1"/>
          </p:cNvSpPr>
          <p:nvPr>
            <p:ph type="body" sz="quarter" idx="13" hasCustomPrompt="1"/>
          </p:nvPr>
        </p:nvSpPr>
        <p:spPr>
          <a:xfrm>
            <a:off x="671367" y="2352090"/>
            <a:ext cx="5137927" cy="258532"/>
          </a:xfrm>
          <a:prstGeom prst="rect">
            <a:avLst/>
          </a:prstGeom>
          <a:noFill/>
        </p:spPr>
        <p:txBody>
          <a:bodyPr wrap="square" lIns="0" rtlCol="0">
            <a:spAutoFit/>
          </a:bodyPr>
          <a:lstStyle>
            <a:lvl1pPr marL="0" indent="0">
              <a:buNone/>
              <a:defRPr lang="zh-CN" altLang="en-US" sz="1200" spc="100" dirty="0">
                <a:solidFill>
                  <a:schemeClr val="tx1">
                    <a:lumMod val="65000"/>
                    <a:lumOff val="35000"/>
                  </a:schemeClr>
                </a:solidFill>
                <a:latin typeface="微软雅黑 Light" panose="020B0502040204020203" pitchFamily="34" charset="-122"/>
                <a:ea typeface="微软雅黑 Light" panose="020B0502040204020203" pitchFamily="34" charset="-122"/>
                <a:cs typeface="+mn-ea"/>
                <a:sym typeface="Wingdings 3" panose="05040102010807070707" pitchFamily="18" charset="2"/>
              </a:defRPr>
            </a:lvl1pPr>
          </a:lstStyle>
          <a:p>
            <a:pPr marL="228600" lvl="0" indent="-228600"/>
            <a:r>
              <a:rPr lang="zh-CN" altLang="en-US" dirty="0"/>
              <a:t>请在此输入你的副标题</a:t>
            </a:r>
          </a:p>
        </p:txBody>
      </p:sp>
      <p:sp>
        <p:nvSpPr>
          <p:cNvPr id="14" name="文本占位符 53"/>
          <p:cNvSpPr>
            <a:spLocks noGrp="1"/>
          </p:cNvSpPr>
          <p:nvPr>
            <p:ph type="body" sz="quarter" idx="16" hasCustomPrompt="1"/>
          </p:nvPr>
        </p:nvSpPr>
        <p:spPr>
          <a:xfrm>
            <a:off x="671366" y="4094394"/>
            <a:ext cx="6221139" cy="372410"/>
          </a:xfrm>
          <a:prstGeom prst="rect">
            <a:avLst/>
          </a:prstGeom>
          <a:noFill/>
        </p:spPr>
        <p:txBody>
          <a:bodyPr wrap="square" lIns="0" rtlCol="0" anchor="ctr" anchorCtr="0">
            <a:spAutoFit/>
          </a:bodyPr>
          <a:lstStyle>
            <a:lvl1pPr marL="0" indent="0">
              <a:lnSpc>
                <a:spcPct val="130000"/>
              </a:lnSpc>
              <a:buNone/>
              <a:defRPr lang="zh-CN" altLang="en-US" sz="1400" spc="100" smtClean="0">
                <a:solidFill>
                  <a:schemeClr val="tx1">
                    <a:lumMod val="85000"/>
                    <a:lumOff val="15000"/>
                  </a:schemeClr>
                </a:solidFill>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lnSpc>
                <a:spcPct val="130000"/>
              </a:lnSpc>
            </a:pPr>
            <a:r>
              <a:rPr lang="zh-CN" altLang="en-US" dirty="0"/>
              <a:t>答辩人：北小理　　　导　师： 京小工　　　时　间：</a:t>
            </a:r>
            <a:r>
              <a:rPr lang="en-US" altLang="zh-CN" dirty="0"/>
              <a:t>XXX</a:t>
            </a:r>
            <a:endParaRPr lang="zh-CN" altLang="en-US" dirty="0"/>
          </a:p>
        </p:txBody>
      </p:sp>
      <p:sp>
        <p:nvSpPr>
          <p:cNvPr id="16" name="文本框 15"/>
          <p:cNvSpPr txBox="1"/>
          <p:nvPr userDrawn="1"/>
        </p:nvSpPr>
        <p:spPr>
          <a:xfrm>
            <a:off x="474450" y="318256"/>
            <a:ext cx="1899117" cy="792864"/>
          </a:xfrm>
          <a:prstGeom prst="rect">
            <a:avLst/>
          </a:prstGeom>
          <a:noFill/>
          <a:ln>
            <a:noFill/>
          </a:ln>
        </p:spPr>
        <p:txBody>
          <a:bodyPr wrap="square" lIns="180000" tIns="180000" rIns="180000" bIns="180000" rtlCol="0">
            <a:spAutoFit/>
          </a:bodyPr>
          <a:lstStyle/>
          <a:p>
            <a:pPr marL="0" marR="0" lvl="0" indent="0" algn="l" defTabSz="914400" rtl="0" eaLnBrk="0" fontAlgn="base" latinLnBrk="0" hangingPunct="0">
              <a:lnSpc>
                <a:spcPct val="130000"/>
              </a:lnSpc>
              <a:spcBef>
                <a:spcPct val="0"/>
              </a:spcBef>
              <a:spcAft>
                <a:spcPct val="0"/>
              </a:spcAft>
              <a:buClrTx/>
              <a:buSzTx/>
              <a:buFontTx/>
              <a:buNone/>
              <a:defRPr/>
            </a:pPr>
            <a:r>
              <a:rPr kumimoji="0" lang="en-US" altLang="zh-CN" sz="2400" b="1" i="0" u="none" strike="noStrike" kern="1200" cap="none" spc="100" normalizeH="0" baseline="0" noProof="0" dirty="0">
                <a:ln>
                  <a:noFill/>
                </a:ln>
                <a:solidFill>
                  <a:srgbClr val="A2A2A2"/>
                </a:solidFill>
                <a:effectLst/>
                <a:uLnTx/>
                <a:uFillTx/>
                <a:latin typeface="微软雅黑" panose="020B0503020204020204" pitchFamily="34" charset="-122"/>
                <a:ea typeface="微软雅黑" panose="020B0503020204020204" pitchFamily="34" charset="-122"/>
                <a:cs typeface="+mn-cs"/>
              </a:rPr>
              <a:t>◀ BIT ▶</a:t>
            </a:r>
            <a:endParaRPr kumimoji="0" lang="zh-CN" altLang="en-US" sz="2400" b="1" i="0" u="none" strike="noStrike" kern="1200" cap="none" spc="100" normalizeH="0" baseline="0" noProof="0" dirty="0">
              <a:ln>
                <a:noFill/>
              </a:ln>
              <a:solidFill>
                <a:srgbClr val="A2A2A2"/>
              </a:solidFill>
              <a:effectLst/>
              <a:uLnTx/>
              <a:uFillTx/>
              <a:latin typeface="微软雅黑" panose="020B0503020204020204" pitchFamily="34" charset="-122"/>
              <a:ea typeface="微软雅黑" panose="020B0503020204020204" pitchFamily="34" charset="-122"/>
              <a:cs typeface="+mn-cs"/>
            </a:endParaRPr>
          </a:p>
        </p:txBody>
      </p:sp>
      <p:pic>
        <p:nvPicPr>
          <p:cNvPr id="23" name="图片 22"/>
          <p:cNvPicPr>
            <a:picLocks noChangeAspect="1"/>
          </p:cNvPicPr>
          <p:nvPr userDrawn="1"/>
        </p:nvPicPr>
        <p:blipFill>
          <a:blip r:embed="rId4"/>
          <a:stretch>
            <a:fillRect/>
          </a:stretch>
        </p:blipFill>
        <p:spPr>
          <a:xfrm>
            <a:off x="8250894" y="-774608"/>
            <a:ext cx="7885491" cy="7588381"/>
          </a:xfrm>
          <a:prstGeom prst="rect">
            <a:avLst/>
          </a:prstGeom>
        </p:spPr>
      </p:pic>
      <p:pic>
        <p:nvPicPr>
          <p:cNvPr id="20" name="图片 19"/>
          <p:cNvPicPr>
            <a:picLocks noChangeAspect="1"/>
          </p:cNvPicPr>
          <p:nvPr userDrawn="1"/>
        </p:nvPicPr>
        <p:blipFill>
          <a:blip r:embed="rId5" cstate="print"/>
          <a:stretch>
            <a:fillRect/>
          </a:stretch>
        </p:blipFill>
        <p:spPr>
          <a:xfrm>
            <a:off x="8250874" y="2196869"/>
            <a:ext cx="3243162" cy="2464261"/>
          </a:xfrm>
          <a:prstGeom prst="rect">
            <a:avLst/>
          </a:prstGeom>
        </p:spPr>
      </p:pic>
      <p:grpSp>
        <p:nvGrpSpPr>
          <p:cNvPr id="2" name="组合 1"/>
          <p:cNvGrpSpPr/>
          <p:nvPr userDrawn="1"/>
        </p:nvGrpSpPr>
        <p:grpSpPr>
          <a:xfrm>
            <a:off x="671368" y="6061309"/>
            <a:ext cx="2479573" cy="304965"/>
            <a:chOff x="671368" y="6061309"/>
            <a:chExt cx="2479573" cy="304965"/>
          </a:xfrm>
        </p:grpSpPr>
        <p:grpSp>
          <p:nvGrpSpPr>
            <p:cNvPr id="74" name="组合 73"/>
            <p:cNvGrpSpPr/>
            <p:nvPr userDrawn="1"/>
          </p:nvGrpSpPr>
          <p:grpSpPr>
            <a:xfrm>
              <a:off x="2098445" y="6064781"/>
              <a:ext cx="1052496" cy="298683"/>
              <a:chOff x="2373567" y="1096524"/>
              <a:chExt cx="2578404" cy="731714"/>
            </a:xfrm>
          </p:grpSpPr>
          <p:sp>
            <p:nvSpPr>
              <p:cNvPr id="89" name="Freeform 5"/>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accent3"/>
              </a:solid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90" name="Freeform 6"/>
              <p:cNvSpPr/>
              <p:nvPr/>
            </p:nvSpPr>
            <p:spPr bwMode="auto">
              <a:xfrm>
                <a:off x="4620306" y="1264461"/>
                <a:ext cx="331665"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accent3"/>
              </a:solid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nvGrpSpPr>
              <p:cNvPr id="91" name="组合 90"/>
              <p:cNvGrpSpPr/>
              <p:nvPr/>
            </p:nvGrpSpPr>
            <p:grpSpPr>
              <a:xfrm>
                <a:off x="2373567" y="1096524"/>
                <a:ext cx="589817" cy="731714"/>
                <a:chOff x="5548313" y="2084388"/>
                <a:chExt cx="547688" cy="679451"/>
              </a:xfrm>
              <a:solidFill>
                <a:schemeClr val="accent3"/>
              </a:solidFill>
            </p:grpSpPr>
            <p:sp>
              <p:nvSpPr>
                <p:cNvPr id="96"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97"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grpSp>
            <p:nvGrpSpPr>
              <p:cNvPr id="92" name="组合 91"/>
              <p:cNvGrpSpPr/>
              <p:nvPr/>
            </p:nvGrpSpPr>
            <p:grpSpPr>
              <a:xfrm>
                <a:off x="3194779" y="1296598"/>
                <a:ext cx="356817" cy="382445"/>
                <a:chOff x="3792874" y="3156423"/>
                <a:chExt cx="331330" cy="355128"/>
              </a:xfrm>
              <a:solidFill>
                <a:schemeClr val="accent3"/>
              </a:solidFill>
            </p:grpSpPr>
            <p:sp>
              <p:nvSpPr>
                <p:cNvPr id="93" name="Freeform 15"/>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94" name="Freeform 16"/>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95" name="Freeform 17"/>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grpSp>
        <p:grpSp>
          <p:nvGrpSpPr>
            <p:cNvPr id="75" name="组合 74"/>
            <p:cNvGrpSpPr/>
            <p:nvPr userDrawn="1"/>
          </p:nvGrpSpPr>
          <p:grpSpPr>
            <a:xfrm>
              <a:off x="671368" y="6061309"/>
              <a:ext cx="1100339" cy="304965"/>
              <a:chOff x="2372715" y="161759"/>
              <a:chExt cx="2695608" cy="747103"/>
            </a:xfrm>
          </p:grpSpPr>
          <p:grpSp>
            <p:nvGrpSpPr>
              <p:cNvPr id="76" name="组合 75"/>
              <p:cNvGrpSpPr/>
              <p:nvPr/>
            </p:nvGrpSpPr>
            <p:grpSpPr>
              <a:xfrm>
                <a:off x="3804781" y="283376"/>
                <a:ext cx="521428" cy="548788"/>
                <a:chOff x="6113463" y="3541713"/>
                <a:chExt cx="484188" cy="509588"/>
              </a:xfrm>
              <a:solidFill>
                <a:schemeClr val="accent3"/>
              </a:solidFill>
            </p:grpSpPr>
            <p:sp>
              <p:nvSpPr>
                <p:cNvPr id="87"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88"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grpSp>
            <p:nvGrpSpPr>
              <p:cNvPr id="77" name="组合 76"/>
              <p:cNvGrpSpPr/>
              <p:nvPr/>
            </p:nvGrpSpPr>
            <p:grpSpPr>
              <a:xfrm>
                <a:off x="2372715" y="161759"/>
                <a:ext cx="591521" cy="747103"/>
                <a:chOff x="6108700" y="2066926"/>
                <a:chExt cx="549275" cy="693738"/>
              </a:xfrm>
              <a:solidFill>
                <a:schemeClr val="accent3"/>
              </a:solidFill>
            </p:grpSpPr>
            <p:sp>
              <p:nvSpPr>
                <p:cNvPr id="85"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86"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grpSp>
            <p:nvGrpSpPr>
              <p:cNvPr id="78" name="组合 77"/>
              <p:cNvGrpSpPr/>
              <p:nvPr/>
            </p:nvGrpSpPr>
            <p:grpSpPr>
              <a:xfrm>
                <a:off x="3173775" y="375308"/>
                <a:ext cx="396626" cy="341923"/>
                <a:chOff x="6186488" y="2930526"/>
                <a:chExt cx="368300" cy="317500"/>
              </a:xfrm>
              <a:solidFill>
                <a:schemeClr val="accent3"/>
              </a:solidFill>
            </p:grpSpPr>
            <p:sp>
              <p:nvSpPr>
                <p:cNvPr id="82"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83"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84"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grpSp>
            <p:nvGrpSpPr>
              <p:cNvPr id="79" name="组合 78"/>
              <p:cNvGrpSpPr/>
              <p:nvPr/>
            </p:nvGrpSpPr>
            <p:grpSpPr>
              <a:xfrm>
                <a:off x="4613362" y="313351"/>
                <a:ext cx="454961" cy="453362"/>
                <a:chOff x="11893465" y="1994536"/>
                <a:chExt cx="274986" cy="274018"/>
              </a:xfrm>
              <a:solidFill>
                <a:schemeClr val="accent3"/>
              </a:solidFill>
            </p:grpSpPr>
            <p:sp>
              <p:nvSpPr>
                <p:cNvPr id="80" name="Freeform 11"/>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81" name="Freeform 12"/>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grpSp>
      </p:grpSp>
    </p:spTree>
    <p:extLst>
      <p:ext uri="{BB962C8B-B14F-4D97-AF65-F5344CB8AC3E}">
        <p14:creationId xmlns:p14="http://schemas.microsoft.com/office/powerpoint/2010/main" val="461075477"/>
      </p:ext>
    </p:extLst>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封面样式2-首页2">
    <p:spTree>
      <p:nvGrpSpPr>
        <p:cNvPr id="1" name=""/>
        <p:cNvGrpSpPr/>
        <p:nvPr/>
      </p:nvGrpSpPr>
      <p:grpSpPr>
        <a:xfrm>
          <a:off x="0" y="0"/>
          <a:ext cx="0" cy="0"/>
          <a:chOff x="0" y="0"/>
          <a:chExt cx="0" cy="0"/>
        </a:xfrm>
      </p:grpSpPr>
      <p:sp>
        <p:nvSpPr>
          <p:cNvPr id="35" name="PA-矩形 7"/>
          <p:cNvSpPr/>
          <p:nvPr userDrawn="1">
            <p:custDataLst>
              <p:tags r:id="rId1"/>
            </p:custDataLst>
          </p:nvPr>
        </p:nvSpPr>
        <p:spPr>
          <a:xfrm>
            <a:off x="11373037" y="1"/>
            <a:ext cx="818963"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3" name="PA-矩形 7"/>
          <p:cNvSpPr/>
          <p:nvPr userDrawn="1">
            <p:custDataLst>
              <p:tags r:id="rId2"/>
            </p:custDataLst>
          </p:nvPr>
        </p:nvSpPr>
        <p:spPr>
          <a:xfrm>
            <a:off x="0" y="0"/>
            <a:ext cx="11379387"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cxnSp>
        <p:nvCxnSpPr>
          <p:cNvPr id="11" name="直接连接符 10"/>
          <p:cNvCxnSpPr/>
          <p:nvPr userDrawn="1"/>
        </p:nvCxnSpPr>
        <p:spPr>
          <a:xfrm>
            <a:off x="11373037" y="0"/>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37" name="图片 36"/>
          <p:cNvPicPr>
            <a:picLocks noChangeAspect="1"/>
          </p:cNvPicPr>
          <p:nvPr userDrawn="1"/>
        </p:nvPicPr>
        <p:blipFill>
          <a:blip r:embed="rId4"/>
          <a:stretch>
            <a:fillRect/>
          </a:stretch>
        </p:blipFill>
        <p:spPr>
          <a:xfrm>
            <a:off x="-2610651" y="161103"/>
            <a:ext cx="6791691" cy="6535792"/>
          </a:xfrm>
          <a:prstGeom prst="rect">
            <a:avLst/>
          </a:prstGeom>
        </p:spPr>
      </p:pic>
      <p:sp>
        <p:nvSpPr>
          <p:cNvPr id="3" name="矩形 2"/>
          <p:cNvSpPr/>
          <p:nvPr userDrawn="1"/>
        </p:nvSpPr>
        <p:spPr>
          <a:xfrm>
            <a:off x="0" y="1504950"/>
            <a:ext cx="12192000" cy="3848100"/>
          </a:xfrm>
          <a:prstGeom prst="rect">
            <a:avLst/>
          </a:prstGeom>
          <a:solidFill>
            <a:schemeClr val="bg1"/>
          </a:solidFill>
          <a:ln>
            <a:noFill/>
          </a:ln>
          <a:effectLst>
            <a:outerShdw blurRad="101600" sx="101000" sy="101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1" name="任意多边形: 形状 30"/>
          <p:cNvSpPr/>
          <p:nvPr userDrawn="1"/>
        </p:nvSpPr>
        <p:spPr>
          <a:xfrm flipV="1">
            <a:off x="5143364" y="3786901"/>
            <a:ext cx="6236023" cy="193259"/>
          </a:xfrm>
          <a:custGeom>
            <a:avLst/>
            <a:gdLst>
              <a:gd name="connsiteX0" fmla="*/ 0 w 6415214"/>
              <a:gd name="connsiteY0" fmla="*/ 171407 h 171407"/>
              <a:gd name="connsiteX1" fmla="*/ 6415214 w 6415214"/>
              <a:gd name="connsiteY1" fmla="*/ 171407 h 171407"/>
              <a:gd name="connsiteX2" fmla="*/ 6415214 w 6415214"/>
              <a:gd name="connsiteY2" fmla="*/ 100390 h 171407"/>
              <a:gd name="connsiteX3" fmla="*/ 511261 w 6415214"/>
              <a:gd name="connsiteY3" fmla="*/ 100390 h 171407"/>
              <a:gd name="connsiteX4" fmla="*/ 229919 w 6415214"/>
              <a:gd name="connsiteY4" fmla="*/ 0 h 171407"/>
              <a:gd name="connsiteX5" fmla="*/ 229919 w 6415214"/>
              <a:gd name="connsiteY5" fmla="*/ 100390 h 171407"/>
              <a:gd name="connsiteX6" fmla="*/ 0 w 6415214"/>
              <a:gd name="connsiteY6" fmla="*/ 100390 h 171407"/>
              <a:gd name="connsiteX0-1" fmla="*/ 0 w 6415214"/>
              <a:gd name="connsiteY0-2" fmla="*/ 171407 h 262847"/>
              <a:gd name="connsiteX1-3" fmla="*/ 6415214 w 6415214"/>
              <a:gd name="connsiteY1-4" fmla="*/ 171407 h 262847"/>
              <a:gd name="connsiteX2-5" fmla="*/ 6415214 w 6415214"/>
              <a:gd name="connsiteY2-6" fmla="*/ 100390 h 262847"/>
              <a:gd name="connsiteX3-7" fmla="*/ 511261 w 6415214"/>
              <a:gd name="connsiteY3-8" fmla="*/ 100390 h 262847"/>
              <a:gd name="connsiteX4-9" fmla="*/ 229919 w 6415214"/>
              <a:gd name="connsiteY4-10" fmla="*/ 0 h 262847"/>
              <a:gd name="connsiteX5-11" fmla="*/ 229919 w 6415214"/>
              <a:gd name="connsiteY5-12" fmla="*/ 100390 h 262847"/>
              <a:gd name="connsiteX6-13" fmla="*/ 0 w 6415214"/>
              <a:gd name="connsiteY6-14" fmla="*/ 100390 h 262847"/>
              <a:gd name="connsiteX7" fmla="*/ 91440 w 6415214"/>
              <a:gd name="connsiteY7" fmla="*/ 262847 h 262847"/>
              <a:gd name="connsiteX0-15" fmla="*/ 0 w 6415214"/>
              <a:gd name="connsiteY0-16" fmla="*/ 171407 h 171407"/>
              <a:gd name="connsiteX1-17" fmla="*/ 6415214 w 6415214"/>
              <a:gd name="connsiteY1-18" fmla="*/ 171407 h 171407"/>
              <a:gd name="connsiteX2-19" fmla="*/ 6415214 w 6415214"/>
              <a:gd name="connsiteY2-20" fmla="*/ 100390 h 171407"/>
              <a:gd name="connsiteX3-21" fmla="*/ 511261 w 6415214"/>
              <a:gd name="connsiteY3-22" fmla="*/ 100390 h 171407"/>
              <a:gd name="connsiteX4-23" fmla="*/ 229919 w 6415214"/>
              <a:gd name="connsiteY4-24" fmla="*/ 0 h 171407"/>
              <a:gd name="connsiteX5-25" fmla="*/ 229919 w 6415214"/>
              <a:gd name="connsiteY5-26" fmla="*/ 100390 h 171407"/>
              <a:gd name="connsiteX6-27" fmla="*/ 0 w 6415214"/>
              <a:gd name="connsiteY6-28" fmla="*/ 100390 h 171407"/>
              <a:gd name="connsiteX0-29" fmla="*/ 0 w 6415214"/>
              <a:gd name="connsiteY0-30" fmla="*/ 171407 h 171407"/>
              <a:gd name="connsiteX1-31" fmla="*/ 6415214 w 6415214"/>
              <a:gd name="connsiteY1-32" fmla="*/ 100390 h 171407"/>
              <a:gd name="connsiteX2-33" fmla="*/ 511261 w 6415214"/>
              <a:gd name="connsiteY2-34" fmla="*/ 100390 h 171407"/>
              <a:gd name="connsiteX3-35" fmla="*/ 229919 w 6415214"/>
              <a:gd name="connsiteY3-36" fmla="*/ 0 h 171407"/>
              <a:gd name="connsiteX4-37" fmla="*/ 229919 w 6415214"/>
              <a:gd name="connsiteY4-38" fmla="*/ 100390 h 171407"/>
              <a:gd name="connsiteX5-39" fmla="*/ 0 w 6415214"/>
              <a:gd name="connsiteY5-40" fmla="*/ 100390 h 171407"/>
              <a:gd name="connsiteX0-41" fmla="*/ 6415214 w 6415214"/>
              <a:gd name="connsiteY0-42" fmla="*/ 100390 h 100390"/>
              <a:gd name="connsiteX1-43" fmla="*/ 511261 w 6415214"/>
              <a:gd name="connsiteY1-44" fmla="*/ 100390 h 100390"/>
              <a:gd name="connsiteX2-45" fmla="*/ 229919 w 6415214"/>
              <a:gd name="connsiteY2-46" fmla="*/ 0 h 100390"/>
              <a:gd name="connsiteX3-47" fmla="*/ 229919 w 6415214"/>
              <a:gd name="connsiteY3-48" fmla="*/ 100390 h 100390"/>
              <a:gd name="connsiteX4-49" fmla="*/ 0 w 6415214"/>
              <a:gd name="connsiteY4-50" fmla="*/ 100390 h 100390"/>
              <a:gd name="connsiteX0-51" fmla="*/ 6415214 w 6415214"/>
              <a:gd name="connsiteY0-52" fmla="*/ 195640 h 195640"/>
              <a:gd name="connsiteX1-53" fmla="*/ 511261 w 6415214"/>
              <a:gd name="connsiteY1-54" fmla="*/ 195640 h 195640"/>
              <a:gd name="connsiteX2-55" fmla="*/ 227538 w 6415214"/>
              <a:gd name="connsiteY2-56" fmla="*/ 0 h 195640"/>
              <a:gd name="connsiteX3-57" fmla="*/ 229919 w 6415214"/>
              <a:gd name="connsiteY3-58" fmla="*/ 195640 h 195640"/>
              <a:gd name="connsiteX4-59" fmla="*/ 0 w 6415214"/>
              <a:gd name="connsiteY4-60" fmla="*/ 195640 h 195640"/>
              <a:gd name="connsiteX0-61" fmla="*/ 6415214 w 6415214"/>
              <a:gd name="connsiteY0-62" fmla="*/ 193259 h 193259"/>
              <a:gd name="connsiteX1-63" fmla="*/ 511261 w 6415214"/>
              <a:gd name="connsiteY1-64" fmla="*/ 193259 h 193259"/>
              <a:gd name="connsiteX2-65" fmla="*/ 232301 w 6415214"/>
              <a:gd name="connsiteY2-66" fmla="*/ 0 h 193259"/>
              <a:gd name="connsiteX3-67" fmla="*/ 229919 w 6415214"/>
              <a:gd name="connsiteY3-68" fmla="*/ 193259 h 193259"/>
              <a:gd name="connsiteX4-69" fmla="*/ 0 w 6415214"/>
              <a:gd name="connsiteY4-70" fmla="*/ 193259 h 19325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415214" h="193259">
                <a:moveTo>
                  <a:pt x="6415214" y="193259"/>
                </a:moveTo>
                <a:lnTo>
                  <a:pt x="511261" y="193259"/>
                </a:lnTo>
                <a:lnTo>
                  <a:pt x="232301" y="0"/>
                </a:lnTo>
                <a:cubicBezTo>
                  <a:pt x="233095" y="65213"/>
                  <a:pt x="229125" y="128046"/>
                  <a:pt x="229919" y="193259"/>
                </a:cubicBezTo>
                <a:lnTo>
                  <a:pt x="0" y="193259"/>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3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8" name="标题 47"/>
          <p:cNvSpPr>
            <a:spLocks noGrp="1"/>
          </p:cNvSpPr>
          <p:nvPr>
            <p:ph type="title" hasCustomPrompt="1"/>
          </p:nvPr>
        </p:nvSpPr>
        <p:spPr>
          <a:xfrm>
            <a:off x="5143364" y="2558484"/>
            <a:ext cx="6206079" cy="1200329"/>
          </a:xfrm>
          <a:prstGeom prst="rect">
            <a:avLst/>
          </a:prstGeom>
          <a:noFill/>
        </p:spPr>
        <p:txBody>
          <a:bodyPr wrap="square" lIns="0" rtlCol="0">
            <a:spAutoFit/>
          </a:bodyPr>
          <a:lstStyle>
            <a:lvl1pPr>
              <a:lnSpc>
                <a:spcPct val="100000"/>
              </a:lnSpc>
              <a:defRPr lang="zh-CN" altLang="en-US" sz="3600" b="1" spc="100" dirty="0">
                <a:latin typeface="+mn-ea"/>
                <a:ea typeface="+mn-ea"/>
                <a:cs typeface="+mn-ea"/>
              </a:defRPr>
            </a:lvl1pPr>
          </a:lstStyle>
          <a:p>
            <a:pPr marL="0" lvl="0"/>
            <a:r>
              <a:rPr lang="zh-CN" altLang="en-US" dirty="0"/>
              <a:t>请在此输入标题</a:t>
            </a:r>
            <a:br>
              <a:rPr lang="zh-CN" altLang="en-US" dirty="0"/>
            </a:br>
            <a:r>
              <a:rPr lang="zh-CN" altLang="en-US" dirty="0"/>
              <a:t>尽量回车保证标题为两行</a:t>
            </a:r>
          </a:p>
        </p:txBody>
      </p:sp>
      <p:sp>
        <p:nvSpPr>
          <p:cNvPr id="60" name="文本占位符 87"/>
          <p:cNvSpPr>
            <a:spLocks noGrp="1"/>
          </p:cNvSpPr>
          <p:nvPr>
            <p:ph type="body" sz="quarter" idx="13" hasCustomPrompt="1"/>
          </p:nvPr>
        </p:nvSpPr>
        <p:spPr>
          <a:xfrm>
            <a:off x="5137014" y="2329801"/>
            <a:ext cx="5154585" cy="258532"/>
          </a:xfrm>
          <a:prstGeom prst="rect">
            <a:avLst/>
          </a:prstGeom>
          <a:noFill/>
        </p:spPr>
        <p:txBody>
          <a:bodyPr wrap="square" lIns="0" rtlCol="0">
            <a:spAutoFit/>
          </a:bodyPr>
          <a:lstStyle>
            <a:lvl1pPr marL="0" indent="0">
              <a:buNone/>
              <a:defRPr lang="zh-CN" altLang="en-US" sz="1200" spc="100" dirty="0">
                <a:solidFill>
                  <a:schemeClr val="tx1">
                    <a:lumMod val="65000"/>
                    <a:lumOff val="35000"/>
                  </a:schemeClr>
                </a:solidFill>
                <a:latin typeface="微软雅黑 Light" panose="020B0502040204020203" pitchFamily="34" charset="-122"/>
                <a:ea typeface="微软雅黑 Light" panose="020B0502040204020203" pitchFamily="34" charset="-122"/>
                <a:cs typeface="+mn-ea"/>
                <a:sym typeface="Wingdings 3" panose="05040102010807070707" pitchFamily="18" charset="2"/>
              </a:defRPr>
            </a:lvl1pPr>
          </a:lstStyle>
          <a:p>
            <a:pPr marL="228600" lvl="0" indent="-228600"/>
            <a:r>
              <a:rPr lang="zh-CN" altLang="en-US" dirty="0"/>
              <a:t>请在此输入你的副标题</a:t>
            </a:r>
          </a:p>
        </p:txBody>
      </p:sp>
      <p:sp>
        <p:nvSpPr>
          <p:cNvPr id="38" name="文本占位符 53"/>
          <p:cNvSpPr>
            <a:spLocks noGrp="1"/>
          </p:cNvSpPr>
          <p:nvPr>
            <p:ph type="body" sz="quarter" idx="16" hasCustomPrompt="1"/>
          </p:nvPr>
        </p:nvSpPr>
        <p:spPr>
          <a:xfrm>
            <a:off x="5143364" y="4185030"/>
            <a:ext cx="6229674" cy="372410"/>
          </a:xfrm>
          <a:prstGeom prst="rect">
            <a:avLst/>
          </a:prstGeom>
          <a:noFill/>
        </p:spPr>
        <p:txBody>
          <a:bodyPr wrap="square" lIns="0" rtlCol="0" anchor="ctr" anchorCtr="0">
            <a:spAutoFit/>
          </a:bodyPr>
          <a:lstStyle>
            <a:lvl1pPr marL="0" indent="0">
              <a:lnSpc>
                <a:spcPct val="130000"/>
              </a:lnSpc>
              <a:buNone/>
              <a:defRPr lang="zh-CN" altLang="en-US" sz="1400" spc="100" smtClean="0">
                <a:solidFill>
                  <a:schemeClr val="tx1">
                    <a:lumMod val="85000"/>
                    <a:lumOff val="15000"/>
                  </a:schemeClr>
                </a:solidFill>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lnSpc>
                <a:spcPct val="130000"/>
              </a:lnSpc>
            </a:pPr>
            <a:r>
              <a:rPr lang="zh-CN" altLang="en-US" dirty="0"/>
              <a:t>答辩人：北小理　　　导　师： 京小工　　　时　间：</a:t>
            </a:r>
            <a:r>
              <a:rPr lang="en-US" altLang="zh-CN" dirty="0"/>
              <a:t>XXX</a:t>
            </a:r>
            <a:endParaRPr lang="zh-CN" altLang="en-US" dirty="0"/>
          </a:p>
        </p:txBody>
      </p:sp>
      <p:pic>
        <p:nvPicPr>
          <p:cNvPr id="8" name="图片 7"/>
          <p:cNvPicPr>
            <a:picLocks noChangeAspect="1"/>
          </p:cNvPicPr>
          <p:nvPr userDrawn="1"/>
        </p:nvPicPr>
        <p:blipFill>
          <a:blip r:embed="rId5" cstate="print"/>
          <a:stretch>
            <a:fillRect/>
          </a:stretch>
        </p:blipFill>
        <p:spPr>
          <a:xfrm>
            <a:off x="1111261" y="2359437"/>
            <a:ext cx="2855386" cy="2169616"/>
          </a:xfrm>
          <a:prstGeom prst="rect">
            <a:avLst/>
          </a:prstGeom>
        </p:spPr>
      </p:pic>
    </p:spTree>
    <p:extLst>
      <p:ext uri="{BB962C8B-B14F-4D97-AF65-F5344CB8AC3E}">
        <p14:creationId xmlns:p14="http://schemas.microsoft.com/office/powerpoint/2010/main" val="2624415054"/>
      </p:ext>
    </p:extLst>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封面样式2-首页3">
    <p:spTree>
      <p:nvGrpSpPr>
        <p:cNvPr id="1" name=""/>
        <p:cNvGrpSpPr/>
        <p:nvPr/>
      </p:nvGrpSpPr>
      <p:grpSpPr>
        <a:xfrm>
          <a:off x="0" y="0"/>
          <a:ext cx="0" cy="0"/>
          <a:chOff x="0" y="0"/>
          <a:chExt cx="0" cy="0"/>
        </a:xfrm>
      </p:grpSpPr>
      <p:sp>
        <p:nvSpPr>
          <p:cNvPr id="33" name="PA-矩形 7"/>
          <p:cNvSpPr/>
          <p:nvPr userDrawn="1">
            <p:custDataLst>
              <p:tags r:id="rId1"/>
            </p:custData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19" name="任意多边形: 形状 118"/>
          <p:cNvSpPr/>
          <p:nvPr userDrawn="1"/>
        </p:nvSpPr>
        <p:spPr>
          <a:xfrm rot="1916941">
            <a:off x="-628945" y="-604401"/>
            <a:ext cx="12918999" cy="10347422"/>
          </a:xfrm>
          <a:custGeom>
            <a:avLst/>
            <a:gdLst>
              <a:gd name="connsiteX0" fmla="*/ 3910821 w 12918999"/>
              <a:gd name="connsiteY0" fmla="*/ 3392979 h 10347422"/>
              <a:gd name="connsiteX1" fmla="*/ 10262073 w 12918999"/>
              <a:gd name="connsiteY1" fmla="*/ 135295 h 10347422"/>
              <a:gd name="connsiteX2" fmla="*/ 10593809 w 12918999"/>
              <a:gd name="connsiteY2" fmla="*/ 0 h 10347422"/>
              <a:gd name="connsiteX3" fmla="*/ 12918999 w 12918999"/>
              <a:gd name="connsiteY3" fmla="*/ 3728462 h 10347422"/>
              <a:gd name="connsiteX4" fmla="*/ 11966464 w 12918999"/>
              <a:gd name="connsiteY4" fmla="*/ 4224159 h 10347422"/>
              <a:gd name="connsiteX5" fmla="*/ 3050273 w 12918999"/>
              <a:gd name="connsiteY5" fmla="*/ 10050202 h 10347422"/>
              <a:gd name="connsiteX6" fmla="*/ 2678241 w 12918999"/>
              <a:gd name="connsiteY6" fmla="*/ 10347422 h 10347422"/>
              <a:gd name="connsiteX7" fmla="*/ 0 w 12918999"/>
              <a:gd name="connsiteY7" fmla="*/ 6052840 h 10347422"/>
              <a:gd name="connsiteX8" fmla="*/ 4301 w 12918999"/>
              <a:gd name="connsiteY8" fmla="*/ 6049545 h 10347422"/>
              <a:gd name="connsiteX9" fmla="*/ 3049697 w 12918999"/>
              <a:gd name="connsiteY9" fmla="*/ 3931365 h 10347422"/>
              <a:gd name="connsiteX10" fmla="*/ 3910821 w 12918999"/>
              <a:gd name="connsiteY10" fmla="*/ 3392979 h 10347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918999" h="10347422">
                <a:moveTo>
                  <a:pt x="3910821" y="3392979"/>
                </a:moveTo>
                <a:cubicBezTo>
                  <a:pt x="5934272" y="2157348"/>
                  <a:pt x="8056184" y="1066634"/>
                  <a:pt x="10262073" y="135295"/>
                </a:cubicBezTo>
                <a:lnTo>
                  <a:pt x="10593809" y="0"/>
                </a:lnTo>
                <a:lnTo>
                  <a:pt x="12918999" y="3728462"/>
                </a:lnTo>
                <a:lnTo>
                  <a:pt x="11966464" y="4224159"/>
                </a:lnTo>
                <a:cubicBezTo>
                  <a:pt x="8816355" y="5904658"/>
                  <a:pt x="5833798" y="7857148"/>
                  <a:pt x="3050273" y="10050202"/>
                </a:cubicBezTo>
                <a:lnTo>
                  <a:pt x="2678241" y="10347422"/>
                </a:lnTo>
                <a:lnTo>
                  <a:pt x="0" y="6052840"/>
                </a:lnTo>
                <a:lnTo>
                  <a:pt x="4301" y="6049545"/>
                </a:lnTo>
                <a:cubicBezTo>
                  <a:pt x="990558" y="5305797"/>
                  <a:pt x="2006380" y="4599047"/>
                  <a:pt x="3049697" y="3931365"/>
                </a:cubicBezTo>
                <a:cubicBezTo>
                  <a:pt x="3334701" y="3748973"/>
                  <a:pt x="3621756" y="3569497"/>
                  <a:pt x="3910821" y="3392979"/>
                </a:cubicBezTo>
                <a:close/>
              </a:path>
            </a:pathLst>
          </a:custGeom>
          <a:gradFill>
            <a:gsLst>
              <a:gs pos="0">
                <a:schemeClr val="bg1">
                  <a:alpha val="0"/>
                </a:schemeClr>
              </a:gs>
              <a:gs pos="100000">
                <a:schemeClr val="accent2">
                  <a:alpha val="1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06" name="任意多边形: 形状 105"/>
          <p:cNvSpPr/>
          <p:nvPr userDrawn="1"/>
        </p:nvSpPr>
        <p:spPr>
          <a:xfrm rot="2885786">
            <a:off x="1087929" y="-2969595"/>
            <a:ext cx="10843749" cy="12155155"/>
          </a:xfrm>
          <a:custGeom>
            <a:avLst/>
            <a:gdLst>
              <a:gd name="connsiteX0" fmla="*/ 6051751 w 10843749"/>
              <a:gd name="connsiteY0" fmla="*/ 1433305 h 12155155"/>
              <a:gd name="connsiteX1" fmla="*/ 6837805 w 10843749"/>
              <a:gd name="connsiteY1" fmla="*/ 587393 h 12155155"/>
              <a:gd name="connsiteX2" fmla="*/ 7410328 w 10843749"/>
              <a:gd name="connsiteY2" fmla="*/ 0 h 12155155"/>
              <a:gd name="connsiteX3" fmla="*/ 10843749 w 10843749"/>
              <a:gd name="connsiteY3" fmla="*/ 3081016 h 12155155"/>
              <a:gd name="connsiteX4" fmla="*/ 2700969 w 10843749"/>
              <a:gd name="connsiteY4" fmla="*/ 12155155 h 12155155"/>
              <a:gd name="connsiteX5" fmla="*/ 0 w 10843749"/>
              <a:gd name="connsiteY5" fmla="*/ 9731411 h 12155155"/>
              <a:gd name="connsiteX6" fmla="*/ 261077 w 10843749"/>
              <a:gd name="connsiteY6" fmla="*/ 9278934 h 12155155"/>
              <a:gd name="connsiteX7" fmla="*/ 6051751 w 10843749"/>
              <a:gd name="connsiteY7" fmla="*/ 1433305 h 1215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43749" h="12155155">
                <a:moveTo>
                  <a:pt x="6051751" y="1433305"/>
                </a:moveTo>
                <a:cubicBezTo>
                  <a:pt x="6310424" y="1148193"/>
                  <a:pt x="6572461" y="866201"/>
                  <a:pt x="6837805" y="587393"/>
                </a:cubicBezTo>
                <a:lnTo>
                  <a:pt x="7410328" y="0"/>
                </a:lnTo>
                <a:lnTo>
                  <a:pt x="10843749" y="3081016"/>
                </a:lnTo>
                <a:lnTo>
                  <a:pt x="2700969" y="12155155"/>
                </a:lnTo>
                <a:lnTo>
                  <a:pt x="0" y="9731411"/>
                </a:lnTo>
                <a:lnTo>
                  <a:pt x="261077" y="9278934"/>
                </a:lnTo>
                <a:cubicBezTo>
                  <a:pt x="1926385" y="6466781"/>
                  <a:pt x="3869211" y="3838947"/>
                  <a:pt x="6051751" y="1433305"/>
                </a:cubicBezTo>
                <a:close/>
              </a:path>
            </a:pathLst>
          </a:custGeom>
          <a:gradFill>
            <a:gsLst>
              <a:gs pos="0">
                <a:schemeClr val="bg1">
                  <a:alpha val="0"/>
                </a:schemeClr>
              </a:gs>
              <a:gs pos="100000">
                <a:schemeClr val="accent2">
                  <a:alpha val="11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18" name="任意多边形: 形状 117"/>
          <p:cNvSpPr/>
          <p:nvPr userDrawn="1"/>
        </p:nvSpPr>
        <p:spPr>
          <a:xfrm rot="1846855">
            <a:off x="-307281" y="-539696"/>
            <a:ext cx="12650822" cy="11532482"/>
          </a:xfrm>
          <a:custGeom>
            <a:avLst/>
            <a:gdLst>
              <a:gd name="connsiteX0" fmla="*/ 7956679 w 12650822"/>
              <a:gd name="connsiteY0" fmla="*/ 1195248 h 11532482"/>
              <a:gd name="connsiteX1" fmla="*/ 9978822 w 12650822"/>
              <a:gd name="connsiteY1" fmla="*/ 62012 h 11532482"/>
              <a:gd name="connsiteX2" fmla="*/ 10098991 w 12650822"/>
              <a:gd name="connsiteY2" fmla="*/ 0 h 11532482"/>
              <a:gd name="connsiteX3" fmla="*/ 12650822 w 12650822"/>
              <a:gd name="connsiteY3" fmla="*/ 4283979 h 11532482"/>
              <a:gd name="connsiteX4" fmla="*/ 12245569 w 12650822"/>
              <a:gd name="connsiteY4" fmla="*/ 4531370 h 11532482"/>
              <a:gd name="connsiteX5" fmla="*/ 3166697 w 12650822"/>
              <a:gd name="connsiteY5" fmla="*/ 11321300 h 11532482"/>
              <a:gd name="connsiteX6" fmla="*/ 2933905 w 12650822"/>
              <a:gd name="connsiteY6" fmla="*/ 11532482 h 11532482"/>
              <a:gd name="connsiteX7" fmla="*/ 1718627 w 12650822"/>
              <a:gd name="connsiteY7" fmla="*/ 9865697 h 11532482"/>
              <a:gd name="connsiteX8" fmla="*/ 0 w 12650822"/>
              <a:gd name="connsiteY8" fmla="*/ 6980488 h 11532482"/>
              <a:gd name="connsiteX9" fmla="*/ 22022 w 12650822"/>
              <a:gd name="connsiteY9" fmla="*/ 6960742 h 11532482"/>
              <a:gd name="connsiteX10" fmla="*/ 4718407 w 12650822"/>
              <a:gd name="connsiteY10" fmla="*/ 3273000 h 11532482"/>
              <a:gd name="connsiteX11" fmla="*/ 7956679 w 12650822"/>
              <a:gd name="connsiteY11" fmla="*/ 1195248 h 11532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50822" h="11532482">
                <a:moveTo>
                  <a:pt x="7956679" y="1195248"/>
                </a:moveTo>
                <a:cubicBezTo>
                  <a:pt x="8621077" y="803084"/>
                  <a:pt x="9295272" y="425195"/>
                  <a:pt x="9978822" y="62012"/>
                </a:cubicBezTo>
                <a:lnTo>
                  <a:pt x="10098991" y="0"/>
                </a:lnTo>
                <a:lnTo>
                  <a:pt x="12650822" y="4283979"/>
                </a:lnTo>
                <a:lnTo>
                  <a:pt x="12245569" y="4531370"/>
                </a:lnTo>
                <a:cubicBezTo>
                  <a:pt x="9012618" y="6531229"/>
                  <a:pt x="5974903" y="8805712"/>
                  <a:pt x="3166697" y="11321300"/>
                </a:cubicBezTo>
                <a:lnTo>
                  <a:pt x="2933905" y="11532482"/>
                </a:lnTo>
                <a:lnTo>
                  <a:pt x="1718627" y="9865697"/>
                </a:lnTo>
                <a:lnTo>
                  <a:pt x="0" y="6980488"/>
                </a:lnTo>
                <a:lnTo>
                  <a:pt x="22022" y="6960742"/>
                </a:lnTo>
                <a:cubicBezTo>
                  <a:pt x="1511041" y="5644986"/>
                  <a:pt x="3079104" y="4413194"/>
                  <a:pt x="4718407" y="3273000"/>
                </a:cubicBezTo>
                <a:cubicBezTo>
                  <a:pt x="5769244" y="2542106"/>
                  <a:pt x="6849352" y="1848853"/>
                  <a:pt x="7956679" y="1195248"/>
                </a:cubicBezTo>
                <a:close/>
              </a:path>
            </a:pathLst>
          </a:custGeom>
          <a:gradFill>
            <a:gsLst>
              <a:gs pos="0">
                <a:schemeClr val="bg1">
                  <a:alpha val="3000"/>
                </a:schemeClr>
              </a:gs>
              <a:gs pos="100000">
                <a:schemeClr val="accent2">
                  <a:alpha val="18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9" name="任意多边形: 形状 83"/>
          <p:cNvSpPr/>
          <p:nvPr userDrawn="1"/>
        </p:nvSpPr>
        <p:spPr>
          <a:xfrm>
            <a:off x="-1" y="2998308"/>
            <a:ext cx="12191999" cy="3656014"/>
          </a:xfrm>
          <a:custGeom>
            <a:avLst/>
            <a:gdLst>
              <a:gd name="connsiteX0" fmla="*/ 6096002 w 12191999"/>
              <a:gd name="connsiteY0" fmla="*/ 0 h 3656014"/>
              <a:gd name="connsiteX1" fmla="*/ 11517301 w 12191999"/>
              <a:gd name="connsiteY1" fmla="*/ 568339 h 3656014"/>
              <a:gd name="connsiteX2" fmla="*/ 12191999 w 12191999"/>
              <a:gd name="connsiteY2" fmla="*/ 741496 h 3656014"/>
              <a:gd name="connsiteX3" fmla="*/ 12191999 w 12191999"/>
              <a:gd name="connsiteY3" fmla="*/ 3656014 h 3656014"/>
              <a:gd name="connsiteX4" fmla="*/ 0 w 12191999"/>
              <a:gd name="connsiteY4" fmla="*/ 3656014 h 3656014"/>
              <a:gd name="connsiteX5" fmla="*/ 0 w 12191999"/>
              <a:gd name="connsiteY5" fmla="*/ 741497 h 3656014"/>
              <a:gd name="connsiteX6" fmla="*/ 674702 w 12191999"/>
              <a:gd name="connsiteY6" fmla="*/ 568339 h 3656014"/>
              <a:gd name="connsiteX7" fmla="*/ 6096002 w 12191999"/>
              <a:gd name="connsiteY7" fmla="*/ 0 h 3656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3656014">
                <a:moveTo>
                  <a:pt x="6096002" y="0"/>
                </a:moveTo>
                <a:cubicBezTo>
                  <a:pt x="8104174" y="0"/>
                  <a:pt x="9969760" y="209519"/>
                  <a:pt x="11517301" y="568339"/>
                </a:cubicBezTo>
                <a:lnTo>
                  <a:pt x="12191999" y="741496"/>
                </a:lnTo>
                <a:lnTo>
                  <a:pt x="12191999" y="3656014"/>
                </a:lnTo>
                <a:lnTo>
                  <a:pt x="0" y="3656014"/>
                </a:lnTo>
                <a:lnTo>
                  <a:pt x="0" y="741497"/>
                </a:lnTo>
                <a:lnTo>
                  <a:pt x="674702" y="568339"/>
                </a:lnTo>
                <a:cubicBezTo>
                  <a:pt x="2222243" y="209519"/>
                  <a:pt x="4087830" y="0"/>
                  <a:pt x="6096002" y="0"/>
                </a:cubicBezTo>
                <a:close/>
              </a:path>
            </a:pathLst>
          </a:custGeom>
          <a:solidFill>
            <a:schemeClr val="bg1"/>
          </a:solidFill>
          <a:ln>
            <a:noFill/>
          </a:ln>
          <a:effectLst>
            <a:outerShdw blurRad="381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3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endParaRPr>
          </a:p>
        </p:txBody>
      </p:sp>
      <p:sp>
        <p:nvSpPr>
          <p:cNvPr id="50" name="任意多边形: 形状 83"/>
          <p:cNvSpPr/>
          <p:nvPr userDrawn="1"/>
        </p:nvSpPr>
        <p:spPr>
          <a:xfrm>
            <a:off x="-2" y="3019587"/>
            <a:ext cx="12191999" cy="3656014"/>
          </a:xfrm>
          <a:custGeom>
            <a:avLst/>
            <a:gdLst>
              <a:gd name="connsiteX0" fmla="*/ 6096002 w 12191999"/>
              <a:gd name="connsiteY0" fmla="*/ 0 h 3656014"/>
              <a:gd name="connsiteX1" fmla="*/ 11517301 w 12191999"/>
              <a:gd name="connsiteY1" fmla="*/ 568339 h 3656014"/>
              <a:gd name="connsiteX2" fmla="*/ 12191999 w 12191999"/>
              <a:gd name="connsiteY2" fmla="*/ 741496 h 3656014"/>
              <a:gd name="connsiteX3" fmla="*/ 12191999 w 12191999"/>
              <a:gd name="connsiteY3" fmla="*/ 3656014 h 3656014"/>
              <a:gd name="connsiteX4" fmla="*/ 0 w 12191999"/>
              <a:gd name="connsiteY4" fmla="*/ 3656014 h 3656014"/>
              <a:gd name="connsiteX5" fmla="*/ 0 w 12191999"/>
              <a:gd name="connsiteY5" fmla="*/ 741497 h 3656014"/>
              <a:gd name="connsiteX6" fmla="*/ 674702 w 12191999"/>
              <a:gd name="connsiteY6" fmla="*/ 568339 h 3656014"/>
              <a:gd name="connsiteX7" fmla="*/ 6096002 w 12191999"/>
              <a:gd name="connsiteY7" fmla="*/ 0 h 3656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3656014">
                <a:moveTo>
                  <a:pt x="6096002" y="0"/>
                </a:moveTo>
                <a:cubicBezTo>
                  <a:pt x="8104174" y="0"/>
                  <a:pt x="9969760" y="209519"/>
                  <a:pt x="11517301" y="568339"/>
                </a:cubicBezTo>
                <a:lnTo>
                  <a:pt x="12191999" y="741496"/>
                </a:lnTo>
                <a:lnTo>
                  <a:pt x="12191999" y="3656014"/>
                </a:lnTo>
                <a:lnTo>
                  <a:pt x="0" y="3656014"/>
                </a:lnTo>
                <a:lnTo>
                  <a:pt x="0" y="741497"/>
                </a:lnTo>
                <a:lnTo>
                  <a:pt x="674702" y="568339"/>
                </a:lnTo>
                <a:cubicBezTo>
                  <a:pt x="2222243" y="209519"/>
                  <a:pt x="4087830" y="0"/>
                  <a:pt x="6096002" y="0"/>
                </a:cubicBezTo>
                <a:close/>
              </a:path>
            </a:pathLst>
          </a:cu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3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endParaRPr>
          </a:p>
        </p:txBody>
      </p:sp>
      <p:sp>
        <p:nvSpPr>
          <p:cNvPr id="102" name="任意多边形: 形状 101"/>
          <p:cNvSpPr/>
          <p:nvPr userDrawn="1"/>
        </p:nvSpPr>
        <p:spPr>
          <a:xfrm rot="2676034">
            <a:off x="-1681418" y="5021332"/>
            <a:ext cx="3362838" cy="3410056"/>
          </a:xfrm>
          <a:custGeom>
            <a:avLst/>
            <a:gdLst>
              <a:gd name="connsiteX0" fmla="*/ 0 w 3362838"/>
              <a:gd name="connsiteY0" fmla="*/ 0 h 3410056"/>
              <a:gd name="connsiteX1" fmla="*/ 3362838 w 3362838"/>
              <a:gd name="connsiteY1" fmla="*/ 3410056 h 3410056"/>
              <a:gd name="connsiteX2" fmla="*/ 3362837 w 3362838"/>
              <a:gd name="connsiteY2" fmla="*/ 3410056 h 3410056"/>
              <a:gd name="connsiteX3" fmla="*/ 0 w 3362838"/>
              <a:gd name="connsiteY3" fmla="*/ 1 h 3410056"/>
            </a:gdLst>
            <a:ahLst/>
            <a:cxnLst>
              <a:cxn ang="0">
                <a:pos x="connsiteX0" y="connsiteY0"/>
              </a:cxn>
              <a:cxn ang="0">
                <a:pos x="connsiteX1" y="connsiteY1"/>
              </a:cxn>
              <a:cxn ang="0">
                <a:pos x="connsiteX2" y="connsiteY2"/>
              </a:cxn>
              <a:cxn ang="0">
                <a:pos x="connsiteX3" y="connsiteY3"/>
              </a:cxn>
            </a:cxnLst>
            <a:rect l="l" t="t" r="r" b="b"/>
            <a:pathLst>
              <a:path w="3362838" h="3410056">
                <a:moveTo>
                  <a:pt x="0" y="0"/>
                </a:moveTo>
                <a:lnTo>
                  <a:pt x="3362838" y="3410056"/>
                </a:lnTo>
                <a:lnTo>
                  <a:pt x="3362837" y="3410056"/>
                </a:lnTo>
                <a:lnTo>
                  <a:pt x="0" y="1"/>
                </a:lnTo>
                <a:close/>
              </a:path>
            </a:pathLst>
          </a:custGeom>
          <a:gradFill>
            <a:gsLst>
              <a:gs pos="0">
                <a:schemeClr val="bg1">
                  <a:alpha val="0"/>
                </a:schemeClr>
              </a:gs>
              <a:gs pos="100000">
                <a:schemeClr val="accent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4" name="任意多边形: 形状 83"/>
          <p:cNvSpPr/>
          <p:nvPr userDrawn="1"/>
        </p:nvSpPr>
        <p:spPr>
          <a:xfrm>
            <a:off x="1" y="3201986"/>
            <a:ext cx="12191999" cy="3656014"/>
          </a:xfrm>
          <a:custGeom>
            <a:avLst/>
            <a:gdLst>
              <a:gd name="connsiteX0" fmla="*/ 6096002 w 12191999"/>
              <a:gd name="connsiteY0" fmla="*/ 0 h 3656014"/>
              <a:gd name="connsiteX1" fmla="*/ 11517301 w 12191999"/>
              <a:gd name="connsiteY1" fmla="*/ 568339 h 3656014"/>
              <a:gd name="connsiteX2" fmla="*/ 12191999 w 12191999"/>
              <a:gd name="connsiteY2" fmla="*/ 741496 h 3656014"/>
              <a:gd name="connsiteX3" fmla="*/ 12191999 w 12191999"/>
              <a:gd name="connsiteY3" fmla="*/ 3656014 h 3656014"/>
              <a:gd name="connsiteX4" fmla="*/ 0 w 12191999"/>
              <a:gd name="connsiteY4" fmla="*/ 3656014 h 3656014"/>
              <a:gd name="connsiteX5" fmla="*/ 0 w 12191999"/>
              <a:gd name="connsiteY5" fmla="*/ 741497 h 3656014"/>
              <a:gd name="connsiteX6" fmla="*/ 674702 w 12191999"/>
              <a:gd name="connsiteY6" fmla="*/ 568339 h 3656014"/>
              <a:gd name="connsiteX7" fmla="*/ 6096002 w 12191999"/>
              <a:gd name="connsiteY7" fmla="*/ 0 h 3656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3656014">
                <a:moveTo>
                  <a:pt x="6096002" y="0"/>
                </a:moveTo>
                <a:cubicBezTo>
                  <a:pt x="8104174" y="0"/>
                  <a:pt x="9969760" y="209519"/>
                  <a:pt x="11517301" y="568339"/>
                </a:cubicBezTo>
                <a:lnTo>
                  <a:pt x="12191999" y="741496"/>
                </a:lnTo>
                <a:lnTo>
                  <a:pt x="12191999" y="3656014"/>
                </a:lnTo>
                <a:lnTo>
                  <a:pt x="0" y="3656014"/>
                </a:lnTo>
                <a:lnTo>
                  <a:pt x="0" y="741497"/>
                </a:lnTo>
                <a:lnTo>
                  <a:pt x="674702" y="568339"/>
                </a:lnTo>
                <a:cubicBezTo>
                  <a:pt x="2222243" y="209519"/>
                  <a:pt x="4087830" y="0"/>
                  <a:pt x="6096002" y="0"/>
                </a:cubicBezTo>
                <a:close/>
              </a:path>
            </a:pathLst>
          </a:custGeom>
          <a:solidFill>
            <a:schemeClr val="bg1"/>
          </a:solidFill>
          <a:ln>
            <a:noFill/>
          </a:ln>
          <a:effectLst>
            <a:outerShdw blurRad="381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3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endParaRPr>
          </a:p>
        </p:txBody>
      </p:sp>
      <p:sp>
        <p:nvSpPr>
          <p:cNvPr id="48" name="标题 47"/>
          <p:cNvSpPr>
            <a:spLocks noGrp="1"/>
          </p:cNvSpPr>
          <p:nvPr userDrawn="1">
            <p:ph type="title" hasCustomPrompt="1"/>
          </p:nvPr>
        </p:nvSpPr>
        <p:spPr>
          <a:xfrm>
            <a:off x="515938" y="3758091"/>
            <a:ext cx="11160124" cy="1323439"/>
          </a:xfrm>
          <a:prstGeom prst="rect">
            <a:avLst/>
          </a:prstGeom>
          <a:noFill/>
        </p:spPr>
        <p:txBody>
          <a:bodyPr wrap="square" lIns="0" rtlCol="0">
            <a:spAutoFit/>
          </a:bodyPr>
          <a:lstStyle>
            <a:lvl1pPr algn="ctr">
              <a:lnSpc>
                <a:spcPct val="100000"/>
              </a:lnSpc>
              <a:defRPr lang="zh-CN" altLang="en-US" sz="4000" b="1" spc="100" dirty="0">
                <a:solidFill>
                  <a:schemeClr val="tx1"/>
                </a:solidFill>
                <a:latin typeface="+mn-ea"/>
                <a:ea typeface="+mn-ea"/>
                <a:cs typeface="+mn-ea"/>
              </a:defRPr>
            </a:lvl1pPr>
          </a:lstStyle>
          <a:p>
            <a:pPr marL="0" lvl="0"/>
            <a:r>
              <a:rPr lang="zh-CN" altLang="en-US" dirty="0"/>
              <a:t>北京理工大学</a:t>
            </a:r>
            <a:br>
              <a:rPr lang="zh-CN" altLang="en-US" dirty="0"/>
            </a:br>
            <a:r>
              <a:rPr lang="zh-CN" altLang="en-US" dirty="0"/>
              <a:t>毕业设计论文答辩模板</a:t>
            </a:r>
          </a:p>
        </p:txBody>
      </p:sp>
      <p:sp>
        <p:nvSpPr>
          <p:cNvPr id="38" name="文本占位符 53"/>
          <p:cNvSpPr>
            <a:spLocks noGrp="1"/>
          </p:cNvSpPr>
          <p:nvPr userDrawn="1">
            <p:ph type="body" sz="quarter" idx="16" hasCustomPrompt="1"/>
          </p:nvPr>
        </p:nvSpPr>
        <p:spPr>
          <a:xfrm>
            <a:off x="2141362" y="5528219"/>
            <a:ext cx="7909277" cy="372410"/>
          </a:xfrm>
          <a:prstGeom prst="rect">
            <a:avLst/>
          </a:prstGeom>
          <a:noFill/>
        </p:spPr>
        <p:txBody>
          <a:bodyPr wrap="square" lIns="0" rtlCol="0" anchor="ctr" anchorCtr="0">
            <a:spAutoFit/>
          </a:bodyPr>
          <a:lstStyle>
            <a:lvl1pPr marL="0" indent="0" algn="ctr">
              <a:lnSpc>
                <a:spcPct val="130000"/>
              </a:lnSpc>
              <a:buNone/>
              <a:defRPr lang="zh-CN" altLang="en-US" sz="1400" spc="100" smtClean="0">
                <a:solidFill>
                  <a:schemeClr val="tx1">
                    <a:lumMod val="85000"/>
                    <a:lumOff val="15000"/>
                  </a:schemeClr>
                </a:solidFill>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lnSpc>
                <a:spcPct val="130000"/>
              </a:lnSpc>
            </a:pPr>
            <a:r>
              <a:rPr lang="zh-CN" altLang="en-US" dirty="0"/>
              <a:t>答辩人：北小理　　　导　师： 京小工　　　时　间：</a:t>
            </a:r>
            <a:r>
              <a:rPr lang="en-US" altLang="zh-CN" dirty="0"/>
              <a:t>XXX</a:t>
            </a:r>
            <a:endParaRPr lang="zh-CN" altLang="en-US" dirty="0"/>
          </a:p>
        </p:txBody>
      </p:sp>
      <p:cxnSp>
        <p:nvCxnSpPr>
          <p:cNvPr id="18" name="直接连接符 17"/>
          <p:cNvCxnSpPr/>
          <p:nvPr userDrawn="1"/>
        </p:nvCxnSpPr>
        <p:spPr>
          <a:xfrm>
            <a:off x="2108522" y="5295418"/>
            <a:ext cx="7974957"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userDrawn="1"/>
        </p:nvPicPr>
        <p:blipFill>
          <a:blip r:embed="rId3" cstate="print"/>
          <a:stretch>
            <a:fillRect/>
          </a:stretch>
        </p:blipFill>
        <p:spPr>
          <a:xfrm>
            <a:off x="3866200" y="944838"/>
            <a:ext cx="4510874" cy="1262604"/>
          </a:xfrm>
          <a:prstGeom prst="rect">
            <a:avLst/>
          </a:prstGeom>
        </p:spPr>
      </p:pic>
      <p:sp>
        <p:nvSpPr>
          <p:cNvPr id="51" name="文本框 50"/>
          <p:cNvSpPr txBox="1"/>
          <p:nvPr userDrawn="1"/>
        </p:nvSpPr>
        <p:spPr>
          <a:xfrm>
            <a:off x="150844" y="6088688"/>
            <a:ext cx="2156520" cy="617431"/>
          </a:xfrm>
          <a:prstGeom prst="rect">
            <a:avLst/>
          </a:prstGeom>
          <a:noFill/>
          <a:ln>
            <a:noFill/>
          </a:ln>
        </p:spPr>
        <p:txBody>
          <a:bodyPr wrap="square" lIns="180000" tIns="180000" rIns="180000" bIns="180000" rtlCol="0">
            <a:spAutoFit/>
          </a:bodyPr>
          <a:lstStyle/>
          <a:p>
            <a:pPr marL="0" marR="0" lvl="0" indent="0" algn="l" defTabSz="914400" rtl="0" eaLnBrk="0" fontAlgn="base" latinLnBrk="0" hangingPunct="0">
              <a:lnSpc>
                <a:spcPct val="130000"/>
              </a:lnSpc>
              <a:spcBef>
                <a:spcPct val="0"/>
              </a:spcBef>
              <a:spcAft>
                <a:spcPct val="0"/>
              </a:spcAft>
              <a:buClrTx/>
              <a:buSzTx/>
              <a:buFontTx/>
              <a:buNone/>
              <a:defRPr/>
            </a:pPr>
            <a:r>
              <a:rPr kumimoji="0" lang="en-US" altLang="zh-CN" sz="1400" b="1" i="0" u="none" strike="noStrike" kern="1200" cap="none" spc="100" normalizeH="0" baseline="0" noProof="0" dirty="0">
                <a:ln>
                  <a:noFill/>
                </a:ln>
                <a:solidFill>
                  <a:srgbClr val="A2A2A2"/>
                </a:solidFill>
                <a:effectLst/>
                <a:uLnTx/>
                <a:uFillTx/>
                <a:latin typeface="微软雅黑" panose="020B0503020204020204" pitchFamily="34" charset="-122"/>
                <a:ea typeface="微软雅黑" panose="020B0503020204020204" pitchFamily="34" charset="-122"/>
                <a:cs typeface="+mn-cs"/>
              </a:rPr>
              <a:t>BIT</a:t>
            </a:r>
            <a:r>
              <a:rPr kumimoji="0" lang="en-US" altLang="zh-CN" sz="1400" b="0" i="0" u="none" strike="noStrike" kern="1200" cap="none" spc="100" normalizeH="0" baseline="0" noProof="0" dirty="0">
                <a:ln>
                  <a:noFill/>
                </a:ln>
                <a:solidFill>
                  <a:srgbClr val="A2A2A2"/>
                </a:solidFill>
                <a:effectLst/>
                <a:uLnTx/>
                <a:uFillTx/>
                <a:latin typeface="微软雅黑" panose="020B0503020204020204" pitchFamily="34" charset="-122"/>
                <a:ea typeface="微软雅黑" panose="020B0503020204020204" pitchFamily="34" charset="-122"/>
                <a:cs typeface="+mn-cs"/>
              </a:rPr>
              <a:t> </a:t>
            </a:r>
            <a:r>
              <a:rPr kumimoji="0" lang="en-US" altLang="zh-CN" sz="1400" b="1" i="0" u="none" strike="noStrike" kern="1200" cap="none" spc="100" normalizeH="0" baseline="0" noProof="0" dirty="0">
                <a:ln>
                  <a:noFill/>
                </a:ln>
                <a:solidFill>
                  <a:srgbClr val="A2A2A2"/>
                </a:solidFill>
                <a:effectLst/>
                <a:uLnTx/>
                <a:uFillTx/>
                <a:latin typeface="微软雅黑" panose="020B0503020204020204" pitchFamily="34" charset="-122"/>
                <a:ea typeface="微软雅黑" panose="020B0503020204020204" pitchFamily="34" charset="-122"/>
                <a:cs typeface="+mn-cs"/>
              </a:rPr>
              <a:t>|</a:t>
            </a:r>
            <a:r>
              <a:rPr kumimoji="0" lang="en-US" altLang="zh-CN" sz="1400" b="0" i="0" u="none" strike="noStrike" kern="1200" cap="none" spc="100" normalizeH="0" baseline="0" noProof="0" dirty="0">
                <a:ln>
                  <a:noFill/>
                </a:ln>
                <a:solidFill>
                  <a:srgbClr val="A2A2A2"/>
                </a:solidFill>
                <a:effectLst/>
                <a:uLnTx/>
                <a:uFillTx/>
                <a:latin typeface="微软雅黑" panose="020B0503020204020204" pitchFamily="34" charset="-122"/>
                <a:ea typeface="微软雅黑" panose="020B0503020204020204" pitchFamily="34" charset="-122"/>
                <a:cs typeface="+mn-cs"/>
              </a:rPr>
              <a:t> </a:t>
            </a:r>
            <a:r>
              <a:rPr kumimoji="0" lang="en-US" altLang="zh-CN" sz="1400" b="1" i="0" u="none" strike="noStrike" kern="1200" cap="none" spc="100" normalizeH="0" baseline="0" noProof="0" dirty="0">
                <a:ln>
                  <a:noFill/>
                </a:ln>
                <a:solidFill>
                  <a:srgbClr val="A2A2A2"/>
                </a:solidFill>
                <a:effectLst/>
                <a:uLnTx/>
                <a:uFillTx/>
                <a:latin typeface="微软雅黑" panose="020B0503020204020204" pitchFamily="34" charset="-122"/>
                <a:ea typeface="微软雅黑" panose="020B0503020204020204" pitchFamily="34" charset="-122"/>
                <a:cs typeface="+mn-cs"/>
              </a:rPr>
              <a:t>SINCE 1940</a:t>
            </a:r>
            <a:endParaRPr kumimoji="0" lang="zh-CN" altLang="en-US" sz="1400" b="1" i="0" u="none" strike="noStrike" kern="1200" cap="none" spc="100" normalizeH="0" baseline="0" noProof="0" dirty="0">
              <a:ln>
                <a:noFill/>
              </a:ln>
              <a:solidFill>
                <a:srgbClr val="A2A2A2"/>
              </a:solidFill>
              <a:effectLst/>
              <a:uLnTx/>
              <a:uFillTx/>
              <a:latin typeface="微软雅黑 Light" panose="020B0502040204020203" pitchFamily="34" charset="-122"/>
              <a:ea typeface="微软雅黑 Light" panose="020B0502040204020203" pitchFamily="34" charset="-122"/>
              <a:cs typeface="+mn-cs"/>
            </a:endParaRPr>
          </a:p>
        </p:txBody>
      </p:sp>
      <p:grpSp>
        <p:nvGrpSpPr>
          <p:cNvPr id="3" name="组合 2"/>
          <p:cNvGrpSpPr/>
          <p:nvPr userDrawn="1"/>
        </p:nvGrpSpPr>
        <p:grpSpPr>
          <a:xfrm>
            <a:off x="10272478" y="6308389"/>
            <a:ext cx="1629576" cy="198576"/>
            <a:chOff x="10272478" y="6308389"/>
            <a:chExt cx="1629576" cy="198576"/>
          </a:xfrm>
        </p:grpSpPr>
        <p:grpSp>
          <p:nvGrpSpPr>
            <p:cNvPr id="40" name="组合 39"/>
            <p:cNvGrpSpPr/>
            <p:nvPr userDrawn="1"/>
          </p:nvGrpSpPr>
          <p:grpSpPr>
            <a:xfrm>
              <a:off x="11216726" y="6310650"/>
              <a:ext cx="685328" cy="194486"/>
              <a:chOff x="2373567" y="1096524"/>
              <a:chExt cx="2578404" cy="731714"/>
            </a:xfrm>
          </p:grpSpPr>
          <p:sp>
            <p:nvSpPr>
              <p:cNvPr id="70" name="Freeform 5"/>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accent3"/>
              </a:solid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71" name="Freeform 6"/>
              <p:cNvSpPr/>
              <p:nvPr/>
            </p:nvSpPr>
            <p:spPr bwMode="auto">
              <a:xfrm>
                <a:off x="4620306" y="1264461"/>
                <a:ext cx="331665"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accent3"/>
              </a:solid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nvGrpSpPr>
              <p:cNvPr id="72" name="组合 71"/>
              <p:cNvGrpSpPr/>
              <p:nvPr/>
            </p:nvGrpSpPr>
            <p:grpSpPr>
              <a:xfrm>
                <a:off x="2373567" y="1096524"/>
                <a:ext cx="589817" cy="731714"/>
                <a:chOff x="5548313" y="2084388"/>
                <a:chExt cx="547688" cy="679451"/>
              </a:xfrm>
              <a:solidFill>
                <a:schemeClr val="accent3"/>
              </a:solidFill>
            </p:grpSpPr>
            <p:sp>
              <p:nvSpPr>
                <p:cNvPr id="77"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78"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grpSp>
            <p:nvGrpSpPr>
              <p:cNvPr id="73" name="组合 72"/>
              <p:cNvGrpSpPr/>
              <p:nvPr/>
            </p:nvGrpSpPr>
            <p:grpSpPr>
              <a:xfrm>
                <a:off x="3194779" y="1296598"/>
                <a:ext cx="356817" cy="382445"/>
                <a:chOff x="3792874" y="3156423"/>
                <a:chExt cx="331330" cy="355128"/>
              </a:xfrm>
              <a:solidFill>
                <a:schemeClr val="accent3"/>
              </a:solidFill>
            </p:grpSpPr>
            <p:sp>
              <p:nvSpPr>
                <p:cNvPr id="74" name="Freeform 15"/>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75" name="Freeform 16"/>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76" name="Freeform 17"/>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grpSp>
        <p:grpSp>
          <p:nvGrpSpPr>
            <p:cNvPr id="41" name="组合 40"/>
            <p:cNvGrpSpPr/>
            <p:nvPr userDrawn="1"/>
          </p:nvGrpSpPr>
          <p:grpSpPr>
            <a:xfrm>
              <a:off x="10272478" y="6308389"/>
              <a:ext cx="716480" cy="198576"/>
              <a:chOff x="2372715" y="161759"/>
              <a:chExt cx="2695608" cy="747103"/>
            </a:xfrm>
          </p:grpSpPr>
          <p:grpSp>
            <p:nvGrpSpPr>
              <p:cNvPr id="42" name="组合 41"/>
              <p:cNvGrpSpPr/>
              <p:nvPr/>
            </p:nvGrpSpPr>
            <p:grpSpPr>
              <a:xfrm>
                <a:off x="3804781" y="283376"/>
                <a:ext cx="521428" cy="548788"/>
                <a:chOff x="6113463" y="3541713"/>
                <a:chExt cx="484188" cy="509588"/>
              </a:xfrm>
              <a:solidFill>
                <a:schemeClr val="accent3"/>
              </a:solidFill>
            </p:grpSpPr>
            <p:sp>
              <p:nvSpPr>
                <p:cNvPr id="68"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69"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grpSp>
            <p:nvGrpSpPr>
              <p:cNvPr id="43" name="组合 42"/>
              <p:cNvGrpSpPr/>
              <p:nvPr/>
            </p:nvGrpSpPr>
            <p:grpSpPr>
              <a:xfrm>
                <a:off x="2372715" y="161759"/>
                <a:ext cx="591521" cy="747103"/>
                <a:chOff x="6108700" y="2066926"/>
                <a:chExt cx="549275" cy="693738"/>
              </a:xfrm>
              <a:solidFill>
                <a:schemeClr val="accent3"/>
              </a:solidFill>
            </p:grpSpPr>
            <p:sp>
              <p:nvSpPr>
                <p:cNvPr id="66"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67"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grpSp>
            <p:nvGrpSpPr>
              <p:cNvPr id="44" name="组合 43"/>
              <p:cNvGrpSpPr/>
              <p:nvPr/>
            </p:nvGrpSpPr>
            <p:grpSpPr>
              <a:xfrm>
                <a:off x="3173775" y="375308"/>
                <a:ext cx="396626" cy="341923"/>
                <a:chOff x="6186488" y="2930526"/>
                <a:chExt cx="368300" cy="317500"/>
              </a:xfrm>
              <a:solidFill>
                <a:schemeClr val="accent3"/>
              </a:solidFill>
            </p:grpSpPr>
            <p:sp>
              <p:nvSpPr>
                <p:cNvPr id="63"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64"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65"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grpSp>
            <p:nvGrpSpPr>
              <p:cNvPr id="45" name="组合 44"/>
              <p:cNvGrpSpPr/>
              <p:nvPr/>
            </p:nvGrpSpPr>
            <p:grpSpPr>
              <a:xfrm>
                <a:off x="4613362" y="313351"/>
                <a:ext cx="454961" cy="453362"/>
                <a:chOff x="11893465" y="1994536"/>
                <a:chExt cx="274986" cy="274018"/>
              </a:xfrm>
              <a:solidFill>
                <a:schemeClr val="accent3"/>
              </a:solidFill>
            </p:grpSpPr>
            <p:sp>
              <p:nvSpPr>
                <p:cNvPr id="46" name="Freeform 11"/>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47" name="Freeform 12"/>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grpSp>
      </p:grpSp>
    </p:spTree>
    <p:extLst>
      <p:ext uri="{BB962C8B-B14F-4D97-AF65-F5344CB8AC3E}">
        <p14:creationId xmlns:p14="http://schemas.microsoft.com/office/powerpoint/2010/main" val="1411112126"/>
      </p:ext>
    </p:extLst>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封面样式2-尾页">
    <p:spTree>
      <p:nvGrpSpPr>
        <p:cNvPr id="1" name=""/>
        <p:cNvGrpSpPr/>
        <p:nvPr/>
      </p:nvGrpSpPr>
      <p:grpSpPr>
        <a:xfrm>
          <a:off x="0" y="0"/>
          <a:ext cx="0" cy="0"/>
          <a:chOff x="0" y="0"/>
          <a:chExt cx="0" cy="0"/>
        </a:xfrm>
      </p:grpSpPr>
      <p:sp>
        <p:nvSpPr>
          <p:cNvPr id="6" name="PA-矩形 7"/>
          <p:cNvSpPr/>
          <p:nvPr userDrawn="1">
            <p:custDataLst>
              <p:tags r:id="rId1"/>
            </p:custData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PA-矩形 7"/>
          <p:cNvSpPr/>
          <p:nvPr userDrawn="1">
            <p:custDataLst>
              <p:tags r:id="rId2"/>
            </p:custDataLst>
          </p:nvPr>
        </p:nvSpPr>
        <p:spPr>
          <a:xfrm>
            <a:off x="0" y="0"/>
            <a:ext cx="12192000" cy="6858000"/>
          </a:xfrm>
          <a:prstGeom prst="rect">
            <a:avLst/>
          </a:prstGeom>
          <a:gradFill flip="none" rotWithShape="1">
            <a:gsLst>
              <a:gs pos="0">
                <a:schemeClr val="accent1">
                  <a:alpha val="0"/>
                </a:schemeClr>
              </a:gs>
              <a:gs pos="52200">
                <a:schemeClr val="accent1"/>
              </a:gs>
              <a:gs pos="100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任意多边形: 形状 19"/>
          <p:cNvSpPr/>
          <p:nvPr userDrawn="1"/>
        </p:nvSpPr>
        <p:spPr>
          <a:xfrm flipH="1" flipV="1">
            <a:off x="4442085" y="3759199"/>
            <a:ext cx="3307830" cy="2335892"/>
          </a:xfrm>
          <a:custGeom>
            <a:avLst/>
            <a:gdLst>
              <a:gd name="connsiteX0" fmla="*/ 3162300 w 3162300"/>
              <a:gd name="connsiteY0" fmla="*/ 2147409 h 2147409"/>
              <a:gd name="connsiteX1" fmla="*/ 0 w 3162300"/>
              <a:gd name="connsiteY1" fmla="*/ 2147409 h 2147409"/>
              <a:gd name="connsiteX2" fmla="*/ 0 w 3162300"/>
              <a:gd name="connsiteY2" fmla="*/ 1565265 h 2147409"/>
              <a:gd name="connsiteX3" fmla="*/ 0 w 3162300"/>
              <a:gd name="connsiteY3" fmla="*/ 1544697 h 2147409"/>
              <a:gd name="connsiteX4" fmla="*/ 0 w 3162300"/>
              <a:gd name="connsiteY4" fmla="*/ 0 h 2147409"/>
              <a:gd name="connsiteX5" fmla="*/ 1585774 w 3162300"/>
              <a:gd name="connsiteY5" fmla="*/ 1112898 h 2147409"/>
              <a:gd name="connsiteX6" fmla="*/ 3162300 w 3162300"/>
              <a:gd name="connsiteY6" fmla="*/ 0 h 2147409"/>
              <a:gd name="connsiteX7" fmla="*/ 3162300 w 3162300"/>
              <a:gd name="connsiteY7" fmla="*/ 1544697 h 2147409"/>
              <a:gd name="connsiteX8" fmla="*/ 3162300 w 3162300"/>
              <a:gd name="connsiteY8" fmla="*/ 1565265 h 2147409"/>
              <a:gd name="connsiteX0-1" fmla="*/ 0 w 3162300"/>
              <a:gd name="connsiteY0-2" fmla="*/ 2147409 h 2238849"/>
              <a:gd name="connsiteX1-3" fmla="*/ 0 w 3162300"/>
              <a:gd name="connsiteY1-4" fmla="*/ 1565265 h 2238849"/>
              <a:gd name="connsiteX2-5" fmla="*/ 0 w 3162300"/>
              <a:gd name="connsiteY2-6" fmla="*/ 1544697 h 2238849"/>
              <a:gd name="connsiteX3-7" fmla="*/ 0 w 3162300"/>
              <a:gd name="connsiteY3-8" fmla="*/ 0 h 2238849"/>
              <a:gd name="connsiteX4-9" fmla="*/ 1585774 w 3162300"/>
              <a:gd name="connsiteY4-10" fmla="*/ 1112898 h 2238849"/>
              <a:gd name="connsiteX5-11" fmla="*/ 3162300 w 3162300"/>
              <a:gd name="connsiteY5-12" fmla="*/ 0 h 2238849"/>
              <a:gd name="connsiteX6-13" fmla="*/ 3162300 w 3162300"/>
              <a:gd name="connsiteY6-14" fmla="*/ 1544697 h 2238849"/>
              <a:gd name="connsiteX7-15" fmla="*/ 3162300 w 3162300"/>
              <a:gd name="connsiteY7-16" fmla="*/ 1565265 h 2238849"/>
              <a:gd name="connsiteX8-17" fmla="*/ 3162300 w 3162300"/>
              <a:gd name="connsiteY8-18" fmla="*/ 2147409 h 2238849"/>
              <a:gd name="connsiteX9" fmla="*/ 91440 w 3162300"/>
              <a:gd name="connsiteY9" fmla="*/ 2238849 h 2238849"/>
              <a:gd name="connsiteX0-19" fmla="*/ 0 w 3162300"/>
              <a:gd name="connsiteY0-20" fmla="*/ 2147409 h 2147409"/>
              <a:gd name="connsiteX1-21" fmla="*/ 0 w 3162300"/>
              <a:gd name="connsiteY1-22" fmla="*/ 1565265 h 2147409"/>
              <a:gd name="connsiteX2-23" fmla="*/ 0 w 3162300"/>
              <a:gd name="connsiteY2-24" fmla="*/ 1544697 h 2147409"/>
              <a:gd name="connsiteX3-25" fmla="*/ 0 w 3162300"/>
              <a:gd name="connsiteY3-26" fmla="*/ 0 h 2147409"/>
              <a:gd name="connsiteX4-27" fmla="*/ 1585774 w 3162300"/>
              <a:gd name="connsiteY4-28" fmla="*/ 1112898 h 2147409"/>
              <a:gd name="connsiteX5-29" fmla="*/ 3162300 w 3162300"/>
              <a:gd name="connsiteY5-30" fmla="*/ 0 h 2147409"/>
              <a:gd name="connsiteX6-31" fmla="*/ 3162300 w 3162300"/>
              <a:gd name="connsiteY6-32" fmla="*/ 1544697 h 2147409"/>
              <a:gd name="connsiteX7-33" fmla="*/ 3162300 w 3162300"/>
              <a:gd name="connsiteY7-34" fmla="*/ 1565265 h 2147409"/>
              <a:gd name="connsiteX8-35" fmla="*/ 3162300 w 3162300"/>
              <a:gd name="connsiteY8-36" fmla="*/ 2147409 h 214740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3162300" h="2147409">
                <a:moveTo>
                  <a:pt x="0" y="2147409"/>
                </a:moveTo>
                <a:lnTo>
                  <a:pt x="0" y="1565265"/>
                </a:lnTo>
                <a:lnTo>
                  <a:pt x="0" y="1544697"/>
                </a:lnTo>
                <a:lnTo>
                  <a:pt x="0" y="0"/>
                </a:lnTo>
                <a:lnTo>
                  <a:pt x="1585774" y="1112898"/>
                </a:lnTo>
                <a:lnTo>
                  <a:pt x="3162300" y="0"/>
                </a:lnTo>
                <a:lnTo>
                  <a:pt x="3162300" y="1544697"/>
                </a:lnTo>
                <a:lnTo>
                  <a:pt x="3162300" y="1565265"/>
                </a:lnTo>
                <a:lnTo>
                  <a:pt x="3162300" y="2147409"/>
                </a:lnTo>
              </a:path>
            </a:pathLst>
          </a:cu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cs typeface="+mn-ea"/>
              <a:sym typeface="+mn-lt"/>
            </a:endParaRPr>
          </a:p>
        </p:txBody>
      </p:sp>
      <p:sp>
        <p:nvSpPr>
          <p:cNvPr id="11" name="矩形 3"/>
          <p:cNvSpPr/>
          <p:nvPr userDrawn="1"/>
        </p:nvSpPr>
        <p:spPr>
          <a:xfrm>
            <a:off x="4442085" y="1015093"/>
            <a:ext cx="3307830" cy="1428368"/>
          </a:xfrm>
          <a:custGeom>
            <a:avLst/>
            <a:gdLst>
              <a:gd name="connsiteX0" fmla="*/ 0 w 3162300"/>
              <a:gd name="connsiteY0" fmla="*/ 0 h 1871961"/>
              <a:gd name="connsiteX1" fmla="*/ 3162300 w 3162300"/>
              <a:gd name="connsiteY1" fmla="*/ 0 h 1871961"/>
              <a:gd name="connsiteX2" fmla="*/ 3162300 w 3162300"/>
              <a:gd name="connsiteY2" fmla="*/ 1871961 h 1871961"/>
              <a:gd name="connsiteX3" fmla="*/ 0 w 3162300"/>
              <a:gd name="connsiteY3" fmla="*/ 1871961 h 1871961"/>
              <a:gd name="connsiteX4" fmla="*/ 0 w 3162300"/>
              <a:gd name="connsiteY4" fmla="*/ 0 h 1871961"/>
              <a:gd name="connsiteX0-1" fmla="*/ 0 w 3162300"/>
              <a:gd name="connsiteY0-2" fmla="*/ 1871961 h 1963401"/>
              <a:gd name="connsiteX1-3" fmla="*/ 0 w 3162300"/>
              <a:gd name="connsiteY1-4" fmla="*/ 0 h 1963401"/>
              <a:gd name="connsiteX2-5" fmla="*/ 3162300 w 3162300"/>
              <a:gd name="connsiteY2-6" fmla="*/ 0 h 1963401"/>
              <a:gd name="connsiteX3-7" fmla="*/ 3162300 w 3162300"/>
              <a:gd name="connsiteY3-8" fmla="*/ 1871961 h 1963401"/>
              <a:gd name="connsiteX4-9" fmla="*/ 91440 w 3162300"/>
              <a:gd name="connsiteY4-10" fmla="*/ 1963401 h 1963401"/>
              <a:gd name="connsiteX0-11" fmla="*/ 0 w 3162300"/>
              <a:gd name="connsiteY0-12" fmla="*/ 1871961 h 1871961"/>
              <a:gd name="connsiteX1-13" fmla="*/ 0 w 3162300"/>
              <a:gd name="connsiteY1-14" fmla="*/ 0 h 1871961"/>
              <a:gd name="connsiteX2-15" fmla="*/ 3162300 w 3162300"/>
              <a:gd name="connsiteY2-16" fmla="*/ 0 h 1871961"/>
              <a:gd name="connsiteX3-17" fmla="*/ 3162300 w 3162300"/>
              <a:gd name="connsiteY3-18" fmla="*/ 1871961 h 1871961"/>
            </a:gdLst>
            <a:ahLst/>
            <a:cxnLst>
              <a:cxn ang="0">
                <a:pos x="connsiteX0-1" y="connsiteY0-2"/>
              </a:cxn>
              <a:cxn ang="0">
                <a:pos x="connsiteX1-3" y="connsiteY1-4"/>
              </a:cxn>
              <a:cxn ang="0">
                <a:pos x="connsiteX2-5" y="connsiteY2-6"/>
              </a:cxn>
              <a:cxn ang="0">
                <a:pos x="connsiteX3-7" y="connsiteY3-8"/>
              </a:cxn>
            </a:cxnLst>
            <a:rect l="l" t="t" r="r" b="b"/>
            <a:pathLst>
              <a:path w="3162300" h="1871961">
                <a:moveTo>
                  <a:pt x="0" y="1871961"/>
                </a:moveTo>
                <a:lnTo>
                  <a:pt x="0" y="0"/>
                </a:lnTo>
                <a:lnTo>
                  <a:pt x="3162300" y="0"/>
                </a:lnTo>
                <a:lnTo>
                  <a:pt x="3162300" y="1871961"/>
                </a:lnTo>
              </a:path>
            </a:pathLst>
          </a:cu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30000"/>
              </a:lnSpc>
            </a:pPr>
            <a:endParaRPr lang="zh-CN" altLang="en-US">
              <a:cs typeface="+mn-ea"/>
              <a:sym typeface="+mn-lt"/>
            </a:endParaRPr>
          </a:p>
        </p:txBody>
      </p:sp>
      <p:sp>
        <p:nvSpPr>
          <p:cNvPr id="12" name="等腰三角形 11"/>
          <p:cNvSpPr/>
          <p:nvPr userDrawn="1"/>
        </p:nvSpPr>
        <p:spPr>
          <a:xfrm flipV="1">
            <a:off x="6007269" y="3832178"/>
            <a:ext cx="177462" cy="152984"/>
          </a:xfrm>
          <a:prstGeom prst="triangle">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a:p>
        </p:txBody>
      </p:sp>
      <p:pic>
        <p:nvPicPr>
          <p:cNvPr id="13" name="图片 12"/>
          <p:cNvPicPr>
            <a:picLocks noChangeAspect="1"/>
          </p:cNvPicPr>
          <p:nvPr userDrawn="1"/>
        </p:nvPicPr>
        <p:blipFill>
          <a:blip r:embed="rId4" cstate="print"/>
          <a:stretch>
            <a:fillRect/>
          </a:stretch>
        </p:blipFill>
        <p:spPr>
          <a:xfrm>
            <a:off x="4974749" y="1401223"/>
            <a:ext cx="2256308" cy="631546"/>
          </a:xfrm>
          <a:prstGeom prst="rect">
            <a:avLst/>
          </a:prstGeom>
        </p:spPr>
      </p:pic>
    </p:spTree>
    <p:extLst>
      <p:ext uri="{BB962C8B-B14F-4D97-AF65-F5344CB8AC3E}">
        <p14:creationId xmlns:p14="http://schemas.microsoft.com/office/powerpoint/2010/main" val="2456862051"/>
      </p:ext>
    </p:extLst>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目录样式2-1">
    <p:spTree>
      <p:nvGrpSpPr>
        <p:cNvPr id="1" name=""/>
        <p:cNvGrpSpPr/>
        <p:nvPr/>
      </p:nvGrpSpPr>
      <p:grpSpPr>
        <a:xfrm>
          <a:off x="0" y="0"/>
          <a:ext cx="0" cy="0"/>
          <a:chOff x="0" y="0"/>
          <a:chExt cx="0" cy="0"/>
        </a:xfrm>
      </p:grpSpPr>
      <p:sp>
        <p:nvSpPr>
          <p:cNvPr id="5" name="矩形 4"/>
          <p:cNvSpPr/>
          <p:nvPr userDrawn="1"/>
        </p:nvSpPr>
        <p:spPr>
          <a:xfrm>
            <a:off x="0" y="2289050"/>
            <a:ext cx="12192001" cy="19685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2" name="图片 1"/>
          <p:cNvPicPr>
            <a:picLocks noChangeAspect="1"/>
          </p:cNvPicPr>
          <p:nvPr userDrawn="1"/>
        </p:nvPicPr>
        <p:blipFill rotWithShape="1">
          <a:blip r:embed="rId2" cstate="print"/>
          <a:srcRect t="15558" b="38705"/>
          <a:stretch>
            <a:fillRect/>
          </a:stretch>
        </p:blipFill>
        <p:spPr>
          <a:xfrm>
            <a:off x="1" y="0"/>
            <a:ext cx="12192000" cy="2290219"/>
          </a:xfrm>
          <a:prstGeom prst="rect">
            <a:avLst/>
          </a:prstGeom>
        </p:spPr>
      </p:pic>
      <p:sp>
        <p:nvSpPr>
          <p:cNvPr id="10" name="矩形 9"/>
          <p:cNvSpPr/>
          <p:nvPr userDrawn="1"/>
        </p:nvSpPr>
        <p:spPr>
          <a:xfrm>
            <a:off x="-1" y="-7884"/>
            <a:ext cx="12192001" cy="2298103"/>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11" name="图片 10"/>
          <p:cNvPicPr>
            <a:picLocks noChangeAspect="1"/>
          </p:cNvPicPr>
          <p:nvPr userDrawn="1"/>
        </p:nvPicPr>
        <p:blipFill>
          <a:blip r:embed="rId3" cstate="print"/>
          <a:stretch>
            <a:fillRect/>
          </a:stretch>
        </p:blipFill>
        <p:spPr>
          <a:xfrm>
            <a:off x="5024353" y="841210"/>
            <a:ext cx="2143294" cy="599913"/>
          </a:xfrm>
          <a:prstGeom prst="rect">
            <a:avLst/>
          </a:prstGeom>
        </p:spPr>
      </p:pic>
      <p:cxnSp>
        <p:nvCxnSpPr>
          <p:cNvPr id="4" name="直接连接符 3"/>
          <p:cNvCxnSpPr/>
          <p:nvPr userDrawn="1"/>
        </p:nvCxnSpPr>
        <p:spPr>
          <a:xfrm>
            <a:off x="-81481" y="2289050"/>
            <a:ext cx="1233987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174531"/>
      </p:ext>
    </p:extLst>
  </p:cSld>
  <p:clrMapOvr>
    <a:masterClrMapping/>
  </p:clrMapOvr>
  <p:transition spd="med">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内页样式6-常规">
    <p:spTree>
      <p:nvGrpSpPr>
        <p:cNvPr id="1" name=""/>
        <p:cNvGrpSpPr/>
        <p:nvPr/>
      </p:nvGrpSpPr>
      <p:grpSpPr>
        <a:xfrm>
          <a:off x="0" y="0"/>
          <a:ext cx="0" cy="0"/>
          <a:chOff x="0" y="0"/>
          <a:chExt cx="0" cy="0"/>
        </a:xfrm>
      </p:grpSpPr>
      <p:sp>
        <p:nvSpPr>
          <p:cNvPr id="47" name="矩形 46"/>
          <p:cNvSpPr/>
          <p:nvPr userDrawn="1"/>
        </p:nvSpPr>
        <p:spPr>
          <a:xfrm>
            <a:off x="442912" y="-82551"/>
            <a:ext cx="11306175" cy="908709"/>
          </a:xfrm>
          <a:prstGeom prst="rect">
            <a:avLst/>
          </a:prstGeom>
          <a:solidFill>
            <a:schemeClr val="bg1"/>
          </a:solidFill>
          <a:ln>
            <a:noFill/>
          </a:ln>
          <a:effectLst>
            <a:outerShdw blurRad="1397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userDrawn="1"/>
        </p:nvSpPr>
        <p:spPr>
          <a:xfrm>
            <a:off x="442913" y="0"/>
            <a:ext cx="11306175" cy="826158"/>
          </a:xfrm>
          <a:prstGeom prst="rect">
            <a:avLst/>
          </a:prstGeom>
          <a:solidFill>
            <a:schemeClr val="accent3">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标题 11"/>
          <p:cNvSpPr>
            <a:spLocks noGrp="1"/>
          </p:cNvSpPr>
          <p:nvPr>
            <p:ph type="title"/>
          </p:nvPr>
        </p:nvSpPr>
        <p:spPr>
          <a:xfrm>
            <a:off x="1173494" y="249067"/>
            <a:ext cx="8048203"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
        <p:nvSpPr>
          <p:cNvPr id="7" name="文本框 6"/>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t>‹#›</a:t>
            </a:fld>
            <a:endParaRPr lang="zh-CN" altLang="en-US" sz="1600" dirty="0">
              <a:solidFill>
                <a:schemeClr val="accent3"/>
              </a:solidFill>
              <a:latin typeface="微软雅黑" panose="020B0503020204020204" pitchFamily="34" charset="-122"/>
            </a:endParaRPr>
          </a:p>
        </p:txBody>
      </p:sp>
      <p:cxnSp>
        <p:nvCxnSpPr>
          <p:cNvPr id="38" name="直接连接符 37"/>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2" name="图片 41"/>
          <p:cNvPicPr>
            <a:picLocks noChangeAspect="1"/>
          </p:cNvPicPr>
          <p:nvPr userDrawn="1"/>
        </p:nvPicPr>
        <p:blipFill>
          <a:blip r:embed="rId2" cstate="print"/>
          <a:stretch>
            <a:fillRect/>
          </a:stretch>
        </p:blipFill>
        <p:spPr>
          <a:xfrm>
            <a:off x="9590168" y="252089"/>
            <a:ext cx="1969223" cy="432990"/>
          </a:xfrm>
          <a:prstGeom prst="rect">
            <a:avLst/>
          </a:prstGeom>
        </p:spPr>
      </p:pic>
      <p:grpSp>
        <p:nvGrpSpPr>
          <p:cNvPr id="46" name="组合 45"/>
          <p:cNvGrpSpPr/>
          <p:nvPr userDrawn="1"/>
        </p:nvGrpSpPr>
        <p:grpSpPr>
          <a:xfrm>
            <a:off x="637534" y="199773"/>
            <a:ext cx="463263" cy="481001"/>
            <a:chOff x="598941" y="128599"/>
            <a:chExt cx="463263" cy="481001"/>
          </a:xfrm>
        </p:grpSpPr>
        <p:sp>
          <p:nvSpPr>
            <p:cNvPr id="45" name="矩形 44"/>
            <p:cNvSpPr/>
            <p:nvPr userDrawn="1"/>
          </p:nvSpPr>
          <p:spPr>
            <a:xfrm>
              <a:off x="701671" y="249067"/>
              <a:ext cx="360533" cy="36053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p:cNvSpPr/>
            <p:nvPr userDrawn="1"/>
          </p:nvSpPr>
          <p:spPr>
            <a:xfrm>
              <a:off x="701671" y="247801"/>
              <a:ext cx="275115" cy="2565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userDrawn="1"/>
          </p:nvSpPr>
          <p:spPr>
            <a:xfrm>
              <a:off x="598941" y="128599"/>
              <a:ext cx="360533" cy="36053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6" name="组合 35"/>
          <p:cNvGrpSpPr/>
          <p:nvPr userDrawn="1"/>
        </p:nvGrpSpPr>
        <p:grpSpPr>
          <a:xfrm>
            <a:off x="587288" y="6381747"/>
            <a:ext cx="2479573" cy="304965"/>
            <a:chOff x="671368" y="6061309"/>
            <a:chExt cx="2479573" cy="304965"/>
          </a:xfrm>
          <a:solidFill>
            <a:schemeClr val="accent3"/>
          </a:solidFill>
        </p:grpSpPr>
        <p:grpSp>
          <p:nvGrpSpPr>
            <p:cNvPr id="37" name="组合 36"/>
            <p:cNvGrpSpPr/>
            <p:nvPr userDrawn="1"/>
          </p:nvGrpSpPr>
          <p:grpSpPr>
            <a:xfrm>
              <a:off x="2098445" y="6064781"/>
              <a:ext cx="1052496" cy="298683"/>
              <a:chOff x="2373567" y="1096524"/>
              <a:chExt cx="2578404" cy="731714"/>
            </a:xfrm>
            <a:grpFill/>
          </p:grpSpPr>
          <p:sp>
            <p:nvSpPr>
              <p:cNvPr id="60" name="Freeform 5"/>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endParaRPr lang="zh-CN" altLang="en-US"/>
              </a:p>
            </p:txBody>
          </p:sp>
          <p:sp>
            <p:nvSpPr>
              <p:cNvPr id="61" name="Freeform 6"/>
              <p:cNvSpPr/>
              <p:nvPr/>
            </p:nvSpPr>
            <p:spPr bwMode="auto">
              <a:xfrm>
                <a:off x="4620306" y="1264461"/>
                <a:ext cx="331665"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62" name="组合 61"/>
              <p:cNvGrpSpPr/>
              <p:nvPr/>
            </p:nvGrpSpPr>
            <p:grpSpPr>
              <a:xfrm>
                <a:off x="2373567" y="1096524"/>
                <a:ext cx="589817" cy="731714"/>
                <a:chOff x="5548313" y="2084388"/>
                <a:chExt cx="547688" cy="679451"/>
              </a:xfrm>
              <a:grpFill/>
            </p:grpSpPr>
            <p:sp>
              <p:nvSpPr>
                <p:cNvPr id="67"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63" name="组合 62"/>
              <p:cNvGrpSpPr/>
              <p:nvPr/>
            </p:nvGrpSpPr>
            <p:grpSpPr>
              <a:xfrm>
                <a:off x="3194779" y="1296598"/>
                <a:ext cx="356817" cy="382445"/>
                <a:chOff x="3792874" y="3156423"/>
                <a:chExt cx="331330" cy="355128"/>
              </a:xfrm>
              <a:grpFill/>
            </p:grpSpPr>
            <p:sp>
              <p:nvSpPr>
                <p:cNvPr id="64" name="Freeform 15"/>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16"/>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17"/>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39" name="组合 38"/>
            <p:cNvGrpSpPr/>
            <p:nvPr userDrawn="1"/>
          </p:nvGrpSpPr>
          <p:grpSpPr>
            <a:xfrm>
              <a:off x="671368" y="6061309"/>
              <a:ext cx="1100339" cy="304965"/>
              <a:chOff x="2372715" y="161759"/>
              <a:chExt cx="2695608" cy="747103"/>
            </a:xfrm>
            <a:grpFill/>
          </p:grpSpPr>
          <p:grpSp>
            <p:nvGrpSpPr>
              <p:cNvPr id="40" name="组合 39"/>
              <p:cNvGrpSpPr/>
              <p:nvPr/>
            </p:nvGrpSpPr>
            <p:grpSpPr>
              <a:xfrm>
                <a:off x="3804781" y="283376"/>
                <a:ext cx="521428" cy="548788"/>
                <a:chOff x="6113463" y="3541713"/>
                <a:chExt cx="484188" cy="509588"/>
              </a:xfrm>
              <a:grpFill/>
            </p:grpSpPr>
            <p:sp>
              <p:nvSpPr>
                <p:cNvPr id="58"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48" name="组合 47"/>
              <p:cNvGrpSpPr/>
              <p:nvPr/>
            </p:nvGrpSpPr>
            <p:grpSpPr>
              <a:xfrm>
                <a:off x="2372715" y="161759"/>
                <a:ext cx="591521" cy="747103"/>
                <a:chOff x="6108700" y="2066926"/>
                <a:chExt cx="549275" cy="693738"/>
              </a:xfrm>
              <a:grpFill/>
            </p:grpSpPr>
            <p:sp>
              <p:nvSpPr>
                <p:cNvPr id="56"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49" name="组合 48"/>
              <p:cNvGrpSpPr/>
              <p:nvPr/>
            </p:nvGrpSpPr>
            <p:grpSpPr>
              <a:xfrm>
                <a:off x="3173775" y="375308"/>
                <a:ext cx="396626" cy="341923"/>
                <a:chOff x="6186488" y="2930526"/>
                <a:chExt cx="368300" cy="317500"/>
              </a:xfrm>
              <a:grpFill/>
            </p:grpSpPr>
            <p:sp>
              <p:nvSpPr>
                <p:cNvPr id="53"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50" name="组合 49"/>
              <p:cNvGrpSpPr/>
              <p:nvPr/>
            </p:nvGrpSpPr>
            <p:grpSpPr>
              <a:xfrm>
                <a:off x="4613362" y="313351"/>
                <a:ext cx="454961" cy="453362"/>
                <a:chOff x="11893465" y="1994536"/>
                <a:chExt cx="274986" cy="274018"/>
              </a:xfrm>
              <a:grpFill/>
            </p:grpSpPr>
            <p:sp>
              <p:nvSpPr>
                <p:cNvPr id="51" name="Freeform 11"/>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endParaRPr lang="zh-CN" altLang="en-US"/>
                </a:p>
              </p:txBody>
            </p:sp>
            <p:sp>
              <p:nvSpPr>
                <p:cNvPr id="52" name="Freeform 12"/>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endParaRPr lang="zh-CN" altLang="en-US"/>
                </a:p>
              </p:txBody>
            </p:sp>
          </p:grpSp>
        </p:grpSp>
      </p:grpSp>
    </p:spTree>
    <p:extLst>
      <p:ext uri="{BB962C8B-B14F-4D97-AF65-F5344CB8AC3E}">
        <p14:creationId xmlns:p14="http://schemas.microsoft.com/office/powerpoint/2010/main" val="542826844"/>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0631845-8B32-579A-B76B-79AF21696E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2103E36-1D24-53AA-43BE-DF367B34D0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5E5E097-4A7A-C909-1CD7-C25A769211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902D31-C982-452B-9EAD-C970DC9ABCC5}" type="datetimeFigureOut">
              <a:rPr lang="zh-CN" altLang="en-US" smtClean="0"/>
              <a:t>2026/1/21</a:t>
            </a:fld>
            <a:endParaRPr lang="zh-CN" altLang="en-US"/>
          </a:p>
        </p:txBody>
      </p:sp>
      <p:sp>
        <p:nvSpPr>
          <p:cNvPr id="5" name="页脚占位符 4">
            <a:extLst>
              <a:ext uri="{FF2B5EF4-FFF2-40B4-BE49-F238E27FC236}">
                <a16:creationId xmlns:a16="http://schemas.microsoft.com/office/drawing/2014/main" id="{4912EEF0-ADA4-2700-2263-08A4B39D2C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9847ED76-2550-8E60-7AD4-6ADFB487C0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EF401C-C1B0-4E9D-BD7A-D7B91F088445}" type="slidenum">
              <a:rPr lang="zh-CN" altLang="en-US" smtClean="0"/>
              <a:t>‹#›</a:t>
            </a:fld>
            <a:endParaRPr lang="zh-CN" altLang="en-US"/>
          </a:p>
        </p:txBody>
      </p:sp>
    </p:spTree>
    <p:extLst>
      <p:ext uri="{BB962C8B-B14F-4D97-AF65-F5344CB8AC3E}">
        <p14:creationId xmlns:p14="http://schemas.microsoft.com/office/powerpoint/2010/main" val="38606801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文本占位符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307D9317-7C4B-477D-9FCD-CD5482370328}" type="datetimeFigureOut">
              <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t>2026/1/21</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EC0B3BC9-7090-482A-AB63-1945A9C9F1E4}" type="slidenum">
              <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983109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ransition spd="med">
    <p:fade/>
  </p:transition>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7.xml"/><Relationship Id="rId5" Type="http://schemas.openxmlformats.org/officeDocument/2006/relationships/image" Target="../media/image11.sv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7.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7.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7.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7.xml"/><Relationship Id="rId5" Type="http://schemas.openxmlformats.org/officeDocument/2006/relationships/image" Target="../media/image20.png"/><Relationship Id="rId4" Type="http://schemas.openxmlformats.org/officeDocument/2006/relationships/customXml" Target="../ink/ink1.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7.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17.xml"/><Relationship Id="rId5" Type="http://schemas.openxmlformats.org/officeDocument/2006/relationships/image" Target="../media/image30.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17.xml"/><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17.xml"/><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17.xml"/><Relationship Id="rId5" Type="http://schemas.openxmlformats.org/officeDocument/2006/relationships/image" Target="../media/image11.svg"/><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71368" y="2616692"/>
            <a:ext cx="6376546" cy="1200329"/>
          </a:xfrm>
        </p:spPr>
        <p:txBody>
          <a:bodyPr/>
          <a:lstStyle/>
          <a:p>
            <a:pPr>
              <a:lnSpc>
                <a:spcPct val="100000"/>
              </a:lnSpc>
            </a:pPr>
            <a:r>
              <a:rPr lang="zh-CN" altLang="en-US" dirty="0"/>
              <a:t>基于语言机制的内核模块隔离研究</a:t>
            </a:r>
          </a:p>
        </p:txBody>
      </p:sp>
      <p:sp>
        <p:nvSpPr>
          <p:cNvPr id="4" name="文本占位符 3"/>
          <p:cNvSpPr>
            <a:spLocks noGrp="1"/>
          </p:cNvSpPr>
          <p:nvPr>
            <p:ph type="body" sz="quarter" idx="16"/>
          </p:nvPr>
        </p:nvSpPr>
        <p:spPr>
          <a:xfrm>
            <a:off x="671366" y="4108052"/>
            <a:ext cx="6221139" cy="345094"/>
          </a:xfrm>
        </p:spPr>
        <p:txBody>
          <a:bodyPr/>
          <a:lstStyle/>
          <a:p>
            <a:r>
              <a:rPr lang="zh-CN" altLang="en-US" dirty="0"/>
              <a:t>答辩人：陈林峰　　　导　师：陆慧梅　　　时间：</a:t>
            </a:r>
            <a:fld id="{D59A35C6-7D58-4C95-A60A-B688BEF8C3D6}" type="datetime1">
              <a:rPr lang="zh-CN" altLang="en-US" smtClean="0"/>
              <a:t>2026/1/21</a:t>
            </a:fld>
            <a:endParaRPr lang="zh-CN" altLang="en-US" dirty="0"/>
          </a:p>
        </p:txBody>
      </p:sp>
    </p:spTree>
  </p:cSld>
  <p:clrMapOvr>
    <a:masterClrMapping/>
  </p:clrMapOvr>
  <p:transition spd="slow" advTm="738">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135847" y="2924237"/>
            <a:ext cx="5844097" cy="511814"/>
            <a:chOff x="5181690" y="2820871"/>
            <a:chExt cx="6290318" cy="550893"/>
          </a:xfrm>
        </p:grpSpPr>
        <p:sp>
          <p:nvSpPr>
            <p:cNvPr id="4" name="椭圆 3"/>
            <p:cNvSpPr/>
            <p:nvPr/>
          </p:nvSpPr>
          <p:spPr>
            <a:xfrm>
              <a:off x="5181690" y="2820871"/>
              <a:ext cx="550893" cy="55089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Century Gothic" panose="020B0502020202020204" pitchFamily="34" charset="0"/>
                </a:rPr>
                <a:t>1</a:t>
              </a:r>
              <a:endParaRPr lang="zh-CN" altLang="en-US" sz="2400" dirty="0">
                <a:latin typeface="Century Gothic" panose="020B0502020202020204" pitchFamily="34" charset="0"/>
              </a:endParaRPr>
            </a:p>
          </p:txBody>
        </p:sp>
        <p:sp>
          <p:nvSpPr>
            <p:cNvPr id="8" name="文本框 7"/>
            <p:cNvSpPr txBox="1"/>
            <p:nvPr/>
          </p:nvSpPr>
          <p:spPr>
            <a:xfrm>
              <a:off x="6025662" y="2880873"/>
              <a:ext cx="5446346" cy="413080"/>
            </a:xfrm>
            <a:prstGeom prst="rect">
              <a:avLst/>
            </a:prstGeom>
            <a:noFill/>
          </p:spPr>
          <p:txBody>
            <a:bodyPr wrap="square" lIns="0" tIns="0" rIns="0" bIns="0" rtlCol="0">
              <a:spAutoFit/>
            </a:bodyPr>
            <a:lstStyle/>
            <a:p>
              <a:r>
                <a:rPr lang="zh-CN" altLang="en-US" sz="2400" b="1" spc="300" dirty="0">
                  <a:latin typeface="+mj-ea"/>
                  <a:ea typeface="+mj-ea"/>
                </a:rPr>
                <a:t>研究背景与目的</a:t>
              </a:r>
              <a:endParaRPr lang="zh-CN" altLang="en-US" sz="2400" b="1" spc="300" dirty="0">
                <a:solidFill>
                  <a:schemeClr val="accent3"/>
                </a:solidFill>
              </a:endParaRPr>
            </a:p>
          </p:txBody>
        </p:sp>
      </p:grpSp>
      <p:grpSp>
        <p:nvGrpSpPr>
          <p:cNvPr id="18" name="组合 17"/>
          <p:cNvGrpSpPr/>
          <p:nvPr/>
        </p:nvGrpSpPr>
        <p:grpSpPr>
          <a:xfrm>
            <a:off x="6137763" y="3642259"/>
            <a:ext cx="5844097" cy="511814"/>
            <a:chOff x="5181690" y="3693789"/>
            <a:chExt cx="6290318" cy="550893"/>
          </a:xfrm>
        </p:grpSpPr>
        <p:sp>
          <p:nvSpPr>
            <p:cNvPr id="5" name="椭圆 4"/>
            <p:cNvSpPr/>
            <p:nvPr/>
          </p:nvSpPr>
          <p:spPr>
            <a:xfrm>
              <a:off x="5181690" y="3693789"/>
              <a:ext cx="550893" cy="55089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Century Gothic" panose="020B0502020202020204" pitchFamily="34" charset="0"/>
                </a:rPr>
                <a:t>2</a:t>
              </a:r>
              <a:endParaRPr lang="zh-CN" altLang="en-US" sz="2400" dirty="0">
                <a:latin typeface="Century Gothic" panose="020B0502020202020204" pitchFamily="34" charset="0"/>
              </a:endParaRPr>
            </a:p>
          </p:txBody>
        </p:sp>
        <p:sp>
          <p:nvSpPr>
            <p:cNvPr id="10" name="文本框 9"/>
            <p:cNvSpPr txBox="1"/>
            <p:nvPr/>
          </p:nvSpPr>
          <p:spPr>
            <a:xfrm>
              <a:off x="6025662" y="3748369"/>
              <a:ext cx="5446346" cy="413080"/>
            </a:xfrm>
            <a:prstGeom prst="rect">
              <a:avLst/>
            </a:prstGeom>
            <a:noFill/>
          </p:spPr>
          <p:txBody>
            <a:bodyPr wrap="square" lIns="0" tIns="0" rIns="0" bIns="0" rtlCol="0">
              <a:spAutoFit/>
            </a:bodyPr>
            <a:lstStyle/>
            <a:p>
              <a:r>
                <a:rPr lang="zh-CN" altLang="en-US" sz="2400" b="1" spc="300" dirty="0">
                  <a:latin typeface="+mj-ea"/>
                  <a:ea typeface="+mj-ea"/>
                </a:rPr>
                <a:t>研究现状与关键问题</a:t>
              </a:r>
            </a:p>
          </p:txBody>
        </p:sp>
      </p:grpSp>
      <p:grpSp>
        <p:nvGrpSpPr>
          <p:cNvPr id="17" name="组合 16"/>
          <p:cNvGrpSpPr/>
          <p:nvPr/>
        </p:nvGrpSpPr>
        <p:grpSpPr>
          <a:xfrm>
            <a:off x="6135847" y="4361345"/>
            <a:ext cx="5853574" cy="511814"/>
            <a:chOff x="5184190" y="4548742"/>
            <a:chExt cx="6300518" cy="550893"/>
          </a:xfrm>
        </p:grpSpPr>
        <p:sp>
          <p:nvSpPr>
            <p:cNvPr id="6" name="椭圆 5"/>
            <p:cNvSpPr/>
            <p:nvPr/>
          </p:nvSpPr>
          <p:spPr>
            <a:xfrm>
              <a:off x="5184190" y="4548742"/>
              <a:ext cx="550893" cy="55089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Century Gothic" panose="020B0502020202020204" pitchFamily="34" charset="0"/>
                </a:rPr>
                <a:t>3</a:t>
              </a:r>
              <a:endParaRPr lang="zh-CN" altLang="en-US" sz="2400" dirty="0">
                <a:latin typeface="Century Gothic" panose="020B0502020202020204" pitchFamily="34" charset="0"/>
              </a:endParaRPr>
            </a:p>
          </p:txBody>
        </p:sp>
        <p:sp>
          <p:nvSpPr>
            <p:cNvPr id="12" name="文本框 11"/>
            <p:cNvSpPr txBox="1"/>
            <p:nvPr/>
          </p:nvSpPr>
          <p:spPr>
            <a:xfrm>
              <a:off x="6025662" y="4608744"/>
              <a:ext cx="5459046" cy="413080"/>
            </a:xfrm>
            <a:prstGeom prst="rect">
              <a:avLst/>
            </a:prstGeom>
            <a:noFill/>
          </p:spPr>
          <p:txBody>
            <a:bodyPr wrap="square" lIns="0" tIns="0" rIns="0" bIns="0" rtlCol="0">
              <a:spAutoFit/>
            </a:bodyPr>
            <a:lstStyle/>
            <a:p>
              <a:r>
                <a:rPr lang="zh-CN" altLang="en-US" sz="2400" b="1" spc="300" dirty="0">
                  <a:latin typeface="+mj-ea"/>
                  <a:ea typeface="+mj-ea"/>
                </a:rPr>
                <a:t>设计和实现</a:t>
              </a:r>
              <a:endParaRPr lang="zh-CN" altLang="en-US" sz="2400" b="1" spc="300" dirty="0">
                <a:solidFill>
                  <a:schemeClr val="accent3"/>
                </a:solidFill>
              </a:endParaRPr>
            </a:p>
          </p:txBody>
        </p:sp>
      </p:grpSp>
      <p:grpSp>
        <p:nvGrpSpPr>
          <p:cNvPr id="16" name="组合 15"/>
          <p:cNvGrpSpPr/>
          <p:nvPr/>
        </p:nvGrpSpPr>
        <p:grpSpPr>
          <a:xfrm>
            <a:off x="6135847" y="5077767"/>
            <a:ext cx="5844097" cy="511814"/>
            <a:chOff x="5181690" y="5404127"/>
            <a:chExt cx="6290318" cy="550893"/>
          </a:xfrm>
        </p:grpSpPr>
        <p:sp>
          <p:nvSpPr>
            <p:cNvPr id="7" name="椭圆 6"/>
            <p:cNvSpPr/>
            <p:nvPr/>
          </p:nvSpPr>
          <p:spPr>
            <a:xfrm>
              <a:off x="5181690" y="5404127"/>
              <a:ext cx="550893" cy="55089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Century Gothic" panose="020B0502020202020204" pitchFamily="34" charset="0"/>
                </a:rPr>
                <a:t>4</a:t>
              </a:r>
              <a:endParaRPr lang="zh-CN" altLang="en-US" sz="2400" dirty="0">
                <a:latin typeface="Century Gothic" panose="020B0502020202020204" pitchFamily="34" charset="0"/>
              </a:endParaRPr>
            </a:p>
          </p:txBody>
        </p:sp>
        <p:sp>
          <p:nvSpPr>
            <p:cNvPr id="14" name="文本框 13"/>
            <p:cNvSpPr txBox="1"/>
            <p:nvPr/>
          </p:nvSpPr>
          <p:spPr>
            <a:xfrm>
              <a:off x="6025663" y="5469119"/>
              <a:ext cx="5446345" cy="413080"/>
            </a:xfrm>
            <a:prstGeom prst="rect">
              <a:avLst/>
            </a:prstGeom>
            <a:noFill/>
          </p:spPr>
          <p:txBody>
            <a:bodyPr wrap="square" lIns="0" tIns="0" rIns="0" bIns="0" rtlCol="0">
              <a:spAutoFit/>
            </a:bodyPr>
            <a:lstStyle/>
            <a:p>
              <a:r>
                <a:rPr lang="zh-CN" altLang="en-US" sz="2400" b="1" spc="300" dirty="0">
                  <a:latin typeface="+mj-ea"/>
                  <a:ea typeface="+mj-ea"/>
                </a:rPr>
                <a:t>实验评估</a:t>
              </a:r>
              <a:endParaRPr lang="zh-CN" altLang="en-US" sz="2400" b="1" spc="300" dirty="0">
                <a:solidFill>
                  <a:schemeClr val="accent3"/>
                </a:solidFill>
              </a:endParaRPr>
            </a:p>
          </p:txBody>
        </p:sp>
      </p:grpSp>
      <p:grpSp>
        <p:nvGrpSpPr>
          <p:cNvPr id="20" name="组合 19"/>
          <p:cNvGrpSpPr/>
          <p:nvPr/>
        </p:nvGrpSpPr>
        <p:grpSpPr>
          <a:xfrm>
            <a:off x="6135847" y="5794189"/>
            <a:ext cx="5844097" cy="511814"/>
            <a:chOff x="5181690" y="5404127"/>
            <a:chExt cx="6290318" cy="550893"/>
          </a:xfrm>
        </p:grpSpPr>
        <p:sp>
          <p:nvSpPr>
            <p:cNvPr id="21" name="椭圆 20"/>
            <p:cNvSpPr/>
            <p:nvPr/>
          </p:nvSpPr>
          <p:spPr>
            <a:xfrm>
              <a:off x="5181690" y="5404127"/>
              <a:ext cx="550893" cy="55089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Century Gothic" panose="020B0502020202020204" pitchFamily="34" charset="0"/>
                </a:rPr>
                <a:t>5</a:t>
              </a:r>
              <a:endParaRPr lang="zh-CN" altLang="en-US" sz="2400" dirty="0">
                <a:latin typeface="Century Gothic" panose="020B0502020202020204" pitchFamily="34" charset="0"/>
              </a:endParaRPr>
            </a:p>
          </p:txBody>
        </p:sp>
        <p:sp>
          <p:nvSpPr>
            <p:cNvPr id="22" name="文本框 21"/>
            <p:cNvSpPr txBox="1"/>
            <p:nvPr/>
          </p:nvSpPr>
          <p:spPr>
            <a:xfrm>
              <a:off x="6025662" y="5469119"/>
              <a:ext cx="5446346" cy="413080"/>
            </a:xfrm>
            <a:prstGeom prst="rect">
              <a:avLst/>
            </a:prstGeom>
            <a:noFill/>
          </p:spPr>
          <p:txBody>
            <a:bodyPr wrap="square" lIns="0" tIns="0" rIns="0" bIns="0" rtlCol="0">
              <a:spAutoFit/>
            </a:bodyPr>
            <a:lstStyle/>
            <a:p>
              <a:r>
                <a:rPr lang="zh-CN" altLang="en-US" sz="2400" b="1" spc="300" dirty="0">
                  <a:latin typeface="+mj-ea"/>
                  <a:ea typeface="+mj-ea"/>
                </a:rPr>
                <a:t>总结与展望</a:t>
              </a:r>
              <a:endParaRPr lang="zh-CN" altLang="en-US" sz="2400" b="1" spc="300" dirty="0">
                <a:solidFill>
                  <a:schemeClr val="accent3"/>
                </a:solidFill>
              </a:endParaRPr>
            </a:p>
          </p:txBody>
        </p:sp>
      </p:grpSp>
      <p:sp>
        <p:nvSpPr>
          <p:cNvPr id="23" name="文本占位符 5"/>
          <p:cNvSpPr txBox="1"/>
          <p:nvPr/>
        </p:nvSpPr>
        <p:spPr>
          <a:xfrm>
            <a:off x="1678166" y="3775845"/>
            <a:ext cx="2762739" cy="914398"/>
          </a:xfrm>
          <a:prstGeom prst="rect">
            <a:avLst/>
          </a:prstGeom>
        </p:spPr>
        <p:txBody>
          <a:bodyPr>
            <a:noAutofit/>
          </a:bodyPr>
          <a:lstStyle>
            <a:lvl1pPr marL="0" indent="0" algn="ctr" rtl="0" eaLnBrk="0" fontAlgn="base" hangingPunct="0">
              <a:lnSpc>
                <a:spcPct val="90000"/>
              </a:lnSpc>
              <a:spcBef>
                <a:spcPts val="1000"/>
              </a:spcBef>
              <a:spcAft>
                <a:spcPct val="0"/>
              </a:spcAft>
              <a:buFont typeface="Arial" panose="020B0604020202020204" pitchFamily="34" charset="0"/>
              <a:buNone/>
              <a:defRPr sz="6000" b="1" kern="1200">
                <a:solidFill>
                  <a:schemeClr val="accent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目录</a:t>
            </a:r>
          </a:p>
        </p:txBody>
      </p:sp>
      <p:sp>
        <p:nvSpPr>
          <p:cNvPr id="24" name="文本占位符 8"/>
          <p:cNvSpPr txBox="1"/>
          <p:nvPr/>
        </p:nvSpPr>
        <p:spPr>
          <a:xfrm>
            <a:off x="2063073" y="4793977"/>
            <a:ext cx="1992924" cy="360850"/>
          </a:xfrm>
          <a:prstGeom prst="rect">
            <a:avLst/>
          </a:prstGeom>
        </p:spPr>
        <p:txBody>
          <a:bodyPr>
            <a:noAutofit/>
          </a:bodyPr>
          <a:lstStyle>
            <a:lvl1pPr marL="0" indent="0" algn="ctr" rtl="0" eaLnBrk="0" fontAlgn="base" hangingPunct="0">
              <a:lnSpc>
                <a:spcPct val="90000"/>
              </a:lnSpc>
              <a:spcBef>
                <a:spcPts val="1000"/>
              </a:spcBef>
              <a:spcAft>
                <a:spcPct val="0"/>
              </a:spcAft>
              <a:buFontTx/>
              <a:buNone/>
              <a:defRPr sz="2000" b="0" kern="1200" baseline="0">
                <a:solidFill>
                  <a:schemeClr val="accent2"/>
                </a:solidFill>
                <a:latin typeface="微软雅黑 Light" panose="020B0502040204020203" pitchFamily="34" charset="-122"/>
                <a:ea typeface="微软雅黑 Light" panose="020B0502040204020203" pitchFamily="34"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CONTENTS</a:t>
            </a:r>
            <a:endParaRPr lang="zh-CN" altLang="en-US" dirty="0"/>
          </a:p>
        </p:txBody>
      </p:sp>
      <p:sp>
        <p:nvSpPr>
          <p:cNvPr id="25" name="矩形 24"/>
          <p:cNvSpPr/>
          <p:nvPr/>
        </p:nvSpPr>
        <p:spPr>
          <a:xfrm>
            <a:off x="2767873" y="5369423"/>
            <a:ext cx="583324" cy="6179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down)">
                                      <p:cBhvr>
                                        <p:cTn id="7" dur="500"/>
                                        <p:tgtEl>
                                          <p:spTgt spid="19"/>
                                        </p:tgtEl>
                                      </p:cBhvr>
                                    </p:animEffect>
                                  </p:childTnLst>
                                </p:cTn>
                              </p:par>
                              <p:par>
                                <p:cTn id="8" presetID="22" presetClass="entr" presetSubtype="4"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wipe(down)">
                                      <p:cBhvr>
                                        <p:cTn id="10" dur="500"/>
                                        <p:tgtEl>
                                          <p:spTgt spid="18"/>
                                        </p:tgtEl>
                                      </p:cBhvr>
                                    </p:animEffect>
                                  </p:childTnLst>
                                </p:cTn>
                              </p:par>
                              <p:par>
                                <p:cTn id="11" presetID="22" presetClass="entr" presetSubtype="4"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wipe(down)">
                                      <p:cBhvr>
                                        <p:cTn id="13" dur="500"/>
                                        <p:tgtEl>
                                          <p:spTgt spid="17"/>
                                        </p:tgtEl>
                                      </p:cBhvr>
                                    </p:animEffect>
                                  </p:childTnLst>
                                </p:cTn>
                              </p:par>
                              <p:par>
                                <p:cTn id="14" presetID="22" presetClass="entr" presetSubtype="4" fill="hold"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down)">
                                      <p:cBhvr>
                                        <p:cTn id="16" dur="500"/>
                                        <p:tgtEl>
                                          <p:spTgt spid="16"/>
                                        </p:tgtEl>
                                      </p:cBhvr>
                                    </p:animEffect>
                                  </p:childTnLst>
                                </p:cTn>
                              </p:par>
                              <p:par>
                                <p:cTn id="17" presetID="22" presetClass="entr" presetSubtype="4"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wipe(down)">
                                      <p:cBhvr>
                                        <p:cTn id="19" dur="500"/>
                                        <p:tgtEl>
                                          <p:spTgt spid="20"/>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down)">
                                      <p:cBhvr>
                                        <p:cTn id="22" dur="500"/>
                                        <p:tgtEl>
                                          <p:spTgt spid="23"/>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wipe(down)">
                                      <p:cBhvr>
                                        <p:cTn id="25" dur="500"/>
                                        <p:tgtEl>
                                          <p:spTgt spid="24"/>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wipe(down)">
                                      <p:cBhvr>
                                        <p:cTn id="28"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zh-CN" altLang="en-US" dirty="0"/>
              <a:t>研究背景</a:t>
            </a:r>
          </a:p>
        </p:txBody>
      </p:sp>
      <p:pic>
        <p:nvPicPr>
          <p:cNvPr id="3" name="图片 2">
            <a:extLst>
              <a:ext uri="{FF2B5EF4-FFF2-40B4-BE49-F238E27FC236}">
                <a16:creationId xmlns:a16="http://schemas.microsoft.com/office/drawing/2014/main" id="{44527D41-61F0-946A-D4DA-05945ACC9F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69848" y="992032"/>
            <a:ext cx="5453192" cy="3855889"/>
          </a:xfrm>
          <a:prstGeom prst="rect">
            <a:avLst/>
          </a:prstGeom>
        </p:spPr>
      </p:pic>
      <p:grpSp>
        <p:nvGrpSpPr>
          <p:cNvPr id="2" name="组合 1">
            <a:extLst>
              <a:ext uri="{FF2B5EF4-FFF2-40B4-BE49-F238E27FC236}">
                <a16:creationId xmlns:a16="http://schemas.microsoft.com/office/drawing/2014/main" id="{EC3E19BE-177C-80DB-D4D7-96366230C169}"/>
              </a:ext>
            </a:extLst>
          </p:cNvPr>
          <p:cNvGrpSpPr/>
          <p:nvPr/>
        </p:nvGrpSpPr>
        <p:grpSpPr>
          <a:xfrm>
            <a:off x="561600" y="4847921"/>
            <a:ext cx="11061439" cy="1402562"/>
            <a:chOff x="561600" y="4847921"/>
            <a:chExt cx="11061439" cy="1402562"/>
          </a:xfrm>
        </p:grpSpPr>
        <p:sp>
          <p:nvSpPr>
            <p:cNvPr id="15" name="矩形 14">
              <a:extLst>
                <a:ext uri="{FF2B5EF4-FFF2-40B4-BE49-F238E27FC236}">
                  <a16:creationId xmlns:a16="http://schemas.microsoft.com/office/drawing/2014/main" id="{DBBFDCEA-9E3E-6D1D-EDCC-AAB124DD23A3}"/>
                </a:ext>
              </a:extLst>
            </p:cNvPr>
            <p:cNvSpPr/>
            <p:nvPr/>
          </p:nvSpPr>
          <p:spPr>
            <a:xfrm>
              <a:off x="568959" y="5149352"/>
              <a:ext cx="11054080" cy="1101131"/>
            </a:xfrm>
            <a:prstGeom prst="rect">
              <a:avLst/>
            </a:prstGeom>
            <a:no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b="1" dirty="0">
                  <a:solidFill>
                    <a:schemeClr val="tx1"/>
                  </a:solidFill>
                </a:rPr>
                <a:t>🔑 内核模块运行在高特权级，一旦缺乏隔离，任何模块错误都会演变为系统级灾难，通过模块隔离，可以显著提升系统的稳定性与安全性。</a:t>
              </a:r>
            </a:p>
          </p:txBody>
        </p:sp>
        <p:sp>
          <p:nvSpPr>
            <p:cNvPr id="14" name="矩形: 对角圆角 13">
              <a:extLst>
                <a:ext uri="{FF2B5EF4-FFF2-40B4-BE49-F238E27FC236}">
                  <a16:creationId xmlns:a16="http://schemas.microsoft.com/office/drawing/2014/main" id="{AA944761-5749-CBC5-EABB-D46C14E858BD}"/>
                </a:ext>
              </a:extLst>
            </p:cNvPr>
            <p:cNvSpPr/>
            <p:nvPr/>
          </p:nvSpPr>
          <p:spPr>
            <a:xfrm>
              <a:off x="561600" y="4847921"/>
              <a:ext cx="1167144" cy="480132"/>
            </a:xfrm>
            <a:prstGeom prst="round2DiagRect">
              <a:avLst/>
            </a:prstGeom>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t>总结</a:t>
              </a:r>
            </a:p>
          </p:txBody>
        </p:sp>
      </p:grpSp>
      <p:sp>
        <p:nvSpPr>
          <p:cNvPr id="16" name="内容占位符 1">
            <a:extLst>
              <a:ext uri="{FF2B5EF4-FFF2-40B4-BE49-F238E27FC236}">
                <a16:creationId xmlns:a16="http://schemas.microsoft.com/office/drawing/2014/main" id="{3F307A4E-ECCB-86CB-E7DD-EE9302363290}"/>
              </a:ext>
            </a:extLst>
          </p:cNvPr>
          <p:cNvSpPr txBox="1">
            <a:spLocks/>
          </p:cNvSpPr>
          <p:nvPr/>
        </p:nvSpPr>
        <p:spPr>
          <a:xfrm>
            <a:off x="568959" y="992031"/>
            <a:ext cx="5290928" cy="3734515"/>
          </a:xfrm>
          <a:prstGeom prst="rect">
            <a:avLst/>
          </a:prstGeom>
        </p:spPr>
        <p:txBody>
          <a:bodyPr vert="horz" lIns="0" tIns="0" rIns="0" bIns="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800" kern="1200" spc="3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spc="3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3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3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3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auto" latinLnBrk="0" hangingPunct="1">
              <a:lnSpc>
                <a:spcPct val="120000"/>
              </a:lnSpc>
              <a:spcBef>
                <a:spcPts val="1000"/>
              </a:spcBef>
              <a:spcAft>
                <a:spcPts val="0"/>
              </a:spcAft>
              <a:buClr>
                <a:schemeClr val="tx2"/>
              </a:buClr>
              <a:buSzTx/>
              <a:buFont typeface="Wingdings" panose="05000000000000000000" pitchFamily="2" charset="2"/>
              <a:buChar char="Ø"/>
              <a:tabLst/>
              <a:defRPr/>
            </a:pPr>
            <a:r>
              <a:rPr kumimoji="0" lang="zh-CN" altLang="en-US" sz="1400" b="0" i="0" u="none" strike="noStrike" kern="1200" cap="none" spc="300" normalizeH="0" baseline="0" noProof="0" dirty="0">
                <a:ln>
                  <a:noFill/>
                </a:ln>
                <a:solidFill>
                  <a:srgbClr val="000000"/>
                </a:solidFill>
                <a:effectLst/>
                <a:uLnTx/>
                <a:uFillTx/>
                <a:latin typeface="微软雅黑"/>
                <a:ea typeface="微软雅黑"/>
                <a:cs typeface="+mn-cs"/>
              </a:rPr>
              <a:t>根据谷歌、微软与苹果的报告，</a:t>
            </a:r>
            <a:r>
              <a:rPr kumimoji="0" lang="zh-CN" altLang="en-US" sz="1400" b="0" i="0" u="none" strike="noStrike" kern="1200" cap="none" spc="300" normalizeH="0" baseline="0" noProof="0" dirty="0">
                <a:ln>
                  <a:noFill/>
                </a:ln>
                <a:solidFill>
                  <a:srgbClr val="FF0000"/>
                </a:solidFill>
                <a:effectLst/>
                <a:uLnTx/>
                <a:uFillTx/>
                <a:latin typeface="微软雅黑"/>
                <a:ea typeface="微软雅黑"/>
                <a:cs typeface="+mn-cs"/>
              </a:rPr>
              <a:t>内存安全问题占已发现漏洞的 </a:t>
            </a:r>
            <a:r>
              <a:rPr kumimoji="0" lang="en-US" altLang="zh-CN" sz="1400" b="0" i="0" u="none" strike="noStrike" kern="1200" cap="none" spc="300" normalizeH="0" baseline="0" noProof="0" dirty="0">
                <a:ln>
                  <a:noFill/>
                </a:ln>
                <a:solidFill>
                  <a:srgbClr val="FF0000"/>
                </a:solidFill>
                <a:effectLst/>
                <a:uLnTx/>
                <a:uFillTx/>
                <a:latin typeface="微软雅黑"/>
                <a:ea typeface="微软雅黑"/>
                <a:cs typeface="+mn-cs"/>
              </a:rPr>
              <a:t>60%–70%</a:t>
            </a:r>
          </a:p>
          <a:p>
            <a:pPr>
              <a:buClr>
                <a:schemeClr val="tx2"/>
              </a:buClr>
              <a:buFont typeface="Wingdings" panose="05000000000000000000" pitchFamily="2" charset="2"/>
              <a:buChar char="Ø"/>
              <a:defRPr/>
            </a:pPr>
            <a:r>
              <a:rPr lang="zh-CN" altLang="en-US" sz="1400" dirty="0"/>
              <a:t>进程隔离：</a:t>
            </a:r>
            <a:r>
              <a:rPr lang="zh-CN" altLang="en-US" sz="1400" u="sng" dirty="0"/>
              <a:t>虚拟内存与特权分级</a:t>
            </a:r>
            <a:endParaRPr lang="en-US" altLang="zh-CN" sz="1400" u="sng" dirty="0"/>
          </a:p>
          <a:p>
            <a:pPr marR="0" lvl="0" algn="l" defTabSz="914400" rtl="0" eaLnBrk="1" fontAlgn="auto" latinLnBrk="0" hangingPunct="1">
              <a:lnSpc>
                <a:spcPct val="120000"/>
              </a:lnSpc>
              <a:spcBef>
                <a:spcPts val="1000"/>
              </a:spcBef>
              <a:spcAft>
                <a:spcPts val="0"/>
              </a:spcAft>
              <a:buClr>
                <a:schemeClr val="tx2"/>
              </a:buClr>
              <a:buSzTx/>
              <a:buFont typeface="Wingdings" panose="05000000000000000000" pitchFamily="2" charset="2"/>
              <a:buChar char="Ø"/>
              <a:tabLst/>
              <a:defRPr/>
            </a:pPr>
            <a:r>
              <a:rPr lang="zh-CN" altLang="en-US" sz="1400" dirty="0">
                <a:latin typeface="微软雅黑"/>
                <a:ea typeface="微软雅黑"/>
              </a:rPr>
              <a:t>内存安全问题</a:t>
            </a:r>
            <a:r>
              <a:rPr lang="en-US" altLang="zh-CN" sz="1400" dirty="0">
                <a:latin typeface="微软雅黑"/>
                <a:ea typeface="微软雅黑"/>
              </a:rPr>
              <a:t>(</a:t>
            </a:r>
            <a:r>
              <a:rPr lang="zh-CN" altLang="en-US" sz="1400" dirty="0">
                <a:latin typeface="微软雅黑"/>
                <a:ea typeface="微软雅黑"/>
              </a:rPr>
              <a:t>缓冲区溢出，释放后使用等</a:t>
            </a:r>
            <a:r>
              <a:rPr lang="en-US" altLang="zh-CN" sz="1400" dirty="0">
                <a:latin typeface="微软雅黑"/>
                <a:ea typeface="微软雅黑"/>
              </a:rPr>
              <a:t>)</a:t>
            </a:r>
            <a:r>
              <a:rPr lang="zh-CN" altLang="en-US" sz="1400" dirty="0">
                <a:latin typeface="微软雅黑"/>
                <a:ea typeface="微软雅黑"/>
              </a:rPr>
              <a:t>导致</a:t>
            </a:r>
            <a:r>
              <a:rPr lang="zh-CN" altLang="en-US" sz="1400" dirty="0">
                <a:solidFill>
                  <a:srgbClr val="FF0000"/>
                </a:solidFill>
                <a:latin typeface="微软雅黑"/>
                <a:ea typeface="微软雅黑"/>
              </a:rPr>
              <a:t>内核崩溃</a:t>
            </a:r>
            <a:endParaRPr lang="en-US" altLang="zh-CN" sz="1400" dirty="0">
              <a:solidFill>
                <a:srgbClr val="FF0000"/>
              </a:solidFill>
              <a:latin typeface="微软雅黑"/>
              <a:ea typeface="微软雅黑"/>
            </a:endParaRPr>
          </a:p>
          <a:p>
            <a:pPr>
              <a:buClr>
                <a:schemeClr val="tx2"/>
              </a:buClr>
              <a:buFont typeface="Wingdings" panose="05000000000000000000" pitchFamily="2" charset="2"/>
              <a:buChar char="Ø"/>
              <a:defRPr/>
            </a:pPr>
            <a:r>
              <a:rPr lang="zh-CN" altLang="en-US" sz="1400" dirty="0">
                <a:solidFill>
                  <a:srgbClr val="000000"/>
                </a:solidFill>
              </a:rPr>
              <a:t>驱动模块贡献了绝大多数的内核安全缺陷</a:t>
            </a:r>
            <a:r>
              <a:rPr lang="en-US" altLang="zh-CN" sz="1400" dirty="0">
                <a:solidFill>
                  <a:srgbClr val="000000"/>
                </a:solidFill>
              </a:rPr>
              <a:t>,</a:t>
            </a:r>
            <a:r>
              <a:rPr lang="zh-CN" altLang="en-US" sz="1400" dirty="0">
                <a:solidFill>
                  <a:srgbClr val="000000"/>
                </a:solidFill>
              </a:rPr>
              <a:t>而</a:t>
            </a:r>
            <a:r>
              <a:rPr lang="en-US" altLang="zh-CN" sz="1400" dirty="0">
                <a:solidFill>
                  <a:srgbClr val="000000"/>
                </a:solidFill>
              </a:rPr>
              <a:t>Linux</a:t>
            </a:r>
            <a:r>
              <a:rPr lang="zh-CN" altLang="en-US" sz="1400" dirty="0">
                <a:solidFill>
                  <a:srgbClr val="000000"/>
                </a:solidFill>
              </a:rPr>
              <a:t>庞大的代码库中</a:t>
            </a:r>
            <a:r>
              <a:rPr lang="en-US" altLang="zh-CN" sz="1400" dirty="0">
                <a:solidFill>
                  <a:srgbClr val="FF0000"/>
                </a:solidFill>
              </a:rPr>
              <a:t>60%</a:t>
            </a:r>
            <a:r>
              <a:rPr lang="zh-CN" altLang="en-US" sz="1400" dirty="0">
                <a:solidFill>
                  <a:srgbClr val="FF0000"/>
                </a:solidFill>
              </a:rPr>
              <a:t>为驱动代码</a:t>
            </a:r>
            <a:endParaRPr lang="en-US" altLang="zh-CN" sz="1400" dirty="0">
              <a:solidFill>
                <a:srgbClr val="FF0000"/>
              </a:solidFill>
              <a:latin typeface="微软雅黑"/>
              <a:ea typeface="微软雅黑"/>
            </a:endParaRPr>
          </a:p>
          <a:p>
            <a:pPr lvl="0">
              <a:buClr>
                <a:schemeClr val="tx2"/>
              </a:buClr>
              <a:buFont typeface="Wingdings" panose="05000000000000000000" pitchFamily="2" charset="2"/>
              <a:buChar char="Ø"/>
              <a:defRPr/>
            </a:pPr>
            <a:r>
              <a:rPr lang="zh-CN" altLang="en-US" sz="1400" dirty="0">
                <a:solidFill>
                  <a:srgbClr val="000000"/>
                </a:solidFill>
              </a:rPr>
              <a:t>宏内核通过</a:t>
            </a:r>
            <a:r>
              <a:rPr lang="zh-CN" altLang="en-US" sz="1400" dirty="0">
                <a:solidFill>
                  <a:srgbClr val="FF0000"/>
                </a:solidFill>
              </a:rPr>
              <a:t>共享地址空间</a:t>
            </a:r>
            <a:r>
              <a:rPr lang="zh-CN" altLang="en-US" sz="1400" dirty="0">
                <a:solidFill>
                  <a:srgbClr val="000000"/>
                </a:solidFill>
              </a:rPr>
              <a:t>实现模块间高效协作，却以</a:t>
            </a:r>
            <a:r>
              <a:rPr lang="zh-CN" altLang="en-US" sz="1400" dirty="0">
                <a:solidFill>
                  <a:srgbClr val="FF0000"/>
                </a:solidFill>
              </a:rPr>
              <a:t>牺牲安全边界</a:t>
            </a:r>
            <a:r>
              <a:rPr lang="zh-CN" altLang="en-US" sz="1400" dirty="0">
                <a:solidFill>
                  <a:srgbClr val="000000"/>
                </a:solidFill>
              </a:rPr>
              <a:t>为代价</a:t>
            </a:r>
            <a:endParaRPr lang="en-US" altLang="zh-CN" sz="1400" dirty="0">
              <a:solidFill>
                <a:srgbClr val="000000"/>
              </a:solidFill>
              <a:latin typeface="微软雅黑"/>
              <a:ea typeface="微软雅黑"/>
            </a:endParaRPr>
          </a:p>
          <a:p>
            <a:pPr lvl="0">
              <a:buClr>
                <a:schemeClr val="tx2"/>
              </a:buClr>
              <a:buFont typeface="Wingdings" panose="05000000000000000000" pitchFamily="2" charset="2"/>
              <a:buChar char="Ø"/>
              <a:defRPr/>
            </a:pPr>
            <a:r>
              <a:rPr lang="zh-CN" altLang="en-US" sz="1400" dirty="0">
                <a:solidFill>
                  <a:srgbClr val="000000"/>
                </a:solidFill>
              </a:rPr>
              <a:t>高性能的内存安全编程语言</a:t>
            </a:r>
            <a:r>
              <a:rPr lang="en-US" altLang="zh-CN" sz="1400" dirty="0">
                <a:solidFill>
                  <a:srgbClr val="000000"/>
                </a:solidFill>
              </a:rPr>
              <a:t>Rust</a:t>
            </a:r>
            <a:r>
              <a:rPr lang="zh-CN" altLang="en-US" sz="1400" dirty="0">
                <a:solidFill>
                  <a:srgbClr val="000000"/>
                </a:solidFill>
              </a:rPr>
              <a:t>发展</a:t>
            </a:r>
            <a:endParaRPr lang="en-US" altLang="zh-CN" sz="1400" dirty="0">
              <a:solidFill>
                <a:srgbClr val="000000"/>
              </a:solidFill>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16">
                                            <p:txEl>
                                              <p:pRg st="0" end="0"/>
                                            </p:txEl>
                                          </p:spTgt>
                                        </p:tgtEl>
                                        <p:attrNameLst>
                                          <p:attrName>style.visibility</p:attrName>
                                        </p:attrNameLst>
                                      </p:cBhvr>
                                      <p:to>
                                        <p:strVal val="visible"/>
                                      </p:to>
                                    </p:set>
                                    <p:animEffect transition="in" filter="wipe(up)">
                                      <p:cBhvr>
                                        <p:cTn id="13" dur="500"/>
                                        <p:tgtEl>
                                          <p:spTgt spid="16">
                                            <p:txEl>
                                              <p:pRg st="0" end="0"/>
                                            </p:txEl>
                                          </p:spTgt>
                                        </p:tgtEl>
                                      </p:cBhvr>
                                    </p:animEffect>
                                  </p:childTnLst>
                                </p:cTn>
                              </p:par>
                            </p:childTnLst>
                          </p:cTn>
                        </p:par>
                        <p:par>
                          <p:cTn id="14" fill="hold">
                            <p:stCondLst>
                              <p:cond delay="500"/>
                            </p:stCondLst>
                            <p:childTnLst>
                              <p:par>
                                <p:cTn id="15" presetID="22" presetClass="entr" presetSubtype="1" fill="hold" grpId="0" nodeType="afterEffect">
                                  <p:stCondLst>
                                    <p:cond delay="0"/>
                                  </p:stCondLst>
                                  <p:childTnLst>
                                    <p:set>
                                      <p:cBhvr>
                                        <p:cTn id="16" dur="1" fill="hold">
                                          <p:stCondLst>
                                            <p:cond delay="0"/>
                                          </p:stCondLst>
                                        </p:cTn>
                                        <p:tgtEl>
                                          <p:spTgt spid="16">
                                            <p:txEl>
                                              <p:pRg st="1" end="1"/>
                                            </p:txEl>
                                          </p:spTgt>
                                        </p:tgtEl>
                                        <p:attrNameLst>
                                          <p:attrName>style.visibility</p:attrName>
                                        </p:attrNameLst>
                                      </p:cBhvr>
                                      <p:to>
                                        <p:strVal val="visible"/>
                                      </p:to>
                                    </p:set>
                                    <p:animEffect transition="in" filter="wipe(up)">
                                      <p:cBhvr>
                                        <p:cTn id="17" dur="500"/>
                                        <p:tgtEl>
                                          <p:spTgt spid="16">
                                            <p:txEl>
                                              <p:pRg st="1" end="1"/>
                                            </p:txEl>
                                          </p:spTgt>
                                        </p:tgtEl>
                                      </p:cBhvr>
                                    </p:animEffect>
                                  </p:childTnLst>
                                </p:cTn>
                              </p:par>
                            </p:childTnLst>
                          </p:cTn>
                        </p:par>
                        <p:par>
                          <p:cTn id="18" fill="hold">
                            <p:stCondLst>
                              <p:cond delay="1000"/>
                            </p:stCondLst>
                            <p:childTnLst>
                              <p:par>
                                <p:cTn id="19" presetID="22" presetClass="entr" presetSubtype="1" fill="hold" grpId="0" nodeType="afterEffect">
                                  <p:stCondLst>
                                    <p:cond delay="0"/>
                                  </p:stCondLst>
                                  <p:childTnLst>
                                    <p:set>
                                      <p:cBhvr>
                                        <p:cTn id="20" dur="1" fill="hold">
                                          <p:stCondLst>
                                            <p:cond delay="0"/>
                                          </p:stCondLst>
                                        </p:cTn>
                                        <p:tgtEl>
                                          <p:spTgt spid="16">
                                            <p:txEl>
                                              <p:pRg st="2" end="2"/>
                                            </p:txEl>
                                          </p:spTgt>
                                        </p:tgtEl>
                                        <p:attrNameLst>
                                          <p:attrName>style.visibility</p:attrName>
                                        </p:attrNameLst>
                                      </p:cBhvr>
                                      <p:to>
                                        <p:strVal val="visible"/>
                                      </p:to>
                                    </p:set>
                                    <p:animEffect transition="in" filter="wipe(up)">
                                      <p:cBhvr>
                                        <p:cTn id="21" dur="500"/>
                                        <p:tgtEl>
                                          <p:spTgt spid="16">
                                            <p:txEl>
                                              <p:pRg st="2" end="2"/>
                                            </p:txEl>
                                          </p:spTgt>
                                        </p:tgtEl>
                                      </p:cBhvr>
                                    </p:animEffect>
                                  </p:childTnLst>
                                </p:cTn>
                              </p:par>
                            </p:childTnLst>
                          </p:cTn>
                        </p:par>
                        <p:par>
                          <p:cTn id="22" fill="hold">
                            <p:stCondLst>
                              <p:cond delay="1500"/>
                            </p:stCondLst>
                            <p:childTnLst>
                              <p:par>
                                <p:cTn id="23" presetID="22" presetClass="entr" presetSubtype="1" fill="hold" grpId="0" nodeType="afterEffect">
                                  <p:stCondLst>
                                    <p:cond delay="0"/>
                                  </p:stCondLst>
                                  <p:childTnLst>
                                    <p:set>
                                      <p:cBhvr>
                                        <p:cTn id="24" dur="1" fill="hold">
                                          <p:stCondLst>
                                            <p:cond delay="0"/>
                                          </p:stCondLst>
                                        </p:cTn>
                                        <p:tgtEl>
                                          <p:spTgt spid="16">
                                            <p:txEl>
                                              <p:pRg st="3" end="3"/>
                                            </p:txEl>
                                          </p:spTgt>
                                        </p:tgtEl>
                                        <p:attrNameLst>
                                          <p:attrName>style.visibility</p:attrName>
                                        </p:attrNameLst>
                                      </p:cBhvr>
                                      <p:to>
                                        <p:strVal val="visible"/>
                                      </p:to>
                                    </p:set>
                                    <p:animEffect transition="in" filter="wipe(up)">
                                      <p:cBhvr>
                                        <p:cTn id="25" dur="500"/>
                                        <p:tgtEl>
                                          <p:spTgt spid="16">
                                            <p:txEl>
                                              <p:pRg st="3" end="3"/>
                                            </p:txEl>
                                          </p:spTgt>
                                        </p:tgtEl>
                                      </p:cBhvr>
                                    </p:animEffect>
                                  </p:childTnLst>
                                </p:cTn>
                              </p:par>
                            </p:childTnLst>
                          </p:cTn>
                        </p:par>
                        <p:par>
                          <p:cTn id="26" fill="hold">
                            <p:stCondLst>
                              <p:cond delay="2000"/>
                            </p:stCondLst>
                            <p:childTnLst>
                              <p:par>
                                <p:cTn id="27" presetID="22" presetClass="entr" presetSubtype="1" fill="hold" grpId="0" nodeType="afterEffect">
                                  <p:stCondLst>
                                    <p:cond delay="0"/>
                                  </p:stCondLst>
                                  <p:childTnLst>
                                    <p:set>
                                      <p:cBhvr>
                                        <p:cTn id="28" dur="1" fill="hold">
                                          <p:stCondLst>
                                            <p:cond delay="0"/>
                                          </p:stCondLst>
                                        </p:cTn>
                                        <p:tgtEl>
                                          <p:spTgt spid="16">
                                            <p:txEl>
                                              <p:pRg st="4" end="4"/>
                                            </p:txEl>
                                          </p:spTgt>
                                        </p:tgtEl>
                                        <p:attrNameLst>
                                          <p:attrName>style.visibility</p:attrName>
                                        </p:attrNameLst>
                                      </p:cBhvr>
                                      <p:to>
                                        <p:strVal val="visible"/>
                                      </p:to>
                                    </p:set>
                                    <p:animEffect transition="in" filter="wipe(up)">
                                      <p:cBhvr>
                                        <p:cTn id="29" dur="500"/>
                                        <p:tgtEl>
                                          <p:spTgt spid="16">
                                            <p:txEl>
                                              <p:pRg st="4" end="4"/>
                                            </p:txEl>
                                          </p:spTgt>
                                        </p:tgtEl>
                                      </p:cBhvr>
                                    </p:animEffect>
                                  </p:childTnLst>
                                </p:cTn>
                              </p:par>
                            </p:childTnLst>
                          </p:cTn>
                        </p:par>
                        <p:par>
                          <p:cTn id="30" fill="hold">
                            <p:stCondLst>
                              <p:cond delay="2500"/>
                            </p:stCondLst>
                            <p:childTnLst>
                              <p:par>
                                <p:cTn id="31" presetID="22" presetClass="entr" presetSubtype="1" fill="hold" grpId="0" nodeType="afterEffect">
                                  <p:stCondLst>
                                    <p:cond delay="0"/>
                                  </p:stCondLst>
                                  <p:childTnLst>
                                    <p:set>
                                      <p:cBhvr>
                                        <p:cTn id="32" dur="1" fill="hold">
                                          <p:stCondLst>
                                            <p:cond delay="0"/>
                                          </p:stCondLst>
                                        </p:cTn>
                                        <p:tgtEl>
                                          <p:spTgt spid="16">
                                            <p:txEl>
                                              <p:pRg st="5" end="5"/>
                                            </p:txEl>
                                          </p:spTgt>
                                        </p:tgtEl>
                                        <p:attrNameLst>
                                          <p:attrName>style.visibility</p:attrName>
                                        </p:attrNameLst>
                                      </p:cBhvr>
                                      <p:to>
                                        <p:strVal val="visible"/>
                                      </p:to>
                                    </p:set>
                                    <p:animEffect transition="in" filter="wipe(up)">
                                      <p:cBhvr>
                                        <p:cTn id="33" dur="500"/>
                                        <p:tgtEl>
                                          <p:spTgt spid="16">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wipe(down)">
                                      <p:cBhvr>
                                        <p:cTn id="3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allAtOnce"/>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F6057-AF50-748F-8AD8-41E594A34D9E}"/>
            </a:ext>
          </a:extLst>
        </p:cNvPr>
        <p:cNvGrpSpPr/>
        <p:nvPr/>
      </p:nvGrpSpPr>
      <p:grpSpPr>
        <a:xfrm>
          <a:off x="0" y="0"/>
          <a:ext cx="0" cy="0"/>
          <a:chOff x="0" y="0"/>
          <a:chExt cx="0" cy="0"/>
        </a:xfrm>
      </p:grpSpPr>
      <p:sp>
        <p:nvSpPr>
          <p:cNvPr id="9" name="标题 8">
            <a:extLst>
              <a:ext uri="{FF2B5EF4-FFF2-40B4-BE49-F238E27FC236}">
                <a16:creationId xmlns:a16="http://schemas.microsoft.com/office/drawing/2014/main" id="{31041CDE-B2C3-2B02-19C8-1C43173DFC7B}"/>
              </a:ext>
            </a:extLst>
          </p:cNvPr>
          <p:cNvSpPr>
            <a:spLocks noGrp="1"/>
          </p:cNvSpPr>
          <p:nvPr>
            <p:ph type="title"/>
          </p:nvPr>
        </p:nvSpPr>
        <p:spPr/>
        <p:txBody>
          <a:bodyPr/>
          <a:lstStyle/>
          <a:p>
            <a:r>
              <a:rPr lang="zh-CN" altLang="en-US" dirty="0"/>
              <a:t>研究目的和意义</a:t>
            </a:r>
          </a:p>
        </p:txBody>
      </p:sp>
      <p:pic>
        <p:nvPicPr>
          <p:cNvPr id="11" name="图片 10">
            <a:extLst>
              <a:ext uri="{FF2B5EF4-FFF2-40B4-BE49-F238E27FC236}">
                <a16:creationId xmlns:a16="http://schemas.microsoft.com/office/drawing/2014/main" id="{2B0EA277-A7A1-05E8-125D-6DDD30BDC2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4385" y="2345776"/>
            <a:ext cx="3416285" cy="1959464"/>
          </a:xfrm>
          <a:prstGeom prst="rect">
            <a:avLst/>
          </a:prstGeom>
        </p:spPr>
      </p:pic>
      <p:grpSp>
        <p:nvGrpSpPr>
          <p:cNvPr id="5" name="组合 4">
            <a:extLst>
              <a:ext uri="{FF2B5EF4-FFF2-40B4-BE49-F238E27FC236}">
                <a16:creationId xmlns:a16="http://schemas.microsoft.com/office/drawing/2014/main" id="{77025D71-77B0-B5CF-BC2D-E8838116A031}"/>
              </a:ext>
            </a:extLst>
          </p:cNvPr>
          <p:cNvGrpSpPr/>
          <p:nvPr/>
        </p:nvGrpSpPr>
        <p:grpSpPr>
          <a:xfrm>
            <a:off x="4242028" y="2889920"/>
            <a:ext cx="7062052" cy="388810"/>
            <a:chOff x="4231836" y="2681472"/>
            <a:chExt cx="7062052" cy="388810"/>
          </a:xfrm>
        </p:grpSpPr>
        <p:sp>
          <p:nvSpPr>
            <p:cNvPr id="15" name="文本框 14">
              <a:extLst>
                <a:ext uri="{FF2B5EF4-FFF2-40B4-BE49-F238E27FC236}">
                  <a16:creationId xmlns:a16="http://schemas.microsoft.com/office/drawing/2014/main" id="{C3F5E28B-9318-B42A-C6CB-890C7D4984F7}"/>
                </a:ext>
              </a:extLst>
            </p:cNvPr>
            <p:cNvSpPr txBox="1"/>
            <p:nvPr/>
          </p:nvSpPr>
          <p:spPr>
            <a:xfrm>
              <a:off x="4663228" y="2700949"/>
              <a:ext cx="6630660" cy="369332"/>
            </a:xfrm>
            <a:prstGeom prst="rect">
              <a:avLst/>
            </a:prstGeom>
            <a:noFill/>
          </p:spPr>
          <p:txBody>
            <a:bodyPr wrap="square">
              <a:spAutoFit/>
            </a:bodyPr>
            <a:lstStyle/>
            <a:p>
              <a:r>
                <a:rPr lang="zh-CN" altLang="en-US" b="1" dirty="0"/>
                <a:t>隔离</a:t>
              </a:r>
              <a:r>
                <a:rPr lang="zh-CN" altLang="en-US" dirty="0"/>
                <a:t>：利用语言机制提升内核模块的内存与故障安全性</a:t>
              </a:r>
            </a:p>
          </p:txBody>
        </p:sp>
        <p:pic>
          <p:nvPicPr>
            <p:cNvPr id="30" name="图形 29" descr="靶心 纯色填充">
              <a:extLst>
                <a:ext uri="{FF2B5EF4-FFF2-40B4-BE49-F238E27FC236}">
                  <a16:creationId xmlns:a16="http://schemas.microsoft.com/office/drawing/2014/main" id="{27C6FC3B-B31D-F0BA-B720-D259FDD9AD4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46214" y="2716647"/>
              <a:ext cx="317014" cy="317014"/>
            </a:xfrm>
            <a:prstGeom prst="rect">
              <a:avLst/>
            </a:prstGeom>
          </p:spPr>
        </p:pic>
        <p:sp>
          <p:nvSpPr>
            <p:cNvPr id="33" name="矩形: 圆角 32">
              <a:extLst>
                <a:ext uri="{FF2B5EF4-FFF2-40B4-BE49-F238E27FC236}">
                  <a16:creationId xmlns:a16="http://schemas.microsoft.com/office/drawing/2014/main" id="{AA480728-6262-AF81-BB83-A56B9D18144C}"/>
                </a:ext>
              </a:extLst>
            </p:cNvPr>
            <p:cNvSpPr/>
            <p:nvPr/>
          </p:nvSpPr>
          <p:spPr>
            <a:xfrm>
              <a:off x="4231836" y="2681472"/>
              <a:ext cx="7062051" cy="388810"/>
            </a:xfrm>
            <a:custGeom>
              <a:avLst/>
              <a:gdLst>
                <a:gd name="csX0" fmla="*/ 0 w 7062051"/>
                <a:gd name="csY0" fmla="*/ 64803 h 388810"/>
                <a:gd name="csX1" fmla="*/ 64803 w 7062051"/>
                <a:gd name="csY1" fmla="*/ 0 h 388810"/>
                <a:gd name="csX2" fmla="*/ 896696 w 7062051"/>
                <a:gd name="csY2" fmla="*/ 0 h 388810"/>
                <a:gd name="csX3" fmla="*/ 1520616 w 7062051"/>
                <a:gd name="csY3" fmla="*/ 0 h 388810"/>
                <a:gd name="csX4" fmla="*/ 2075212 w 7062051"/>
                <a:gd name="csY4" fmla="*/ 0 h 388810"/>
                <a:gd name="csX5" fmla="*/ 2837781 w 7062051"/>
                <a:gd name="csY5" fmla="*/ 0 h 388810"/>
                <a:gd name="csX6" fmla="*/ 3461701 w 7062051"/>
                <a:gd name="csY6" fmla="*/ 0 h 388810"/>
                <a:gd name="csX7" fmla="*/ 4293594 w 7062051"/>
                <a:gd name="csY7" fmla="*/ 0 h 388810"/>
                <a:gd name="csX8" fmla="*/ 4848190 w 7062051"/>
                <a:gd name="csY8" fmla="*/ 0 h 388810"/>
                <a:gd name="csX9" fmla="*/ 5680083 w 7062051"/>
                <a:gd name="csY9" fmla="*/ 0 h 388810"/>
                <a:gd name="csX10" fmla="*/ 6165355 w 7062051"/>
                <a:gd name="csY10" fmla="*/ 0 h 388810"/>
                <a:gd name="csX11" fmla="*/ 6997248 w 7062051"/>
                <a:gd name="csY11" fmla="*/ 0 h 388810"/>
                <a:gd name="csX12" fmla="*/ 7062051 w 7062051"/>
                <a:gd name="csY12" fmla="*/ 64803 h 388810"/>
                <a:gd name="csX13" fmla="*/ 7062051 w 7062051"/>
                <a:gd name="csY13" fmla="*/ 324007 h 388810"/>
                <a:gd name="csX14" fmla="*/ 6997248 w 7062051"/>
                <a:gd name="csY14" fmla="*/ 388810 h 388810"/>
                <a:gd name="csX15" fmla="*/ 6304004 w 7062051"/>
                <a:gd name="csY15" fmla="*/ 388810 h 388810"/>
                <a:gd name="csX16" fmla="*/ 5472110 w 7062051"/>
                <a:gd name="csY16" fmla="*/ 388810 h 388810"/>
                <a:gd name="csX17" fmla="*/ 4778866 w 7062051"/>
                <a:gd name="csY17" fmla="*/ 388810 h 388810"/>
                <a:gd name="csX18" fmla="*/ 4293594 w 7062051"/>
                <a:gd name="csY18" fmla="*/ 388810 h 388810"/>
                <a:gd name="csX19" fmla="*/ 3738999 w 7062051"/>
                <a:gd name="csY19" fmla="*/ 388810 h 388810"/>
                <a:gd name="csX20" fmla="*/ 2907105 w 7062051"/>
                <a:gd name="csY20" fmla="*/ 388810 h 388810"/>
                <a:gd name="csX21" fmla="*/ 2213861 w 7062051"/>
                <a:gd name="csY21" fmla="*/ 388810 h 388810"/>
                <a:gd name="csX22" fmla="*/ 1659265 w 7062051"/>
                <a:gd name="csY22" fmla="*/ 388810 h 388810"/>
                <a:gd name="csX23" fmla="*/ 966021 w 7062051"/>
                <a:gd name="csY23" fmla="*/ 388810 h 388810"/>
                <a:gd name="csX24" fmla="*/ 64803 w 7062051"/>
                <a:gd name="csY24" fmla="*/ 388810 h 388810"/>
                <a:gd name="csX25" fmla="*/ 0 w 7062051"/>
                <a:gd name="csY25" fmla="*/ 324007 h 388810"/>
                <a:gd name="csX26" fmla="*/ 0 w 7062051"/>
                <a:gd name="csY26" fmla="*/ 64803 h 3888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7062051" h="388810" extrusionOk="0">
                  <a:moveTo>
                    <a:pt x="0" y="64803"/>
                  </a:moveTo>
                  <a:cubicBezTo>
                    <a:pt x="-1545" y="28060"/>
                    <a:pt x="25841" y="1191"/>
                    <a:pt x="64803" y="0"/>
                  </a:cubicBezTo>
                  <a:cubicBezTo>
                    <a:pt x="454224" y="30442"/>
                    <a:pt x="565527" y="5794"/>
                    <a:pt x="896696" y="0"/>
                  </a:cubicBezTo>
                  <a:cubicBezTo>
                    <a:pt x="1227865" y="-5794"/>
                    <a:pt x="1339828" y="21472"/>
                    <a:pt x="1520616" y="0"/>
                  </a:cubicBezTo>
                  <a:cubicBezTo>
                    <a:pt x="1701404" y="-21472"/>
                    <a:pt x="1839420" y="-2237"/>
                    <a:pt x="2075212" y="0"/>
                  </a:cubicBezTo>
                  <a:cubicBezTo>
                    <a:pt x="2311004" y="2237"/>
                    <a:pt x="2582117" y="8117"/>
                    <a:pt x="2837781" y="0"/>
                  </a:cubicBezTo>
                  <a:cubicBezTo>
                    <a:pt x="3093445" y="-8117"/>
                    <a:pt x="3256652" y="-8069"/>
                    <a:pt x="3461701" y="0"/>
                  </a:cubicBezTo>
                  <a:cubicBezTo>
                    <a:pt x="3666750" y="8069"/>
                    <a:pt x="3955097" y="-21391"/>
                    <a:pt x="4293594" y="0"/>
                  </a:cubicBezTo>
                  <a:cubicBezTo>
                    <a:pt x="4632091" y="21391"/>
                    <a:pt x="4580048" y="-12960"/>
                    <a:pt x="4848190" y="0"/>
                  </a:cubicBezTo>
                  <a:cubicBezTo>
                    <a:pt x="5116332" y="12960"/>
                    <a:pt x="5504117" y="18472"/>
                    <a:pt x="5680083" y="0"/>
                  </a:cubicBezTo>
                  <a:cubicBezTo>
                    <a:pt x="5856049" y="-18472"/>
                    <a:pt x="6021915" y="-12340"/>
                    <a:pt x="6165355" y="0"/>
                  </a:cubicBezTo>
                  <a:cubicBezTo>
                    <a:pt x="6308795" y="12340"/>
                    <a:pt x="6785905" y="32842"/>
                    <a:pt x="6997248" y="0"/>
                  </a:cubicBezTo>
                  <a:cubicBezTo>
                    <a:pt x="7034111" y="1597"/>
                    <a:pt x="7062542" y="34094"/>
                    <a:pt x="7062051" y="64803"/>
                  </a:cubicBezTo>
                  <a:cubicBezTo>
                    <a:pt x="7068357" y="147546"/>
                    <a:pt x="7067490" y="223685"/>
                    <a:pt x="7062051" y="324007"/>
                  </a:cubicBezTo>
                  <a:cubicBezTo>
                    <a:pt x="7066238" y="354599"/>
                    <a:pt x="7031305" y="388140"/>
                    <a:pt x="6997248" y="388810"/>
                  </a:cubicBezTo>
                  <a:cubicBezTo>
                    <a:pt x="6761441" y="414934"/>
                    <a:pt x="6502865" y="360083"/>
                    <a:pt x="6304004" y="388810"/>
                  </a:cubicBezTo>
                  <a:cubicBezTo>
                    <a:pt x="6105143" y="417537"/>
                    <a:pt x="5838132" y="349508"/>
                    <a:pt x="5472110" y="388810"/>
                  </a:cubicBezTo>
                  <a:cubicBezTo>
                    <a:pt x="5106088" y="428112"/>
                    <a:pt x="5084680" y="359229"/>
                    <a:pt x="4778866" y="388810"/>
                  </a:cubicBezTo>
                  <a:cubicBezTo>
                    <a:pt x="4473052" y="418391"/>
                    <a:pt x="4530567" y="373794"/>
                    <a:pt x="4293594" y="388810"/>
                  </a:cubicBezTo>
                  <a:cubicBezTo>
                    <a:pt x="4056621" y="403826"/>
                    <a:pt x="3856545" y="364042"/>
                    <a:pt x="3738999" y="388810"/>
                  </a:cubicBezTo>
                  <a:cubicBezTo>
                    <a:pt x="3621453" y="413578"/>
                    <a:pt x="3140278" y="393917"/>
                    <a:pt x="2907105" y="388810"/>
                  </a:cubicBezTo>
                  <a:cubicBezTo>
                    <a:pt x="2673932" y="383703"/>
                    <a:pt x="2408405" y="405117"/>
                    <a:pt x="2213861" y="388810"/>
                  </a:cubicBezTo>
                  <a:cubicBezTo>
                    <a:pt x="2019317" y="372503"/>
                    <a:pt x="1855351" y="396487"/>
                    <a:pt x="1659265" y="388810"/>
                  </a:cubicBezTo>
                  <a:cubicBezTo>
                    <a:pt x="1463179" y="381133"/>
                    <a:pt x="1208725" y="403906"/>
                    <a:pt x="966021" y="388810"/>
                  </a:cubicBezTo>
                  <a:cubicBezTo>
                    <a:pt x="723317" y="373714"/>
                    <a:pt x="474209" y="379934"/>
                    <a:pt x="64803" y="388810"/>
                  </a:cubicBezTo>
                  <a:cubicBezTo>
                    <a:pt x="30859" y="383132"/>
                    <a:pt x="5226" y="365448"/>
                    <a:pt x="0" y="324007"/>
                  </a:cubicBezTo>
                  <a:cubicBezTo>
                    <a:pt x="-3712" y="256764"/>
                    <a:pt x="11375" y="127849"/>
                    <a:pt x="0" y="64803"/>
                  </a:cubicBezTo>
                  <a:close/>
                </a:path>
              </a:pathLst>
            </a:custGeom>
            <a:noFill/>
            <a:ln>
              <a:gradFill flip="none" rotWithShape="1">
                <a:gsLst>
                  <a:gs pos="0">
                    <a:schemeClr val="accent1"/>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合 3">
            <a:extLst>
              <a:ext uri="{FF2B5EF4-FFF2-40B4-BE49-F238E27FC236}">
                <a16:creationId xmlns:a16="http://schemas.microsoft.com/office/drawing/2014/main" id="{2F94C12F-1657-76CF-97A0-7048076986EE}"/>
              </a:ext>
            </a:extLst>
          </p:cNvPr>
          <p:cNvGrpSpPr/>
          <p:nvPr/>
        </p:nvGrpSpPr>
        <p:grpSpPr>
          <a:xfrm>
            <a:off x="4242028" y="2433936"/>
            <a:ext cx="7062051" cy="408607"/>
            <a:chOff x="4231836" y="2225488"/>
            <a:chExt cx="7062051" cy="408607"/>
          </a:xfrm>
        </p:grpSpPr>
        <p:sp>
          <p:nvSpPr>
            <p:cNvPr id="27" name="文本框 26">
              <a:extLst>
                <a:ext uri="{FF2B5EF4-FFF2-40B4-BE49-F238E27FC236}">
                  <a16:creationId xmlns:a16="http://schemas.microsoft.com/office/drawing/2014/main" id="{B00EBD40-94BB-4C46-F2CB-900D5D32AED0}"/>
                </a:ext>
              </a:extLst>
            </p:cNvPr>
            <p:cNvSpPr txBox="1"/>
            <p:nvPr/>
          </p:nvSpPr>
          <p:spPr>
            <a:xfrm>
              <a:off x="4663228" y="2264763"/>
              <a:ext cx="5432130" cy="369332"/>
            </a:xfrm>
            <a:prstGeom prst="rect">
              <a:avLst/>
            </a:prstGeom>
            <a:noFill/>
          </p:spPr>
          <p:txBody>
            <a:bodyPr wrap="square" rtlCol="0">
              <a:spAutoFit/>
            </a:bodyPr>
            <a:lstStyle/>
            <a:p>
              <a:r>
                <a:rPr lang="zh-CN" altLang="en-US" b="1" dirty="0"/>
                <a:t>安全边界：</a:t>
              </a:r>
              <a:r>
                <a:rPr lang="zh-CN" altLang="en-US" dirty="0"/>
                <a:t>解决宏内核模块缺乏安全边界的问题</a:t>
              </a:r>
            </a:p>
          </p:txBody>
        </p:sp>
        <p:pic>
          <p:nvPicPr>
            <p:cNvPr id="29" name="图形 28" descr="靶心 纯色填充">
              <a:extLst>
                <a:ext uri="{FF2B5EF4-FFF2-40B4-BE49-F238E27FC236}">
                  <a16:creationId xmlns:a16="http://schemas.microsoft.com/office/drawing/2014/main" id="{59B26B22-65A0-7D4C-52BF-BAAB43C6167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46214" y="2261134"/>
              <a:ext cx="317014" cy="317014"/>
            </a:xfrm>
            <a:prstGeom prst="rect">
              <a:avLst/>
            </a:prstGeom>
          </p:spPr>
        </p:pic>
        <p:sp>
          <p:nvSpPr>
            <p:cNvPr id="34" name="矩形: 圆角 33">
              <a:extLst>
                <a:ext uri="{FF2B5EF4-FFF2-40B4-BE49-F238E27FC236}">
                  <a16:creationId xmlns:a16="http://schemas.microsoft.com/office/drawing/2014/main" id="{D918910E-CEDF-7BBE-CE08-A55F1CE9FEB9}"/>
                </a:ext>
              </a:extLst>
            </p:cNvPr>
            <p:cNvSpPr/>
            <p:nvPr/>
          </p:nvSpPr>
          <p:spPr>
            <a:xfrm>
              <a:off x="4231836" y="2225488"/>
              <a:ext cx="7062051" cy="392909"/>
            </a:xfrm>
            <a:custGeom>
              <a:avLst/>
              <a:gdLst>
                <a:gd name="csX0" fmla="*/ 0 w 7062051"/>
                <a:gd name="csY0" fmla="*/ 65486 h 392909"/>
                <a:gd name="csX1" fmla="*/ 65486 w 7062051"/>
                <a:gd name="csY1" fmla="*/ 0 h 392909"/>
                <a:gd name="csX2" fmla="*/ 897215 w 7062051"/>
                <a:gd name="csY2" fmla="*/ 0 h 392909"/>
                <a:gd name="csX3" fmla="*/ 1521013 w 7062051"/>
                <a:gd name="csY3" fmla="*/ 0 h 392909"/>
                <a:gd name="csX4" fmla="*/ 2075499 w 7062051"/>
                <a:gd name="csY4" fmla="*/ 0 h 392909"/>
                <a:gd name="csX5" fmla="*/ 2837918 w 7062051"/>
                <a:gd name="csY5" fmla="*/ 0 h 392909"/>
                <a:gd name="csX6" fmla="*/ 3461715 w 7062051"/>
                <a:gd name="csY6" fmla="*/ 0 h 392909"/>
                <a:gd name="csX7" fmla="*/ 4293444 w 7062051"/>
                <a:gd name="csY7" fmla="*/ 0 h 392909"/>
                <a:gd name="csX8" fmla="*/ 4847931 w 7062051"/>
                <a:gd name="csY8" fmla="*/ 0 h 392909"/>
                <a:gd name="csX9" fmla="*/ 5679660 w 7062051"/>
                <a:gd name="csY9" fmla="*/ 0 h 392909"/>
                <a:gd name="csX10" fmla="*/ 6164836 w 7062051"/>
                <a:gd name="csY10" fmla="*/ 0 h 392909"/>
                <a:gd name="csX11" fmla="*/ 6996565 w 7062051"/>
                <a:gd name="csY11" fmla="*/ 0 h 392909"/>
                <a:gd name="csX12" fmla="*/ 7062051 w 7062051"/>
                <a:gd name="csY12" fmla="*/ 65486 h 392909"/>
                <a:gd name="csX13" fmla="*/ 7062051 w 7062051"/>
                <a:gd name="csY13" fmla="*/ 327423 h 392909"/>
                <a:gd name="csX14" fmla="*/ 6996565 w 7062051"/>
                <a:gd name="csY14" fmla="*/ 392909 h 392909"/>
                <a:gd name="csX15" fmla="*/ 6303457 w 7062051"/>
                <a:gd name="csY15" fmla="*/ 392909 h 392909"/>
                <a:gd name="csX16" fmla="*/ 5471728 w 7062051"/>
                <a:gd name="csY16" fmla="*/ 392909 h 392909"/>
                <a:gd name="csX17" fmla="*/ 4778620 w 7062051"/>
                <a:gd name="csY17" fmla="*/ 392909 h 392909"/>
                <a:gd name="csX18" fmla="*/ 4293444 w 7062051"/>
                <a:gd name="csY18" fmla="*/ 392909 h 392909"/>
                <a:gd name="csX19" fmla="*/ 3738958 w 7062051"/>
                <a:gd name="csY19" fmla="*/ 392909 h 392909"/>
                <a:gd name="csX20" fmla="*/ 2907228 w 7062051"/>
                <a:gd name="csY20" fmla="*/ 392909 h 392909"/>
                <a:gd name="csX21" fmla="*/ 2214120 w 7062051"/>
                <a:gd name="csY21" fmla="*/ 392909 h 392909"/>
                <a:gd name="csX22" fmla="*/ 1659634 w 7062051"/>
                <a:gd name="csY22" fmla="*/ 392909 h 392909"/>
                <a:gd name="csX23" fmla="*/ 966526 w 7062051"/>
                <a:gd name="csY23" fmla="*/ 392909 h 392909"/>
                <a:gd name="csX24" fmla="*/ 65486 w 7062051"/>
                <a:gd name="csY24" fmla="*/ 392909 h 392909"/>
                <a:gd name="csX25" fmla="*/ 0 w 7062051"/>
                <a:gd name="csY25" fmla="*/ 327423 h 392909"/>
                <a:gd name="csX26" fmla="*/ 0 w 7062051"/>
                <a:gd name="csY26" fmla="*/ 65486 h 3929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7062051" h="392909" extrusionOk="0">
                  <a:moveTo>
                    <a:pt x="0" y="65486"/>
                  </a:moveTo>
                  <a:cubicBezTo>
                    <a:pt x="-5398" y="25990"/>
                    <a:pt x="25051" y="1602"/>
                    <a:pt x="65486" y="0"/>
                  </a:cubicBezTo>
                  <a:cubicBezTo>
                    <a:pt x="464858" y="-3927"/>
                    <a:pt x="639973" y="7203"/>
                    <a:pt x="897215" y="0"/>
                  </a:cubicBezTo>
                  <a:cubicBezTo>
                    <a:pt x="1154457" y="-7203"/>
                    <a:pt x="1255539" y="28123"/>
                    <a:pt x="1521013" y="0"/>
                  </a:cubicBezTo>
                  <a:cubicBezTo>
                    <a:pt x="1786487" y="-28123"/>
                    <a:pt x="1841874" y="-26907"/>
                    <a:pt x="2075499" y="0"/>
                  </a:cubicBezTo>
                  <a:cubicBezTo>
                    <a:pt x="2309124" y="26907"/>
                    <a:pt x="2646155" y="-4902"/>
                    <a:pt x="2837918" y="0"/>
                  </a:cubicBezTo>
                  <a:cubicBezTo>
                    <a:pt x="3029681" y="4902"/>
                    <a:pt x="3272423" y="4309"/>
                    <a:pt x="3461715" y="0"/>
                  </a:cubicBezTo>
                  <a:cubicBezTo>
                    <a:pt x="3651007" y="-4309"/>
                    <a:pt x="3939997" y="-21278"/>
                    <a:pt x="4293444" y="0"/>
                  </a:cubicBezTo>
                  <a:cubicBezTo>
                    <a:pt x="4646891" y="21278"/>
                    <a:pt x="4587168" y="19483"/>
                    <a:pt x="4847931" y="0"/>
                  </a:cubicBezTo>
                  <a:cubicBezTo>
                    <a:pt x="5108694" y="-19483"/>
                    <a:pt x="5416518" y="-6883"/>
                    <a:pt x="5679660" y="0"/>
                  </a:cubicBezTo>
                  <a:cubicBezTo>
                    <a:pt x="5942802" y="6883"/>
                    <a:pt x="5965435" y="-12188"/>
                    <a:pt x="6164836" y="0"/>
                  </a:cubicBezTo>
                  <a:cubicBezTo>
                    <a:pt x="6364237" y="12188"/>
                    <a:pt x="6708624" y="33988"/>
                    <a:pt x="6996565" y="0"/>
                  </a:cubicBezTo>
                  <a:cubicBezTo>
                    <a:pt x="7034058" y="1974"/>
                    <a:pt x="7062309" y="31992"/>
                    <a:pt x="7062051" y="65486"/>
                  </a:cubicBezTo>
                  <a:cubicBezTo>
                    <a:pt x="7065351" y="155111"/>
                    <a:pt x="7053533" y="254288"/>
                    <a:pt x="7062051" y="327423"/>
                  </a:cubicBezTo>
                  <a:cubicBezTo>
                    <a:pt x="7062910" y="362524"/>
                    <a:pt x="7031658" y="392494"/>
                    <a:pt x="6996565" y="392909"/>
                  </a:cubicBezTo>
                  <a:cubicBezTo>
                    <a:pt x="6682367" y="361249"/>
                    <a:pt x="6607172" y="362478"/>
                    <a:pt x="6303457" y="392909"/>
                  </a:cubicBezTo>
                  <a:cubicBezTo>
                    <a:pt x="5999742" y="423340"/>
                    <a:pt x="5853596" y="415790"/>
                    <a:pt x="5471728" y="392909"/>
                  </a:cubicBezTo>
                  <a:cubicBezTo>
                    <a:pt x="5089860" y="370028"/>
                    <a:pt x="4983786" y="426405"/>
                    <a:pt x="4778620" y="392909"/>
                  </a:cubicBezTo>
                  <a:cubicBezTo>
                    <a:pt x="4573454" y="359413"/>
                    <a:pt x="4449814" y="376249"/>
                    <a:pt x="4293444" y="392909"/>
                  </a:cubicBezTo>
                  <a:cubicBezTo>
                    <a:pt x="4137074" y="409569"/>
                    <a:pt x="3855209" y="373317"/>
                    <a:pt x="3738958" y="392909"/>
                  </a:cubicBezTo>
                  <a:cubicBezTo>
                    <a:pt x="3622707" y="412501"/>
                    <a:pt x="3306007" y="377525"/>
                    <a:pt x="2907228" y="392909"/>
                  </a:cubicBezTo>
                  <a:cubicBezTo>
                    <a:pt x="2508449" y="408294"/>
                    <a:pt x="2362411" y="397192"/>
                    <a:pt x="2214120" y="392909"/>
                  </a:cubicBezTo>
                  <a:cubicBezTo>
                    <a:pt x="2065829" y="388626"/>
                    <a:pt x="1822910" y="410711"/>
                    <a:pt x="1659634" y="392909"/>
                  </a:cubicBezTo>
                  <a:cubicBezTo>
                    <a:pt x="1496358" y="375107"/>
                    <a:pt x="1263647" y="406776"/>
                    <a:pt x="966526" y="392909"/>
                  </a:cubicBezTo>
                  <a:cubicBezTo>
                    <a:pt x="669405" y="379042"/>
                    <a:pt x="496915" y="412169"/>
                    <a:pt x="65486" y="392909"/>
                  </a:cubicBezTo>
                  <a:cubicBezTo>
                    <a:pt x="30246" y="390057"/>
                    <a:pt x="3115" y="366958"/>
                    <a:pt x="0" y="327423"/>
                  </a:cubicBezTo>
                  <a:cubicBezTo>
                    <a:pt x="10241" y="239050"/>
                    <a:pt x="-5870" y="188679"/>
                    <a:pt x="0" y="65486"/>
                  </a:cubicBezTo>
                  <a:close/>
                </a:path>
              </a:pathLst>
            </a:custGeom>
            <a:noFill/>
            <a:ln>
              <a:gradFill flip="none" rotWithShape="1">
                <a:gsLst>
                  <a:gs pos="0">
                    <a:schemeClr val="accent1"/>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 name="组合 6">
            <a:extLst>
              <a:ext uri="{FF2B5EF4-FFF2-40B4-BE49-F238E27FC236}">
                <a16:creationId xmlns:a16="http://schemas.microsoft.com/office/drawing/2014/main" id="{59483F9A-37D2-7486-326A-F7738E7CCC3F}"/>
              </a:ext>
            </a:extLst>
          </p:cNvPr>
          <p:cNvGrpSpPr/>
          <p:nvPr/>
        </p:nvGrpSpPr>
        <p:grpSpPr>
          <a:xfrm>
            <a:off x="4242028" y="3382003"/>
            <a:ext cx="7062051" cy="370334"/>
            <a:chOff x="4231836" y="3173555"/>
            <a:chExt cx="7062051" cy="370334"/>
          </a:xfrm>
        </p:grpSpPr>
        <p:sp>
          <p:nvSpPr>
            <p:cNvPr id="17" name="文本框 16">
              <a:extLst>
                <a:ext uri="{FF2B5EF4-FFF2-40B4-BE49-F238E27FC236}">
                  <a16:creationId xmlns:a16="http://schemas.microsoft.com/office/drawing/2014/main" id="{A49E20F7-08AA-913A-5270-118D55B52306}"/>
                </a:ext>
              </a:extLst>
            </p:cNvPr>
            <p:cNvSpPr txBox="1"/>
            <p:nvPr/>
          </p:nvSpPr>
          <p:spPr>
            <a:xfrm>
              <a:off x="4663227" y="3174557"/>
              <a:ext cx="6630659" cy="369332"/>
            </a:xfrm>
            <a:prstGeom prst="rect">
              <a:avLst/>
            </a:prstGeom>
            <a:noFill/>
          </p:spPr>
          <p:txBody>
            <a:bodyPr wrap="square">
              <a:spAutoFit/>
            </a:bodyPr>
            <a:lstStyle/>
            <a:p>
              <a:r>
                <a:rPr lang="zh-CN" altLang="en-US" b="1" dirty="0"/>
                <a:t>渐进式</a:t>
              </a:r>
              <a:r>
                <a:rPr lang="zh-CN" altLang="en-US" dirty="0"/>
                <a:t>：通用、灵活的框架，适配现有系统，与已有的模块共存</a:t>
              </a:r>
            </a:p>
          </p:txBody>
        </p:sp>
        <p:pic>
          <p:nvPicPr>
            <p:cNvPr id="31" name="图形 30" descr="靶心 纯色填充">
              <a:extLst>
                <a:ext uri="{FF2B5EF4-FFF2-40B4-BE49-F238E27FC236}">
                  <a16:creationId xmlns:a16="http://schemas.microsoft.com/office/drawing/2014/main" id="{E2D6E0CC-67AF-60C3-5247-D56099559C3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46214" y="3221932"/>
              <a:ext cx="317014" cy="317014"/>
            </a:xfrm>
            <a:prstGeom prst="rect">
              <a:avLst/>
            </a:prstGeom>
          </p:spPr>
        </p:pic>
        <p:sp>
          <p:nvSpPr>
            <p:cNvPr id="35" name="矩形: 圆角 34">
              <a:extLst>
                <a:ext uri="{FF2B5EF4-FFF2-40B4-BE49-F238E27FC236}">
                  <a16:creationId xmlns:a16="http://schemas.microsoft.com/office/drawing/2014/main" id="{8227A3B0-76AB-CB03-C5D4-8C10E484066C}"/>
                </a:ext>
              </a:extLst>
            </p:cNvPr>
            <p:cNvSpPr/>
            <p:nvPr/>
          </p:nvSpPr>
          <p:spPr>
            <a:xfrm>
              <a:off x="4231836" y="3173555"/>
              <a:ext cx="7062051" cy="366392"/>
            </a:xfrm>
            <a:custGeom>
              <a:avLst/>
              <a:gdLst>
                <a:gd name="csX0" fmla="*/ 0 w 7062051"/>
                <a:gd name="csY0" fmla="*/ 61067 h 366392"/>
                <a:gd name="csX1" fmla="*/ 61067 w 7062051"/>
                <a:gd name="csY1" fmla="*/ 0 h 366392"/>
                <a:gd name="csX2" fmla="*/ 685660 w 7062051"/>
                <a:gd name="csY2" fmla="*/ 0 h 366392"/>
                <a:gd name="csX3" fmla="*/ 1310252 w 7062051"/>
                <a:gd name="csY3" fmla="*/ 0 h 366392"/>
                <a:gd name="csX4" fmla="*/ 2004244 w 7062051"/>
                <a:gd name="csY4" fmla="*/ 0 h 366392"/>
                <a:gd name="csX5" fmla="*/ 2628836 w 7062051"/>
                <a:gd name="csY5" fmla="*/ 0 h 366392"/>
                <a:gd name="csX6" fmla="*/ 3114630 w 7062051"/>
                <a:gd name="csY6" fmla="*/ 0 h 366392"/>
                <a:gd name="csX7" fmla="*/ 3878021 w 7062051"/>
                <a:gd name="csY7" fmla="*/ 0 h 366392"/>
                <a:gd name="csX8" fmla="*/ 4572013 w 7062051"/>
                <a:gd name="csY8" fmla="*/ 0 h 366392"/>
                <a:gd name="csX9" fmla="*/ 5057807 w 7062051"/>
                <a:gd name="csY9" fmla="*/ 0 h 366392"/>
                <a:gd name="csX10" fmla="*/ 5821198 w 7062051"/>
                <a:gd name="csY10" fmla="*/ 0 h 366392"/>
                <a:gd name="csX11" fmla="*/ 7000984 w 7062051"/>
                <a:gd name="csY11" fmla="*/ 0 h 366392"/>
                <a:gd name="csX12" fmla="*/ 7062051 w 7062051"/>
                <a:gd name="csY12" fmla="*/ 61067 h 366392"/>
                <a:gd name="csX13" fmla="*/ 7062051 w 7062051"/>
                <a:gd name="csY13" fmla="*/ 305325 h 366392"/>
                <a:gd name="csX14" fmla="*/ 7000984 w 7062051"/>
                <a:gd name="csY14" fmla="*/ 366392 h 366392"/>
                <a:gd name="csX15" fmla="*/ 6237593 w 7062051"/>
                <a:gd name="csY15" fmla="*/ 366392 h 366392"/>
                <a:gd name="csX16" fmla="*/ 5404803 w 7062051"/>
                <a:gd name="csY16" fmla="*/ 366392 h 366392"/>
                <a:gd name="csX17" fmla="*/ 4849610 w 7062051"/>
                <a:gd name="csY17" fmla="*/ 366392 h 366392"/>
                <a:gd name="csX18" fmla="*/ 4086219 w 7062051"/>
                <a:gd name="csY18" fmla="*/ 366392 h 366392"/>
                <a:gd name="csX19" fmla="*/ 3531026 w 7062051"/>
                <a:gd name="csY19" fmla="*/ 366392 h 366392"/>
                <a:gd name="csX20" fmla="*/ 2975832 w 7062051"/>
                <a:gd name="csY20" fmla="*/ 366392 h 366392"/>
                <a:gd name="csX21" fmla="*/ 2351240 w 7062051"/>
                <a:gd name="csY21" fmla="*/ 366392 h 366392"/>
                <a:gd name="csX22" fmla="*/ 1865445 w 7062051"/>
                <a:gd name="csY22" fmla="*/ 366392 h 366392"/>
                <a:gd name="csX23" fmla="*/ 1102055 w 7062051"/>
                <a:gd name="csY23" fmla="*/ 366392 h 366392"/>
                <a:gd name="csX24" fmla="*/ 61067 w 7062051"/>
                <a:gd name="csY24" fmla="*/ 366392 h 366392"/>
                <a:gd name="csX25" fmla="*/ 0 w 7062051"/>
                <a:gd name="csY25" fmla="*/ 305325 h 366392"/>
                <a:gd name="csX26" fmla="*/ 0 w 7062051"/>
                <a:gd name="csY26" fmla="*/ 61067 h 3663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7062051" h="366392" extrusionOk="0">
                  <a:moveTo>
                    <a:pt x="0" y="61067"/>
                  </a:moveTo>
                  <a:cubicBezTo>
                    <a:pt x="1680" y="30435"/>
                    <a:pt x="30097" y="-2050"/>
                    <a:pt x="61067" y="0"/>
                  </a:cubicBezTo>
                  <a:cubicBezTo>
                    <a:pt x="218979" y="22946"/>
                    <a:pt x="495389" y="21603"/>
                    <a:pt x="685660" y="0"/>
                  </a:cubicBezTo>
                  <a:cubicBezTo>
                    <a:pt x="875931" y="-21603"/>
                    <a:pt x="1070190" y="24248"/>
                    <a:pt x="1310252" y="0"/>
                  </a:cubicBezTo>
                  <a:cubicBezTo>
                    <a:pt x="1550314" y="-24248"/>
                    <a:pt x="1854553" y="-11447"/>
                    <a:pt x="2004244" y="0"/>
                  </a:cubicBezTo>
                  <a:cubicBezTo>
                    <a:pt x="2153935" y="11447"/>
                    <a:pt x="2372069" y="-21449"/>
                    <a:pt x="2628836" y="0"/>
                  </a:cubicBezTo>
                  <a:cubicBezTo>
                    <a:pt x="2885603" y="21449"/>
                    <a:pt x="2944873" y="3299"/>
                    <a:pt x="3114630" y="0"/>
                  </a:cubicBezTo>
                  <a:cubicBezTo>
                    <a:pt x="3284387" y="-3299"/>
                    <a:pt x="3610272" y="28497"/>
                    <a:pt x="3878021" y="0"/>
                  </a:cubicBezTo>
                  <a:cubicBezTo>
                    <a:pt x="4145770" y="-28497"/>
                    <a:pt x="4290938" y="33260"/>
                    <a:pt x="4572013" y="0"/>
                  </a:cubicBezTo>
                  <a:cubicBezTo>
                    <a:pt x="4853088" y="-33260"/>
                    <a:pt x="4844723" y="-8032"/>
                    <a:pt x="5057807" y="0"/>
                  </a:cubicBezTo>
                  <a:cubicBezTo>
                    <a:pt x="5270891" y="8032"/>
                    <a:pt x="5441770" y="-5055"/>
                    <a:pt x="5821198" y="0"/>
                  </a:cubicBezTo>
                  <a:cubicBezTo>
                    <a:pt x="6200626" y="5055"/>
                    <a:pt x="6575953" y="47895"/>
                    <a:pt x="7000984" y="0"/>
                  </a:cubicBezTo>
                  <a:cubicBezTo>
                    <a:pt x="7033187" y="-865"/>
                    <a:pt x="7062799" y="27658"/>
                    <a:pt x="7062051" y="61067"/>
                  </a:cubicBezTo>
                  <a:cubicBezTo>
                    <a:pt x="7052209" y="123843"/>
                    <a:pt x="7069870" y="233485"/>
                    <a:pt x="7062051" y="305325"/>
                  </a:cubicBezTo>
                  <a:cubicBezTo>
                    <a:pt x="7064698" y="346373"/>
                    <a:pt x="7033418" y="365305"/>
                    <a:pt x="7000984" y="366392"/>
                  </a:cubicBezTo>
                  <a:cubicBezTo>
                    <a:pt x="6652414" y="391637"/>
                    <a:pt x="6407209" y="390483"/>
                    <a:pt x="6237593" y="366392"/>
                  </a:cubicBezTo>
                  <a:cubicBezTo>
                    <a:pt x="6067977" y="342301"/>
                    <a:pt x="5619497" y="343301"/>
                    <a:pt x="5404803" y="366392"/>
                  </a:cubicBezTo>
                  <a:cubicBezTo>
                    <a:pt x="5190109" y="389484"/>
                    <a:pt x="5013539" y="346736"/>
                    <a:pt x="4849610" y="366392"/>
                  </a:cubicBezTo>
                  <a:cubicBezTo>
                    <a:pt x="4685681" y="386048"/>
                    <a:pt x="4405159" y="352550"/>
                    <a:pt x="4086219" y="366392"/>
                  </a:cubicBezTo>
                  <a:cubicBezTo>
                    <a:pt x="3767279" y="380234"/>
                    <a:pt x="3692547" y="339144"/>
                    <a:pt x="3531026" y="366392"/>
                  </a:cubicBezTo>
                  <a:cubicBezTo>
                    <a:pt x="3369505" y="393640"/>
                    <a:pt x="3204705" y="380479"/>
                    <a:pt x="2975832" y="366392"/>
                  </a:cubicBezTo>
                  <a:cubicBezTo>
                    <a:pt x="2746959" y="352305"/>
                    <a:pt x="2560590" y="381872"/>
                    <a:pt x="2351240" y="366392"/>
                  </a:cubicBezTo>
                  <a:cubicBezTo>
                    <a:pt x="2141890" y="350912"/>
                    <a:pt x="2020324" y="369004"/>
                    <a:pt x="1865445" y="366392"/>
                  </a:cubicBezTo>
                  <a:cubicBezTo>
                    <a:pt x="1710567" y="363780"/>
                    <a:pt x="1376329" y="372217"/>
                    <a:pt x="1102055" y="366392"/>
                  </a:cubicBezTo>
                  <a:cubicBezTo>
                    <a:pt x="827781" y="360568"/>
                    <a:pt x="532780" y="391443"/>
                    <a:pt x="61067" y="366392"/>
                  </a:cubicBezTo>
                  <a:cubicBezTo>
                    <a:pt x="24743" y="364942"/>
                    <a:pt x="-2107" y="331762"/>
                    <a:pt x="0" y="305325"/>
                  </a:cubicBezTo>
                  <a:cubicBezTo>
                    <a:pt x="-6180" y="242947"/>
                    <a:pt x="6514" y="134120"/>
                    <a:pt x="0" y="61067"/>
                  </a:cubicBezTo>
                  <a:close/>
                </a:path>
              </a:pathLst>
            </a:custGeom>
            <a:noFill/>
            <a:ln>
              <a:gradFill flip="none" rotWithShape="1">
                <a:gsLst>
                  <a:gs pos="0">
                    <a:schemeClr val="accent1"/>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xtLst>
                <a:ext uri="{C807C97D-BFC1-408E-A445-0C87EB9F89A2}">
                  <ask:lineSketchStyleProps xmlns:ask="http://schemas.microsoft.com/office/drawing/2018/sketchyshapes" sd="207725326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 name="组合 9">
            <a:extLst>
              <a:ext uri="{FF2B5EF4-FFF2-40B4-BE49-F238E27FC236}">
                <a16:creationId xmlns:a16="http://schemas.microsoft.com/office/drawing/2014/main" id="{B3436E17-ADDB-1B6D-E3ED-B9E198E50D80}"/>
              </a:ext>
            </a:extLst>
          </p:cNvPr>
          <p:cNvGrpSpPr/>
          <p:nvPr/>
        </p:nvGrpSpPr>
        <p:grpSpPr>
          <a:xfrm>
            <a:off x="4242028" y="3832952"/>
            <a:ext cx="7062051" cy="374924"/>
            <a:chOff x="4231836" y="3624504"/>
            <a:chExt cx="7062051" cy="374924"/>
          </a:xfrm>
        </p:grpSpPr>
        <p:sp>
          <p:nvSpPr>
            <p:cNvPr id="19" name="文本框 18">
              <a:extLst>
                <a:ext uri="{FF2B5EF4-FFF2-40B4-BE49-F238E27FC236}">
                  <a16:creationId xmlns:a16="http://schemas.microsoft.com/office/drawing/2014/main" id="{0FC9E31A-B9AE-DD77-054F-9BDD065573C0}"/>
                </a:ext>
              </a:extLst>
            </p:cNvPr>
            <p:cNvSpPr txBox="1"/>
            <p:nvPr/>
          </p:nvSpPr>
          <p:spPr>
            <a:xfrm>
              <a:off x="4663228" y="3630095"/>
              <a:ext cx="6097978" cy="369332"/>
            </a:xfrm>
            <a:prstGeom prst="rect">
              <a:avLst/>
            </a:prstGeom>
            <a:noFill/>
          </p:spPr>
          <p:txBody>
            <a:bodyPr wrap="square">
              <a:spAutoFit/>
            </a:bodyPr>
            <a:lstStyle/>
            <a:p>
              <a:r>
                <a:rPr lang="zh-CN" altLang="en-US" b="1" dirty="0"/>
                <a:t>热更新</a:t>
              </a:r>
              <a:r>
                <a:rPr lang="zh-CN" altLang="en-US" dirty="0"/>
                <a:t>：为内核模块提供统一、可扩展的热更新能力</a:t>
              </a:r>
            </a:p>
          </p:txBody>
        </p:sp>
        <p:pic>
          <p:nvPicPr>
            <p:cNvPr id="32" name="图形 31" descr="靶心 纯色填充">
              <a:extLst>
                <a:ext uri="{FF2B5EF4-FFF2-40B4-BE49-F238E27FC236}">
                  <a16:creationId xmlns:a16="http://schemas.microsoft.com/office/drawing/2014/main" id="{6FC1372A-4445-CD11-2967-47E68C344CF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46214" y="3654283"/>
              <a:ext cx="317014" cy="317014"/>
            </a:xfrm>
            <a:prstGeom prst="rect">
              <a:avLst/>
            </a:prstGeom>
          </p:spPr>
        </p:pic>
        <p:sp>
          <p:nvSpPr>
            <p:cNvPr id="36" name="矩形: 圆角 35">
              <a:extLst>
                <a:ext uri="{FF2B5EF4-FFF2-40B4-BE49-F238E27FC236}">
                  <a16:creationId xmlns:a16="http://schemas.microsoft.com/office/drawing/2014/main" id="{193EF890-6A1E-0FE5-4316-D0C368CDF4F2}"/>
                </a:ext>
              </a:extLst>
            </p:cNvPr>
            <p:cNvSpPr/>
            <p:nvPr/>
          </p:nvSpPr>
          <p:spPr>
            <a:xfrm>
              <a:off x="4231836" y="3624504"/>
              <a:ext cx="7062051" cy="374924"/>
            </a:xfrm>
            <a:custGeom>
              <a:avLst/>
              <a:gdLst>
                <a:gd name="csX0" fmla="*/ 0 w 7062051"/>
                <a:gd name="csY0" fmla="*/ 62489 h 374924"/>
                <a:gd name="csX1" fmla="*/ 62489 w 7062051"/>
                <a:gd name="csY1" fmla="*/ 0 h 374924"/>
                <a:gd name="csX2" fmla="*/ 686826 w 7062051"/>
                <a:gd name="csY2" fmla="*/ 0 h 374924"/>
                <a:gd name="csX3" fmla="*/ 1380533 w 7062051"/>
                <a:gd name="csY3" fmla="*/ 0 h 374924"/>
                <a:gd name="csX4" fmla="*/ 2004869 w 7062051"/>
                <a:gd name="csY4" fmla="*/ 0 h 374924"/>
                <a:gd name="csX5" fmla="*/ 2767947 w 7062051"/>
                <a:gd name="csY5" fmla="*/ 0 h 374924"/>
                <a:gd name="csX6" fmla="*/ 3253543 w 7062051"/>
                <a:gd name="csY6" fmla="*/ 0 h 374924"/>
                <a:gd name="csX7" fmla="*/ 3877879 w 7062051"/>
                <a:gd name="csY7" fmla="*/ 0 h 374924"/>
                <a:gd name="csX8" fmla="*/ 4363474 w 7062051"/>
                <a:gd name="csY8" fmla="*/ 0 h 374924"/>
                <a:gd name="csX9" fmla="*/ 4849069 w 7062051"/>
                <a:gd name="csY9" fmla="*/ 0 h 374924"/>
                <a:gd name="csX10" fmla="*/ 5404035 w 7062051"/>
                <a:gd name="csY10" fmla="*/ 0 h 374924"/>
                <a:gd name="csX11" fmla="*/ 6167113 w 7062051"/>
                <a:gd name="csY11" fmla="*/ 0 h 374924"/>
                <a:gd name="csX12" fmla="*/ 6999562 w 7062051"/>
                <a:gd name="csY12" fmla="*/ 0 h 374924"/>
                <a:gd name="csX13" fmla="*/ 7062051 w 7062051"/>
                <a:gd name="csY13" fmla="*/ 62489 h 374924"/>
                <a:gd name="csX14" fmla="*/ 7062051 w 7062051"/>
                <a:gd name="csY14" fmla="*/ 312435 h 374924"/>
                <a:gd name="csX15" fmla="*/ 6999562 w 7062051"/>
                <a:gd name="csY15" fmla="*/ 374924 h 374924"/>
                <a:gd name="csX16" fmla="*/ 6513967 w 7062051"/>
                <a:gd name="csY16" fmla="*/ 374924 h 374924"/>
                <a:gd name="csX17" fmla="*/ 5959001 w 7062051"/>
                <a:gd name="csY17" fmla="*/ 374924 h 374924"/>
                <a:gd name="csX18" fmla="*/ 5404035 w 7062051"/>
                <a:gd name="csY18" fmla="*/ 374924 h 374924"/>
                <a:gd name="csX19" fmla="*/ 4849069 w 7062051"/>
                <a:gd name="csY19" fmla="*/ 374924 h 374924"/>
                <a:gd name="csX20" fmla="*/ 4224733 w 7062051"/>
                <a:gd name="csY20" fmla="*/ 374924 h 374924"/>
                <a:gd name="csX21" fmla="*/ 3669767 w 7062051"/>
                <a:gd name="csY21" fmla="*/ 374924 h 374924"/>
                <a:gd name="csX22" fmla="*/ 2906689 w 7062051"/>
                <a:gd name="csY22" fmla="*/ 374924 h 374924"/>
                <a:gd name="csX23" fmla="*/ 2421094 w 7062051"/>
                <a:gd name="csY23" fmla="*/ 374924 h 374924"/>
                <a:gd name="csX24" fmla="*/ 1658016 w 7062051"/>
                <a:gd name="csY24" fmla="*/ 374924 h 374924"/>
                <a:gd name="csX25" fmla="*/ 894938 w 7062051"/>
                <a:gd name="csY25" fmla="*/ 374924 h 374924"/>
                <a:gd name="csX26" fmla="*/ 62489 w 7062051"/>
                <a:gd name="csY26" fmla="*/ 374924 h 374924"/>
                <a:gd name="csX27" fmla="*/ 0 w 7062051"/>
                <a:gd name="csY27" fmla="*/ 312435 h 374924"/>
                <a:gd name="csX28" fmla="*/ 0 w 7062051"/>
                <a:gd name="csY28" fmla="*/ 62489 h 3749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7062051" h="374924" extrusionOk="0">
                  <a:moveTo>
                    <a:pt x="0" y="62489"/>
                  </a:moveTo>
                  <a:cubicBezTo>
                    <a:pt x="1407" y="34238"/>
                    <a:pt x="24219" y="6359"/>
                    <a:pt x="62489" y="0"/>
                  </a:cubicBezTo>
                  <a:cubicBezTo>
                    <a:pt x="263473" y="23850"/>
                    <a:pt x="415051" y="-27917"/>
                    <a:pt x="686826" y="0"/>
                  </a:cubicBezTo>
                  <a:cubicBezTo>
                    <a:pt x="958601" y="27917"/>
                    <a:pt x="1058132" y="17479"/>
                    <a:pt x="1380533" y="0"/>
                  </a:cubicBezTo>
                  <a:cubicBezTo>
                    <a:pt x="1702934" y="-17479"/>
                    <a:pt x="1870022" y="14581"/>
                    <a:pt x="2004869" y="0"/>
                  </a:cubicBezTo>
                  <a:cubicBezTo>
                    <a:pt x="2139716" y="-14581"/>
                    <a:pt x="2482000" y="-30749"/>
                    <a:pt x="2767947" y="0"/>
                  </a:cubicBezTo>
                  <a:cubicBezTo>
                    <a:pt x="3053894" y="30749"/>
                    <a:pt x="3097761" y="14338"/>
                    <a:pt x="3253543" y="0"/>
                  </a:cubicBezTo>
                  <a:cubicBezTo>
                    <a:pt x="3409325" y="-14338"/>
                    <a:pt x="3581527" y="1936"/>
                    <a:pt x="3877879" y="0"/>
                  </a:cubicBezTo>
                  <a:cubicBezTo>
                    <a:pt x="4174231" y="-1936"/>
                    <a:pt x="4197941" y="17304"/>
                    <a:pt x="4363474" y="0"/>
                  </a:cubicBezTo>
                  <a:cubicBezTo>
                    <a:pt x="4529007" y="-17304"/>
                    <a:pt x="4658936" y="20982"/>
                    <a:pt x="4849069" y="0"/>
                  </a:cubicBezTo>
                  <a:cubicBezTo>
                    <a:pt x="5039202" y="-20982"/>
                    <a:pt x="5246153" y="-3391"/>
                    <a:pt x="5404035" y="0"/>
                  </a:cubicBezTo>
                  <a:cubicBezTo>
                    <a:pt x="5561917" y="3391"/>
                    <a:pt x="5999641" y="-29821"/>
                    <a:pt x="6167113" y="0"/>
                  </a:cubicBezTo>
                  <a:cubicBezTo>
                    <a:pt x="6334585" y="29821"/>
                    <a:pt x="6694173" y="33255"/>
                    <a:pt x="6999562" y="0"/>
                  </a:cubicBezTo>
                  <a:cubicBezTo>
                    <a:pt x="7038077" y="-2231"/>
                    <a:pt x="7063219" y="28476"/>
                    <a:pt x="7062051" y="62489"/>
                  </a:cubicBezTo>
                  <a:cubicBezTo>
                    <a:pt x="7069240" y="160107"/>
                    <a:pt x="7059142" y="256471"/>
                    <a:pt x="7062051" y="312435"/>
                  </a:cubicBezTo>
                  <a:cubicBezTo>
                    <a:pt x="7068798" y="346052"/>
                    <a:pt x="7039849" y="380723"/>
                    <a:pt x="6999562" y="374924"/>
                  </a:cubicBezTo>
                  <a:cubicBezTo>
                    <a:pt x="6822673" y="357933"/>
                    <a:pt x="6704450" y="379696"/>
                    <a:pt x="6513967" y="374924"/>
                  </a:cubicBezTo>
                  <a:cubicBezTo>
                    <a:pt x="6323484" y="370152"/>
                    <a:pt x="6131231" y="370715"/>
                    <a:pt x="5959001" y="374924"/>
                  </a:cubicBezTo>
                  <a:cubicBezTo>
                    <a:pt x="5786771" y="379133"/>
                    <a:pt x="5571614" y="382232"/>
                    <a:pt x="5404035" y="374924"/>
                  </a:cubicBezTo>
                  <a:cubicBezTo>
                    <a:pt x="5236456" y="367616"/>
                    <a:pt x="5111576" y="387522"/>
                    <a:pt x="4849069" y="374924"/>
                  </a:cubicBezTo>
                  <a:cubicBezTo>
                    <a:pt x="4586562" y="362326"/>
                    <a:pt x="4512692" y="355512"/>
                    <a:pt x="4224733" y="374924"/>
                  </a:cubicBezTo>
                  <a:cubicBezTo>
                    <a:pt x="3936774" y="394336"/>
                    <a:pt x="3922609" y="373043"/>
                    <a:pt x="3669767" y="374924"/>
                  </a:cubicBezTo>
                  <a:cubicBezTo>
                    <a:pt x="3416925" y="376805"/>
                    <a:pt x="3156663" y="381399"/>
                    <a:pt x="2906689" y="374924"/>
                  </a:cubicBezTo>
                  <a:cubicBezTo>
                    <a:pt x="2656715" y="368449"/>
                    <a:pt x="2604724" y="363079"/>
                    <a:pt x="2421094" y="374924"/>
                  </a:cubicBezTo>
                  <a:cubicBezTo>
                    <a:pt x="2237464" y="386769"/>
                    <a:pt x="1979870" y="412195"/>
                    <a:pt x="1658016" y="374924"/>
                  </a:cubicBezTo>
                  <a:cubicBezTo>
                    <a:pt x="1336162" y="337653"/>
                    <a:pt x="1082851" y="348657"/>
                    <a:pt x="894938" y="374924"/>
                  </a:cubicBezTo>
                  <a:cubicBezTo>
                    <a:pt x="707025" y="401191"/>
                    <a:pt x="250414" y="355419"/>
                    <a:pt x="62489" y="374924"/>
                  </a:cubicBezTo>
                  <a:cubicBezTo>
                    <a:pt x="26050" y="374217"/>
                    <a:pt x="-3322" y="344098"/>
                    <a:pt x="0" y="312435"/>
                  </a:cubicBezTo>
                  <a:cubicBezTo>
                    <a:pt x="-10182" y="198196"/>
                    <a:pt x="-9683" y="145584"/>
                    <a:pt x="0" y="62489"/>
                  </a:cubicBezTo>
                  <a:close/>
                </a:path>
              </a:pathLst>
            </a:custGeom>
            <a:noFill/>
            <a:ln>
              <a:gradFill flip="none" rotWithShape="1">
                <a:gsLst>
                  <a:gs pos="0">
                    <a:schemeClr val="accent1"/>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xtLst>
                <a:ext uri="{C807C97D-BFC1-408E-A445-0C87EB9F89A2}">
                  <ask:lineSketchStyleProps xmlns:ask="http://schemas.microsoft.com/office/drawing/2018/sketchyshapes" sd="2043212884">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组合 2">
            <a:extLst>
              <a:ext uri="{FF2B5EF4-FFF2-40B4-BE49-F238E27FC236}">
                <a16:creationId xmlns:a16="http://schemas.microsoft.com/office/drawing/2014/main" id="{C0BC44F1-5B38-AAD3-E7A5-083998947377}"/>
              </a:ext>
            </a:extLst>
          </p:cNvPr>
          <p:cNvGrpSpPr/>
          <p:nvPr/>
        </p:nvGrpSpPr>
        <p:grpSpPr>
          <a:xfrm>
            <a:off x="414000" y="992849"/>
            <a:ext cx="10879887" cy="910397"/>
            <a:chOff x="414000" y="992849"/>
            <a:chExt cx="10879887" cy="910397"/>
          </a:xfrm>
        </p:grpSpPr>
        <p:sp>
          <p:nvSpPr>
            <p:cNvPr id="6" name="矩形 5">
              <a:extLst>
                <a:ext uri="{FF2B5EF4-FFF2-40B4-BE49-F238E27FC236}">
                  <a16:creationId xmlns:a16="http://schemas.microsoft.com/office/drawing/2014/main" id="{0263899E-26B4-C6BD-CD0D-B9178B734E1E}"/>
                </a:ext>
              </a:extLst>
            </p:cNvPr>
            <p:cNvSpPr/>
            <p:nvPr/>
          </p:nvSpPr>
          <p:spPr>
            <a:xfrm>
              <a:off x="424194" y="1306346"/>
              <a:ext cx="10869693" cy="596900"/>
            </a:xfrm>
            <a:prstGeom prst="rect">
              <a:avLst/>
            </a:prstGeom>
            <a:noFill/>
            <a:ln w="25400">
              <a:solidFill>
                <a:schemeClr val="tx2"/>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对角圆角 1">
              <a:extLst>
                <a:ext uri="{FF2B5EF4-FFF2-40B4-BE49-F238E27FC236}">
                  <a16:creationId xmlns:a16="http://schemas.microsoft.com/office/drawing/2014/main" id="{0A42DECD-6388-9229-A005-3BE89B51A4E3}"/>
                </a:ext>
              </a:extLst>
            </p:cNvPr>
            <p:cNvSpPr/>
            <p:nvPr/>
          </p:nvSpPr>
          <p:spPr>
            <a:xfrm>
              <a:off x="414000" y="992849"/>
              <a:ext cx="1167144" cy="480132"/>
            </a:xfrm>
            <a:prstGeom prst="round2DiagRect">
              <a:avLst/>
            </a:prstGeom>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t>研究目的</a:t>
              </a:r>
            </a:p>
          </p:txBody>
        </p:sp>
        <p:sp>
          <p:nvSpPr>
            <p:cNvPr id="8" name="文本框 7">
              <a:extLst>
                <a:ext uri="{FF2B5EF4-FFF2-40B4-BE49-F238E27FC236}">
                  <a16:creationId xmlns:a16="http://schemas.microsoft.com/office/drawing/2014/main" id="{B3A56A84-383F-A2C6-D31A-3A0A8085430A}"/>
                </a:ext>
              </a:extLst>
            </p:cNvPr>
            <p:cNvSpPr txBox="1"/>
            <p:nvPr/>
          </p:nvSpPr>
          <p:spPr>
            <a:xfrm>
              <a:off x="739896" y="1533914"/>
              <a:ext cx="10487255" cy="369332"/>
            </a:xfrm>
            <a:prstGeom prst="rect">
              <a:avLst/>
            </a:prstGeom>
            <a:noFill/>
          </p:spPr>
          <p:txBody>
            <a:bodyPr wrap="square" rtlCol="0">
              <a:spAutoFit/>
            </a:bodyPr>
            <a:lstStyle/>
            <a:p>
              <a:r>
                <a:rPr lang="zh-CN" altLang="en-US" dirty="0"/>
                <a:t>在不牺牲内核性能与通用性的前提下，利用安全语言机制实现安全、低开销、通用的内核模块隔离框架。</a:t>
              </a:r>
            </a:p>
          </p:txBody>
        </p:sp>
        <p:sp>
          <p:nvSpPr>
            <p:cNvPr id="38" name="菱形 37">
              <a:extLst>
                <a:ext uri="{FF2B5EF4-FFF2-40B4-BE49-F238E27FC236}">
                  <a16:creationId xmlns:a16="http://schemas.microsoft.com/office/drawing/2014/main" id="{3E4DC57E-076A-E1CC-A40A-28B11F5DE6C1}"/>
                </a:ext>
              </a:extLst>
            </p:cNvPr>
            <p:cNvSpPr/>
            <p:nvPr/>
          </p:nvSpPr>
          <p:spPr>
            <a:xfrm>
              <a:off x="509576" y="1594847"/>
              <a:ext cx="255922" cy="247466"/>
            </a:xfrm>
            <a:prstGeom prst="diamond">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grpSp>
      <p:grpSp>
        <p:nvGrpSpPr>
          <p:cNvPr id="14" name="组合 13">
            <a:extLst>
              <a:ext uri="{FF2B5EF4-FFF2-40B4-BE49-F238E27FC236}">
                <a16:creationId xmlns:a16="http://schemas.microsoft.com/office/drawing/2014/main" id="{D552DE55-B2FE-D89A-B439-3705B60DAA20}"/>
              </a:ext>
            </a:extLst>
          </p:cNvPr>
          <p:cNvGrpSpPr/>
          <p:nvPr/>
        </p:nvGrpSpPr>
        <p:grpSpPr>
          <a:xfrm>
            <a:off x="424194" y="4747770"/>
            <a:ext cx="10879887" cy="910397"/>
            <a:chOff x="414000" y="992849"/>
            <a:chExt cx="10879887" cy="910397"/>
          </a:xfrm>
        </p:grpSpPr>
        <p:sp>
          <p:nvSpPr>
            <p:cNvPr id="16" name="矩形 15">
              <a:extLst>
                <a:ext uri="{FF2B5EF4-FFF2-40B4-BE49-F238E27FC236}">
                  <a16:creationId xmlns:a16="http://schemas.microsoft.com/office/drawing/2014/main" id="{A938DFE9-4283-616B-4456-E702F6F95D63}"/>
                </a:ext>
              </a:extLst>
            </p:cNvPr>
            <p:cNvSpPr/>
            <p:nvPr/>
          </p:nvSpPr>
          <p:spPr>
            <a:xfrm>
              <a:off x="424194" y="1306346"/>
              <a:ext cx="10869693" cy="596900"/>
            </a:xfrm>
            <a:prstGeom prst="rect">
              <a:avLst/>
            </a:prstGeom>
            <a:noFill/>
            <a:ln w="25400">
              <a:solidFill>
                <a:schemeClr val="tx2"/>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对角圆角 17">
              <a:extLst>
                <a:ext uri="{FF2B5EF4-FFF2-40B4-BE49-F238E27FC236}">
                  <a16:creationId xmlns:a16="http://schemas.microsoft.com/office/drawing/2014/main" id="{8CCC3BFA-8B25-1D09-CCEC-6C061027C20B}"/>
                </a:ext>
              </a:extLst>
            </p:cNvPr>
            <p:cNvSpPr/>
            <p:nvPr/>
          </p:nvSpPr>
          <p:spPr>
            <a:xfrm>
              <a:off x="414000" y="992849"/>
              <a:ext cx="1167144" cy="480132"/>
            </a:xfrm>
            <a:prstGeom prst="round2DiagRect">
              <a:avLst/>
            </a:prstGeom>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t>研究意义</a:t>
              </a:r>
            </a:p>
          </p:txBody>
        </p:sp>
        <p:sp>
          <p:nvSpPr>
            <p:cNvPr id="20" name="文本框 19">
              <a:extLst>
                <a:ext uri="{FF2B5EF4-FFF2-40B4-BE49-F238E27FC236}">
                  <a16:creationId xmlns:a16="http://schemas.microsoft.com/office/drawing/2014/main" id="{0FB7FC73-1B5D-C4E4-62F8-9859F79C63C0}"/>
                </a:ext>
              </a:extLst>
            </p:cNvPr>
            <p:cNvSpPr txBox="1"/>
            <p:nvPr/>
          </p:nvSpPr>
          <p:spPr>
            <a:xfrm>
              <a:off x="739896" y="1533914"/>
              <a:ext cx="10487255" cy="369332"/>
            </a:xfrm>
            <a:prstGeom prst="rect">
              <a:avLst/>
            </a:prstGeom>
            <a:noFill/>
          </p:spPr>
          <p:txBody>
            <a:bodyPr wrap="square" rtlCol="0">
              <a:spAutoFit/>
            </a:bodyPr>
            <a:lstStyle/>
            <a:p>
              <a:r>
                <a:rPr lang="zh-CN" altLang="en-US" dirty="0"/>
                <a:t>探索安全语言对内核设计的影响、提升内核稳定性与安全性</a:t>
              </a:r>
            </a:p>
          </p:txBody>
        </p:sp>
        <p:sp>
          <p:nvSpPr>
            <p:cNvPr id="21" name="菱形 20">
              <a:extLst>
                <a:ext uri="{FF2B5EF4-FFF2-40B4-BE49-F238E27FC236}">
                  <a16:creationId xmlns:a16="http://schemas.microsoft.com/office/drawing/2014/main" id="{2C4155B7-EBC8-B939-DDA4-7F660230DD70}"/>
                </a:ext>
              </a:extLst>
            </p:cNvPr>
            <p:cNvSpPr/>
            <p:nvPr/>
          </p:nvSpPr>
          <p:spPr>
            <a:xfrm>
              <a:off x="509576" y="1594847"/>
              <a:ext cx="255922" cy="247466"/>
            </a:xfrm>
            <a:prstGeom prst="diamond">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grpSp>
    </p:spTree>
    <p:extLst>
      <p:ext uri="{BB962C8B-B14F-4D97-AF65-F5344CB8AC3E}">
        <p14:creationId xmlns:p14="http://schemas.microsoft.com/office/powerpoint/2010/main" val="87329364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left)">
                                      <p:cBhvr>
                                        <p:cTn id="13" dur="500"/>
                                        <p:tgtEl>
                                          <p:spTgt spid="4"/>
                                        </p:tgtEl>
                                      </p:cBhvr>
                                    </p:animEffect>
                                  </p:childTnLst>
                                </p:cTn>
                              </p:par>
                            </p:childTnLst>
                          </p:cTn>
                        </p:par>
                        <p:par>
                          <p:cTn id="14" fill="hold">
                            <p:stCondLst>
                              <p:cond delay="1500"/>
                            </p:stCondLst>
                            <p:childTnLst>
                              <p:par>
                                <p:cTn id="15" presetID="22" presetClass="entr" presetSubtype="8" fill="hold"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par>
                          <p:cTn id="18" fill="hold">
                            <p:stCondLst>
                              <p:cond delay="2000"/>
                            </p:stCondLst>
                            <p:childTnLst>
                              <p:par>
                                <p:cTn id="19" presetID="22" presetClass="entr" presetSubtype="8" fill="hold"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500"/>
                                        <p:tgtEl>
                                          <p:spTgt spid="7"/>
                                        </p:tgtEl>
                                      </p:cBhvr>
                                    </p:animEffect>
                                  </p:childTnLst>
                                </p:cTn>
                              </p:par>
                            </p:childTnLst>
                          </p:cTn>
                        </p:par>
                        <p:par>
                          <p:cTn id="22" fill="hold">
                            <p:stCondLst>
                              <p:cond delay="2500"/>
                            </p:stCondLst>
                            <p:childTnLst>
                              <p:par>
                                <p:cTn id="23" presetID="22" presetClass="entr" presetSubtype="8" fill="hold" nodeType="after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wipe(up)">
                                      <p:cBhvr>
                                        <p:cTn id="3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F5602-751D-B55F-B704-C1D4F253A737}"/>
            </a:ext>
          </a:extLst>
        </p:cNvPr>
        <p:cNvGrpSpPr/>
        <p:nvPr/>
      </p:nvGrpSpPr>
      <p:grpSpPr>
        <a:xfrm>
          <a:off x="0" y="0"/>
          <a:ext cx="0" cy="0"/>
          <a:chOff x="0" y="0"/>
          <a:chExt cx="0" cy="0"/>
        </a:xfrm>
      </p:grpSpPr>
      <p:sp>
        <p:nvSpPr>
          <p:cNvPr id="9" name="标题 8">
            <a:extLst>
              <a:ext uri="{FF2B5EF4-FFF2-40B4-BE49-F238E27FC236}">
                <a16:creationId xmlns:a16="http://schemas.microsoft.com/office/drawing/2014/main" id="{4D0F939C-548C-CCA6-2B66-870DF119DE43}"/>
              </a:ext>
            </a:extLst>
          </p:cNvPr>
          <p:cNvSpPr>
            <a:spLocks noGrp="1"/>
          </p:cNvSpPr>
          <p:nvPr>
            <p:ph type="title"/>
          </p:nvPr>
        </p:nvSpPr>
        <p:spPr>
          <a:xfrm>
            <a:off x="1173494" y="249067"/>
            <a:ext cx="8048203" cy="480131"/>
          </a:xfrm>
        </p:spPr>
        <p:txBody>
          <a:bodyPr/>
          <a:lstStyle/>
          <a:p>
            <a:r>
              <a:rPr lang="zh-CN" altLang="en-US" spc="300" dirty="0">
                <a:latin typeface="+mj-ea"/>
              </a:rPr>
              <a:t>研究现状与关键问题</a:t>
            </a:r>
          </a:p>
        </p:txBody>
      </p:sp>
      <p:sp>
        <p:nvSpPr>
          <p:cNvPr id="12" name="灯片编号占位符 3">
            <a:extLst>
              <a:ext uri="{FF2B5EF4-FFF2-40B4-BE49-F238E27FC236}">
                <a16:creationId xmlns:a16="http://schemas.microsoft.com/office/drawing/2014/main" id="{8F9277C5-2464-6738-7C16-C1B773D8E398}"/>
              </a:ext>
            </a:extLst>
          </p:cNvPr>
          <p:cNvSpPr>
            <a:spLocks noGrp="1"/>
          </p:cNvSpPr>
          <p:nvPr/>
        </p:nvSpPr>
        <p:spPr>
          <a:xfrm>
            <a:off x="9315450" y="224928"/>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800" b="1"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2550ED5-0697-499D-99C7-583386341ACD}" type="slidenum">
              <a:rPr lang="zh-CN" altLang="en-US" sz="2400" smtClean="0"/>
              <a:pPr/>
              <a:t>5</a:t>
            </a:fld>
            <a:endParaRPr lang="zh-CN" altLang="en-US" dirty="0"/>
          </a:p>
        </p:txBody>
      </p:sp>
      <p:grpSp>
        <p:nvGrpSpPr>
          <p:cNvPr id="2" name="组合 1">
            <a:extLst>
              <a:ext uri="{FF2B5EF4-FFF2-40B4-BE49-F238E27FC236}">
                <a16:creationId xmlns:a16="http://schemas.microsoft.com/office/drawing/2014/main" id="{19885BE7-31D2-E2DC-AC11-DFB511CE45C0}"/>
              </a:ext>
            </a:extLst>
          </p:cNvPr>
          <p:cNvGrpSpPr/>
          <p:nvPr/>
        </p:nvGrpSpPr>
        <p:grpSpPr>
          <a:xfrm>
            <a:off x="399582" y="4947247"/>
            <a:ext cx="11477624" cy="894761"/>
            <a:chOff x="400865" y="1095347"/>
            <a:chExt cx="11477624" cy="894761"/>
          </a:xfrm>
        </p:grpSpPr>
        <p:sp>
          <p:nvSpPr>
            <p:cNvPr id="15" name="矩形 14">
              <a:extLst>
                <a:ext uri="{FF2B5EF4-FFF2-40B4-BE49-F238E27FC236}">
                  <a16:creationId xmlns:a16="http://schemas.microsoft.com/office/drawing/2014/main" id="{69D50AEC-3F62-A557-198B-85EB717367FF}"/>
                </a:ext>
              </a:extLst>
            </p:cNvPr>
            <p:cNvSpPr/>
            <p:nvPr/>
          </p:nvSpPr>
          <p:spPr>
            <a:xfrm>
              <a:off x="400865" y="1095347"/>
              <a:ext cx="1054404" cy="894761"/>
            </a:xfrm>
            <a:prstGeom prst="rect">
              <a:avLst/>
            </a:prstGeom>
            <a:solidFill>
              <a:schemeClr val="accent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6" name="矩形 15">
              <a:extLst>
                <a:ext uri="{FF2B5EF4-FFF2-40B4-BE49-F238E27FC236}">
                  <a16:creationId xmlns:a16="http://schemas.microsoft.com/office/drawing/2014/main" id="{BF1D35FB-C826-CE50-82BF-AD931B555D13}"/>
                </a:ext>
              </a:extLst>
            </p:cNvPr>
            <p:cNvSpPr/>
            <p:nvPr/>
          </p:nvSpPr>
          <p:spPr>
            <a:xfrm>
              <a:off x="1455268" y="1104283"/>
              <a:ext cx="10423221" cy="885825"/>
            </a:xfrm>
            <a:prstGeom prst="rect">
              <a:avLst/>
            </a:prstGeom>
            <a:solidFill>
              <a:schemeClr val="bg1"/>
            </a:solidFill>
            <a:ln w="222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7" name="文本框 9">
              <a:extLst>
                <a:ext uri="{FF2B5EF4-FFF2-40B4-BE49-F238E27FC236}">
                  <a16:creationId xmlns:a16="http://schemas.microsoft.com/office/drawing/2014/main" id="{385238F3-A271-5D30-7968-E26C3D7E223D}"/>
                </a:ext>
              </a:extLst>
            </p:cNvPr>
            <p:cNvSpPr txBox="1"/>
            <p:nvPr/>
          </p:nvSpPr>
          <p:spPr>
            <a:xfrm>
              <a:off x="547519" y="1193252"/>
              <a:ext cx="895351" cy="70788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solidFill>
                    <a:schemeClr val="bg1"/>
                  </a:solidFill>
                </a:rPr>
                <a:t>核 心问 题</a:t>
              </a:r>
            </a:p>
          </p:txBody>
        </p:sp>
        <p:sp>
          <p:nvSpPr>
            <p:cNvPr id="18" name="文本框 10">
              <a:extLst>
                <a:ext uri="{FF2B5EF4-FFF2-40B4-BE49-F238E27FC236}">
                  <a16:creationId xmlns:a16="http://schemas.microsoft.com/office/drawing/2014/main" id="{9F5C0BEB-D9DE-40C3-A572-E2426FC067D8}"/>
                </a:ext>
              </a:extLst>
            </p:cNvPr>
            <p:cNvSpPr txBox="1"/>
            <p:nvPr/>
          </p:nvSpPr>
          <p:spPr>
            <a:xfrm>
              <a:off x="1442870" y="1135433"/>
              <a:ext cx="10389181" cy="78752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600" b="1" dirty="0"/>
                <a:t>现有的各种内核安全加固方案（无论是硬件隔离、软件隔离还是基于安全语言的重构）均</a:t>
              </a:r>
              <a:r>
                <a:rPr lang="zh-CN" altLang="en-US" sz="1600" b="1" dirty="0">
                  <a:solidFill>
                    <a:srgbClr val="FF0000"/>
                  </a:solidFill>
                </a:rPr>
                <a:t>无法在不牺牲性能</a:t>
              </a:r>
              <a:r>
                <a:rPr lang="zh-CN" altLang="en-US" sz="1600" b="1" dirty="0"/>
                <a:t>、</a:t>
              </a:r>
              <a:r>
                <a:rPr lang="zh-CN" altLang="en-US" sz="1600" b="1" dirty="0">
                  <a:solidFill>
                    <a:srgbClr val="FF0000"/>
                  </a:solidFill>
                </a:rPr>
                <a:t>不破坏现有生态</a:t>
              </a:r>
              <a:r>
                <a:rPr lang="zh-CN" altLang="en-US" sz="1600" b="1" dirty="0"/>
                <a:t>的前提下，为已广泛部署的商用操作系统提供一条可行的渐进式安全演进路径</a:t>
              </a:r>
            </a:p>
          </p:txBody>
        </p:sp>
      </p:grpSp>
      <p:grpSp>
        <p:nvGrpSpPr>
          <p:cNvPr id="3" name="组合 2">
            <a:extLst>
              <a:ext uri="{FF2B5EF4-FFF2-40B4-BE49-F238E27FC236}">
                <a16:creationId xmlns:a16="http://schemas.microsoft.com/office/drawing/2014/main" id="{C636C673-314C-24CD-F34A-65E577465C27}"/>
              </a:ext>
            </a:extLst>
          </p:cNvPr>
          <p:cNvGrpSpPr/>
          <p:nvPr/>
        </p:nvGrpSpPr>
        <p:grpSpPr>
          <a:xfrm>
            <a:off x="400865" y="1205418"/>
            <a:ext cx="11476341" cy="3013369"/>
            <a:chOff x="421200" y="2605659"/>
            <a:chExt cx="11476341" cy="3013369"/>
          </a:xfrm>
        </p:grpSpPr>
        <p:sp>
          <p:nvSpPr>
            <p:cNvPr id="8" name="矩形 7">
              <a:extLst>
                <a:ext uri="{FF2B5EF4-FFF2-40B4-BE49-F238E27FC236}">
                  <a16:creationId xmlns:a16="http://schemas.microsoft.com/office/drawing/2014/main" id="{523E195F-0EDF-59E0-E703-0CCD8EA60C2C}"/>
                </a:ext>
              </a:extLst>
            </p:cNvPr>
            <p:cNvSpPr/>
            <p:nvPr/>
          </p:nvSpPr>
          <p:spPr>
            <a:xfrm>
              <a:off x="429441" y="2863613"/>
              <a:ext cx="11468100" cy="2755415"/>
            </a:xfrm>
            <a:prstGeom prst="rect">
              <a:avLst/>
            </a:prstGeom>
            <a:noFill/>
            <a:ln w="222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9" name="矩形: 圆角 18">
              <a:extLst>
                <a:ext uri="{FF2B5EF4-FFF2-40B4-BE49-F238E27FC236}">
                  <a16:creationId xmlns:a16="http://schemas.microsoft.com/office/drawing/2014/main" id="{57F35AA9-C69A-56FE-16A9-CD81C053F4E4}"/>
                </a:ext>
              </a:extLst>
            </p:cNvPr>
            <p:cNvSpPr/>
            <p:nvPr/>
          </p:nvSpPr>
          <p:spPr>
            <a:xfrm>
              <a:off x="421200" y="2605659"/>
              <a:ext cx="1743075" cy="504824"/>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20" name="文本框 12">
              <a:extLst>
                <a:ext uri="{FF2B5EF4-FFF2-40B4-BE49-F238E27FC236}">
                  <a16:creationId xmlns:a16="http://schemas.microsoft.com/office/drawing/2014/main" id="{B9ADC87C-45FE-93E5-0DA7-E5951BC9A482}"/>
                </a:ext>
              </a:extLst>
            </p:cNvPr>
            <p:cNvSpPr txBox="1"/>
            <p:nvPr/>
          </p:nvSpPr>
          <p:spPr>
            <a:xfrm>
              <a:off x="576095" y="2682920"/>
              <a:ext cx="151447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solidFill>
                    <a:schemeClr val="bg1"/>
                  </a:solidFill>
                </a:rPr>
                <a:t>学 科 前 沿</a:t>
              </a:r>
            </a:p>
          </p:txBody>
        </p:sp>
      </p:grpSp>
      <p:grpSp>
        <p:nvGrpSpPr>
          <p:cNvPr id="4" name="组合 3">
            <a:extLst>
              <a:ext uri="{FF2B5EF4-FFF2-40B4-BE49-F238E27FC236}">
                <a16:creationId xmlns:a16="http://schemas.microsoft.com/office/drawing/2014/main" id="{0325DC99-6159-CF0F-0508-291C28FA5FE8}"/>
              </a:ext>
            </a:extLst>
          </p:cNvPr>
          <p:cNvGrpSpPr/>
          <p:nvPr/>
        </p:nvGrpSpPr>
        <p:grpSpPr>
          <a:xfrm>
            <a:off x="531410" y="1830523"/>
            <a:ext cx="1952421" cy="1983774"/>
            <a:chOff x="551745" y="3230764"/>
            <a:chExt cx="1952421" cy="1983774"/>
          </a:xfrm>
        </p:grpSpPr>
        <p:sp>
          <p:nvSpPr>
            <p:cNvPr id="6" name="矩形 5">
              <a:extLst>
                <a:ext uri="{FF2B5EF4-FFF2-40B4-BE49-F238E27FC236}">
                  <a16:creationId xmlns:a16="http://schemas.microsoft.com/office/drawing/2014/main" id="{F5F402AA-5DBB-F478-D1D1-60746292689F}"/>
                </a:ext>
              </a:extLst>
            </p:cNvPr>
            <p:cNvSpPr/>
            <p:nvPr/>
          </p:nvSpPr>
          <p:spPr>
            <a:xfrm>
              <a:off x="551745" y="3479446"/>
              <a:ext cx="1952421" cy="713453"/>
            </a:xfrm>
            <a:prstGeom prst="rect">
              <a:avLst/>
            </a:prstGeom>
            <a:solidFill>
              <a:srgbClr val="EFF8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grpSp>
          <p:nvGrpSpPr>
            <p:cNvPr id="21" name="组合 20">
              <a:extLst>
                <a:ext uri="{FF2B5EF4-FFF2-40B4-BE49-F238E27FC236}">
                  <a16:creationId xmlns:a16="http://schemas.microsoft.com/office/drawing/2014/main" id="{0B830E20-31DC-24FA-FC56-BA7E35595936}"/>
                </a:ext>
              </a:extLst>
            </p:cNvPr>
            <p:cNvGrpSpPr/>
            <p:nvPr/>
          </p:nvGrpSpPr>
          <p:grpSpPr>
            <a:xfrm>
              <a:off x="807646" y="3230764"/>
              <a:ext cx="1398779" cy="504824"/>
              <a:chOff x="991996" y="4138673"/>
              <a:chExt cx="1398779" cy="504824"/>
            </a:xfrm>
          </p:grpSpPr>
          <p:sp>
            <p:nvSpPr>
              <p:cNvPr id="43" name="任意多边形: 形状 42">
                <a:extLst>
                  <a:ext uri="{FF2B5EF4-FFF2-40B4-BE49-F238E27FC236}">
                    <a16:creationId xmlns:a16="http://schemas.microsoft.com/office/drawing/2014/main" id="{C9BDF833-DE1F-F876-E048-AE1BB3B8BCC0}"/>
                  </a:ext>
                </a:extLst>
              </p:cNvPr>
              <p:cNvSpPr/>
              <p:nvPr/>
            </p:nvSpPr>
            <p:spPr>
              <a:xfrm>
                <a:off x="991996" y="4138673"/>
                <a:ext cx="1398779" cy="504824"/>
              </a:xfrm>
              <a:custGeom>
                <a:avLst/>
                <a:gdLst>
                  <a:gd name="connsiteX0" fmla="*/ 252412 w 1990725"/>
                  <a:gd name="connsiteY0" fmla="*/ 0 h 504824"/>
                  <a:gd name="connsiteX1" fmla="*/ 1709737 w 1990725"/>
                  <a:gd name="connsiteY1" fmla="*/ 0 h 504824"/>
                  <a:gd name="connsiteX2" fmla="*/ 1709737 w 1990725"/>
                  <a:gd name="connsiteY2" fmla="*/ 2881 h 504824"/>
                  <a:gd name="connsiteX3" fmla="*/ 1738313 w 1990725"/>
                  <a:gd name="connsiteY3" fmla="*/ 0 h 504824"/>
                  <a:gd name="connsiteX4" fmla="*/ 1990725 w 1990725"/>
                  <a:gd name="connsiteY4" fmla="*/ 252412 h 504824"/>
                  <a:gd name="connsiteX5" fmla="*/ 1738313 w 1990725"/>
                  <a:gd name="connsiteY5" fmla="*/ 504824 h 504824"/>
                  <a:gd name="connsiteX6" fmla="*/ 1709737 w 1990725"/>
                  <a:gd name="connsiteY6" fmla="*/ 501944 h 504824"/>
                  <a:gd name="connsiteX7" fmla="*/ 1709737 w 1990725"/>
                  <a:gd name="connsiteY7" fmla="*/ 504824 h 504824"/>
                  <a:gd name="connsiteX8" fmla="*/ 252412 w 1990725"/>
                  <a:gd name="connsiteY8" fmla="*/ 504824 h 504824"/>
                  <a:gd name="connsiteX9" fmla="*/ 0 w 1990725"/>
                  <a:gd name="connsiteY9" fmla="*/ 252412 h 504824"/>
                  <a:gd name="connsiteX10" fmla="*/ 252412 w 1990725"/>
                  <a:gd name="connsiteY10" fmla="*/ 0 h 504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0725" h="504824">
                    <a:moveTo>
                      <a:pt x="252412" y="0"/>
                    </a:moveTo>
                    <a:lnTo>
                      <a:pt x="1709737" y="0"/>
                    </a:lnTo>
                    <a:lnTo>
                      <a:pt x="1709737" y="2881"/>
                    </a:lnTo>
                    <a:lnTo>
                      <a:pt x="1738313" y="0"/>
                    </a:lnTo>
                    <a:cubicBezTo>
                      <a:pt x="1877716" y="0"/>
                      <a:pt x="1990725" y="113009"/>
                      <a:pt x="1990725" y="252412"/>
                    </a:cubicBezTo>
                    <a:cubicBezTo>
                      <a:pt x="1990725" y="391815"/>
                      <a:pt x="1877716" y="504824"/>
                      <a:pt x="1738313" y="504824"/>
                    </a:cubicBezTo>
                    <a:lnTo>
                      <a:pt x="1709737" y="501944"/>
                    </a:lnTo>
                    <a:lnTo>
                      <a:pt x="1709737" y="504824"/>
                    </a:lnTo>
                    <a:lnTo>
                      <a:pt x="252412" y="504824"/>
                    </a:lnTo>
                    <a:cubicBezTo>
                      <a:pt x="113009" y="504824"/>
                      <a:pt x="0" y="391815"/>
                      <a:pt x="0" y="252412"/>
                    </a:cubicBezTo>
                    <a:cubicBezTo>
                      <a:pt x="0" y="113009"/>
                      <a:pt x="113009" y="0"/>
                      <a:pt x="252412" y="0"/>
                    </a:cubicBezTo>
                    <a:close/>
                  </a:path>
                </a:pathLst>
              </a:cu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4" name="文本框 18">
                <a:extLst>
                  <a:ext uri="{FF2B5EF4-FFF2-40B4-BE49-F238E27FC236}">
                    <a16:creationId xmlns:a16="http://schemas.microsoft.com/office/drawing/2014/main" id="{D34586D0-6C98-68A4-0C4E-1CE0FAC2FD2B}"/>
                  </a:ext>
                </a:extLst>
              </p:cNvPr>
              <p:cNvSpPr txBox="1"/>
              <p:nvPr/>
            </p:nvSpPr>
            <p:spPr>
              <a:xfrm>
                <a:off x="1063435" y="4206419"/>
                <a:ext cx="1327340" cy="338554"/>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2"/>
                    </a:solidFill>
                  </a:rPr>
                  <a:t>研究方向一</a:t>
                </a:r>
              </a:p>
            </p:txBody>
          </p:sp>
        </p:grpSp>
        <p:sp>
          <p:nvSpPr>
            <p:cNvPr id="23" name="文本框 25">
              <a:extLst>
                <a:ext uri="{FF2B5EF4-FFF2-40B4-BE49-F238E27FC236}">
                  <a16:creationId xmlns:a16="http://schemas.microsoft.com/office/drawing/2014/main" id="{3A5B5B0C-CBA7-23D0-65AF-E0E61346A0DE}"/>
                </a:ext>
              </a:extLst>
            </p:cNvPr>
            <p:cNvSpPr txBox="1"/>
            <p:nvPr/>
          </p:nvSpPr>
          <p:spPr>
            <a:xfrm>
              <a:off x="829941" y="3786601"/>
              <a:ext cx="1543869" cy="33855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t> </a:t>
              </a:r>
              <a:r>
                <a:rPr lang="zh-CN" altLang="en-US" sz="1400" b="1" dirty="0"/>
                <a:t>基于硬件的隔离</a:t>
              </a:r>
            </a:p>
          </p:txBody>
        </p:sp>
        <p:sp>
          <p:nvSpPr>
            <p:cNvPr id="68" name="文本框 67">
              <a:extLst>
                <a:ext uri="{FF2B5EF4-FFF2-40B4-BE49-F238E27FC236}">
                  <a16:creationId xmlns:a16="http://schemas.microsoft.com/office/drawing/2014/main" id="{EB1E573B-2ED0-7EE7-C26E-536DDBEB8E41}"/>
                </a:ext>
              </a:extLst>
            </p:cNvPr>
            <p:cNvSpPr txBox="1"/>
            <p:nvPr/>
          </p:nvSpPr>
          <p:spPr>
            <a:xfrm>
              <a:off x="576095" y="4383541"/>
              <a:ext cx="1928071" cy="830997"/>
            </a:xfrm>
            <a:prstGeom prst="rect">
              <a:avLst/>
            </a:prstGeom>
            <a:noFill/>
          </p:spPr>
          <p:txBody>
            <a:bodyPr wrap="square" rtlCol="0">
              <a:spAutoFit/>
            </a:bodyPr>
            <a:lstStyle/>
            <a:p>
              <a:pPr marL="285750" indent="-285750">
                <a:buFont typeface="Wingdings" panose="05000000000000000000" pitchFamily="2" charset="2"/>
                <a:buChar char="Ø"/>
              </a:pPr>
              <a:r>
                <a:rPr lang="zh-CN" altLang="en-US" sz="1600" i="1" dirty="0"/>
                <a:t>性能开销大</a:t>
              </a:r>
              <a:endParaRPr lang="en-US" altLang="zh-CN" sz="1600" i="1" dirty="0"/>
            </a:p>
            <a:p>
              <a:pPr marL="285750" indent="-285750">
                <a:buFont typeface="Wingdings" panose="05000000000000000000" pitchFamily="2" charset="2"/>
                <a:buChar char="Ø"/>
              </a:pPr>
              <a:r>
                <a:rPr lang="zh-CN" altLang="en-US" sz="1600" i="1" dirty="0"/>
                <a:t>灵活性不足</a:t>
              </a:r>
              <a:endParaRPr lang="en-US" altLang="zh-CN" sz="1600" i="1" dirty="0"/>
            </a:p>
            <a:p>
              <a:pPr marL="285750" indent="-285750">
                <a:buFont typeface="Wingdings" panose="05000000000000000000" pitchFamily="2" charset="2"/>
                <a:buChar char="Ø"/>
              </a:pPr>
              <a:r>
                <a:rPr lang="zh-CN" altLang="en-US" sz="1600" i="1" dirty="0"/>
                <a:t>隔离粒度不匹配</a:t>
              </a:r>
            </a:p>
          </p:txBody>
        </p:sp>
      </p:grpSp>
      <p:grpSp>
        <p:nvGrpSpPr>
          <p:cNvPr id="7" name="组合 6">
            <a:extLst>
              <a:ext uri="{FF2B5EF4-FFF2-40B4-BE49-F238E27FC236}">
                <a16:creationId xmlns:a16="http://schemas.microsoft.com/office/drawing/2014/main" id="{687DE720-93CB-FCCA-4FFF-AC4C3B25C79A}"/>
              </a:ext>
            </a:extLst>
          </p:cNvPr>
          <p:cNvGrpSpPr/>
          <p:nvPr/>
        </p:nvGrpSpPr>
        <p:grpSpPr>
          <a:xfrm>
            <a:off x="2693009" y="1820435"/>
            <a:ext cx="2082652" cy="2240083"/>
            <a:chOff x="2713344" y="3220676"/>
            <a:chExt cx="2082652" cy="2240083"/>
          </a:xfrm>
        </p:grpSpPr>
        <p:sp>
          <p:nvSpPr>
            <p:cNvPr id="5" name="矩形 4">
              <a:extLst>
                <a:ext uri="{FF2B5EF4-FFF2-40B4-BE49-F238E27FC236}">
                  <a16:creationId xmlns:a16="http://schemas.microsoft.com/office/drawing/2014/main" id="{01EFA6E2-30D9-D0C2-944A-33600BB21DDD}"/>
                </a:ext>
              </a:extLst>
            </p:cNvPr>
            <p:cNvSpPr/>
            <p:nvPr/>
          </p:nvSpPr>
          <p:spPr>
            <a:xfrm>
              <a:off x="2713344" y="3482002"/>
              <a:ext cx="1952421" cy="713453"/>
            </a:xfrm>
            <a:prstGeom prst="rect">
              <a:avLst/>
            </a:prstGeom>
            <a:solidFill>
              <a:srgbClr val="EFF8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22" name="组合 21">
              <a:extLst>
                <a:ext uri="{FF2B5EF4-FFF2-40B4-BE49-F238E27FC236}">
                  <a16:creationId xmlns:a16="http://schemas.microsoft.com/office/drawing/2014/main" id="{4C44D941-426E-38FC-886E-DA68B1EE4567}"/>
                </a:ext>
              </a:extLst>
            </p:cNvPr>
            <p:cNvGrpSpPr/>
            <p:nvPr/>
          </p:nvGrpSpPr>
          <p:grpSpPr>
            <a:xfrm>
              <a:off x="2994046" y="3220676"/>
              <a:ext cx="1398779" cy="504824"/>
              <a:chOff x="991996" y="4138673"/>
              <a:chExt cx="1398779" cy="504824"/>
            </a:xfrm>
          </p:grpSpPr>
          <p:sp>
            <p:nvSpPr>
              <p:cNvPr id="41" name="任意多边形: 形状 40">
                <a:extLst>
                  <a:ext uri="{FF2B5EF4-FFF2-40B4-BE49-F238E27FC236}">
                    <a16:creationId xmlns:a16="http://schemas.microsoft.com/office/drawing/2014/main" id="{3B5ED95E-79EE-5AC7-3968-69A8CFADCB49}"/>
                  </a:ext>
                </a:extLst>
              </p:cNvPr>
              <p:cNvSpPr/>
              <p:nvPr/>
            </p:nvSpPr>
            <p:spPr>
              <a:xfrm>
                <a:off x="991996" y="4138673"/>
                <a:ext cx="1398779" cy="504824"/>
              </a:xfrm>
              <a:custGeom>
                <a:avLst/>
                <a:gdLst>
                  <a:gd name="connsiteX0" fmla="*/ 252412 w 1990725"/>
                  <a:gd name="connsiteY0" fmla="*/ 0 h 504824"/>
                  <a:gd name="connsiteX1" fmla="*/ 1709737 w 1990725"/>
                  <a:gd name="connsiteY1" fmla="*/ 0 h 504824"/>
                  <a:gd name="connsiteX2" fmla="*/ 1709737 w 1990725"/>
                  <a:gd name="connsiteY2" fmla="*/ 2881 h 504824"/>
                  <a:gd name="connsiteX3" fmla="*/ 1738313 w 1990725"/>
                  <a:gd name="connsiteY3" fmla="*/ 0 h 504824"/>
                  <a:gd name="connsiteX4" fmla="*/ 1990725 w 1990725"/>
                  <a:gd name="connsiteY4" fmla="*/ 252412 h 504824"/>
                  <a:gd name="connsiteX5" fmla="*/ 1738313 w 1990725"/>
                  <a:gd name="connsiteY5" fmla="*/ 504824 h 504824"/>
                  <a:gd name="connsiteX6" fmla="*/ 1709737 w 1990725"/>
                  <a:gd name="connsiteY6" fmla="*/ 501944 h 504824"/>
                  <a:gd name="connsiteX7" fmla="*/ 1709737 w 1990725"/>
                  <a:gd name="connsiteY7" fmla="*/ 504824 h 504824"/>
                  <a:gd name="connsiteX8" fmla="*/ 252412 w 1990725"/>
                  <a:gd name="connsiteY8" fmla="*/ 504824 h 504824"/>
                  <a:gd name="connsiteX9" fmla="*/ 0 w 1990725"/>
                  <a:gd name="connsiteY9" fmla="*/ 252412 h 504824"/>
                  <a:gd name="connsiteX10" fmla="*/ 252412 w 1990725"/>
                  <a:gd name="connsiteY10" fmla="*/ 0 h 504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0725" h="504824">
                    <a:moveTo>
                      <a:pt x="252412" y="0"/>
                    </a:moveTo>
                    <a:lnTo>
                      <a:pt x="1709737" y="0"/>
                    </a:lnTo>
                    <a:lnTo>
                      <a:pt x="1709737" y="2881"/>
                    </a:lnTo>
                    <a:lnTo>
                      <a:pt x="1738313" y="0"/>
                    </a:lnTo>
                    <a:cubicBezTo>
                      <a:pt x="1877716" y="0"/>
                      <a:pt x="1990725" y="113009"/>
                      <a:pt x="1990725" y="252412"/>
                    </a:cubicBezTo>
                    <a:cubicBezTo>
                      <a:pt x="1990725" y="391815"/>
                      <a:pt x="1877716" y="504824"/>
                      <a:pt x="1738313" y="504824"/>
                    </a:cubicBezTo>
                    <a:lnTo>
                      <a:pt x="1709737" y="501944"/>
                    </a:lnTo>
                    <a:lnTo>
                      <a:pt x="1709737" y="504824"/>
                    </a:lnTo>
                    <a:lnTo>
                      <a:pt x="252412" y="504824"/>
                    </a:lnTo>
                    <a:cubicBezTo>
                      <a:pt x="113009" y="504824"/>
                      <a:pt x="0" y="391815"/>
                      <a:pt x="0" y="252412"/>
                    </a:cubicBezTo>
                    <a:cubicBezTo>
                      <a:pt x="0" y="113009"/>
                      <a:pt x="113009" y="0"/>
                      <a:pt x="252412" y="0"/>
                    </a:cubicBezTo>
                    <a:close/>
                  </a:path>
                </a:pathLst>
              </a:cu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2" name="文本框 22">
                <a:extLst>
                  <a:ext uri="{FF2B5EF4-FFF2-40B4-BE49-F238E27FC236}">
                    <a16:creationId xmlns:a16="http://schemas.microsoft.com/office/drawing/2014/main" id="{AF4C1CE3-1BBB-DC22-3203-611CD2B2C6DF}"/>
                  </a:ext>
                </a:extLst>
              </p:cNvPr>
              <p:cNvSpPr txBox="1"/>
              <p:nvPr/>
            </p:nvSpPr>
            <p:spPr>
              <a:xfrm>
                <a:off x="1063435" y="4206419"/>
                <a:ext cx="1327340" cy="338554"/>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2"/>
                    </a:solidFill>
                  </a:rPr>
                  <a:t>研究方向二</a:t>
                </a:r>
              </a:p>
            </p:txBody>
          </p:sp>
        </p:grpSp>
        <p:sp>
          <p:nvSpPr>
            <p:cNvPr id="24" name="文本框 26">
              <a:extLst>
                <a:ext uri="{FF2B5EF4-FFF2-40B4-BE49-F238E27FC236}">
                  <a16:creationId xmlns:a16="http://schemas.microsoft.com/office/drawing/2014/main" id="{20407AAD-528B-CE4A-705E-BD42DE6C4253}"/>
                </a:ext>
              </a:extLst>
            </p:cNvPr>
            <p:cNvSpPr txBox="1"/>
            <p:nvPr/>
          </p:nvSpPr>
          <p:spPr>
            <a:xfrm>
              <a:off x="2857718" y="3815062"/>
              <a:ext cx="1938278"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b="1" dirty="0"/>
                <a:t>基于软件方法的隔离</a:t>
              </a:r>
            </a:p>
          </p:txBody>
        </p:sp>
        <p:sp>
          <p:nvSpPr>
            <p:cNvPr id="70" name="文本框 69">
              <a:extLst>
                <a:ext uri="{FF2B5EF4-FFF2-40B4-BE49-F238E27FC236}">
                  <a16:creationId xmlns:a16="http://schemas.microsoft.com/office/drawing/2014/main" id="{23CB1EF2-FDAC-B0E5-D2B6-C1A5CDBB9786}"/>
                </a:ext>
              </a:extLst>
            </p:cNvPr>
            <p:cNvSpPr txBox="1"/>
            <p:nvPr/>
          </p:nvSpPr>
          <p:spPr>
            <a:xfrm>
              <a:off x="2713344" y="4383541"/>
              <a:ext cx="1952421" cy="1077218"/>
            </a:xfrm>
            <a:prstGeom prst="rect">
              <a:avLst/>
            </a:prstGeom>
            <a:noFill/>
          </p:spPr>
          <p:txBody>
            <a:bodyPr wrap="square" rtlCol="0">
              <a:spAutoFit/>
            </a:bodyPr>
            <a:lstStyle/>
            <a:p>
              <a:pPr marL="285750" indent="-285750">
                <a:buFont typeface="Wingdings" panose="05000000000000000000" pitchFamily="2" charset="2"/>
                <a:buChar char="Ø"/>
              </a:pPr>
              <a:r>
                <a:rPr lang="en-US" altLang="zh-CN" sz="1600" i="1" dirty="0"/>
                <a:t>SFI</a:t>
              </a:r>
              <a:r>
                <a:rPr lang="zh-CN" altLang="en-US" sz="1600" i="1" dirty="0"/>
                <a:t>的性能与精度问题</a:t>
              </a:r>
              <a:endParaRPr lang="en-US" altLang="zh-CN" sz="1600" i="1" dirty="0"/>
            </a:p>
            <a:p>
              <a:pPr marL="285750" indent="-285750">
                <a:buFont typeface="Wingdings" panose="05000000000000000000" pitchFamily="2" charset="2"/>
                <a:buChar char="Ø"/>
              </a:pPr>
              <a:r>
                <a:rPr lang="zh-CN" altLang="en-US" sz="1600" i="1" dirty="0"/>
                <a:t>微内核的通信开销</a:t>
              </a:r>
            </a:p>
          </p:txBody>
        </p:sp>
      </p:grpSp>
      <p:grpSp>
        <p:nvGrpSpPr>
          <p:cNvPr id="10" name="组合 9">
            <a:extLst>
              <a:ext uri="{FF2B5EF4-FFF2-40B4-BE49-F238E27FC236}">
                <a16:creationId xmlns:a16="http://schemas.microsoft.com/office/drawing/2014/main" id="{FAF65DB1-6DB4-9689-19DD-8E623F1F5E8C}"/>
              </a:ext>
            </a:extLst>
          </p:cNvPr>
          <p:cNvGrpSpPr/>
          <p:nvPr/>
        </p:nvGrpSpPr>
        <p:grpSpPr>
          <a:xfrm>
            <a:off x="4848740" y="1814771"/>
            <a:ext cx="2177861" cy="1999526"/>
            <a:chOff x="4869075" y="3215012"/>
            <a:chExt cx="2177861" cy="1999526"/>
          </a:xfrm>
        </p:grpSpPr>
        <p:sp>
          <p:nvSpPr>
            <p:cNvPr id="51" name="矩形 50">
              <a:extLst>
                <a:ext uri="{FF2B5EF4-FFF2-40B4-BE49-F238E27FC236}">
                  <a16:creationId xmlns:a16="http://schemas.microsoft.com/office/drawing/2014/main" id="{884DE5C9-667F-8AB9-2765-091CFBB1CFF2}"/>
                </a:ext>
              </a:extLst>
            </p:cNvPr>
            <p:cNvSpPr/>
            <p:nvPr/>
          </p:nvSpPr>
          <p:spPr>
            <a:xfrm>
              <a:off x="4869075" y="3476338"/>
              <a:ext cx="2149285" cy="713453"/>
            </a:xfrm>
            <a:prstGeom prst="rect">
              <a:avLst/>
            </a:prstGeom>
            <a:solidFill>
              <a:srgbClr val="EFF8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52" name="组合 51">
              <a:extLst>
                <a:ext uri="{FF2B5EF4-FFF2-40B4-BE49-F238E27FC236}">
                  <a16:creationId xmlns:a16="http://schemas.microsoft.com/office/drawing/2014/main" id="{1E60C851-7C9E-CA3A-9F1C-9BBD4469129D}"/>
                </a:ext>
              </a:extLst>
            </p:cNvPr>
            <p:cNvGrpSpPr/>
            <p:nvPr/>
          </p:nvGrpSpPr>
          <p:grpSpPr>
            <a:xfrm>
              <a:off x="5208609" y="3215012"/>
              <a:ext cx="1398779" cy="504824"/>
              <a:chOff x="991996" y="4138673"/>
              <a:chExt cx="1398779" cy="504824"/>
            </a:xfrm>
          </p:grpSpPr>
          <p:sp>
            <p:nvSpPr>
              <p:cNvPr id="53" name="任意多边形: 形状 52">
                <a:extLst>
                  <a:ext uri="{FF2B5EF4-FFF2-40B4-BE49-F238E27FC236}">
                    <a16:creationId xmlns:a16="http://schemas.microsoft.com/office/drawing/2014/main" id="{2687D402-727E-6448-8F29-E589B4F5445E}"/>
                  </a:ext>
                </a:extLst>
              </p:cNvPr>
              <p:cNvSpPr/>
              <p:nvPr/>
            </p:nvSpPr>
            <p:spPr>
              <a:xfrm>
                <a:off x="991996" y="4138673"/>
                <a:ext cx="1398779" cy="504824"/>
              </a:xfrm>
              <a:custGeom>
                <a:avLst/>
                <a:gdLst>
                  <a:gd name="connsiteX0" fmla="*/ 252412 w 1990725"/>
                  <a:gd name="connsiteY0" fmla="*/ 0 h 504824"/>
                  <a:gd name="connsiteX1" fmla="*/ 1709737 w 1990725"/>
                  <a:gd name="connsiteY1" fmla="*/ 0 h 504824"/>
                  <a:gd name="connsiteX2" fmla="*/ 1709737 w 1990725"/>
                  <a:gd name="connsiteY2" fmla="*/ 2881 h 504824"/>
                  <a:gd name="connsiteX3" fmla="*/ 1738313 w 1990725"/>
                  <a:gd name="connsiteY3" fmla="*/ 0 h 504824"/>
                  <a:gd name="connsiteX4" fmla="*/ 1990725 w 1990725"/>
                  <a:gd name="connsiteY4" fmla="*/ 252412 h 504824"/>
                  <a:gd name="connsiteX5" fmla="*/ 1738313 w 1990725"/>
                  <a:gd name="connsiteY5" fmla="*/ 504824 h 504824"/>
                  <a:gd name="connsiteX6" fmla="*/ 1709737 w 1990725"/>
                  <a:gd name="connsiteY6" fmla="*/ 501944 h 504824"/>
                  <a:gd name="connsiteX7" fmla="*/ 1709737 w 1990725"/>
                  <a:gd name="connsiteY7" fmla="*/ 504824 h 504824"/>
                  <a:gd name="connsiteX8" fmla="*/ 252412 w 1990725"/>
                  <a:gd name="connsiteY8" fmla="*/ 504824 h 504824"/>
                  <a:gd name="connsiteX9" fmla="*/ 0 w 1990725"/>
                  <a:gd name="connsiteY9" fmla="*/ 252412 h 504824"/>
                  <a:gd name="connsiteX10" fmla="*/ 252412 w 1990725"/>
                  <a:gd name="connsiteY10" fmla="*/ 0 h 504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0725" h="504824">
                    <a:moveTo>
                      <a:pt x="252412" y="0"/>
                    </a:moveTo>
                    <a:lnTo>
                      <a:pt x="1709737" y="0"/>
                    </a:lnTo>
                    <a:lnTo>
                      <a:pt x="1709737" y="2881"/>
                    </a:lnTo>
                    <a:lnTo>
                      <a:pt x="1738313" y="0"/>
                    </a:lnTo>
                    <a:cubicBezTo>
                      <a:pt x="1877716" y="0"/>
                      <a:pt x="1990725" y="113009"/>
                      <a:pt x="1990725" y="252412"/>
                    </a:cubicBezTo>
                    <a:cubicBezTo>
                      <a:pt x="1990725" y="391815"/>
                      <a:pt x="1877716" y="504824"/>
                      <a:pt x="1738313" y="504824"/>
                    </a:cubicBezTo>
                    <a:lnTo>
                      <a:pt x="1709737" y="501944"/>
                    </a:lnTo>
                    <a:lnTo>
                      <a:pt x="1709737" y="504824"/>
                    </a:lnTo>
                    <a:lnTo>
                      <a:pt x="252412" y="504824"/>
                    </a:lnTo>
                    <a:cubicBezTo>
                      <a:pt x="113009" y="504824"/>
                      <a:pt x="0" y="391815"/>
                      <a:pt x="0" y="252412"/>
                    </a:cubicBezTo>
                    <a:cubicBezTo>
                      <a:pt x="0" y="113009"/>
                      <a:pt x="113009" y="0"/>
                      <a:pt x="252412" y="0"/>
                    </a:cubicBezTo>
                    <a:close/>
                  </a:path>
                </a:pathLst>
              </a:cu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54" name="文本框 22">
                <a:extLst>
                  <a:ext uri="{FF2B5EF4-FFF2-40B4-BE49-F238E27FC236}">
                    <a16:creationId xmlns:a16="http://schemas.microsoft.com/office/drawing/2014/main" id="{FE8D1B37-2289-1A1E-EA93-05FB3380FB5E}"/>
                  </a:ext>
                </a:extLst>
              </p:cNvPr>
              <p:cNvSpPr txBox="1"/>
              <p:nvPr/>
            </p:nvSpPr>
            <p:spPr>
              <a:xfrm>
                <a:off x="1063435" y="4206419"/>
                <a:ext cx="1327340" cy="338554"/>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2"/>
                    </a:solidFill>
                  </a:rPr>
                  <a:t>研究方向三</a:t>
                </a:r>
              </a:p>
            </p:txBody>
          </p:sp>
        </p:grpSp>
        <p:sp>
          <p:nvSpPr>
            <p:cNvPr id="55" name="文本框 26">
              <a:extLst>
                <a:ext uri="{FF2B5EF4-FFF2-40B4-BE49-F238E27FC236}">
                  <a16:creationId xmlns:a16="http://schemas.microsoft.com/office/drawing/2014/main" id="{2B7B5E0C-3305-25B4-AF81-4EA20818E720}"/>
                </a:ext>
              </a:extLst>
            </p:cNvPr>
            <p:cNvSpPr txBox="1"/>
            <p:nvPr/>
          </p:nvSpPr>
          <p:spPr>
            <a:xfrm>
              <a:off x="4897651" y="3771732"/>
              <a:ext cx="2149285"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b="1" dirty="0"/>
                <a:t>基于传统安全语言的隔离</a:t>
              </a:r>
            </a:p>
          </p:txBody>
        </p:sp>
        <p:sp>
          <p:nvSpPr>
            <p:cNvPr id="71" name="文本框 70">
              <a:extLst>
                <a:ext uri="{FF2B5EF4-FFF2-40B4-BE49-F238E27FC236}">
                  <a16:creationId xmlns:a16="http://schemas.microsoft.com/office/drawing/2014/main" id="{5DCCB9F1-527C-7441-3CAE-C24AF2864098}"/>
                </a:ext>
              </a:extLst>
            </p:cNvPr>
            <p:cNvSpPr txBox="1"/>
            <p:nvPr/>
          </p:nvSpPr>
          <p:spPr>
            <a:xfrm>
              <a:off x="4869075" y="4383541"/>
              <a:ext cx="2149285" cy="830997"/>
            </a:xfrm>
            <a:prstGeom prst="rect">
              <a:avLst/>
            </a:prstGeom>
            <a:noFill/>
          </p:spPr>
          <p:txBody>
            <a:bodyPr wrap="square" rtlCol="0">
              <a:spAutoFit/>
            </a:bodyPr>
            <a:lstStyle/>
            <a:p>
              <a:pPr marL="285750" indent="-285750">
                <a:buFont typeface="Wingdings" panose="05000000000000000000" pitchFamily="2" charset="2"/>
                <a:buChar char="Ø"/>
              </a:pPr>
              <a:r>
                <a:rPr lang="zh-CN" altLang="en-US" sz="1600" i="1" dirty="0"/>
                <a:t>垃圾回收的开销</a:t>
              </a:r>
              <a:endParaRPr lang="en-US" altLang="zh-CN" sz="1600" i="1" dirty="0"/>
            </a:p>
            <a:p>
              <a:pPr marL="285750" indent="-285750">
                <a:buFont typeface="Wingdings" panose="05000000000000000000" pitchFamily="2" charset="2"/>
                <a:buChar char="Ø"/>
              </a:pPr>
              <a:r>
                <a:rPr lang="zh-CN" altLang="en-US" sz="1600" i="1" dirty="0"/>
                <a:t>低级硬件访问能力弱</a:t>
              </a:r>
            </a:p>
          </p:txBody>
        </p:sp>
      </p:grpSp>
      <p:grpSp>
        <p:nvGrpSpPr>
          <p:cNvPr id="11" name="组合 10">
            <a:extLst>
              <a:ext uri="{FF2B5EF4-FFF2-40B4-BE49-F238E27FC236}">
                <a16:creationId xmlns:a16="http://schemas.microsoft.com/office/drawing/2014/main" id="{875E9A48-8BDE-8EB0-2CB2-E0DA38E24FC7}"/>
              </a:ext>
            </a:extLst>
          </p:cNvPr>
          <p:cNvGrpSpPr/>
          <p:nvPr/>
        </p:nvGrpSpPr>
        <p:grpSpPr>
          <a:xfrm>
            <a:off x="7201335" y="1818644"/>
            <a:ext cx="2161271" cy="2241874"/>
            <a:chOff x="7221670" y="3218885"/>
            <a:chExt cx="2161271" cy="2241874"/>
          </a:xfrm>
        </p:grpSpPr>
        <p:sp>
          <p:nvSpPr>
            <p:cNvPr id="57" name="矩形 56">
              <a:extLst>
                <a:ext uri="{FF2B5EF4-FFF2-40B4-BE49-F238E27FC236}">
                  <a16:creationId xmlns:a16="http://schemas.microsoft.com/office/drawing/2014/main" id="{38AD86DA-282C-F44C-1F74-0BC47A784402}"/>
                </a:ext>
              </a:extLst>
            </p:cNvPr>
            <p:cNvSpPr/>
            <p:nvPr/>
          </p:nvSpPr>
          <p:spPr>
            <a:xfrm>
              <a:off x="7221670" y="3480211"/>
              <a:ext cx="2149285" cy="713453"/>
            </a:xfrm>
            <a:prstGeom prst="rect">
              <a:avLst/>
            </a:prstGeom>
            <a:solidFill>
              <a:srgbClr val="EFF8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58" name="组合 57">
              <a:extLst>
                <a:ext uri="{FF2B5EF4-FFF2-40B4-BE49-F238E27FC236}">
                  <a16:creationId xmlns:a16="http://schemas.microsoft.com/office/drawing/2014/main" id="{DDB61068-575D-E26D-E3D2-68ED943BE495}"/>
                </a:ext>
              </a:extLst>
            </p:cNvPr>
            <p:cNvGrpSpPr/>
            <p:nvPr/>
          </p:nvGrpSpPr>
          <p:grpSpPr>
            <a:xfrm>
              <a:off x="7561204" y="3218885"/>
              <a:ext cx="1398779" cy="504824"/>
              <a:chOff x="991996" y="4138673"/>
              <a:chExt cx="1398779" cy="504824"/>
            </a:xfrm>
          </p:grpSpPr>
          <p:sp>
            <p:nvSpPr>
              <p:cNvPr id="59" name="任意多边形: 形状 58">
                <a:extLst>
                  <a:ext uri="{FF2B5EF4-FFF2-40B4-BE49-F238E27FC236}">
                    <a16:creationId xmlns:a16="http://schemas.microsoft.com/office/drawing/2014/main" id="{3B1B5199-FAD2-B88D-96F0-67DF1385BAEA}"/>
                  </a:ext>
                </a:extLst>
              </p:cNvPr>
              <p:cNvSpPr/>
              <p:nvPr/>
            </p:nvSpPr>
            <p:spPr>
              <a:xfrm>
                <a:off x="991996" y="4138673"/>
                <a:ext cx="1398779" cy="504824"/>
              </a:xfrm>
              <a:custGeom>
                <a:avLst/>
                <a:gdLst>
                  <a:gd name="connsiteX0" fmla="*/ 252412 w 1990725"/>
                  <a:gd name="connsiteY0" fmla="*/ 0 h 504824"/>
                  <a:gd name="connsiteX1" fmla="*/ 1709737 w 1990725"/>
                  <a:gd name="connsiteY1" fmla="*/ 0 h 504824"/>
                  <a:gd name="connsiteX2" fmla="*/ 1709737 w 1990725"/>
                  <a:gd name="connsiteY2" fmla="*/ 2881 h 504824"/>
                  <a:gd name="connsiteX3" fmla="*/ 1738313 w 1990725"/>
                  <a:gd name="connsiteY3" fmla="*/ 0 h 504824"/>
                  <a:gd name="connsiteX4" fmla="*/ 1990725 w 1990725"/>
                  <a:gd name="connsiteY4" fmla="*/ 252412 h 504824"/>
                  <a:gd name="connsiteX5" fmla="*/ 1738313 w 1990725"/>
                  <a:gd name="connsiteY5" fmla="*/ 504824 h 504824"/>
                  <a:gd name="connsiteX6" fmla="*/ 1709737 w 1990725"/>
                  <a:gd name="connsiteY6" fmla="*/ 501944 h 504824"/>
                  <a:gd name="connsiteX7" fmla="*/ 1709737 w 1990725"/>
                  <a:gd name="connsiteY7" fmla="*/ 504824 h 504824"/>
                  <a:gd name="connsiteX8" fmla="*/ 252412 w 1990725"/>
                  <a:gd name="connsiteY8" fmla="*/ 504824 h 504824"/>
                  <a:gd name="connsiteX9" fmla="*/ 0 w 1990725"/>
                  <a:gd name="connsiteY9" fmla="*/ 252412 h 504824"/>
                  <a:gd name="connsiteX10" fmla="*/ 252412 w 1990725"/>
                  <a:gd name="connsiteY10" fmla="*/ 0 h 504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0725" h="504824">
                    <a:moveTo>
                      <a:pt x="252412" y="0"/>
                    </a:moveTo>
                    <a:lnTo>
                      <a:pt x="1709737" y="0"/>
                    </a:lnTo>
                    <a:lnTo>
                      <a:pt x="1709737" y="2881"/>
                    </a:lnTo>
                    <a:lnTo>
                      <a:pt x="1738313" y="0"/>
                    </a:lnTo>
                    <a:cubicBezTo>
                      <a:pt x="1877716" y="0"/>
                      <a:pt x="1990725" y="113009"/>
                      <a:pt x="1990725" y="252412"/>
                    </a:cubicBezTo>
                    <a:cubicBezTo>
                      <a:pt x="1990725" y="391815"/>
                      <a:pt x="1877716" y="504824"/>
                      <a:pt x="1738313" y="504824"/>
                    </a:cubicBezTo>
                    <a:lnTo>
                      <a:pt x="1709737" y="501944"/>
                    </a:lnTo>
                    <a:lnTo>
                      <a:pt x="1709737" y="504824"/>
                    </a:lnTo>
                    <a:lnTo>
                      <a:pt x="252412" y="504824"/>
                    </a:lnTo>
                    <a:cubicBezTo>
                      <a:pt x="113009" y="504824"/>
                      <a:pt x="0" y="391815"/>
                      <a:pt x="0" y="252412"/>
                    </a:cubicBezTo>
                    <a:cubicBezTo>
                      <a:pt x="0" y="113009"/>
                      <a:pt x="113009" y="0"/>
                      <a:pt x="252412" y="0"/>
                    </a:cubicBezTo>
                    <a:close/>
                  </a:path>
                </a:pathLst>
              </a:cu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60" name="文本框 22">
                <a:extLst>
                  <a:ext uri="{FF2B5EF4-FFF2-40B4-BE49-F238E27FC236}">
                    <a16:creationId xmlns:a16="http://schemas.microsoft.com/office/drawing/2014/main" id="{AC81E673-AA1C-DE28-1FFC-E299197F50A4}"/>
                  </a:ext>
                </a:extLst>
              </p:cNvPr>
              <p:cNvSpPr txBox="1"/>
              <p:nvPr/>
            </p:nvSpPr>
            <p:spPr>
              <a:xfrm>
                <a:off x="1063435" y="4206419"/>
                <a:ext cx="1327340" cy="338554"/>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2"/>
                    </a:solidFill>
                  </a:rPr>
                  <a:t>研究方向四</a:t>
                </a:r>
              </a:p>
            </p:txBody>
          </p:sp>
        </p:grpSp>
        <p:sp>
          <p:nvSpPr>
            <p:cNvPr id="61" name="文本框 26">
              <a:extLst>
                <a:ext uri="{FF2B5EF4-FFF2-40B4-BE49-F238E27FC236}">
                  <a16:creationId xmlns:a16="http://schemas.microsoft.com/office/drawing/2014/main" id="{C76BD61B-5E7A-5F04-B3D9-ACDFB0C10E83}"/>
                </a:ext>
              </a:extLst>
            </p:cNvPr>
            <p:cNvSpPr txBox="1"/>
            <p:nvPr/>
          </p:nvSpPr>
          <p:spPr>
            <a:xfrm>
              <a:off x="7365942" y="3769339"/>
              <a:ext cx="2005013"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b="1" dirty="0"/>
                <a:t>基于</a:t>
              </a:r>
              <a:r>
                <a:rPr lang="en-US" altLang="zh-CN" sz="1400" b="1" dirty="0"/>
                <a:t>Rust</a:t>
              </a:r>
              <a:r>
                <a:rPr lang="zh-CN" altLang="en-US" sz="1400" b="1" dirty="0"/>
                <a:t>语言的隔离</a:t>
              </a:r>
            </a:p>
          </p:txBody>
        </p:sp>
        <p:sp>
          <p:nvSpPr>
            <p:cNvPr id="72" name="文本框 71">
              <a:extLst>
                <a:ext uri="{FF2B5EF4-FFF2-40B4-BE49-F238E27FC236}">
                  <a16:creationId xmlns:a16="http://schemas.microsoft.com/office/drawing/2014/main" id="{0A8CD491-D801-7113-8647-1744926B1889}"/>
                </a:ext>
              </a:extLst>
            </p:cNvPr>
            <p:cNvSpPr txBox="1"/>
            <p:nvPr/>
          </p:nvSpPr>
          <p:spPr>
            <a:xfrm>
              <a:off x="7221670" y="4383541"/>
              <a:ext cx="2161271" cy="1077218"/>
            </a:xfrm>
            <a:prstGeom prst="rect">
              <a:avLst/>
            </a:prstGeom>
            <a:noFill/>
          </p:spPr>
          <p:txBody>
            <a:bodyPr wrap="square" rtlCol="0">
              <a:spAutoFit/>
            </a:bodyPr>
            <a:lstStyle/>
            <a:p>
              <a:pPr marL="285750" indent="-285750">
                <a:buFont typeface="Wingdings" panose="05000000000000000000" pitchFamily="2" charset="2"/>
                <a:buChar char="Ø"/>
              </a:pPr>
              <a:r>
                <a:rPr lang="zh-CN" altLang="en-US" sz="1600" i="1" dirty="0"/>
                <a:t>完全用</a:t>
              </a:r>
              <a:r>
                <a:rPr lang="en-US" altLang="zh-CN" sz="1600" i="1" dirty="0"/>
                <a:t>Rust</a:t>
              </a:r>
              <a:r>
                <a:rPr lang="zh-CN" altLang="en-US" sz="1600" i="1" dirty="0"/>
                <a:t>重写一个全新的操作系统来替代</a:t>
              </a:r>
              <a:r>
                <a:rPr lang="en-US" altLang="zh-CN" sz="1600" i="1" dirty="0"/>
                <a:t>Linux</a:t>
              </a:r>
              <a:r>
                <a:rPr lang="zh-CN" altLang="en-US" sz="1600" i="1" dirty="0"/>
                <a:t>等现有系统</a:t>
              </a:r>
            </a:p>
          </p:txBody>
        </p:sp>
      </p:grpSp>
      <p:grpSp>
        <p:nvGrpSpPr>
          <p:cNvPr id="25" name="组合 24">
            <a:extLst>
              <a:ext uri="{FF2B5EF4-FFF2-40B4-BE49-F238E27FC236}">
                <a16:creationId xmlns:a16="http://schemas.microsoft.com/office/drawing/2014/main" id="{691FA3E9-4DA9-824A-3191-60418F7552D1}"/>
              </a:ext>
            </a:extLst>
          </p:cNvPr>
          <p:cNvGrpSpPr/>
          <p:nvPr/>
        </p:nvGrpSpPr>
        <p:grpSpPr>
          <a:xfrm>
            <a:off x="9525354" y="1814771"/>
            <a:ext cx="2149285" cy="2245747"/>
            <a:chOff x="9545689" y="3215012"/>
            <a:chExt cx="2149285" cy="2245747"/>
          </a:xfrm>
        </p:grpSpPr>
        <p:sp>
          <p:nvSpPr>
            <p:cNvPr id="63" name="矩形 62">
              <a:extLst>
                <a:ext uri="{FF2B5EF4-FFF2-40B4-BE49-F238E27FC236}">
                  <a16:creationId xmlns:a16="http://schemas.microsoft.com/office/drawing/2014/main" id="{AE0B8BEE-F9E2-21FE-AA8F-319363DDE875}"/>
                </a:ext>
              </a:extLst>
            </p:cNvPr>
            <p:cNvSpPr/>
            <p:nvPr/>
          </p:nvSpPr>
          <p:spPr>
            <a:xfrm>
              <a:off x="9545689" y="3476338"/>
              <a:ext cx="2149285" cy="713453"/>
            </a:xfrm>
            <a:prstGeom prst="rect">
              <a:avLst/>
            </a:prstGeom>
            <a:solidFill>
              <a:srgbClr val="EFF8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64" name="组合 63">
              <a:extLst>
                <a:ext uri="{FF2B5EF4-FFF2-40B4-BE49-F238E27FC236}">
                  <a16:creationId xmlns:a16="http://schemas.microsoft.com/office/drawing/2014/main" id="{67616308-A5F0-7AC9-1608-57C1B142A58B}"/>
                </a:ext>
              </a:extLst>
            </p:cNvPr>
            <p:cNvGrpSpPr/>
            <p:nvPr/>
          </p:nvGrpSpPr>
          <p:grpSpPr>
            <a:xfrm>
              <a:off x="9885223" y="3215012"/>
              <a:ext cx="1398779" cy="504824"/>
              <a:chOff x="991996" y="4138673"/>
              <a:chExt cx="1398779" cy="504824"/>
            </a:xfrm>
          </p:grpSpPr>
          <p:sp>
            <p:nvSpPr>
              <p:cNvPr id="65" name="任意多边形: 形状 64">
                <a:extLst>
                  <a:ext uri="{FF2B5EF4-FFF2-40B4-BE49-F238E27FC236}">
                    <a16:creationId xmlns:a16="http://schemas.microsoft.com/office/drawing/2014/main" id="{C417BAED-1F29-81D6-3AD0-FCD1CDF39102}"/>
                  </a:ext>
                </a:extLst>
              </p:cNvPr>
              <p:cNvSpPr/>
              <p:nvPr/>
            </p:nvSpPr>
            <p:spPr>
              <a:xfrm>
                <a:off x="991996" y="4138673"/>
                <a:ext cx="1398779" cy="504824"/>
              </a:xfrm>
              <a:custGeom>
                <a:avLst/>
                <a:gdLst>
                  <a:gd name="connsiteX0" fmla="*/ 252412 w 1990725"/>
                  <a:gd name="connsiteY0" fmla="*/ 0 h 504824"/>
                  <a:gd name="connsiteX1" fmla="*/ 1709737 w 1990725"/>
                  <a:gd name="connsiteY1" fmla="*/ 0 h 504824"/>
                  <a:gd name="connsiteX2" fmla="*/ 1709737 w 1990725"/>
                  <a:gd name="connsiteY2" fmla="*/ 2881 h 504824"/>
                  <a:gd name="connsiteX3" fmla="*/ 1738313 w 1990725"/>
                  <a:gd name="connsiteY3" fmla="*/ 0 h 504824"/>
                  <a:gd name="connsiteX4" fmla="*/ 1990725 w 1990725"/>
                  <a:gd name="connsiteY4" fmla="*/ 252412 h 504824"/>
                  <a:gd name="connsiteX5" fmla="*/ 1738313 w 1990725"/>
                  <a:gd name="connsiteY5" fmla="*/ 504824 h 504824"/>
                  <a:gd name="connsiteX6" fmla="*/ 1709737 w 1990725"/>
                  <a:gd name="connsiteY6" fmla="*/ 501944 h 504824"/>
                  <a:gd name="connsiteX7" fmla="*/ 1709737 w 1990725"/>
                  <a:gd name="connsiteY7" fmla="*/ 504824 h 504824"/>
                  <a:gd name="connsiteX8" fmla="*/ 252412 w 1990725"/>
                  <a:gd name="connsiteY8" fmla="*/ 504824 h 504824"/>
                  <a:gd name="connsiteX9" fmla="*/ 0 w 1990725"/>
                  <a:gd name="connsiteY9" fmla="*/ 252412 h 504824"/>
                  <a:gd name="connsiteX10" fmla="*/ 252412 w 1990725"/>
                  <a:gd name="connsiteY10" fmla="*/ 0 h 504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0725" h="504824">
                    <a:moveTo>
                      <a:pt x="252412" y="0"/>
                    </a:moveTo>
                    <a:lnTo>
                      <a:pt x="1709737" y="0"/>
                    </a:lnTo>
                    <a:lnTo>
                      <a:pt x="1709737" y="2881"/>
                    </a:lnTo>
                    <a:lnTo>
                      <a:pt x="1738313" y="0"/>
                    </a:lnTo>
                    <a:cubicBezTo>
                      <a:pt x="1877716" y="0"/>
                      <a:pt x="1990725" y="113009"/>
                      <a:pt x="1990725" y="252412"/>
                    </a:cubicBezTo>
                    <a:cubicBezTo>
                      <a:pt x="1990725" y="391815"/>
                      <a:pt x="1877716" y="504824"/>
                      <a:pt x="1738313" y="504824"/>
                    </a:cubicBezTo>
                    <a:lnTo>
                      <a:pt x="1709737" y="501944"/>
                    </a:lnTo>
                    <a:lnTo>
                      <a:pt x="1709737" y="504824"/>
                    </a:lnTo>
                    <a:lnTo>
                      <a:pt x="252412" y="504824"/>
                    </a:lnTo>
                    <a:cubicBezTo>
                      <a:pt x="113009" y="504824"/>
                      <a:pt x="0" y="391815"/>
                      <a:pt x="0" y="252412"/>
                    </a:cubicBezTo>
                    <a:cubicBezTo>
                      <a:pt x="0" y="113009"/>
                      <a:pt x="113009" y="0"/>
                      <a:pt x="252412" y="0"/>
                    </a:cubicBezTo>
                    <a:close/>
                  </a:path>
                </a:pathLst>
              </a:cu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66" name="文本框 22">
                <a:extLst>
                  <a:ext uri="{FF2B5EF4-FFF2-40B4-BE49-F238E27FC236}">
                    <a16:creationId xmlns:a16="http://schemas.microsoft.com/office/drawing/2014/main" id="{6329E531-5FED-6E68-C8DB-C39C41405839}"/>
                  </a:ext>
                </a:extLst>
              </p:cNvPr>
              <p:cNvSpPr txBox="1"/>
              <p:nvPr/>
            </p:nvSpPr>
            <p:spPr>
              <a:xfrm>
                <a:off x="1027715" y="4206419"/>
                <a:ext cx="1327340" cy="338554"/>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2"/>
                    </a:solidFill>
                  </a:rPr>
                  <a:t>研究方向五</a:t>
                </a:r>
              </a:p>
            </p:txBody>
          </p:sp>
        </p:grpSp>
        <p:sp>
          <p:nvSpPr>
            <p:cNvPr id="67" name="文本框 26">
              <a:extLst>
                <a:ext uri="{FF2B5EF4-FFF2-40B4-BE49-F238E27FC236}">
                  <a16:creationId xmlns:a16="http://schemas.microsoft.com/office/drawing/2014/main" id="{EB6344BE-B6B1-7CAA-4D21-500075D7AE68}"/>
                </a:ext>
              </a:extLst>
            </p:cNvPr>
            <p:cNvSpPr txBox="1"/>
            <p:nvPr/>
          </p:nvSpPr>
          <p:spPr>
            <a:xfrm>
              <a:off x="10156218" y="3763458"/>
              <a:ext cx="75145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b="1" dirty="0"/>
                <a:t>热更新</a:t>
              </a:r>
            </a:p>
          </p:txBody>
        </p:sp>
        <p:sp>
          <p:nvSpPr>
            <p:cNvPr id="75" name="文本框 74">
              <a:extLst>
                <a:ext uri="{FF2B5EF4-FFF2-40B4-BE49-F238E27FC236}">
                  <a16:creationId xmlns:a16="http://schemas.microsoft.com/office/drawing/2014/main" id="{12C30137-B2C9-41E8-E019-E46EC8F762C8}"/>
                </a:ext>
              </a:extLst>
            </p:cNvPr>
            <p:cNvSpPr txBox="1"/>
            <p:nvPr/>
          </p:nvSpPr>
          <p:spPr>
            <a:xfrm>
              <a:off x="9545689" y="4383541"/>
              <a:ext cx="2149285" cy="1077218"/>
            </a:xfrm>
            <a:prstGeom prst="rect">
              <a:avLst/>
            </a:prstGeom>
            <a:noFill/>
          </p:spPr>
          <p:txBody>
            <a:bodyPr wrap="square" rtlCol="0">
              <a:spAutoFit/>
            </a:bodyPr>
            <a:lstStyle/>
            <a:p>
              <a:pPr marL="285750" indent="-285750">
                <a:buFont typeface="Wingdings" panose="05000000000000000000" pitchFamily="2" charset="2"/>
                <a:buChar char="Ø"/>
              </a:pPr>
              <a:r>
                <a:rPr lang="zh-CN" altLang="en-US" sz="1600" i="1" dirty="0"/>
                <a:t>功能级别的更新成熟</a:t>
              </a:r>
              <a:endParaRPr lang="en-US" altLang="zh-CN" sz="1600" i="1" dirty="0"/>
            </a:p>
            <a:p>
              <a:pPr marL="285750" indent="-285750">
                <a:buFont typeface="Wingdings" panose="05000000000000000000" pitchFamily="2" charset="2"/>
                <a:buChar char="Ø"/>
              </a:pPr>
              <a:r>
                <a:rPr lang="zh-CN" altLang="en-US" sz="1600" i="1" dirty="0"/>
                <a:t>缺乏通用的适用机制</a:t>
              </a:r>
            </a:p>
          </p:txBody>
        </p:sp>
      </p:grpSp>
    </p:spTree>
    <p:extLst>
      <p:ext uri="{BB962C8B-B14F-4D97-AF65-F5344CB8AC3E}">
        <p14:creationId xmlns:p14="http://schemas.microsoft.com/office/powerpoint/2010/main" val="429331907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500"/>
                                        <p:tgtEl>
                                          <p:spTgt spid="11"/>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wipe(left)">
                                      <p:cBhvr>
                                        <p:cTn id="23" dur="500"/>
                                        <p:tgtEl>
                                          <p:spTgt spid="2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left)">
                                      <p:cBhvr>
                                        <p:cTn id="2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621AE-E24D-847C-FC5C-4B1F6EAD1791}"/>
            </a:ext>
          </a:extLst>
        </p:cNvPr>
        <p:cNvGrpSpPr/>
        <p:nvPr/>
      </p:nvGrpSpPr>
      <p:grpSpPr>
        <a:xfrm>
          <a:off x="0" y="0"/>
          <a:ext cx="0" cy="0"/>
          <a:chOff x="0" y="0"/>
          <a:chExt cx="0" cy="0"/>
        </a:xfrm>
      </p:grpSpPr>
      <p:sp>
        <p:nvSpPr>
          <p:cNvPr id="9" name="标题 8">
            <a:extLst>
              <a:ext uri="{FF2B5EF4-FFF2-40B4-BE49-F238E27FC236}">
                <a16:creationId xmlns:a16="http://schemas.microsoft.com/office/drawing/2014/main" id="{2449DB02-9074-757C-3893-B002ECB10C7C}"/>
              </a:ext>
            </a:extLst>
          </p:cNvPr>
          <p:cNvSpPr>
            <a:spLocks noGrp="1"/>
          </p:cNvSpPr>
          <p:nvPr>
            <p:ph type="title"/>
          </p:nvPr>
        </p:nvSpPr>
        <p:spPr>
          <a:xfrm>
            <a:off x="1173494" y="249067"/>
            <a:ext cx="8048203" cy="480131"/>
          </a:xfrm>
        </p:spPr>
        <p:txBody>
          <a:bodyPr/>
          <a:lstStyle/>
          <a:p>
            <a:r>
              <a:rPr lang="zh-CN" altLang="en-US" spc="300" dirty="0">
                <a:latin typeface="+mj-ea"/>
              </a:rPr>
              <a:t>研究现状与关键问题</a:t>
            </a:r>
          </a:p>
        </p:txBody>
      </p:sp>
      <p:pic>
        <p:nvPicPr>
          <p:cNvPr id="3" name="图片 2" descr="表格&#10;&#10;AI 生成的内容可能不正确。">
            <a:extLst>
              <a:ext uri="{FF2B5EF4-FFF2-40B4-BE49-F238E27FC236}">
                <a16:creationId xmlns:a16="http://schemas.microsoft.com/office/drawing/2014/main" id="{09541205-B63B-F143-1EF3-1822C07CA3E9}"/>
              </a:ext>
            </a:extLst>
          </p:cNvPr>
          <p:cNvPicPr>
            <a:picLocks noChangeAspect="1"/>
          </p:cNvPicPr>
          <p:nvPr/>
        </p:nvPicPr>
        <p:blipFill>
          <a:blip r:embed="rId3"/>
          <a:stretch>
            <a:fillRect/>
          </a:stretch>
        </p:blipFill>
        <p:spPr>
          <a:xfrm>
            <a:off x="1261388" y="1353160"/>
            <a:ext cx="9669224" cy="4277322"/>
          </a:xfrm>
          <a:prstGeom prst="rect">
            <a:avLst/>
          </a:prstGeom>
        </p:spPr>
      </p:pic>
    </p:spTree>
    <p:extLst>
      <p:ext uri="{BB962C8B-B14F-4D97-AF65-F5344CB8AC3E}">
        <p14:creationId xmlns:p14="http://schemas.microsoft.com/office/powerpoint/2010/main" val="327637234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8759C-F6EB-6955-21F2-AA292749FFB4}"/>
            </a:ext>
          </a:extLst>
        </p:cNvPr>
        <p:cNvGrpSpPr/>
        <p:nvPr/>
      </p:nvGrpSpPr>
      <p:grpSpPr>
        <a:xfrm>
          <a:off x="0" y="0"/>
          <a:ext cx="0" cy="0"/>
          <a:chOff x="0" y="0"/>
          <a:chExt cx="0" cy="0"/>
        </a:xfrm>
      </p:grpSpPr>
      <p:sp>
        <p:nvSpPr>
          <p:cNvPr id="9" name="标题 8">
            <a:extLst>
              <a:ext uri="{FF2B5EF4-FFF2-40B4-BE49-F238E27FC236}">
                <a16:creationId xmlns:a16="http://schemas.microsoft.com/office/drawing/2014/main" id="{11D31F4E-30A4-CF27-B487-3FD1877DE69E}"/>
              </a:ext>
            </a:extLst>
          </p:cNvPr>
          <p:cNvSpPr>
            <a:spLocks noGrp="1"/>
          </p:cNvSpPr>
          <p:nvPr>
            <p:ph type="title"/>
          </p:nvPr>
        </p:nvSpPr>
        <p:spPr>
          <a:xfrm>
            <a:off x="1173494" y="249067"/>
            <a:ext cx="8048203" cy="480131"/>
          </a:xfrm>
        </p:spPr>
        <p:txBody>
          <a:bodyPr/>
          <a:lstStyle/>
          <a:p>
            <a:r>
              <a:rPr lang="zh-CN" altLang="en-US" spc="300" dirty="0">
                <a:latin typeface="+mj-ea"/>
              </a:rPr>
              <a:t>设计和实现</a:t>
            </a:r>
          </a:p>
        </p:txBody>
      </p:sp>
      <p:grpSp>
        <p:nvGrpSpPr>
          <p:cNvPr id="22" name="组合 21">
            <a:extLst>
              <a:ext uri="{FF2B5EF4-FFF2-40B4-BE49-F238E27FC236}">
                <a16:creationId xmlns:a16="http://schemas.microsoft.com/office/drawing/2014/main" id="{EA716E1C-BF0A-E2A6-28B0-3AFB966891D8}"/>
              </a:ext>
            </a:extLst>
          </p:cNvPr>
          <p:cNvGrpSpPr/>
          <p:nvPr/>
        </p:nvGrpSpPr>
        <p:grpSpPr>
          <a:xfrm>
            <a:off x="6200926" y="1010970"/>
            <a:ext cx="5291568" cy="1685156"/>
            <a:chOff x="6228581" y="1675990"/>
            <a:chExt cx="5291568" cy="1685156"/>
          </a:xfrm>
        </p:grpSpPr>
        <p:sp>
          <p:nvSpPr>
            <p:cNvPr id="7" name="矩形 6">
              <a:extLst>
                <a:ext uri="{FF2B5EF4-FFF2-40B4-BE49-F238E27FC236}">
                  <a16:creationId xmlns:a16="http://schemas.microsoft.com/office/drawing/2014/main" id="{47BC30EE-813E-6E7F-BF07-F8885F53F363}"/>
                </a:ext>
              </a:extLst>
            </p:cNvPr>
            <p:cNvSpPr/>
            <p:nvPr/>
          </p:nvSpPr>
          <p:spPr>
            <a:xfrm>
              <a:off x="6228581" y="1874813"/>
              <a:ext cx="5291568" cy="1486333"/>
            </a:xfrm>
            <a:prstGeom prst="rect">
              <a:avLst/>
            </a:prstGeom>
            <a:no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六边形 10">
              <a:extLst>
                <a:ext uri="{FF2B5EF4-FFF2-40B4-BE49-F238E27FC236}">
                  <a16:creationId xmlns:a16="http://schemas.microsoft.com/office/drawing/2014/main" id="{0621C84D-99DD-2446-E447-8C3D7DA0C345}"/>
                </a:ext>
              </a:extLst>
            </p:cNvPr>
            <p:cNvSpPr/>
            <p:nvPr/>
          </p:nvSpPr>
          <p:spPr>
            <a:xfrm>
              <a:off x="8159382" y="1675990"/>
              <a:ext cx="1429966" cy="414208"/>
            </a:xfrm>
            <a:prstGeom prst="hexagon">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核心思路</a:t>
              </a:r>
            </a:p>
          </p:txBody>
        </p:sp>
      </p:grpSp>
      <p:grpSp>
        <p:nvGrpSpPr>
          <p:cNvPr id="24" name="组合 23">
            <a:extLst>
              <a:ext uri="{FF2B5EF4-FFF2-40B4-BE49-F238E27FC236}">
                <a16:creationId xmlns:a16="http://schemas.microsoft.com/office/drawing/2014/main" id="{67CE5CB7-9C6B-A682-FCDE-5ED703227CDF}"/>
              </a:ext>
            </a:extLst>
          </p:cNvPr>
          <p:cNvGrpSpPr/>
          <p:nvPr/>
        </p:nvGrpSpPr>
        <p:grpSpPr>
          <a:xfrm>
            <a:off x="6219245" y="3469480"/>
            <a:ext cx="5268302" cy="2668246"/>
            <a:chOff x="6219245" y="3469480"/>
            <a:chExt cx="5268302" cy="2668246"/>
          </a:xfrm>
        </p:grpSpPr>
        <p:sp>
          <p:nvSpPr>
            <p:cNvPr id="13" name="矩形 12">
              <a:extLst>
                <a:ext uri="{FF2B5EF4-FFF2-40B4-BE49-F238E27FC236}">
                  <a16:creationId xmlns:a16="http://schemas.microsoft.com/office/drawing/2014/main" id="{45DE8109-6248-91B1-63EF-7D1AAA2F0C52}"/>
                </a:ext>
              </a:extLst>
            </p:cNvPr>
            <p:cNvSpPr/>
            <p:nvPr/>
          </p:nvSpPr>
          <p:spPr>
            <a:xfrm>
              <a:off x="6219245" y="3696509"/>
              <a:ext cx="5268302" cy="2441217"/>
            </a:xfrm>
            <a:prstGeom prst="rect">
              <a:avLst/>
            </a:prstGeom>
            <a:no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000D68D2-9CE4-3A38-7B61-FB85753E7BAA}"/>
                </a:ext>
              </a:extLst>
            </p:cNvPr>
            <p:cNvSpPr/>
            <p:nvPr/>
          </p:nvSpPr>
          <p:spPr>
            <a:xfrm>
              <a:off x="6219245" y="3469480"/>
              <a:ext cx="1478604" cy="535022"/>
            </a:xfrm>
            <a:prstGeom prst="roundRect">
              <a:avLst/>
            </a:prstGeom>
            <a:solidFill>
              <a:schemeClr val="tx2"/>
            </a:solid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隔离域集合</a:t>
              </a:r>
            </a:p>
          </p:txBody>
        </p:sp>
      </p:grpSp>
      <p:grpSp>
        <p:nvGrpSpPr>
          <p:cNvPr id="25" name="组合 24">
            <a:extLst>
              <a:ext uri="{FF2B5EF4-FFF2-40B4-BE49-F238E27FC236}">
                <a16:creationId xmlns:a16="http://schemas.microsoft.com/office/drawing/2014/main" id="{A41E49B9-29A6-7783-6F5E-C89C2EE911D0}"/>
              </a:ext>
            </a:extLst>
          </p:cNvPr>
          <p:cNvGrpSpPr/>
          <p:nvPr/>
        </p:nvGrpSpPr>
        <p:grpSpPr>
          <a:xfrm>
            <a:off x="6219245" y="4082724"/>
            <a:ext cx="5079280" cy="344905"/>
            <a:chOff x="6219245" y="4082724"/>
            <a:chExt cx="5079280" cy="344905"/>
          </a:xfrm>
        </p:grpSpPr>
        <p:sp>
          <p:nvSpPr>
            <p:cNvPr id="23" name="文本框 22">
              <a:extLst>
                <a:ext uri="{FF2B5EF4-FFF2-40B4-BE49-F238E27FC236}">
                  <a16:creationId xmlns:a16="http://schemas.microsoft.com/office/drawing/2014/main" id="{2BCCD68F-F892-D4FE-9C0F-04DF9295F12A}"/>
                </a:ext>
              </a:extLst>
            </p:cNvPr>
            <p:cNvSpPr txBox="1"/>
            <p:nvPr/>
          </p:nvSpPr>
          <p:spPr>
            <a:xfrm>
              <a:off x="6219245" y="4089075"/>
              <a:ext cx="3550596" cy="338554"/>
            </a:xfrm>
            <a:prstGeom prst="rect">
              <a:avLst/>
            </a:prstGeom>
            <a:noFill/>
          </p:spPr>
          <p:txBody>
            <a:bodyPr wrap="square" rtlCol="0">
              <a:spAutoFit/>
            </a:bodyPr>
            <a:lstStyle/>
            <a:p>
              <a:r>
                <a:rPr lang="zh-CN" altLang="en-US" sz="1600" dirty="0"/>
                <a:t>🔑 域的功能由域接口定义</a:t>
              </a:r>
            </a:p>
          </p:txBody>
        </p:sp>
        <p:sp>
          <p:nvSpPr>
            <p:cNvPr id="48" name="矩形 47">
              <a:extLst>
                <a:ext uri="{FF2B5EF4-FFF2-40B4-BE49-F238E27FC236}">
                  <a16:creationId xmlns:a16="http://schemas.microsoft.com/office/drawing/2014/main" id="{5595CC5C-C3CA-731A-B772-D10130B0E9FC}"/>
                </a:ext>
              </a:extLst>
            </p:cNvPr>
            <p:cNvSpPr/>
            <p:nvPr/>
          </p:nvSpPr>
          <p:spPr>
            <a:xfrm>
              <a:off x="6281928" y="4082724"/>
              <a:ext cx="5016597" cy="328082"/>
            </a:xfrm>
            <a:custGeom>
              <a:avLst/>
              <a:gdLst>
                <a:gd name="csX0" fmla="*/ 0 w 5016597"/>
                <a:gd name="csY0" fmla="*/ 0 h 328082"/>
                <a:gd name="csX1" fmla="*/ 576909 w 5016597"/>
                <a:gd name="csY1" fmla="*/ 0 h 328082"/>
                <a:gd name="csX2" fmla="*/ 1053485 w 5016597"/>
                <a:gd name="csY2" fmla="*/ 0 h 328082"/>
                <a:gd name="csX3" fmla="*/ 1780892 w 5016597"/>
                <a:gd name="csY3" fmla="*/ 0 h 328082"/>
                <a:gd name="csX4" fmla="*/ 2357801 w 5016597"/>
                <a:gd name="csY4" fmla="*/ 0 h 328082"/>
                <a:gd name="csX5" fmla="*/ 2934709 w 5016597"/>
                <a:gd name="csY5" fmla="*/ 0 h 328082"/>
                <a:gd name="csX6" fmla="*/ 3662116 w 5016597"/>
                <a:gd name="csY6" fmla="*/ 0 h 328082"/>
                <a:gd name="csX7" fmla="*/ 4188858 w 5016597"/>
                <a:gd name="csY7" fmla="*/ 0 h 328082"/>
                <a:gd name="csX8" fmla="*/ 5016597 w 5016597"/>
                <a:gd name="csY8" fmla="*/ 0 h 328082"/>
                <a:gd name="csX9" fmla="*/ 5016597 w 5016597"/>
                <a:gd name="csY9" fmla="*/ 328082 h 328082"/>
                <a:gd name="csX10" fmla="*/ 4489854 w 5016597"/>
                <a:gd name="csY10" fmla="*/ 328082 h 328082"/>
                <a:gd name="csX11" fmla="*/ 3862780 w 5016597"/>
                <a:gd name="csY11" fmla="*/ 328082 h 328082"/>
                <a:gd name="csX12" fmla="*/ 3285871 w 5016597"/>
                <a:gd name="csY12" fmla="*/ 328082 h 328082"/>
                <a:gd name="csX13" fmla="*/ 2558464 w 5016597"/>
                <a:gd name="csY13" fmla="*/ 328082 h 328082"/>
                <a:gd name="csX14" fmla="*/ 1831058 w 5016597"/>
                <a:gd name="csY14" fmla="*/ 328082 h 328082"/>
                <a:gd name="csX15" fmla="*/ 1304315 w 5016597"/>
                <a:gd name="csY15" fmla="*/ 328082 h 328082"/>
                <a:gd name="csX16" fmla="*/ 677241 w 5016597"/>
                <a:gd name="csY16" fmla="*/ 328082 h 328082"/>
                <a:gd name="csX17" fmla="*/ 0 w 5016597"/>
                <a:gd name="csY17" fmla="*/ 328082 h 328082"/>
                <a:gd name="csX18" fmla="*/ 0 w 5016597"/>
                <a:gd name="csY18" fmla="*/ 0 h 3280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016597" h="328082" extrusionOk="0">
                  <a:moveTo>
                    <a:pt x="0" y="0"/>
                  </a:moveTo>
                  <a:cubicBezTo>
                    <a:pt x="175723" y="-8189"/>
                    <a:pt x="395371" y="25118"/>
                    <a:pt x="576909" y="0"/>
                  </a:cubicBezTo>
                  <a:cubicBezTo>
                    <a:pt x="758447" y="-25118"/>
                    <a:pt x="924279" y="23745"/>
                    <a:pt x="1053485" y="0"/>
                  </a:cubicBezTo>
                  <a:cubicBezTo>
                    <a:pt x="1182691" y="-23745"/>
                    <a:pt x="1515765" y="-29900"/>
                    <a:pt x="1780892" y="0"/>
                  </a:cubicBezTo>
                  <a:cubicBezTo>
                    <a:pt x="2046019" y="29900"/>
                    <a:pt x="2106006" y="-11849"/>
                    <a:pt x="2357801" y="0"/>
                  </a:cubicBezTo>
                  <a:cubicBezTo>
                    <a:pt x="2609596" y="11849"/>
                    <a:pt x="2717642" y="-11823"/>
                    <a:pt x="2934709" y="0"/>
                  </a:cubicBezTo>
                  <a:cubicBezTo>
                    <a:pt x="3151776" y="11823"/>
                    <a:pt x="3475850" y="-3392"/>
                    <a:pt x="3662116" y="0"/>
                  </a:cubicBezTo>
                  <a:cubicBezTo>
                    <a:pt x="3848382" y="3392"/>
                    <a:pt x="4082526" y="7705"/>
                    <a:pt x="4188858" y="0"/>
                  </a:cubicBezTo>
                  <a:cubicBezTo>
                    <a:pt x="4295190" y="-7705"/>
                    <a:pt x="4622999" y="-11411"/>
                    <a:pt x="5016597" y="0"/>
                  </a:cubicBezTo>
                  <a:cubicBezTo>
                    <a:pt x="5003759" y="153017"/>
                    <a:pt x="5009606" y="242929"/>
                    <a:pt x="5016597" y="328082"/>
                  </a:cubicBezTo>
                  <a:cubicBezTo>
                    <a:pt x="4790008" y="332810"/>
                    <a:pt x="4687698" y="320732"/>
                    <a:pt x="4489854" y="328082"/>
                  </a:cubicBezTo>
                  <a:cubicBezTo>
                    <a:pt x="4292010" y="335432"/>
                    <a:pt x="4112470" y="334477"/>
                    <a:pt x="3862780" y="328082"/>
                  </a:cubicBezTo>
                  <a:cubicBezTo>
                    <a:pt x="3613090" y="321687"/>
                    <a:pt x="3506066" y="349825"/>
                    <a:pt x="3285871" y="328082"/>
                  </a:cubicBezTo>
                  <a:cubicBezTo>
                    <a:pt x="3065676" y="306339"/>
                    <a:pt x="2880989" y="323413"/>
                    <a:pt x="2558464" y="328082"/>
                  </a:cubicBezTo>
                  <a:cubicBezTo>
                    <a:pt x="2235939" y="332751"/>
                    <a:pt x="2131029" y="322913"/>
                    <a:pt x="1831058" y="328082"/>
                  </a:cubicBezTo>
                  <a:cubicBezTo>
                    <a:pt x="1531087" y="333251"/>
                    <a:pt x="1447431" y="328785"/>
                    <a:pt x="1304315" y="328082"/>
                  </a:cubicBezTo>
                  <a:cubicBezTo>
                    <a:pt x="1161199" y="327379"/>
                    <a:pt x="888919" y="312076"/>
                    <a:pt x="677241" y="328082"/>
                  </a:cubicBezTo>
                  <a:cubicBezTo>
                    <a:pt x="465563" y="344088"/>
                    <a:pt x="164087" y="301950"/>
                    <a:pt x="0" y="328082"/>
                  </a:cubicBezTo>
                  <a:cubicBezTo>
                    <a:pt x="6311" y="175331"/>
                    <a:pt x="-13820" y="111274"/>
                    <a:pt x="0" y="0"/>
                  </a:cubicBezTo>
                  <a:close/>
                </a:path>
              </a:pathLst>
            </a:custGeom>
            <a:noFill/>
            <a:ln w="12700">
              <a:gradFill flip="none" rotWithShape="1">
                <a:gsLst>
                  <a:gs pos="0">
                    <a:schemeClr val="tx2"/>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 name="组合 20">
            <a:extLst>
              <a:ext uri="{FF2B5EF4-FFF2-40B4-BE49-F238E27FC236}">
                <a16:creationId xmlns:a16="http://schemas.microsoft.com/office/drawing/2014/main" id="{F6160FE8-3136-20E8-04BE-69036923B2C1}"/>
              </a:ext>
            </a:extLst>
          </p:cNvPr>
          <p:cNvGrpSpPr/>
          <p:nvPr/>
        </p:nvGrpSpPr>
        <p:grpSpPr>
          <a:xfrm>
            <a:off x="6244480" y="1432832"/>
            <a:ext cx="4351572" cy="374924"/>
            <a:chOff x="6272135" y="2097852"/>
            <a:chExt cx="4351572" cy="374924"/>
          </a:xfrm>
        </p:grpSpPr>
        <p:sp>
          <p:nvSpPr>
            <p:cNvPr id="5" name="文本框 4">
              <a:extLst>
                <a:ext uri="{FF2B5EF4-FFF2-40B4-BE49-F238E27FC236}">
                  <a16:creationId xmlns:a16="http://schemas.microsoft.com/office/drawing/2014/main" id="{12508D11-C4F7-B416-B3F5-3F5AC3D4B48A}"/>
                </a:ext>
              </a:extLst>
            </p:cNvPr>
            <p:cNvSpPr txBox="1"/>
            <p:nvPr/>
          </p:nvSpPr>
          <p:spPr>
            <a:xfrm>
              <a:off x="6680762" y="2097852"/>
              <a:ext cx="3942945" cy="374924"/>
            </a:xfrm>
            <a:prstGeom prst="rect">
              <a:avLst/>
            </a:prstGeom>
            <a:noFill/>
          </p:spPr>
          <p:txBody>
            <a:bodyPr wrap="square">
              <a:spAutoFit/>
            </a:bodyPr>
            <a:lstStyle/>
            <a:p>
              <a:r>
                <a:rPr lang="zh-CN" altLang="en-US" b="1" dirty="0"/>
                <a:t>解耦隔离的机制和策略</a:t>
              </a:r>
              <a:endParaRPr lang="zh-CN" altLang="en-US" dirty="0"/>
            </a:p>
          </p:txBody>
        </p:sp>
        <p:grpSp>
          <p:nvGrpSpPr>
            <p:cNvPr id="56" name="组合 55">
              <a:extLst>
                <a:ext uri="{FF2B5EF4-FFF2-40B4-BE49-F238E27FC236}">
                  <a16:creationId xmlns:a16="http://schemas.microsoft.com/office/drawing/2014/main" id="{E4522040-DC1A-CD1F-7349-6EE016E82624}"/>
                </a:ext>
              </a:extLst>
            </p:cNvPr>
            <p:cNvGrpSpPr/>
            <p:nvPr/>
          </p:nvGrpSpPr>
          <p:grpSpPr>
            <a:xfrm>
              <a:off x="6272135" y="2097852"/>
              <a:ext cx="351569" cy="360321"/>
              <a:chOff x="9038676" y="2453000"/>
              <a:chExt cx="473036" cy="525437"/>
            </a:xfrm>
            <a:solidFill>
              <a:schemeClr val="accent1"/>
            </a:solidFill>
          </p:grpSpPr>
          <p:sp>
            <p:nvSpPr>
              <p:cNvPr id="57" name="任意多边形: 形状 56">
                <a:extLst>
                  <a:ext uri="{FF2B5EF4-FFF2-40B4-BE49-F238E27FC236}">
                    <a16:creationId xmlns:a16="http://schemas.microsoft.com/office/drawing/2014/main" id="{69520CB6-6BB0-CCE6-FE48-2FF53319B14D}"/>
                  </a:ext>
                </a:extLst>
              </p:cNvPr>
              <p:cNvSpPr/>
              <p:nvPr/>
            </p:nvSpPr>
            <p:spPr>
              <a:xfrm>
                <a:off x="9122895" y="2539687"/>
                <a:ext cx="303750" cy="438750"/>
              </a:xfrm>
              <a:custGeom>
                <a:avLst/>
                <a:gdLst>
                  <a:gd name="connsiteX0" fmla="*/ 166421 w 303750"/>
                  <a:gd name="connsiteY0" fmla="*/ 0 h 438750"/>
                  <a:gd name="connsiteX1" fmla="*/ 147167 w 303750"/>
                  <a:gd name="connsiteY1" fmla="*/ 0 h 438750"/>
                  <a:gd name="connsiteX2" fmla="*/ 0 w 303750"/>
                  <a:gd name="connsiteY2" fmla="*/ 157309 h 438750"/>
                  <a:gd name="connsiteX3" fmla="*/ 69221 w 303750"/>
                  <a:gd name="connsiteY3" fmla="*/ 287938 h 438750"/>
                  <a:gd name="connsiteX4" fmla="*/ 69221 w 303750"/>
                  <a:gd name="connsiteY4" fmla="*/ 333197 h 438750"/>
                  <a:gd name="connsiteX5" fmla="*/ 81793 w 303750"/>
                  <a:gd name="connsiteY5" fmla="*/ 356619 h 438750"/>
                  <a:gd name="connsiteX6" fmla="*/ 85050 w 303750"/>
                  <a:gd name="connsiteY6" fmla="*/ 362273 h 438750"/>
                  <a:gd name="connsiteX7" fmla="*/ 82502 w 303750"/>
                  <a:gd name="connsiteY7" fmla="*/ 368246 h 438750"/>
                  <a:gd name="connsiteX8" fmla="*/ 70673 w 303750"/>
                  <a:gd name="connsiteY8" fmla="*/ 381257 h 438750"/>
                  <a:gd name="connsiteX9" fmla="*/ 70673 w 303750"/>
                  <a:gd name="connsiteY9" fmla="*/ 410434 h 438750"/>
                  <a:gd name="connsiteX10" fmla="*/ 82502 w 303750"/>
                  <a:gd name="connsiteY10" fmla="*/ 422246 h 438750"/>
                  <a:gd name="connsiteX11" fmla="*/ 90416 w 303750"/>
                  <a:gd name="connsiteY11" fmla="*/ 422246 h 438750"/>
                  <a:gd name="connsiteX12" fmla="*/ 101351 w 303750"/>
                  <a:gd name="connsiteY12" fmla="*/ 427478 h 438750"/>
                  <a:gd name="connsiteX13" fmla="*/ 156802 w 303750"/>
                  <a:gd name="connsiteY13" fmla="*/ 450225 h 438750"/>
                  <a:gd name="connsiteX14" fmla="*/ 212237 w 303750"/>
                  <a:gd name="connsiteY14" fmla="*/ 427478 h 438750"/>
                  <a:gd name="connsiteX15" fmla="*/ 223172 w 303750"/>
                  <a:gd name="connsiteY15" fmla="*/ 422246 h 438750"/>
                  <a:gd name="connsiteX16" fmla="*/ 231086 w 303750"/>
                  <a:gd name="connsiteY16" fmla="*/ 422246 h 438750"/>
                  <a:gd name="connsiteX17" fmla="*/ 242916 w 303750"/>
                  <a:gd name="connsiteY17" fmla="*/ 410434 h 438750"/>
                  <a:gd name="connsiteX18" fmla="*/ 242916 w 303750"/>
                  <a:gd name="connsiteY18" fmla="*/ 381257 h 438750"/>
                  <a:gd name="connsiteX19" fmla="*/ 231086 w 303750"/>
                  <a:gd name="connsiteY19" fmla="*/ 368246 h 438750"/>
                  <a:gd name="connsiteX20" fmla="*/ 228555 w 303750"/>
                  <a:gd name="connsiteY20" fmla="*/ 362273 h 438750"/>
                  <a:gd name="connsiteX21" fmla="*/ 231812 w 303750"/>
                  <a:gd name="connsiteY21" fmla="*/ 356619 h 438750"/>
                  <a:gd name="connsiteX22" fmla="*/ 244367 w 303750"/>
                  <a:gd name="connsiteY22" fmla="*/ 333197 h 438750"/>
                  <a:gd name="connsiteX23" fmla="*/ 244367 w 303750"/>
                  <a:gd name="connsiteY23" fmla="*/ 287938 h 438750"/>
                  <a:gd name="connsiteX24" fmla="*/ 313588 w 303750"/>
                  <a:gd name="connsiteY24" fmla="*/ 157309 h 438750"/>
                  <a:gd name="connsiteX25" fmla="*/ 166421 w 303750"/>
                  <a:gd name="connsiteY25" fmla="*/ 0 h 438750"/>
                  <a:gd name="connsiteX26" fmla="*/ 211478 w 303750"/>
                  <a:gd name="connsiteY26" fmla="*/ 253699 h 438750"/>
                  <a:gd name="connsiteX27" fmla="*/ 202652 w 303750"/>
                  <a:gd name="connsiteY27" fmla="*/ 258272 h 438750"/>
                  <a:gd name="connsiteX28" fmla="*/ 202652 w 303750"/>
                  <a:gd name="connsiteY28" fmla="*/ 300274 h 438750"/>
                  <a:gd name="connsiteX29" fmla="*/ 190688 w 303750"/>
                  <a:gd name="connsiteY29" fmla="*/ 315107 h 438750"/>
                  <a:gd name="connsiteX30" fmla="*/ 172091 w 303750"/>
                  <a:gd name="connsiteY30" fmla="*/ 319022 h 438750"/>
                  <a:gd name="connsiteX31" fmla="*/ 141514 w 303750"/>
                  <a:gd name="connsiteY31" fmla="*/ 319022 h 438750"/>
                  <a:gd name="connsiteX32" fmla="*/ 122918 w 303750"/>
                  <a:gd name="connsiteY32" fmla="*/ 315107 h 438750"/>
                  <a:gd name="connsiteX33" fmla="*/ 110953 w 303750"/>
                  <a:gd name="connsiteY33" fmla="*/ 300274 h 438750"/>
                  <a:gd name="connsiteX34" fmla="*/ 110953 w 303750"/>
                  <a:gd name="connsiteY34" fmla="*/ 258255 h 438750"/>
                  <a:gd name="connsiteX35" fmla="*/ 102128 w 303750"/>
                  <a:gd name="connsiteY35" fmla="*/ 253682 h 438750"/>
                  <a:gd name="connsiteX36" fmla="*/ 48516 w 303750"/>
                  <a:gd name="connsiteY36" fmla="*/ 160161 h 438750"/>
                  <a:gd name="connsiteX37" fmla="*/ 156802 w 303750"/>
                  <a:gd name="connsiteY37" fmla="*/ 50676 h 438750"/>
                  <a:gd name="connsiteX38" fmla="*/ 265073 w 303750"/>
                  <a:gd name="connsiteY38" fmla="*/ 160161 h 438750"/>
                  <a:gd name="connsiteX39" fmla="*/ 211478 w 303750"/>
                  <a:gd name="connsiteY39" fmla="*/ 253699 h 43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03750" h="438750">
                    <a:moveTo>
                      <a:pt x="166421" y="0"/>
                    </a:moveTo>
                    <a:lnTo>
                      <a:pt x="147167" y="0"/>
                    </a:lnTo>
                    <a:cubicBezTo>
                      <a:pt x="65289" y="5181"/>
                      <a:pt x="0" y="73643"/>
                      <a:pt x="0" y="157309"/>
                    </a:cubicBezTo>
                    <a:cubicBezTo>
                      <a:pt x="0" y="214819"/>
                      <a:pt x="25380" y="260769"/>
                      <a:pt x="69221" y="287938"/>
                    </a:cubicBezTo>
                    <a:lnTo>
                      <a:pt x="69221" y="333197"/>
                    </a:lnTo>
                    <a:cubicBezTo>
                      <a:pt x="69221" y="346410"/>
                      <a:pt x="74132" y="351523"/>
                      <a:pt x="81793" y="356619"/>
                    </a:cubicBezTo>
                    <a:cubicBezTo>
                      <a:pt x="83700" y="357851"/>
                      <a:pt x="84915" y="359961"/>
                      <a:pt x="85050" y="362273"/>
                    </a:cubicBezTo>
                    <a:cubicBezTo>
                      <a:pt x="85185" y="364568"/>
                      <a:pt x="85404" y="367538"/>
                      <a:pt x="82502" y="368246"/>
                    </a:cubicBezTo>
                    <a:cubicBezTo>
                      <a:pt x="70639" y="368246"/>
                      <a:pt x="70673" y="381257"/>
                      <a:pt x="70673" y="381257"/>
                    </a:cubicBezTo>
                    <a:cubicBezTo>
                      <a:pt x="70673" y="386522"/>
                      <a:pt x="70673" y="410434"/>
                      <a:pt x="70673" y="410434"/>
                    </a:cubicBezTo>
                    <a:cubicBezTo>
                      <a:pt x="70673" y="416964"/>
                      <a:pt x="75954" y="422246"/>
                      <a:pt x="82502" y="422246"/>
                    </a:cubicBezTo>
                    <a:lnTo>
                      <a:pt x="90416" y="422246"/>
                    </a:lnTo>
                    <a:cubicBezTo>
                      <a:pt x="96744" y="422246"/>
                      <a:pt x="101351" y="427478"/>
                      <a:pt x="101351" y="427478"/>
                    </a:cubicBezTo>
                    <a:cubicBezTo>
                      <a:pt x="101351" y="427478"/>
                      <a:pt x="129178" y="450225"/>
                      <a:pt x="156802" y="450225"/>
                    </a:cubicBezTo>
                    <a:cubicBezTo>
                      <a:pt x="184815" y="450225"/>
                      <a:pt x="212237" y="427478"/>
                      <a:pt x="212237" y="427478"/>
                    </a:cubicBezTo>
                    <a:cubicBezTo>
                      <a:pt x="212237" y="427478"/>
                      <a:pt x="216844" y="422246"/>
                      <a:pt x="223172" y="422246"/>
                    </a:cubicBezTo>
                    <a:lnTo>
                      <a:pt x="231086" y="422246"/>
                    </a:lnTo>
                    <a:cubicBezTo>
                      <a:pt x="237651" y="422246"/>
                      <a:pt x="242916" y="416964"/>
                      <a:pt x="242916" y="410434"/>
                    </a:cubicBezTo>
                    <a:cubicBezTo>
                      <a:pt x="242916" y="410434"/>
                      <a:pt x="242916" y="386539"/>
                      <a:pt x="242916" y="381257"/>
                    </a:cubicBezTo>
                    <a:cubicBezTo>
                      <a:pt x="242916" y="381257"/>
                      <a:pt x="242949" y="368246"/>
                      <a:pt x="231086" y="368246"/>
                    </a:cubicBezTo>
                    <a:cubicBezTo>
                      <a:pt x="228184" y="367554"/>
                      <a:pt x="228420" y="364534"/>
                      <a:pt x="228555" y="362273"/>
                    </a:cubicBezTo>
                    <a:cubicBezTo>
                      <a:pt x="228724" y="359961"/>
                      <a:pt x="229905" y="357851"/>
                      <a:pt x="231812" y="356619"/>
                    </a:cubicBezTo>
                    <a:cubicBezTo>
                      <a:pt x="239456" y="351523"/>
                      <a:pt x="244367" y="346427"/>
                      <a:pt x="244367" y="333197"/>
                    </a:cubicBezTo>
                    <a:lnTo>
                      <a:pt x="244367" y="287938"/>
                    </a:lnTo>
                    <a:cubicBezTo>
                      <a:pt x="288208" y="260786"/>
                      <a:pt x="313588" y="214819"/>
                      <a:pt x="313588" y="157309"/>
                    </a:cubicBezTo>
                    <a:cubicBezTo>
                      <a:pt x="313588" y="73643"/>
                      <a:pt x="248333" y="5164"/>
                      <a:pt x="166421" y="0"/>
                    </a:cubicBezTo>
                    <a:close/>
                    <a:moveTo>
                      <a:pt x="211478" y="253699"/>
                    </a:moveTo>
                    <a:lnTo>
                      <a:pt x="202652" y="258272"/>
                    </a:lnTo>
                    <a:lnTo>
                      <a:pt x="202652" y="300274"/>
                    </a:lnTo>
                    <a:cubicBezTo>
                      <a:pt x="202652" y="307463"/>
                      <a:pt x="197674" y="313588"/>
                      <a:pt x="190688" y="315107"/>
                    </a:cubicBezTo>
                    <a:lnTo>
                      <a:pt x="172091" y="319022"/>
                    </a:lnTo>
                    <a:cubicBezTo>
                      <a:pt x="168953" y="319714"/>
                      <a:pt x="153968" y="322194"/>
                      <a:pt x="141514" y="319022"/>
                    </a:cubicBezTo>
                    <a:lnTo>
                      <a:pt x="122918" y="315107"/>
                    </a:lnTo>
                    <a:cubicBezTo>
                      <a:pt x="115931" y="313588"/>
                      <a:pt x="110953" y="307463"/>
                      <a:pt x="110953" y="300274"/>
                    </a:cubicBezTo>
                    <a:lnTo>
                      <a:pt x="110953" y="258255"/>
                    </a:lnTo>
                    <a:lnTo>
                      <a:pt x="102128" y="253682"/>
                    </a:lnTo>
                    <a:cubicBezTo>
                      <a:pt x="57814" y="230901"/>
                      <a:pt x="48516" y="190215"/>
                      <a:pt x="48516" y="160161"/>
                    </a:cubicBezTo>
                    <a:cubicBezTo>
                      <a:pt x="48516" y="99900"/>
                      <a:pt x="97031" y="50878"/>
                      <a:pt x="156802" y="50676"/>
                    </a:cubicBezTo>
                    <a:cubicBezTo>
                      <a:pt x="216557" y="50878"/>
                      <a:pt x="265073" y="99900"/>
                      <a:pt x="265073" y="160161"/>
                    </a:cubicBezTo>
                    <a:cubicBezTo>
                      <a:pt x="265073" y="190232"/>
                      <a:pt x="255774" y="230918"/>
                      <a:pt x="211478" y="253699"/>
                    </a:cubicBezTo>
                    <a:close/>
                  </a:path>
                </a:pathLst>
              </a:custGeom>
              <a:grpFill/>
              <a:ln w="16669" cap="flat">
                <a:noFill/>
                <a:prstDash val="solid"/>
                <a:miter/>
              </a:ln>
            </p:spPr>
            <p:txBody>
              <a:bodyPr rtlCol="0" anchor="ctr"/>
              <a:lstStyle/>
              <a:p>
                <a:pPr>
                  <a:lnSpc>
                    <a:spcPct val="120000"/>
                  </a:lnSpc>
                  <a:spcAft>
                    <a:spcPts val="100"/>
                  </a:spcAft>
                </a:pPr>
                <a:endParaRPr lang="zh-CN" altLang="en-US"/>
              </a:p>
            </p:txBody>
          </p:sp>
          <p:sp>
            <p:nvSpPr>
              <p:cNvPr id="58" name="任意多边形: 形状 57">
                <a:extLst>
                  <a:ext uri="{FF2B5EF4-FFF2-40B4-BE49-F238E27FC236}">
                    <a16:creationId xmlns:a16="http://schemas.microsoft.com/office/drawing/2014/main" id="{33B0BB8D-BF5E-1E2C-8ADA-C3B951037A1C}"/>
                  </a:ext>
                </a:extLst>
              </p:cNvPr>
              <p:cNvSpPr/>
              <p:nvPr/>
            </p:nvSpPr>
            <p:spPr>
              <a:xfrm>
                <a:off x="9420525" y="2536256"/>
                <a:ext cx="50625" cy="50625"/>
              </a:xfrm>
              <a:custGeom>
                <a:avLst/>
                <a:gdLst>
                  <a:gd name="connsiteX0" fmla="*/ 57809 w 50625"/>
                  <a:gd name="connsiteY0" fmla="*/ 21352 h 50625"/>
                  <a:gd name="connsiteX1" fmla="*/ 54839 w 50625"/>
                  <a:gd name="connsiteY1" fmla="*/ 10468 h 50625"/>
                  <a:gd name="connsiteX2" fmla="*/ 50417 w 50625"/>
                  <a:gd name="connsiteY2" fmla="*/ 5051 h 50625"/>
                  <a:gd name="connsiteX3" fmla="*/ 40309 w 50625"/>
                  <a:gd name="connsiteY3" fmla="*/ 22 h 50625"/>
                  <a:gd name="connsiteX4" fmla="*/ 29746 w 50625"/>
                  <a:gd name="connsiteY4" fmla="*/ 3903 h 50625"/>
                  <a:gd name="connsiteX5" fmla="*/ 4349 w 50625"/>
                  <a:gd name="connsiteY5" fmla="*/ 28052 h 50625"/>
                  <a:gd name="connsiteX6" fmla="*/ 3218 w 50625"/>
                  <a:gd name="connsiteY6" fmla="*/ 47340 h 50625"/>
                  <a:gd name="connsiteX7" fmla="*/ 4096 w 50625"/>
                  <a:gd name="connsiteY7" fmla="*/ 48369 h 50625"/>
                  <a:gd name="connsiteX8" fmla="*/ 23215 w 50625"/>
                  <a:gd name="connsiteY8" fmla="*/ 51035 h 50625"/>
                  <a:gd name="connsiteX9" fmla="*/ 51886 w 50625"/>
                  <a:gd name="connsiteY9" fmla="*/ 30920 h 50625"/>
                  <a:gd name="connsiteX10" fmla="*/ 57809 w 50625"/>
                  <a:gd name="connsiteY10" fmla="*/ 21352 h 50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625" h="50625">
                    <a:moveTo>
                      <a:pt x="57809" y="21352"/>
                    </a:moveTo>
                    <a:cubicBezTo>
                      <a:pt x="58399" y="17488"/>
                      <a:pt x="57319" y="13556"/>
                      <a:pt x="54839" y="10468"/>
                    </a:cubicBezTo>
                    <a:cubicBezTo>
                      <a:pt x="53387" y="8645"/>
                      <a:pt x="51903" y="6857"/>
                      <a:pt x="50417" y="5051"/>
                    </a:cubicBezTo>
                    <a:cubicBezTo>
                      <a:pt x="47886" y="2064"/>
                      <a:pt x="44258" y="242"/>
                      <a:pt x="40309" y="22"/>
                    </a:cubicBezTo>
                    <a:cubicBezTo>
                      <a:pt x="36445" y="-197"/>
                      <a:pt x="32581" y="1220"/>
                      <a:pt x="29746" y="3903"/>
                    </a:cubicBezTo>
                    <a:lnTo>
                      <a:pt x="4349" y="28052"/>
                    </a:lnTo>
                    <a:cubicBezTo>
                      <a:pt x="-984" y="33198"/>
                      <a:pt x="-1473" y="41619"/>
                      <a:pt x="3218" y="47340"/>
                    </a:cubicBezTo>
                    <a:cubicBezTo>
                      <a:pt x="3539" y="47677"/>
                      <a:pt x="3775" y="48015"/>
                      <a:pt x="4096" y="48369"/>
                    </a:cubicBezTo>
                    <a:cubicBezTo>
                      <a:pt x="8753" y="54140"/>
                      <a:pt x="17106" y="55322"/>
                      <a:pt x="23215" y="51035"/>
                    </a:cubicBezTo>
                    <a:lnTo>
                      <a:pt x="51886" y="30920"/>
                    </a:lnTo>
                    <a:cubicBezTo>
                      <a:pt x="55075" y="28676"/>
                      <a:pt x="57218" y="25217"/>
                      <a:pt x="57809" y="21352"/>
                    </a:cubicBezTo>
                    <a:close/>
                  </a:path>
                </a:pathLst>
              </a:custGeom>
              <a:grpFill/>
              <a:ln w="16669" cap="flat">
                <a:noFill/>
                <a:prstDash val="solid"/>
                <a:miter/>
              </a:ln>
            </p:spPr>
            <p:txBody>
              <a:bodyPr rtlCol="0" anchor="ctr"/>
              <a:lstStyle/>
              <a:p>
                <a:pPr>
                  <a:lnSpc>
                    <a:spcPct val="120000"/>
                  </a:lnSpc>
                  <a:spcAft>
                    <a:spcPts val="100"/>
                  </a:spcAft>
                </a:pPr>
                <a:endParaRPr lang="zh-CN" altLang="en-US"/>
              </a:p>
            </p:txBody>
          </p:sp>
          <p:sp>
            <p:nvSpPr>
              <p:cNvPr id="59" name="任意多边形: 形状 58">
                <a:extLst>
                  <a:ext uri="{FF2B5EF4-FFF2-40B4-BE49-F238E27FC236}">
                    <a16:creationId xmlns:a16="http://schemas.microsoft.com/office/drawing/2014/main" id="{2F8D6607-FC91-414E-31E7-88161AA8AE58}"/>
                  </a:ext>
                </a:extLst>
              </p:cNvPr>
              <p:cNvSpPr/>
              <p:nvPr/>
            </p:nvSpPr>
            <p:spPr>
              <a:xfrm>
                <a:off x="9260846" y="2453000"/>
                <a:ext cx="33750" cy="50625"/>
              </a:xfrm>
              <a:custGeom>
                <a:avLst/>
                <a:gdLst>
                  <a:gd name="connsiteX0" fmla="*/ 17383 w 33750"/>
                  <a:gd name="connsiteY0" fmla="*/ 63332 h 50625"/>
                  <a:gd name="connsiteX1" fmla="*/ 18666 w 33750"/>
                  <a:gd name="connsiteY1" fmla="*/ 63315 h 50625"/>
                  <a:gd name="connsiteX2" fmla="*/ 32706 w 33750"/>
                  <a:gd name="connsiteY2" fmla="*/ 50051 h 50625"/>
                  <a:gd name="connsiteX3" fmla="*/ 34950 w 33750"/>
                  <a:gd name="connsiteY3" fmla="*/ 15086 h 50625"/>
                  <a:gd name="connsiteX4" fmla="*/ 31136 w 33750"/>
                  <a:gd name="connsiteY4" fmla="*/ 4506 h 50625"/>
                  <a:gd name="connsiteX5" fmla="*/ 20859 w 33750"/>
                  <a:gd name="connsiteY5" fmla="*/ 0 h 50625"/>
                  <a:gd name="connsiteX6" fmla="*/ 13823 w 33750"/>
                  <a:gd name="connsiteY6" fmla="*/ 68 h 50625"/>
                  <a:gd name="connsiteX7" fmla="*/ 3613 w 33750"/>
                  <a:gd name="connsiteY7" fmla="*/ 4793 h 50625"/>
                  <a:gd name="connsiteX8" fmla="*/ 53 w 33750"/>
                  <a:gd name="connsiteY8" fmla="*/ 15474 h 50625"/>
                  <a:gd name="connsiteX9" fmla="*/ 3073 w 33750"/>
                  <a:gd name="connsiteY9" fmla="*/ 50389 h 50625"/>
                  <a:gd name="connsiteX10" fmla="*/ 17383 w 33750"/>
                  <a:gd name="connsiteY10" fmla="*/ 63332 h 50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750" h="50625">
                    <a:moveTo>
                      <a:pt x="17383" y="63332"/>
                    </a:moveTo>
                    <a:cubicBezTo>
                      <a:pt x="17805" y="63315"/>
                      <a:pt x="18244" y="63315"/>
                      <a:pt x="18666" y="63315"/>
                    </a:cubicBezTo>
                    <a:cubicBezTo>
                      <a:pt x="26091" y="63264"/>
                      <a:pt x="32233" y="57476"/>
                      <a:pt x="32706" y="50051"/>
                    </a:cubicBezTo>
                    <a:lnTo>
                      <a:pt x="34950" y="15086"/>
                    </a:lnTo>
                    <a:cubicBezTo>
                      <a:pt x="35203" y="11188"/>
                      <a:pt x="33853" y="7358"/>
                      <a:pt x="31136" y="4506"/>
                    </a:cubicBezTo>
                    <a:cubicBezTo>
                      <a:pt x="28504" y="1637"/>
                      <a:pt x="24741" y="17"/>
                      <a:pt x="20859" y="0"/>
                    </a:cubicBezTo>
                    <a:cubicBezTo>
                      <a:pt x="18497" y="0"/>
                      <a:pt x="16168" y="17"/>
                      <a:pt x="13823" y="68"/>
                    </a:cubicBezTo>
                    <a:cubicBezTo>
                      <a:pt x="9924" y="169"/>
                      <a:pt x="6212" y="1873"/>
                      <a:pt x="3613" y="4793"/>
                    </a:cubicBezTo>
                    <a:cubicBezTo>
                      <a:pt x="1014" y="7712"/>
                      <a:pt x="-285" y="11593"/>
                      <a:pt x="53" y="15474"/>
                    </a:cubicBezTo>
                    <a:lnTo>
                      <a:pt x="3073" y="50389"/>
                    </a:lnTo>
                    <a:cubicBezTo>
                      <a:pt x="3714" y="57780"/>
                      <a:pt x="9958" y="63433"/>
                      <a:pt x="17383" y="63332"/>
                    </a:cubicBezTo>
                    <a:close/>
                  </a:path>
                </a:pathLst>
              </a:custGeom>
              <a:grpFill/>
              <a:ln w="16669" cap="flat">
                <a:noFill/>
                <a:prstDash val="solid"/>
                <a:miter/>
              </a:ln>
            </p:spPr>
            <p:txBody>
              <a:bodyPr rtlCol="0" anchor="ctr"/>
              <a:lstStyle/>
              <a:p>
                <a:pPr>
                  <a:lnSpc>
                    <a:spcPct val="120000"/>
                  </a:lnSpc>
                  <a:spcAft>
                    <a:spcPts val="100"/>
                  </a:spcAft>
                </a:pPr>
                <a:endParaRPr lang="zh-CN" altLang="en-US"/>
              </a:p>
            </p:txBody>
          </p:sp>
          <p:sp>
            <p:nvSpPr>
              <p:cNvPr id="60" name="任意多边形: 形状 59">
                <a:extLst>
                  <a:ext uri="{FF2B5EF4-FFF2-40B4-BE49-F238E27FC236}">
                    <a16:creationId xmlns:a16="http://schemas.microsoft.com/office/drawing/2014/main" id="{C87FFA94-FEED-C572-E600-8941CD4967DE}"/>
                  </a:ext>
                </a:extLst>
              </p:cNvPr>
              <p:cNvSpPr/>
              <p:nvPr/>
            </p:nvSpPr>
            <p:spPr>
              <a:xfrm>
                <a:off x="9038676" y="2732680"/>
                <a:ext cx="50625" cy="33750"/>
              </a:xfrm>
              <a:custGeom>
                <a:avLst/>
                <a:gdLst>
                  <a:gd name="connsiteX0" fmla="*/ 62585 w 50625"/>
                  <a:gd name="connsiteY0" fmla="*/ 10890 h 33750"/>
                  <a:gd name="connsiteX1" fmla="*/ 46537 w 50625"/>
                  <a:gd name="connsiteY1" fmla="*/ 175 h 33750"/>
                  <a:gd name="connsiteX2" fmla="*/ 11927 w 50625"/>
                  <a:gd name="connsiteY2" fmla="*/ 5862 h 33750"/>
                  <a:gd name="connsiteX3" fmla="*/ 2443 w 50625"/>
                  <a:gd name="connsiteY3" fmla="*/ 11903 h 33750"/>
                  <a:gd name="connsiteX4" fmla="*/ 334 w 50625"/>
                  <a:gd name="connsiteY4" fmla="*/ 22939 h 33750"/>
                  <a:gd name="connsiteX5" fmla="*/ 1987 w 50625"/>
                  <a:gd name="connsiteY5" fmla="*/ 29740 h 33750"/>
                  <a:gd name="connsiteX6" fmla="*/ 8855 w 50625"/>
                  <a:gd name="connsiteY6" fmla="*/ 38599 h 33750"/>
                  <a:gd name="connsiteX7" fmla="*/ 20060 w 50625"/>
                  <a:gd name="connsiteY7" fmla="*/ 39645 h 33750"/>
                  <a:gd name="connsiteX8" fmla="*/ 53439 w 50625"/>
                  <a:gd name="connsiteY8" fmla="*/ 28930 h 33750"/>
                  <a:gd name="connsiteX9" fmla="*/ 62889 w 50625"/>
                  <a:gd name="connsiteY9" fmla="*/ 12089 h 33750"/>
                  <a:gd name="connsiteX10" fmla="*/ 62585 w 50625"/>
                  <a:gd name="connsiteY10" fmla="*/ 10890 h 33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625" h="33750">
                    <a:moveTo>
                      <a:pt x="62585" y="10890"/>
                    </a:moveTo>
                    <a:cubicBezTo>
                      <a:pt x="60881" y="3634"/>
                      <a:pt x="53878" y="-973"/>
                      <a:pt x="46537" y="175"/>
                    </a:cubicBezTo>
                    <a:lnTo>
                      <a:pt x="11927" y="5862"/>
                    </a:lnTo>
                    <a:cubicBezTo>
                      <a:pt x="8062" y="6486"/>
                      <a:pt x="4637" y="8663"/>
                      <a:pt x="2443" y="11903"/>
                    </a:cubicBezTo>
                    <a:cubicBezTo>
                      <a:pt x="266" y="15109"/>
                      <a:pt x="-510" y="19142"/>
                      <a:pt x="334" y="22939"/>
                    </a:cubicBezTo>
                    <a:cubicBezTo>
                      <a:pt x="840" y="25217"/>
                      <a:pt x="1397" y="27512"/>
                      <a:pt x="1987" y="29740"/>
                    </a:cubicBezTo>
                    <a:cubicBezTo>
                      <a:pt x="2949" y="33554"/>
                      <a:pt x="5430" y="36760"/>
                      <a:pt x="8855" y="38599"/>
                    </a:cubicBezTo>
                    <a:cubicBezTo>
                      <a:pt x="12281" y="40472"/>
                      <a:pt x="16331" y="40945"/>
                      <a:pt x="20060" y="39645"/>
                    </a:cubicBezTo>
                    <a:lnTo>
                      <a:pt x="53439" y="28930"/>
                    </a:lnTo>
                    <a:cubicBezTo>
                      <a:pt x="60493" y="26635"/>
                      <a:pt x="64644" y="19311"/>
                      <a:pt x="62889" y="12089"/>
                    </a:cubicBezTo>
                    <a:cubicBezTo>
                      <a:pt x="62788" y="11768"/>
                      <a:pt x="62687" y="11312"/>
                      <a:pt x="62585" y="10890"/>
                    </a:cubicBezTo>
                    <a:close/>
                  </a:path>
                </a:pathLst>
              </a:custGeom>
              <a:grpFill/>
              <a:ln w="16669" cap="flat">
                <a:noFill/>
                <a:prstDash val="solid"/>
                <a:miter/>
              </a:ln>
            </p:spPr>
            <p:txBody>
              <a:bodyPr rtlCol="0" anchor="ctr"/>
              <a:lstStyle/>
              <a:p>
                <a:pPr>
                  <a:lnSpc>
                    <a:spcPct val="120000"/>
                  </a:lnSpc>
                  <a:spcAft>
                    <a:spcPts val="100"/>
                  </a:spcAft>
                </a:pPr>
                <a:endParaRPr lang="zh-CN" altLang="en-US"/>
              </a:p>
            </p:txBody>
          </p:sp>
          <p:sp>
            <p:nvSpPr>
              <p:cNvPr id="61" name="任意多边形: 形状 60">
                <a:extLst>
                  <a:ext uri="{FF2B5EF4-FFF2-40B4-BE49-F238E27FC236}">
                    <a16:creationId xmlns:a16="http://schemas.microsoft.com/office/drawing/2014/main" id="{87EF7B0F-1081-8A42-CE75-F5E9E1637363}"/>
                  </a:ext>
                </a:extLst>
              </p:cNvPr>
              <p:cNvSpPr/>
              <p:nvPr/>
            </p:nvSpPr>
            <p:spPr>
              <a:xfrm>
                <a:off x="9080336" y="2540605"/>
                <a:ext cx="50625" cy="50625"/>
              </a:xfrm>
              <a:custGeom>
                <a:avLst/>
                <a:gdLst>
                  <a:gd name="connsiteX0" fmla="*/ 54540 w 50625"/>
                  <a:gd name="connsiteY0" fmla="*/ 47529 h 50625"/>
                  <a:gd name="connsiteX1" fmla="*/ 55367 w 50625"/>
                  <a:gd name="connsiteY1" fmla="*/ 46483 h 50625"/>
                  <a:gd name="connsiteX2" fmla="*/ 53730 w 50625"/>
                  <a:gd name="connsiteY2" fmla="*/ 27229 h 50625"/>
                  <a:gd name="connsiteX3" fmla="*/ 27793 w 50625"/>
                  <a:gd name="connsiteY3" fmla="*/ 3688 h 50625"/>
                  <a:gd name="connsiteX4" fmla="*/ 17145 w 50625"/>
                  <a:gd name="connsiteY4" fmla="*/ 43 h 50625"/>
                  <a:gd name="connsiteX5" fmla="*/ 7206 w 50625"/>
                  <a:gd name="connsiteY5" fmla="*/ 5291 h 50625"/>
                  <a:gd name="connsiteX6" fmla="*/ 2869 w 50625"/>
                  <a:gd name="connsiteY6" fmla="*/ 10843 h 50625"/>
                  <a:gd name="connsiteX7" fmla="*/ 202 w 50625"/>
                  <a:gd name="connsiteY7" fmla="*/ 21778 h 50625"/>
                  <a:gd name="connsiteX8" fmla="*/ 6311 w 50625"/>
                  <a:gd name="connsiteY8" fmla="*/ 31211 h 50625"/>
                  <a:gd name="connsiteX9" fmla="*/ 35488 w 50625"/>
                  <a:gd name="connsiteY9" fmla="*/ 50634 h 50625"/>
                  <a:gd name="connsiteX10" fmla="*/ 54540 w 50625"/>
                  <a:gd name="connsiteY10" fmla="*/ 47529 h 50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625" h="50625">
                    <a:moveTo>
                      <a:pt x="54540" y="47529"/>
                    </a:moveTo>
                    <a:cubicBezTo>
                      <a:pt x="54827" y="47175"/>
                      <a:pt x="55080" y="46820"/>
                      <a:pt x="55367" y="46483"/>
                    </a:cubicBezTo>
                    <a:cubicBezTo>
                      <a:pt x="59957" y="40610"/>
                      <a:pt x="59231" y="32224"/>
                      <a:pt x="53730" y="27229"/>
                    </a:cubicBezTo>
                    <a:lnTo>
                      <a:pt x="27793" y="3688"/>
                    </a:lnTo>
                    <a:cubicBezTo>
                      <a:pt x="24891" y="1055"/>
                      <a:pt x="21043" y="-261"/>
                      <a:pt x="17145" y="43"/>
                    </a:cubicBezTo>
                    <a:cubicBezTo>
                      <a:pt x="13264" y="364"/>
                      <a:pt x="9652" y="2254"/>
                      <a:pt x="7206" y="5291"/>
                    </a:cubicBezTo>
                    <a:cubicBezTo>
                      <a:pt x="5721" y="7130"/>
                      <a:pt x="4286" y="8970"/>
                      <a:pt x="2869" y="10843"/>
                    </a:cubicBezTo>
                    <a:cubicBezTo>
                      <a:pt x="506" y="13982"/>
                      <a:pt x="-456" y="17914"/>
                      <a:pt x="202" y="21778"/>
                    </a:cubicBezTo>
                    <a:cubicBezTo>
                      <a:pt x="861" y="25625"/>
                      <a:pt x="3071" y="29017"/>
                      <a:pt x="6311" y="31211"/>
                    </a:cubicBezTo>
                    <a:lnTo>
                      <a:pt x="35488" y="50634"/>
                    </a:lnTo>
                    <a:cubicBezTo>
                      <a:pt x="41664" y="54752"/>
                      <a:pt x="50001" y="53385"/>
                      <a:pt x="54540" y="47529"/>
                    </a:cubicBezTo>
                    <a:close/>
                  </a:path>
                </a:pathLst>
              </a:custGeom>
              <a:grpFill/>
              <a:ln w="16669" cap="flat">
                <a:noFill/>
                <a:prstDash val="solid"/>
                <a:miter/>
              </a:ln>
            </p:spPr>
            <p:txBody>
              <a:bodyPr rtlCol="0" anchor="ctr"/>
              <a:lstStyle/>
              <a:p>
                <a:pPr>
                  <a:lnSpc>
                    <a:spcPct val="120000"/>
                  </a:lnSpc>
                  <a:spcAft>
                    <a:spcPts val="100"/>
                  </a:spcAft>
                </a:pPr>
                <a:endParaRPr lang="zh-CN" altLang="en-US"/>
              </a:p>
            </p:txBody>
          </p:sp>
          <p:sp>
            <p:nvSpPr>
              <p:cNvPr id="62" name="任意多边形: 形状 61">
                <a:extLst>
                  <a:ext uri="{FF2B5EF4-FFF2-40B4-BE49-F238E27FC236}">
                    <a16:creationId xmlns:a16="http://schemas.microsoft.com/office/drawing/2014/main" id="{15F289F0-F4C5-F39D-B02B-67A49D1A113B}"/>
                  </a:ext>
                </a:extLst>
              </p:cNvPr>
              <p:cNvSpPr/>
              <p:nvPr/>
            </p:nvSpPr>
            <p:spPr>
              <a:xfrm>
                <a:off x="9461087" y="2728751"/>
                <a:ext cx="50625" cy="33750"/>
              </a:xfrm>
              <a:custGeom>
                <a:avLst/>
                <a:gdLst>
                  <a:gd name="connsiteX0" fmla="*/ 60817 w 50625"/>
                  <a:gd name="connsiteY0" fmla="*/ 10904 h 33750"/>
                  <a:gd name="connsiteX1" fmla="*/ 51216 w 50625"/>
                  <a:gd name="connsiteY1" fmla="*/ 5049 h 33750"/>
                  <a:gd name="connsiteX2" fmla="*/ 16554 w 50625"/>
                  <a:gd name="connsiteY2" fmla="*/ 138 h 33750"/>
                  <a:gd name="connsiteX3" fmla="*/ 726 w 50625"/>
                  <a:gd name="connsiteY3" fmla="*/ 11191 h 33750"/>
                  <a:gd name="connsiteX4" fmla="*/ 371 w 50625"/>
                  <a:gd name="connsiteY4" fmla="*/ 12508 h 33750"/>
                  <a:gd name="connsiteX5" fmla="*/ 10142 w 50625"/>
                  <a:gd name="connsiteY5" fmla="*/ 29079 h 33750"/>
                  <a:gd name="connsiteX6" fmla="*/ 43689 w 50625"/>
                  <a:gd name="connsiteY6" fmla="*/ 39052 h 33750"/>
                  <a:gd name="connsiteX7" fmla="*/ 54861 w 50625"/>
                  <a:gd name="connsiteY7" fmla="*/ 37786 h 33750"/>
                  <a:gd name="connsiteX8" fmla="*/ 61543 w 50625"/>
                  <a:gd name="connsiteY8" fmla="*/ 28724 h 33750"/>
                  <a:gd name="connsiteX9" fmla="*/ 63028 w 50625"/>
                  <a:gd name="connsiteY9" fmla="*/ 21907 h 33750"/>
                  <a:gd name="connsiteX10" fmla="*/ 60817 w 50625"/>
                  <a:gd name="connsiteY10" fmla="*/ 10904 h 33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625" h="33750">
                    <a:moveTo>
                      <a:pt x="60817" y="10904"/>
                    </a:moveTo>
                    <a:cubicBezTo>
                      <a:pt x="58539" y="7732"/>
                      <a:pt x="55080" y="5606"/>
                      <a:pt x="51216" y="5049"/>
                    </a:cubicBezTo>
                    <a:lnTo>
                      <a:pt x="16554" y="138"/>
                    </a:lnTo>
                    <a:cubicBezTo>
                      <a:pt x="9197" y="-891"/>
                      <a:pt x="2278" y="3935"/>
                      <a:pt x="726" y="11191"/>
                    </a:cubicBezTo>
                    <a:cubicBezTo>
                      <a:pt x="557" y="11563"/>
                      <a:pt x="472" y="12103"/>
                      <a:pt x="371" y="12508"/>
                    </a:cubicBezTo>
                    <a:cubicBezTo>
                      <a:pt x="-1333" y="19764"/>
                      <a:pt x="2987" y="26936"/>
                      <a:pt x="10142" y="29079"/>
                    </a:cubicBezTo>
                    <a:lnTo>
                      <a:pt x="43689" y="39052"/>
                    </a:lnTo>
                    <a:cubicBezTo>
                      <a:pt x="47503" y="40149"/>
                      <a:pt x="51502" y="39676"/>
                      <a:pt x="54861" y="37786"/>
                    </a:cubicBezTo>
                    <a:cubicBezTo>
                      <a:pt x="58219" y="35812"/>
                      <a:pt x="60666" y="32521"/>
                      <a:pt x="61543" y="28724"/>
                    </a:cubicBezTo>
                    <a:cubicBezTo>
                      <a:pt x="62066" y="26379"/>
                      <a:pt x="62572" y="24151"/>
                      <a:pt x="63028" y="21907"/>
                    </a:cubicBezTo>
                    <a:cubicBezTo>
                      <a:pt x="63906" y="18059"/>
                      <a:pt x="63062" y="14094"/>
                      <a:pt x="60817" y="10904"/>
                    </a:cubicBezTo>
                    <a:close/>
                  </a:path>
                </a:pathLst>
              </a:custGeom>
              <a:grpFill/>
              <a:ln w="16669" cap="flat">
                <a:noFill/>
                <a:prstDash val="solid"/>
                <a:miter/>
              </a:ln>
            </p:spPr>
            <p:txBody>
              <a:bodyPr rtlCol="0" anchor="ctr"/>
              <a:lstStyle/>
              <a:p>
                <a:pPr>
                  <a:lnSpc>
                    <a:spcPct val="120000"/>
                  </a:lnSpc>
                  <a:spcAft>
                    <a:spcPts val="100"/>
                  </a:spcAft>
                </a:pPr>
                <a:endParaRPr lang="zh-CN" altLang="en-US"/>
              </a:p>
            </p:txBody>
          </p:sp>
        </p:grpSp>
      </p:grpSp>
      <p:grpSp>
        <p:nvGrpSpPr>
          <p:cNvPr id="4" name="组合 3">
            <a:extLst>
              <a:ext uri="{FF2B5EF4-FFF2-40B4-BE49-F238E27FC236}">
                <a16:creationId xmlns:a16="http://schemas.microsoft.com/office/drawing/2014/main" id="{8FD5C0F6-D252-8A3C-6AAB-D746A94C0B8D}"/>
              </a:ext>
            </a:extLst>
          </p:cNvPr>
          <p:cNvGrpSpPr/>
          <p:nvPr/>
        </p:nvGrpSpPr>
        <p:grpSpPr>
          <a:xfrm>
            <a:off x="6250760" y="1846027"/>
            <a:ext cx="4359820" cy="407189"/>
            <a:chOff x="6278415" y="2511047"/>
            <a:chExt cx="4359820" cy="407189"/>
          </a:xfrm>
        </p:grpSpPr>
        <p:sp>
          <p:nvSpPr>
            <p:cNvPr id="8" name="文本框 7">
              <a:extLst>
                <a:ext uri="{FF2B5EF4-FFF2-40B4-BE49-F238E27FC236}">
                  <a16:creationId xmlns:a16="http://schemas.microsoft.com/office/drawing/2014/main" id="{F6BAEDC0-FAA1-256A-A56C-1CEA92644536}"/>
                </a:ext>
              </a:extLst>
            </p:cNvPr>
            <p:cNvSpPr txBox="1"/>
            <p:nvPr/>
          </p:nvSpPr>
          <p:spPr>
            <a:xfrm>
              <a:off x="6695290" y="2543312"/>
              <a:ext cx="3942945" cy="374924"/>
            </a:xfrm>
            <a:prstGeom prst="rect">
              <a:avLst/>
            </a:prstGeom>
            <a:noFill/>
          </p:spPr>
          <p:txBody>
            <a:bodyPr wrap="square">
              <a:spAutoFit/>
            </a:bodyPr>
            <a:lstStyle/>
            <a:p>
              <a:r>
                <a:rPr lang="en-US" altLang="zh-CN" b="1" dirty="0"/>
                <a:t>TCB: </a:t>
              </a:r>
              <a:r>
                <a:rPr lang="zh-CN" altLang="en-US" b="1" dirty="0"/>
                <a:t>安全抽象 </a:t>
              </a:r>
              <a:r>
                <a:rPr lang="en-US" altLang="zh-CN" b="1" dirty="0"/>
                <a:t>+ </a:t>
              </a:r>
              <a:r>
                <a:rPr lang="zh-CN" altLang="en-US" b="1" dirty="0"/>
                <a:t>运行时</a:t>
              </a:r>
              <a:endParaRPr lang="zh-CN" altLang="en-US" dirty="0"/>
            </a:p>
          </p:txBody>
        </p:sp>
        <p:grpSp>
          <p:nvGrpSpPr>
            <p:cNvPr id="95" name="组合 94">
              <a:extLst>
                <a:ext uri="{FF2B5EF4-FFF2-40B4-BE49-F238E27FC236}">
                  <a16:creationId xmlns:a16="http://schemas.microsoft.com/office/drawing/2014/main" id="{A83FA2FA-E3F3-C3B1-3A4D-0CEAE299159F}"/>
                </a:ext>
              </a:extLst>
            </p:cNvPr>
            <p:cNvGrpSpPr/>
            <p:nvPr/>
          </p:nvGrpSpPr>
          <p:grpSpPr>
            <a:xfrm>
              <a:off x="6278415" y="2511047"/>
              <a:ext cx="351569" cy="360321"/>
              <a:chOff x="9038676" y="2453000"/>
              <a:chExt cx="473036" cy="525437"/>
            </a:xfrm>
            <a:solidFill>
              <a:schemeClr val="accent1"/>
            </a:solidFill>
          </p:grpSpPr>
          <p:sp>
            <p:nvSpPr>
              <p:cNvPr id="96" name="任意多边形: 形状 95">
                <a:extLst>
                  <a:ext uri="{FF2B5EF4-FFF2-40B4-BE49-F238E27FC236}">
                    <a16:creationId xmlns:a16="http://schemas.microsoft.com/office/drawing/2014/main" id="{B061D4FF-8D44-59CF-FEE7-CEF465591053}"/>
                  </a:ext>
                </a:extLst>
              </p:cNvPr>
              <p:cNvSpPr/>
              <p:nvPr/>
            </p:nvSpPr>
            <p:spPr>
              <a:xfrm>
                <a:off x="9122895" y="2539687"/>
                <a:ext cx="303750" cy="438750"/>
              </a:xfrm>
              <a:custGeom>
                <a:avLst/>
                <a:gdLst>
                  <a:gd name="connsiteX0" fmla="*/ 166421 w 303750"/>
                  <a:gd name="connsiteY0" fmla="*/ 0 h 438750"/>
                  <a:gd name="connsiteX1" fmla="*/ 147167 w 303750"/>
                  <a:gd name="connsiteY1" fmla="*/ 0 h 438750"/>
                  <a:gd name="connsiteX2" fmla="*/ 0 w 303750"/>
                  <a:gd name="connsiteY2" fmla="*/ 157309 h 438750"/>
                  <a:gd name="connsiteX3" fmla="*/ 69221 w 303750"/>
                  <a:gd name="connsiteY3" fmla="*/ 287938 h 438750"/>
                  <a:gd name="connsiteX4" fmla="*/ 69221 w 303750"/>
                  <a:gd name="connsiteY4" fmla="*/ 333197 h 438750"/>
                  <a:gd name="connsiteX5" fmla="*/ 81793 w 303750"/>
                  <a:gd name="connsiteY5" fmla="*/ 356619 h 438750"/>
                  <a:gd name="connsiteX6" fmla="*/ 85050 w 303750"/>
                  <a:gd name="connsiteY6" fmla="*/ 362273 h 438750"/>
                  <a:gd name="connsiteX7" fmla="*/ 82502 w 303750"/>
                  <a:gd name="connsiteY7" fmla="*/ 368246 h 438750"/>
                  <a:gd name="connsiteX8" fmla="*/ 70673 w 303750"/>
                  <a:gd name="connsiteY8" fmla="*/ 381257 h 438750"/>
                  <a:gd name="connsiteX9" fmla="*/ 70673 w 303750"/>
                  <a:gd name="connsiteY9" fmla="*/ 410434 h 438750"/>
                  <a:gd name="connsiteX10" fmla="*/ 82502 w 303750"/>
                  <a:gd name="connsiteY10" fmla="*/ 422246 h 438750"/>
                  <a:gd name="connsiteX11" fmla="*/ 90416 w 303750"/>
                  <a:gd name="connsiteY11" fmla="*/ 422246 h 438750"/>
                  <a:gd name="connsiteX12" fmla="*/ 101351 w 303750"/>
                  <a:gd name="connsiteY12" fmla="*/ 427478 h 438750"/>
                  <a:gd name="connsiteX13" fmla="*/ 156802 w 303750"/>
                  <a:gd name="connsiteY13" fmla="*/ 450225 h 438750"/>
                  <a:gd name="connsiteX14" fmla="*/ 212237 w 303750"/>
                  <a:gd name="connsiteY14" fmla="*/ 427478 h 438750"/>
                  <a:gd name="connsiteX15" fmla="*/ 223172 w 303750"/>
                  <a:gd name="connsiteY15" fmla="*/ 422246 h 438750"/>
                  <a:gd name="connsiteX16" fmla="*/ 231086 w 303750"/>
                  <a:gd name="connsiteY16" fmla="*/ 422246 h 438750"/>
                  <a:gd name="connsiteX17" fmla="*/ 242916 w 303750"/>
                  <a:gd name="connsiteY17" fmla="*/ 410434 h 438750"/>
                  <a:gd name="connsiteX18" fmla="*/ 242916 w 303750"/>
                  <a:gd name="connsiteY18" fmla="*/ 381257 h 438750"/>
                  <a:gd name="connsiteX19" fmla="*/ 231086 w 303750"/>
                  <a:gd name="connsiteY19" fmla="*/ 368246 h 438750"/>
                  <a:gd name="connsiteX20" fmla="*/ 228555 w 303750"/>
                  <a:gd name="connsiteY20" fmla="*/ 362273 h 438750"/>
                  <a:gd name="connsiteX21" fmla="*/ 231812 w 303750"/>
                  <a:gd name="connsiteY21" fmla="*/ 356619 h 438750"/>
                  <a:gd name="connsiteX22" fmla="*/ 244367 w 303750"/>
                  <a:gd name="connsiteY22" fmla="*/ 333197 h 438750"/>
                  <a:gd name="connsiteX23" fmla="*/ 244367 w 303750"/>
                  <a:gd name="connsiteY23" fmla="*/ 287938 h 438750"/>
                  <a:gd name="connsiteX24" fmla="*/ 313588 w 303750"/>
                  <a:gd name="connsiteY24" fmla="*/ 157309 h 438750"/>
                  <a:gd name="connsiteX25" fmla="*/ 166421 w 303750"/>
                  <a:gd name="connsiteY25" fmla="*/ 0 h 438750"/>
                  <a:gd name="connsiteX26" fmla="*/ 211478 w 303750"/>
                  <a:gd name="connsiteY26" fmla="*/ 253699 h 438750"/>
                  <a:gd name="connsiteX27" fmla="*/ 202652 w 303750"/>
                  <a:gd name="connsiteY27" fmla="*/ 258272 h 438750"/>
                  <a:gd name="connsiteX28" fmla="*/ 202652 w 303750"/>
                  <a:gd name="connsiteY28" fmla="*/ 300274 h 438750"/>
                  <a:gd name="connsiteX29" fmla="*/ 190688 w 303750"/>
                  <a:gd name="connsiteY29" fmla="*/ 315107 h 438750"/>
                  <a:gd name="connsiteX30" fmla="*/ 172091 w 303750"/>
                  <a:gd name="connsiteY30" fmla="*/ 319022 h 438750"/>
                  <a:gd name="connsiteX31" fmla="*/ 141514 w 303750"/>
                  <a:gd name="connsiteY31" fmla="*/ 319022 h 438750"/>
                  <a:gd name="connsiteX32" fmla="*/ 122918 w 303750"/>
                  <a:gd name="connsiteY32" fmla="*/ 315107 h 438750"/>
                  <a:gd name="connsiteX33" fmla="*/ 110953 w 303750"/>
                  <a:gd name="connsiteY33" fmla="*/ 300274 h 438750"/>
                  <a:gd name="connsiteX34" fmla="*/ 110953 w 303750"/>
                  <a:gd name="connsiteY34" fmla="*/ 258255 h 438750"/>
                  <a:gd name="connsiteX35" fmla="*/ 102128 w 303750"/>
                  <a:gd name="connsiteY35" fmla="*/ 253682 h 438750"/>
                  <a:gd name="connsiteX36" fmla="*/ 48516 w 303750"/>
                  <a:gd name="connsiteY36" fmla="*/ 160161 h 438750"/>
                  <a:gd name="connsiteX37" fmla="*/ 156802 w 303750"/>
                  <a:gd name="connsiteY37" fmla="*/ 50676 h 438750"/>
                  <a:gd name="connsiteX38" fmla="*/ 265073 w 303750"/>
                  <a:gd name="connsiteY38" fmla="*/ 160161 h 438750"/>
                  <a:gd name="connsiteX39" fmla="*/ 211478 w 303750"/>
                  <a:gd name="connsiteY39" fmla="*/ 253699 h 43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03750" h="438750">
                    <a:moveTo>
                      <a:pt x="166421" y="0"/>
                    </a:moveTo>
                    <a:lnTo>
                      <a:pt x="147167" y="0"/>
                    </a:lnTo>
                    <a:cubicBezTo>
                      <a:pt x="65289" y="5181"/>
                      <a:pt x="0" y="73643"/>
                      <a:pt x="0" y="157309"/>
                    </a:cubicBezTo>
                    <a:cubicBezTo>
                      <a:pt x="0" y="214819"/>
                      <a:pt x="25380" y="260769"/>
                      <a:pt x="69221" y="287938"/>
                    </a:cubicBezTo>
                    <a:lnTo>
                      <a:pt x="69221" y="333197"/>
                    </a:lnTo>
                    <a:cubicBezTo>
                      <a:pt x="69221" y="346410"/>
                      <a:pt x="74132" y="351523"/>
                      <a:pt x="81793" y="356619"/>
                    </a:cubicBezTo>
                    <a:cubicBezTo>
                      <a:pt x="83700" y="357851"/>
                      <a:pt x="84915" y="359961"/>
                      <a:pt x="85050" y="362273"/>
                    </a:cubicBezTo>
                    <a:cubicBezTo>
                      <a:pt x="85185" y="364568"/>
                      <a:pt x="85404" y="367538"/>
                      <a:pt x="82502" y="368246"/>
                    </a:cubicBezTo>
                    <a:cubicBezTo>
                      <a:pt x="70639" y="368246"/>
                      <a:pt x="70673" y="381257"/>
                      <a:pt x="70673" y="381257"/>
                    </a:cubicBezTo>
                    <a:cubicBezTo>
                      <a:pt x="70673" y="386522"/>
                      <a:pt x="70673" y="410434"/>
                      <a:pt x="70673" y="410434"/>
                    </a:cubicBezTo>
                    <a:cubicBezTo>
                      <a:pt x="70673" y="416964"/>
                      <a:pt x="75954" y="422246"/>
                      <a:pt x="82502" y="422246"/>
                    </a:cubicBezTo>
                    <a:lnTo>
                      <a:pt x="90416" y="422246"/>
                    </a:lnTo>
                    <a:cubicBezTo>
                      <a:pt x="96744" y="422246"/>
                      <a:pt x="101351" y="427478"/>
                      <a:pt x="101351" y="427478"/>
                    </a:cubicBezTo>
                    <a:cubicBezTo>
                      <a:pt x="101351" y="427478"/>
                      <a:pt x="129178" y="450225"/>
                      <a:pt x="156802" y="450225"/>
                    </a:cubicBezTo>
                    <a:cubicBezTo>
                      <a:pt x="184815" y="450225"/>
                      <a:pt x="212237" y="427478"/>
                      <a:pt x="212237" y="427478"/>
                    </a:cubicBezTo>
                    <a:cubicBezTo>
                      <a:pt x="212237" y="427478"/>
                      <a:pt x="216844" y="422246"/>
                      <a:pt x="223172" y="422246"/>
                    </a:cubicBezTo>
                    <a:lnTo>
                      <a:pt x="231086" y="422246"/>
                    </a:lnTo>
                    <a:cubicBezTo>
                      <a:pt x="237651" y="422246"/>
                      <a:pt x="242916" y="416964"/>
                      <a:pt x="242916" y="410434"/>
                    </a:cubicBezTo>
                    <a:cubicBezTo>
                      <a:pt x="242916" y="410434"/>
                      <a:pt x="242916" y="386539"/>
                      <a:pt x="242916" y="381257"/>
                    </a:cubicBezTo>
                    <a:cubicBezTo>
                      <a:pt x="242916" y="381257"/>
                      <a:pt x="242949" y="368246"/>
                      <a:pt x="231086" y="368246"/>
                    </a:cubicBezTo>
                    <a:cubicBezTo>
                      <a:pt x="228184" y="367554"/>
                      <a:pt x="228420" y="364534"/>
                      <a:pt x="228555" y="362273"/>
                    </a:cubicBezTo>
                    <a:cubicBezTo>
                      <a:pt x="228724" y="359961"/>
                      <a:pt x="229905" y="357851"/>
                      <a:pt x="231812" y="356619"/>
                    </a:cubicBezTo>
                    <a:cubicBezTo>
                      <a:pt x="239456" y="351523"/>
                      <a:pt x="244367" y="346427"/>
                      <a:pt x="244367" y="333197"/>
                    </a:cubicBezTo>
                    <a:lnTo>
                      <a:pt x="244367" y="287938"/>
                    </a:lnTo>
                    <a:cubicBezTo>
                      <a:pt x="288208" y="260786"/>
                      <a:pt x="313588" y="214819"/>
                      <a:pt x="313588" y="157309"/>
                    </a:cubicBezTo>
                    <a:cubicBezTo>
                      <a:pt x="313588" y="73643"/>
                      <a:pt x="248333" y="5164"/>
                      <a:pt x="166421" y="0"/>
                    </a:cubicBezTo>
                    <a:close/>
                    <a:moveTo>
                      <a:pt x="211478" y="253699"/>
                    </a:moveTo>
                    <a:lnTo>
                      <a:pt x="202652" y="258272"/>
                    </a:lnTo>
                    <a:lnTo>
                      <a:pt x="202652" y="300274"/>
                    </a:lnTo>
                    <a:cubicBezTo>
                      <a:pt x="202652" y="307463"/>
                      <a:pt x="197674" y="313588"/>
                      <a:pt x="190688" y="315107"/>
                    </a:cubicBezTo>
                    <a:lnTo>
                      <a:pt x="172091" y="319022"/>
                    </a:lnTo>
                    <a:cubicBezTo>
                      <a:pt x="168953" y="319714"/>
                      <a:pt x="153968" y="322194"/>
                      <a:pt x="141514" y="319022"/>
                    </a:cubicBezTo>
                    <a:lnTo>
                      <a:pt x="122918" y="315107"/>
                    </a:lnTo>
                    <a:cubicBezTo>
                      <a:pt x="115931" y="313588"/>
                      <a:pt x="110953" y="307463"/>
                      <a:pt x="110953" y="300274"/>
                    </a:cubicBezTo>
                    <a:lnTo>
                      <a:pt x="110953" y="258255"/>
                    </a:lnTo>
                    <a:lnTo>
                      <a:pt x="102128" y="253682"/>
                    </a:lnTo>
                    <a:cubicBezTo>
                      <a:pt x="57814" y="230901"/>
                      <a:pt x="48516" y="190215"/>
                      <a:pt x="48516" y="160161"/>
                    </a:cubicBezTo>
                    <a:cubicBezTo>
                      <a:pt x="48516" y="99900"/>
                      <a:pt x="97031" y="50878"/>
                      <a:pt x="156802" y="50676"/>
                    </a:cubicBezTo>
                    <a:cubicBezTo>
                      <a:pt x="216557" y="50878"/>
                      <a:pt x="265073" y="99900"/>
                      <a:pt x="265073" y="160161"/>
                    </a:cubicBezTo>
                    <a:cubicBezTo>
                      <a:pt x="265073" y="190232"/>
                      <a:pt x="255774" y="230918"/>
                      <a:pt x="211478" y="253699"/>
                    </a:cubicBezTo>
                    <a:close/>
                  </a:path>
                </a:pathLst>
              </a:custGeom>
              <a:grpFill/>
              <a:ln w="16669" cap="flat">
                <a:noFill/>
                <a:prstDash val="solid"/>
                <a:miter/>
              </a:ln>
            </p:spPr>
            <p:txBody>
              <a:bodyPr rtlCol="0" anchor="ctr"/>
              <a:lstStyle/>
              <a:p>
                <a:pPr algn="ctr">
                  <a:lnSpc>
                    <a:spcPct val="120000"/>
                  </a:lnSpc>
                  <a:spcAft>
                    <a:spcPts val="100"/>
                  </a:spcAft>
                </a:pPr>
                <a:endParaRPr lang="zh-CN" altLang="en-US"/>
              </a:p>
            </p:txBody>
          </p:sp>
          <p:sp>
            <p:nvSpPr>
              <p:cNvPr id="97" name="任意多边形: 形状 96">
                <a:extLst>
                  <a:ext uri="{FF2B5EF4-FFF2-40B4-BE49-F238E27FC236}">
                    <a16:creationId xmlns:a16="http://schemas.microsoft.com/office/drawing/2014/main" id="{BE2BB15E-9670-2EE7-1F98-79E435151E72}"/>
                  </a:ext>
                </a:extLst>
              </p:cNvPr>
              <p:cNvSpPr/>
              <p:nvPr/>
            </p:nvSpPr>
            <p:spPr>
              <a:xfrm>
                <a:off x="9420525" y="2536256"/>
                <a:ext cx="50625" cy="50625"/>
              </a:xfrm>
              <a:custGeom>
                <a:avLst/>
                <a:gdLst>
                  <a:gd name="connsiteX0" fmla="*/ 57809 w 50625"/>
                  <a:gd name="connsiteY0" fmla="*/ 21352 h 50625"/>
                  <a:gd name="connsiteX1" fmla="*/ 54839 w 50625"/>
                  <a:gd name="connsiteY1" fmla="*/ 10468 h 50625"/>
                  <a:gd name="connsiteX2" fmla="*/ 50417 w 50625"/>
                  <a:gd name="connsiteY2" fmla="*/ 5051 h 50625"/>
                  <a:gd name="connsiteX3" fmla="*/ 40309 w 50625"/>
                  <a:gd name="connsiteY3" fmla="*/ 22 h 50625"/>
                  <a:gd name="connsiteX4" fmla="*/ 29746 w 50625"/>
                  <a:gd name="connsiteY4" fmla="*/ 3903 h 50625"/>
                  <a:gd name="connsiteX5" fmla="*/ 4349 w 50625"/>
                  <a:gd name="connsiteY5" fmla="*/ 28052 h 50625"/>
                  <a:gd name="connsiteX6" fmla="*/ 3218 w 50625"/>
                  <a:gd name="connsiteY6" fmla="*/ 47340 h 50625"/>
                  <a:gd name="connsiteX7" fmla="*/ 4096 w 50625"/>
                  <a:gd name="connsiteY7" fmla="*/ 48369 h 50625"/>
                  <a:gd name="connsiteX8" fmla="*/ 23215 w 50625"/>
                  <a:gd name="connsiteY8" fmla="*/ 51035 h 50625"/>
                  <a:gd name="connsiteX9" fmla="*/ 51886 w 50625"/>
                  <a:gd name="connsiteY9" fmla="*/ 30920 h 50625"/>
                  <a:gd name="connsiteX10" fmla="*/ 57809 w 50625"/>
                  <a:gd name="connsiteY10" fmla="*/ 21352 h 50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625" h="50625">
                    <a:moveTo>
                      <a:pt x="57809" y="21352"/>
                    </a:moveTo>
                    <a:cubicBezTo>
                      <a:pt x="58399" y="17488"/>
                      <a:pt x="57319" y="13556"/>
                      <a:pt x="54839" y="10468"/>
                    </a:cubicBezTo>
                    <a:cubicBezTo>
                      <a:pt x="53387" y="8645"/>
                      <a:pt x="51903" y="6857"/>
                      <a:pt x="50417" y="5051"/>
                    </a:cubicBezTo>
                    <a:cubicBezTo>
                      <a:pt x="47886" y="2064"/>
                      <a:pt x="44258" y="242"/>
                      <a:pt x="40309" y="22"/>
                    </a:cubicBezTo>
                    <a:cubicBezTo>
                      <a:pt x="36445" y="-197"/>
                      <a:pt x="32581" y="1220"/>
                      <a:pt x="29746" y="3903"/>
                    </a:cubicBezTo>
                    <a:lnTo>
                      <a:pt x="4349" y="28052"/>
                    </a:lnTo>
                    <a:cubicBezTo>
                      <a:pt x="-984" y="33198"/>
                      <a:pt x="-1473" y="41619"/>
                      <a:pt x="3218" y="47340"/>
                    </a:cubicBezTo>
                    <a:cubicBezTo>
                      <a:pt x="3539" y="47677"/>
                      <a:pt x="3775" y="48015"/>
                      <a:pt x="4096" y="48369"/>
                    </a:cubicBezTo>
                    <a:cubicBezTo>
                      <a:pt x="8753" y="54140"/>
                      <a:pt x="17106" y="55322"/>
                      <a:pt x="23215" y="51035"/>
                    </a:cubicBezTo>
                    <a:lnTo>
                      <a:pt x="51886" y="30920"/>
                    </a:lnTo>
                    <a:cubicBezTo>
                      <a:pt x="55075" y="28676"/>
                      <a:pt x="57218" y="25217"/>
                      <a:pt x="57809" y="21352"/>
                    </a:cubicBezTo>
                    <a:close/>
                  </a:path>
                </a:pathLst>
              </a:custGeom>
              <a:grpFill/>
              <a:ln w="16669" cap="flat">
                <a:noFill/>
                <a:prstDash val="solid"/>
                <a:miter/>
              </a:ln>
            </p:spPr>
            <p:txBody>
              <a:bodyPr rtlCol="0" anchor="ctr"/>
              <a:lstStyle/>
              <a:p>
                <a:pPr algn="ctr">
                  <a:lnSpc>
                    <a:spcPct val="120000"/>
                  </a:lnSpc>
                  <a:spcAft>
                    <a:spcPts val="100"/>
                  </a:spcAft>
                </a:pPr>
                <a:endParaRPr lang="zh-CN" altLang="en-US"/>
              </a:p>
            </p:txBody>
          </p:sp>
          <p:sp>
            <p:nvSpPr>
              <p:cNvPr id="98" name="任意多边形: 形状 97">
                <a:extLst>
                  <a:ext uri="{FF2B5EF4-FFF2-40B4-BE49-F238E27FC236}">
                    <a16:creationId xmlns:a16="http://schemas.microsoft.com/office/drawing/2014/main" id="{8FCE8B28-3682-4B0E-D251-52A7CAF86B58}"/>
                  </a:ext>
                </a:extLst>
              </p:cNvPr>
              <p:cNvSpPr/>
              <p:nvPr/>
            </p:nvSpPr>
            <p:spPr>
              <a:xfrm>
                <a:off x="9260846" y="2453000"/>
                <a:ext cx="33750" cy="50625"/>
              </a:xfrm>
              <a:custGeom>
                <a:avLst/>
                <a:gdLst>
                  <a:gd name="connsiteX0" fmla="*/ 17383 w 33750"/>
                  <a:gd name="connsiteY0" fmla="*/ 63332 h 50625"/>
                  <a:gd name="connsiteX1" fmla="*/ 18666 w 33750"/>
                  <a:gd name="connsiteY1" fmla="*/ 63315 h 50625"/>
                  <a:gd name="connsiteX2" fmla="*/ 32706 w 33750"/>
                  <a:gd name="connsiteY2" fmla="*/ 50051 h 50625"/>
                  <a:gd name="connsiteX3" fmla="*/ 34950 w 33750"/>
                  <a:gd name="connsiteY3" fmla="*/ 15086 h 50625"/>
                  <a:gd name="connsiteX4" fmla="*/ 31136 w 33750"/>
                  <a:gd name="connsiteY4" fmla="*/ 4506 h 50625"/>
                  <a:gd name="connsiteX5" fmla="*/ 20859 w 33750"/>
                  <a:gd name="connsiteY5" fmla="*/ 0 h 50625"/>
                  <a:gd name="connsiteX6" fmla="*/ 13823 w 33750"/>
                  <a:gd name="connsiteY6" fmla="*/ 68 h 50625"/>
                  <a:gd name="connsiteX7" fmla="*/ 3613 w 33750"/>
                  <a:gd name="connsiteY7" fmla="*/ 4793 h 50625"/>
                  <a:gd name="connsiteX8" fmla="*/ 53 w 33750"/>
                  <a:gd name="connsiteY8" fmla="*/ 15474 h 50625"/>
                  <a:gd name="connsiteX9" fmla="*/ 3073 w 33750"/>
                  <a:gd name="connsiteY9" fmla="*/ 50389 h 50625"/>
                  <a:gd name="connsiteX10" fmla="*/ 17383 w 33750"/>
                  <a:gd name="connsiteY10" fmla="*/ 63332 h 50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750" h="50625">
                    <a:moveTo>
                      <a:pt x="17383" y="63332"/>
                    </a:moveTo>
                    <a:cubicBezTo>
                      <a:pt x="17805" y="63315"/>
                      <a:pt x="18244" y="63315"/>
                      <a:pt x="18666" y="63315"/>
                    </a:cubicBezTo>
                    <a:cubicBezTo>
                      <a:pt x="26091" y="63264"/>
                      <a:pt x="32233" y="57476"/>
                      <a:pt x="32706" y="50051"/>
                    </a:cubicBezTo>
                    <a:lnTo>
                      <a:pt x="34950" y="15086"/>
                    </a:lnTo>
                    <a:cubicBezTo>
                      <a:pt x="35203" y="11188"/>
                      <a:pt x="33853" y="7358"/>
                      <a:pt x="31136" y="4506"/>
                    </a:cubicBezTo>
                    <a:cubicBezTo>
                      <a:pt x="28504" y="1637"/>
                      <a:pt x="24741" y="17"/>
                      <a:pt x="20859" y="0"/>
                    </a:cubicBezTo>
                    <a:cubicBezTo>
                      <a:pt x="18497" y="0"/>
                      <a:pt x="16168" y="17"/>
                      <a:pt x="13823" y="68"/>
                    </a:cubicBezTo>
                    <a:cubicBezTo>
                      <a:pt x="9924" y="169"/>
                      <a:pt x="6212" y="1873"/>
                      <a:pt x="3613" y="4793"/>
                    </a:cubicBezTo>
                    <a:cubicBezTo>
                      <a:pt x="1014" y="7712"/>
                      <a:pt x="-285" y="11593"/>
                      <a:pt x="53" y="15474"/>
                    </a:cubicBezTo>
                    <a:lnTo>
                      <a:pt x="3073" y="50389"/>
                    </a:lnTo>
                    <a:cubicBezTo>
                      <a:pt x="3714" y="57780"/>
                      <a:pt x="9958" y="63433"/>
                      <a:pt x="17383" y="63332"/>
                    </a:cubicBezTo>
                    <a:close/>
                  </a:path>
                </a:pathLst>
              </a:custGeom>
              <a:grpFill/>
              <a:ln w="16669" cap="flat">
                <a:noFill/>
                <a:prstDash val="solid"/>
                <a:miter/>
              </a:ln>
            </p:spPr>
            <p:txBody>
              <a:bodyPr rtlCol="0" anchor="ctr"/>
              <a:lstStyle/>
              <a:p>
                <a:pPr algn="ctr">
                  <a:lnSpc>
                    <a:spcPct val="120000"/>
                  </a:lnSpc>
                  <a:spcAft>
                    <a:spcPts val="100"/>
                  </a:spcAft>
                </a:pPr>
                <a:endParaRPr lang="zh-CN" altLang="en-US"/>
              </a:p>
            </p:txBody>
          </p:sp>
          <p:sp>
            <p:nvSpPr>
              <p:cNvPr id="99" name="任意多边形: 形状 98">
                <a:extLst>
                  <a:ext uri="{FF2B5EF4-FFF2-40B4-BE49-F238E27FC236}">
                    <a16:creationId xmlns:a16="http://schemas.microsoft.com/office/drawing/2014/main" id="{CBBCE928-852F-E97F-1C73-AA84AACB71E4}"/>
                  </a:ext>
                </a:extLst>
              </p:cNvPr>
              <p:cNvSpPr/>
              <p:nvPr/>
            </p:nvSpPr>
            <p:spPr>
              <a:xfrm>
                <a:off x="9038676" y="2732680"/>
                <a:ext cx="50625" cy="33750"/>
              </a:xfrm>
              <a:custGeom>
                <a:avLst/>
                <a:gdLst>
                  <a:gd name="connsiteX0" fmla="*/ 62585 w 50625"/>
                  <a:gd name="connsiteY0" fmla="*/ 10890 h 33750"/>
                  <a:gd name="connsiteX1" fmla="*/ 46537 w 50625"/>
                  <a:gd name="connsiteY1" fmla="*/ 175 h 33750"/>
                  <a:gd name="connsiteX2" fmla="*/ 11927 w 50625"/>
                  <a:gd name="connsiteY2" fmla="*/ 5862 h 33750"/>
                  <a:gd name="connsiteX3" fmla="*/ 2443 w 50625"/>
                  <a:gd name="connsiteY3" fmla="*/ 11903 h 33750"/>
                  <a:gd name="connsiteX4" fmla="*/ 334 w 50625"/>
                  <a:gd name="connsiteY4" fmla="*/ 22939 h 33750"/>
                  <a:gd name="connsiteX5" fmla="*/ 1987 w 50625"/>
                  <a:gd name="connsiteY5" fmla="*/ 29740 h 33750"/>
                  <a:gd name="connsiteX6" fmla="*/ 8855 w 50625"/>
                  <a:gd name="connsiteY6" fmla="*/ 38599 h 33750"/>
                  <a:gd name="connsiteX7" fmla="*/ 20060 w 50625"/>
                  <a:gd name="connsiteY7" fmla="*/ 39645 h 33750"/>
                  <a:gd name="connsiteX8" fmla="*/ 53439 w 50625"/>
                  <a:gd name="connsiteY8" fmla="*/ 28930 h 33750"/>
                  <a:gd name="connsiteX9" fmla="*/ 62889 w 50625"/>
                  <a:gd name="connsiteY9" fmla="*/ 12089 h 33750"/>
                  <a:gd name="connsiteX10" fmla="*/ 62585 w 50625"/>
                  <a:gd name="connsiteY10" fmla="*/ 10890 h 33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625" h="33750">
                    <a:moveTo>
                      <a:pt x="62585" y="10890"/>
                    </a:moveTo>
                    <a:cubicBezTo>
                      <a:pt x="60881" y="3634"/>
                      <a:pt x="53878" y="-973"/>
                      <a:pt x="46537" y="175"/>
                    </a:cubicBezTo>
                    <a:lnTo>
                      <a:pt x="11927" y="5862"/>
                    </a:lnTo>
                    <a:cubicBezTo>
                      <a:pt x="8062" y="6486"/>
                      <a:pt x="4637" y="8663"/>
                      <a:pt x="2443" y="11903"/>
                    </a:cubicBezTo>
                    <a:cubicBezTo>
                      <a:pt x="266" y="15109"/>
                      <a:pt x="-510" y="19142"/>
                      <a:pt x="334" y="22939"/>
                    </a:cubicBezTo>
                    <a:cubicBezTo>
                      <a:pt x="840" y="25217"/>
                      <a:pt x="1397" y="27512"/>
                      <a:pt x="1987" y="29740"/>
                    </a:cubicBezTo>
                    <a:cubicBezTo>
                      <a:pt x="2949" y="33554"/>
                      <a:pt x="5430" y="36760"/>
                      <a:pt x="8855" y="38599"/>
                    </a:cubicBezTo>
                    <a:cubicBezTo>
                      <a:pt x="12281" y="40472"/>
                      <a:pt x="16331" y="40945"/>
                      <a:pt x="20060" y="39645"/>
                    </a:cubicBezTo>
                    <a:lnTo>
                      <a:pt x="53439" y="28930"/>
                    </a:lnTo>
                    <a:cubicBezTo>
                      <a:pt x="60493" y="26635"/>
                      <a:pt x="64644" y="19311"/>
                      <a:pt x="62889" y="12089"/>
                    </a:cubicBezTo>
                    <a:cubicBezTo>
                      <a:pt x="62788" y="11768"/>
                      <a:pt x="62687" y="11312"/>
                      <a:pt x="62585" y="10890"/>
                    </a:cubicBezTo>
                    <a:close/>
                  </a:path>
                </a:pathLst>
              </a:custGeom>
              <a:grpFill/>
              <a:ln w="16669" cap="flat">
                <a:noFill/>
                <a:prstDash val="solid"/>
                <a:miter/>
              </a:ln>
            </p:spPr>
            <p:txBody>
              <a:bodyPr rtlCol="0" anchor="ctr"/>
              <a:lstStyle/>
              <a:p>
                <a:pPr algn="ctr">
                  <a:lnSpc>
                    <a:spcPct val="120000"/>
                  </a:lnSpc>
                  <a:spcAft>
                    <a:spcPts val="100"/>
                  </a:spcAft>
                </a:pPr>
                <a:endParaRPr lang="zh-CN" altLang="en-US"/>
              </a:p>
            </p:txBody>
          </p:sp>
          <p:sp>
            <p:nvSpPr>
              <p:cNvPr id="100" name="任意多边形: 形状 99">
                <a:extLst>
                  <a:ext uri="{FF2B5EF4-FFF2-40B4-BE49-F238E27FC236}">
                    <a16:creationId xmlns:a16="http://schemas.microsoft.com/office/drawing/2014/main" id="{09164AFF-0A67-9E23-E728-D5FAA2B82CBB}"/>
                  </a:ext>
                </a:extLst>
              </p:cNvPr>
              <p:cNvSpPr/>
              <p:nvPr/>
            </p:nvSpPr>
            <p:spPr>
              <a:xfrm>
                <a:off x="9080336" y="2540605"/>
                <a:ext cx="50625" cy="50625"/>
              </a:xfrm>
              <a:custGeom>
                <a:avLst/>
                <a:gdLst>
                  <a:gd name="connsiteX0" fmla="*/ 54540 w 50625"/>
                  <a:gd name="connsiteY0" fmla="*/ 47529 h 50625"/>
                  <a:gd name="connsiteX1" fmla="*/ 55367 w 50625"/>
                  <a:gd name="connsiteY1" fmla="*/ 46483 h 50625"/>
                  <a:gd name="connsiteX2" fmla="*/ 53730 w 50625"/>
                  <a:gd name="connsiteY2" fmla="*/ 27229 h 50625"/>
                  <a:gd name="connsiteX3" fmla="*/ 27793 w 50625"/>
                  <a:gd name="connsiteY3" fmla="*/ 3688 h 50625"/>
                  <a:gd name="connsiteX4" fmla="*/ 17145 w 50625"/>
                  <a:gd name="connsiteY4" fmla="*/ 43 h 50625"/>
                  <a:gd name="connsiteX5" fmla="*/ 7206 w 50625"/>
                  <a:gd name="connsiteY5" fmla="*/ 5291 h 50625"/>
                  <a:gd name="connsiteX6" fmla="*/ 2869 w 50625"/>
                  <a:gd name="connsiteY6" fmla="*/ 10843 h 50625"/>
                  <a:gd name="connsiteX7" fmla="*/ 202 w 50625"/>
                  <a:gd name="connsiteY7" fmla="*/ 21778 h 50625"/>
                  <a:gd name="connsiteX8" fmla="*/ 6311 w 50625"/>
                  <a:gd name="connsiteY8" fmla="*/ 31211 h 50625"/>
                  <a:gd name="connsiteX9" fmla="*/ 35488 w 50625"/>
                  <a:gd name="connsiteY9" fmla="*/ 50634 h 50625"/>
                  <a:gd name="connsiteX10" fmla="*/ 54540 w 50625"/>
                  <a:gd name="connsiteY10" fmla="*/ 47529 h 50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625" h="50625">
                    <a:moveTo>
                      <a:pt x="54540" y="47529"/>
                    </a:moveTo>
                    <a:cubicBezTo>
                      <a:pt x="54827" y="47175"/>
                      <a:pt x="55080" y="46820"/>
                      <a:pt x="55367" y="46483"/>
                    </a:cubicBezTo>
                    <a:cubicBezTo>
                      <a:pt x="59957" y="40610"/>
                      <a:pt x="59231" y="32224"/>
                      <a:pt x="53730" y="27229"/>
                    </a:cubicBezTo>
                    <a:lnTo>
                      <a:pt x="27793" y="3688"/>
                    </a:lnTo>
                    <a:cubicBezTo>
                      <a:pt x="24891" y="1055"/>
                      <a:pt x="21043" y="-261"/>
                      <a:pt x="17145" y="43"/>
                    </a:cubicBezTo>
                    <a:cubicBezTo>
                      <a:pt x="13264" y="364"/>
                      <a:pt x="9652" y="2254"/>
                      <a:pt x="7206" y="5291"/>
                    </a:cubicBezTo>
                    <a:cubicBezTo>
                      <a:pt x="5721" y="7130"/>
                      <a:pt x="4286" y="8970"/>
                      <a:pt x="2869" y="10843"/>
                    </a:cubicBezTo>
                    <a:cubicBezTo>
                      <a:pt x="506" y="13982"/>
                      <a:pt x="-456" y="17914"/>
                      <a:pt x="202" y="21778"/>
                    </a:cubicBezTo>
                    <a:cubicBezTo>
                      <a:pt x="861" y="25625"/>
                      <a:pt x="3071" y="29017"/>
                      <a:pt x="6311" y="31211"/>
                    </a:cubicBezTo>
                    <a:lnTo>
                      <a:pt x="35488" y="50634"/>
                    </a:lnTo>
                    <a:cubicBezTo>
                      <a:pt x="41664" y="54752"/>
                      <a:pt x="50001" y="53385"/>
                      <a:pt x="54540" y="47529"/>
                    </a:cubicBezTo>
                    <a:close/>
                  </a:path>
                </a:pathLst>
              </a:custGeom>
              <a:grpFill/>
              <a:ln w="16669" cap="flat">
                <a:noFill/>
                <a:prstDash val="solid"/>
                <a:miter/>
              </a:ln>
            </p:spPr>
            <p:txBody>
              <a:bodyPr rtlCol="0" anchor="ctr"/>
              <a:lstStyle/>
              <a:p>
                <a:pPr algn="ctr">
                  <a:lnSpc>
                    <a:spcPct val="120000"/>
                  </a:lnSpc>
                  <a:spcAft>
                    <a:spcPts val="100"/>
                  </a:spcAft>
                </a:pPr>
                <a:endParaRPr lang="zh-CN" altLang="en-US"/>
              </a:p>
            </p:txBody>
          </p:sp>
          <p:sp>
            <p:nvSpPr>
              <p:cNvPr id="101" name="任意多边形: 形状 100">
                <a:extLst>
                  <a:ext uri="{FF2B5EF4-FFF2-40B4-BE49-F238E27FC236}">
                    <a16:creationId xmlns:a16="http://schemas.microsoft.com/office/drawing/2014/main" id="{08A1CDC9-A6CE-8651-0FE1-7FE7FA69262E}"/>
                  </a:ext>
                </a:extLst>
              </p:cNvPr>
              <p:cNvSpPr/>
              <p:nvPr/>
            </p:nvSpPr>
            <p:spPr>
              <a:xfrm>
                <a:off x="9461087" y="2728751"/>
                <a:ext cx="50625" cy="33750"/>
              </a:xfrm>
              <a:custGeom>
                <a:avLst/>
                <a:gdLst>
                  <a:gd name="connsiteX0" fmla="*/ 60817 w 50625"/>
                  <a:gd name="connsiteY0" fmla="*/ 10904 h 33750"/>
                  <a:gd name="connsiteX1" fmla="*/ 51216 w 50625"/>
                  <a:gd name="connsiteY1" fmla="*/ 5049 h 33750"/>
                  <a:gd name="connsiteX2" fmla="*/ 16554 w 50625"/>
                  <a:gd name="connsiteY2" fmla="*/ 138 h 33750"/>
                  <a:gd name="connsiteX3" fmla="*/ 726 w 50625"/>
                  <a:gd name="connsiteY3" fmla="*/ 11191 h 33750"/>
                  <a:gd name="connsiteX4" fmla="*/ 371 w 50625"/>
                  <a:gd name="connsiteY4" fmla="*/ 12508 h 33750"/>
                  <a:gd name="connsiteX5" fmla="*/ 10142 w 50625"/>
                  <a:gd name="connsiteY5" fmla="*/ 29079 h 33750"/>
                  <a:gd name="connsiteX6" fmla="*/ 43689 w 50625"/>
                  <a:gd name="connsiteY6" fmla="*/ 39052 h 33750"/>
                  <a:gd name="connsiteX7" fmla="*/ 54861 w 50625"/>
                  <a:gd name="connsiteY7" fmla="*/ 37786 h 33750"/>
                  <a:gd name="connsiteX8" fmla="*/ 61543 w 50625"/>
                  <a:gd name="connsiteY8" fmla="*/ 28724 h 33750"/>
                  <a:gd name="connsiteX9" fmla="*/ 63028 w 50625"/>
                  <a:gd name="connsiteY9" fmla="*/ 21907 h 33750"/>
                  <a:gd name="connsiteX10" fmla="*/ 60817 w 50625"/>
                  <a:gd name="connsiteY10" fmla="*/ 10904 h 33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625" h="33750">
                    <a:moveTo>
                      <a:pt x="60817" y="10904"/>
                    </a:moveTo>
                    <a:cubicBezTo>
                      <a:pt x="58539" y="7732"/>
                      <a:pt x="55080" y="5606"/>
                      <a:pt x="51216" y="5049"/>
                    </a:cubicBezTo>
                    <a:lnTo>
                      <a:pt x="16554" y="138"/>
                    </a:lnTo>
                    <a:cubicBezTo>
                      <a:pt x="9197" y="-891"/>
                      <a:pt x="2278" y="3935"/>
                      <a:pt x="726" y="11191"/>
                    </a:cubicBezTo>
                    <a:cubicBezTo>
                      <a:pt x="557" y="11563"/>
                      <a:pt x="472" y="12103"/>
                      <a:pt x="371" y="12508"/>
                    </a:cubicBezTo>
                    <a:cubicBezTo>
                      <a:pt x="-1333" y="19764"/>
                      <a:pt x="2987" y="26936"/>
                      <a:pt x="10142" y="29079"/>
                    </a:cubicBezTo>
                    <a:lnTo>
                      <a:pt x="43689" y="39052"/>
                    </a:lnTo>
                    <a:cubicBezTo>
                      <a:pt x="47503" y="40149"/>
                      <a:pt x="51502" y="39676"/>
                      <a:pt x="54861" y="37786"/>
                    </a:cubicBezTo>
                    <a:cubicBezTo>
                      <a:pt x="58219" y="35812"/>
                      <a:pt x="60666" y="32521"/>
                      <a:pt x="61543" y="28724"/>
                    </a:cubicBezTo>
                    <a:cubicBezTo>
                      <a:pt x="62066" y="26379"/>
                      <a:pt x="62572" y="24151"/>
                      <a:pt x="63028" y="21907"/>
                    </a:cubicBezTo>
                    <a:cubicBezTo>
                      <a:pt x="63906" y="18059"/>
                      <a:pt x="63062" y="14094"/>
                      <a:pt x="60817" y="10904"/>
                    </a:cubicBezTo>
                    <a:close/>
                  </a:path>
                </a:pathLst>
              </a:custGeom>
              <a:grpFill/>
              <a:ln w="16669" cap="flat">
                <a:noFill/>
                <a:prstDash val="solid"/>
                <a:miter/>
              </a:ln>
            </p:spPr>
            <p:txBody>
              <a:bodyPr rtlCol="0" anchor="ctr"/>
              <a:lstStyle/>
              <a:p>
                <a:pPr algn="ctr">
                  <a:lnSpc>
                    <a:spcPct val="120000"/>
                  </a:lnSpc>
                  <a:spcAft>
                    <a:spcPts val="100"/>
                  </a:spcAft>
                </a:pPr>
                <a:endParaRPr lang="zh-CN" altLang="en-US"/>
              </a:p>
            </p:txBody>
          </p:sp>
        </p:grpSp>
      </p:grpSp>
      <p:grpSp>
        <p:nvGrpSpPr>
          <p:cNvPr id="6" name="组合 5">
            <a:extLst>
              <a:ext uri="{FF2B5EF4-FFF2-40B4-BE49-F238E27FC236}">
                <a16:creationId xmlns:a16="http://schemas.microsoft.com/office/drawing/2014/main" id="{291FC2D4-24EF-B759-B0D7-FD9A172C601A}"/>
              </a:ext>
            </a:extLst>
          </p:cNvPr>
          <p:cNvGrpSpPr/>
          <p:nvPr/>
        </p:nvGrpSpPr>
        <p:grpSpPr>
          <a:xfrm>
            <a:off x="6262475" y="2253216"/>
            <a:ext cx="4374238" cy="385396"/>
            <a:chOff x="6290130" y="2918236"/>
            <a:chExt cx="4374238" cy="385396"/>
          </a:xfrm>
        </p:grpSpPr>
        <p:sp>
          <p:nvSpPr>
            <p:cNvPr id="10" name="文本框 9">
              <a:extLst>
                <a:ext uri="{FF2B5EF4-FFF2-40B4-BE49-F238E27FC236}">
                  <a16:creationId xmlns:a16="http://schemas.microsoft.com/office/drawing/2014/main" id="{97413BF4-0437-27D1-84A3-35079C7437B8}"/>
                </a:ext>
              </a:extLst>
            </p:cNvPr>
            <p:cNvSpPr txBox="1"/>
            <p:nvPr/>
          </p:nvSpPr>
          <p:spPr>
            <a:xfrm>
              <a:off x="6721423" y="2928708"/>
              <a:ext cx="3942945" cy="374924"/>
            </a:xfrm>
            <a:prstGeom prst="rect">
              <a:avLst/>
            </a:prstGeom>
            <a:noFill/>
          </p:spPr>
          <p:txBody>
            <a:bodyPr wrap="square">
              <a:spAutoFit/>
            </a:bodyPr>
            <a:lstStyle/>
            <a:p>
              <a:r>
                <a:rPr lang="zh-CN" altLang="en-US" b="1" dirty="0"/>
                <a:t>隔离域抽象</a:t>
              </a:r>
              <a:endParaRPr lang="zh-CN" altLang="en-US" dirty="0"/>
            </a:p>
          </p:txBody>
        </p:sp>
        <p:grpSp>
          <p:nvGrpSpPr>
            <p:cNvPr id="102" name="组合 101">
              <a:extLst>
                <a:ext uri="{FF2B5EF4-FFF2-40B4-BE49-F238E27FC236}">
                  <a16:creationId xmlns:a16="http://schemas.microsoft.com/office/drawing/2014/main" id="{D21CC145-6162-34F9-86C4-4ED3A0506050}"/>
                </a:ext>
              </a:extLst>
            </p:cNvPr>
            <p:cNvGrpSpPr/>
            <p:nvPr/>
          </p:nvGrpSpPr>
          <p:grpSpPr>
            <a:xfrm>
              <a:off x="6290130" y="2918236"/>
              <a:ext cx="351569" cy="360321"/>
              <a:chOff x="9038676" y="2453000"/>
              <a:chExt cx="473036" cy="525437"/>
            </a:xfrm>
            <a:solidFill>
              <a:schemeClr val="accent1"/>
            </a:solidFill>
          </p:grpSpPr>
          <p:sp>
            <p:nvSpPr>
              <p:cNvPr id="103" name="任意多边形: 形状 102">
                <a:extLst>
                  <a:ext uri="{FF2B5EF4-FFF2-40B4-BE49-F238E27FC236}">
                    <a16:creationId xmlns:a16="http://schemas.microsoft.com/office/drawing/2014/main" id="{59A9F268-8E5C-192F-FA63-5121E1BD762D}"/>
                  </a:ext>
                </a:extLst>
              </p:cNvPr>
              <p:cNvSpPr/>
              <p:nvPr/>
            </p:nvSpPr>
            <p:spPr>
              <a:xfrm>
                <a:off x="9122895" y="2539687"/>
                <a:ext cx="303750" cy="438750"/>
              </a:xfrm>
              <a:custGeom>
                <a:avLst/>
                <a:gdLst>
                  <a:gd name="connsiteX0" fmla="*/ 166421 w 303750"/>
                  <a:gd name="connsiteY0" fmla="*/ 0 h 438750"/>
                  <a:gd name="connsiteX1" fmla="*/ 147167 w 303750"/>
                  <a:gd name="connsiteY1" fmla="*/ 0 h 438750"/>
                  <a:gd name="connsiteX2" fmla="*/ 0 w 303750"/>
                  <a:gd name="connsiteY2" fmla="*/ 157309 h 438750"/>
                  <a:gd name="connsiteX3" fmla="*/ 69221 w 303750"/>
                  <a:gd name="connsiteY3" fmla="*/ 287938 h 438750"/>
                  <a:gd name="connsiteX4" fmla="*/ 69221 w 303750"/>
                  <a:gd name="connsiteY4" fmla="*/ 333197 h 438750"/>
                  <a:gd name="connsiteX5" fmla="*/ 81793 w 303750"/>
                  <a:gd name="connsiteY5" fmla="*/ 356619 h 438750"/>
                  <a:gd name="connsiteX6" fmla="*/ 85050 w 303750"/>
                  <a:gd name="connsiteY6" fmla="*/ 362273 h 438750"/>
                  <a:gd name="connsiteX7" fmla="*/ 82502 w 303750"/>
                  <a:gd name="connsiteY7" fmla="*/ 368246 h 438750"/>
                  <a:gd name="connsiteX8" fmla="*/ 70673 w 303750"/>
                  <a:gd name="connsiteY8" fmla="*/ 381257 h 438750"/>
                  <a:gd name="connsiteX9" fmla="*/ 70673 w 303750"/>
                  <a:gd name="connsiteY9" fmla="*/ 410434 h 438750"/>
                  <a:gd name="connsiteX10" fmla="*/ 82502 w 303750"/>
                  <a:gd name="connsiteY10" fmla="*/ 422246 h 438750"/>
                  <a:gd name="connsiteX11" fmla="*/ 90416 w 303750"/>
                  <a:gd name="connsiteY11" fmla="*/ 422246 h 438750"/>
                  <a:gd name="connsiteX12" fmla="*/ 101351 w 303750"/>
                  <a:gd name="connsiteY12" fmla="*/ 427478 h 438750"/>
                  <a:gd name="connsiteX13" fmla="*/ 156802 w 303750"/>
                  <a:gd name="connsiteY13" fmla="*/ 450225 h 438750"/>
                  <a:gd name="connsiteX14" fmla="*/ 212237 w 303750"/>
                  <a:gd name="connsiteY14" fmla="*/ 427478 h 438750"/>
                  <a:gd name="connsiteX15" fmla="*/ 223172 w 303750"/>
                  <a:gd name="connsiteY15" fmla="*/ 422246 h 438750"/>
                  <a:gd name="connsiteX16" fmla="*/ 231086 w 303750"/>
                  <a:gd name="connsiteY16" fmla="*/ 422246 h 438750"/>
                  <a:gd name="connsiteX17" fmla="*/ 242916 w 303750"/>
                  <a:gd name="connsiteY17" fmla="*/ 410434 h 438750"/>
                  <a:gd name="connsiteX18" fmla="*/ 242916 w 303750"/>
                  <a:gd name="connsiteY18" fmla="*/ 381257 h 438750"/>
                  <a:gd name="connsiteX19" fmla="*/ 231086 w 303750"/>
                  <a:gd name="connsiteY19" fmla="*/ 368246 h 438750"/>
                  <a:gd name="connsiteX20" fmla="*/ 228555 w 303750"/>
                  <a:gd name="connsiteY20" fmla="*/ 362273 h 438750"/>
                  <a:gd name="connsiteX21" fmla="*/ 231812 w 303750"/>
                  <a:gd name="connsiteY21" fmla="*/ 356619 h 438750"/>
                  <a:gd name="connsiteX22" fmla="*/ 244367 w 303750"/>
                  <a:gd name="connsiteY22" fmla="*/ 333197 h 438750"/>
                  <a:gd name="connsiteX23" fmla="*/ 244367 w 303750"/>
                  <a:gd name="connsiteY23" fmla="*/ 287938 h 438750"/>
                  <a:gd name="connsiteX24" fmla="*/ 313588 w 303750"/>
                  <a:gd name="connsiteY24" fmla="*/ 157309 h 438750"/>
                  <a:gd name="connsiteX25" fmla="*/ 166421 w 303750"/>
                  <a:gd name="connsiteY25" fmla="*/ 0 h 438750"/>
                  <a:gd name="connsiteX26" fmla="*/ 211478 w 303750"/>
                  <a:gd name="connsiteY26" fmla="*/ 253699 h 438750"/>
                  <a:gd name="connsiteX27" fmla="*/ 202652 w 303750"/>
                  <a:gd name="connsiteY27" fmla="*/ 258272 h 438750"/>
                  <a:gd name="connsiteX28" fmla="*/ 202652 w 303750"/>
                  <a:gd name="connsiteY28" fmla="*/ 300274 h 438750"/>
                  <a:gd name="connsiteX29" fmla="*/ 190688 w 303750"/>
                  <a:gd name="connsiteY29" fmla="*/ 315107 h 438750"/>
                  <a:gd name="connsiteX30" fmla="*/ 172091 w 303750"/>
                  <a:gd name="connsiteY30" fmla="*/ 319022 h 438750"/>
                  <a:gd name="connsiteX31" fmla="*/ 141514 w 303750"/>
                  <a:gd name="connsiteY31" fmla="*/ 319022 h 438750"/>
                  <a:gd name="connsiteX32" fmla="*/ 122918 w 303750"/>
                  <a:gd name="connsiteY32" fmla="*/ 315107 h 438750"/>
                  <a:gd name="connsiteX33" fmla="*/ 110953 w 303750"/>
                  <a:gd name="connsiteY33" fmla="*/ 300274 h 438750"/>
                  <a:gd name="connsiteX34" fmla="*/ 110953 w 303750"/>
                  <a:gd name="connsiteY34" fmla="*/ 258255 h 438750"/>
                  <a:gd name="connsiteX35" fmla="*/ 102128 w 303750"/>
                  <a:gd name="connsiteY35" fmla="*/ 253682 h 438750"/>
                  <a:gd name="connsiteX36" fmla="*/ 48516 w 303750"/>
                  <a:gd name="connsiteY36" fmla="*/ 160161 h 438750"/>
                  <a:gd name="connsiteX37" fmla="*/ 156802 w 303750"/>
                  <a:gd name="connsiteY37" fmla="*/ 50676 h 438750"/>
                  <a:gd name="connsiteX38" fmla="*/ 265073 w 303750"/>
                  <a:gd name="connsiteY38" fmla="*/ 160161 h 438750"/>
                  <a:gd name="connsiteX39" fmla="*/ 211478 w 303750"/>
                  <a:gd name="connsiteY39" fmla="*/ 253699 h 43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03750" h="438750">
                    <a:moveTo>
                      <a:pt x="166421" y="0"/>
                    </a:moveTo>
                    <a:lnTo>
                      <a:pt x="147167" y="0"/>
                    </a:lnTo>
                    <a:cubicBezTo>
                      <a:pt x="65289" y="5181"/>
                      <a:pt x="0" y="73643"/>
                      <a:pt x="0" y="157309"/>
                    </a:cubicBezTo>
                    <a:cubicBezTo>
                      <a:pt x="0" y="214819"/>
                      <a:pt x="25380" y="260769"/>
                      <a:pt x="69221" y="287938"/>
                    </a:cubicBezTo>
                    <a:lnTo>
                      <a:pt x="69221" y="333197"/>
                    </a:lnTo>
                    <a:cubicBezTo>
                      <a:pt x="69221" y="346410"/>
                      <a:pt x="74132" y="351523"/>
                      <a:pt x="81793" y="356619"/>
                    </a:cubicBezTo>
                    <a:cubicBezTo>
                      <a:pt x="83700" y="357851"/>
                      <a:pt x="84915" y="359961"/>
                      <a:pt x="85050" y="362273"/>
                    </a:cubicBezTo>
                    <a:cubicBezTo>
                      <a:pt x="85185" y="364568"/>
                      <a:pt x="85404" y="367538"/>
                      <a:pt x="82502" y="368246"/>
                    </a:cubicBezTo>
                    <a:cubicBezTo>
                      <a:pt x="70639" y="368246"/>
                      <a:pt x="70673" y="381257"/>
                      <a:pt x="70673" y="381257"/>
                    </a:cubicBezTo>
                    <a:cubicBezTo>
                      <a:pt x="70673" y="386522"/>
                      <a:pt x="70673" y="410434"/>
                      <a:pt x="70673" y="410434"/>
                    </a:cubicBezTo>
                    <a:cubicBezTo>
                      <a:pt x="70673" y="416964"/>
                      <a:pt x="75954" y="422246"/>
                      <a:pt x="82502" y="422246"/>
                    </a:cubicBezTo>
                    <a:lnTo>
                      <a:pt x="90416" y="422246"/>
                    </a:lnTo>
                    <a:cubicBezTo>
                      <a:pt x="96744" y="422246"/>
                      <a:pt x="101351" y="427478"/>
                      <a:pt x="101351" y="427478"/>
                    </a:cubicBezTo>
                    <a:cubicBezTo>
                      <a:pt x="101351" y="427478"/>
                      <a:pt x="129178" y="450225"/>
                      <a:pt x="156802" y="450225"/>
                    </a:cubicBezTo>
                    <a:cubicBezTo>
                      <a:pt x="184815" y="450225"/>
                      <a:pt x="212237" y="427478"/>
                      <a:pt x="212237" y="427478"/>
                    </a:cubicBezTo>
                    <a:cubicBezTo>
                      <a:pt x="212237" y="427478"/>
                      <a:pt x="216844" y="422246"/>
                      <a:pt x="223172" y="422246"/>
                    </a:cubicBezTo>
                    <a:lnTo>
                      <a:pt x="231086" y="422246"/>
                    </a:lnTo>
                    <a:cubicBezTo>
                      <a:pt x="237651" y="422246"/>
                      <a:pt x="242916" y="416964"/>
                      <a:pt x="242916" y="410434"/>
                    </a:cubicBezTo>
                    <a:cubicBezTo>
                      <a:pt x="242916" y="410434"/>
                      <a:pt x="242916" y="386539"/>
                      <a:pt x="242916" y="381257"/>
                    </a:cubicBezTo>
                    <a:cubicBezTo>
                      <a:pt x="242916" y="381257"/>
                      <a:pt x="242949" y="368246"/>
                      <a:pt x="231086" y="368246"/>
                    </a:cubicBezTo>
                    <a:cubicBezTo>
                      <a:pt x="228184" y="367554"/>
                      <a:pt x="228420" y="364534"/>
                      <a:pt x="228555" y="362273"/>
                    </a:cubicBezTo>
                    <a:cubicBezTo>
                      <a:pt x="228724" y="359961"/>
                      <a:pt x="229905" y="357851"/>
                      <a:pt x="231812" y="356619"/>
                    </a:cubicBezTo>
                    <a:cubicBezTo>
                      <a:pt x="239456" y="351523"/>
                      <a:pt x="244367" y="346427"/>
                      <a:pt x="244367" y="333197"/>
                    </a:cubicBezTo>
                    <a:lnTo>
                      <a:pt x="244367" y="287938"/>
                    </a:lnTo>
                    <a:cubicBezTo>
                      <a:pt x="288208" y="260786"/>
                      <a:pt x="313588" y="214819"/>
                      <a:pt x="313588" y="157309"/>
                    </a:cubicBezTo>
                    <a:cubicBezTo>
                      <a:pt x="313588" y="73643"/>
                      <a:pt x="248333" y="5164"/>
                      <a:pt x="166421" y="0"/>
                    </a:cubicBezTo>
                    <a:close/>
                    <a:moveTo>
                      <a:pt x="211478" y="253699"/>
                    </a:moveTo>
                    <a:lnTo>
                      <a:pt x="202652" y="258272"/>
                    </a:lnTo>
                    <a:lnTo>
                      <a:pt x="202652" y="300274"/>
                    </a:lnTo>
                    <a:cubicBezTo>
                      <a:pt x="202652" y="307463"/>
                      <a:pt x="197674" y="313588"/>
                      <a:pt x="190688" y="315107"/>
                    </a:cubicBezTo>
                    <a:lnTo>
                      <a:pt x="172091" y="319022"/>
                    </a:lnTo>
                    <a:cubicBezTo>
                      <a:pt x="168953" y="319714"/>
                      <a:pt x="153968" y="322194"/>
                      <a:pt x="141514" y="319022"/>
                    </a:cubicBezTo>
                    <a:lnTo>
                      <a:pt x="122918" y="315107"/>
                    </a:lnTo>
                    <a:cubicBezTo>
                      <a:pt x="115931" y="313588"/>
                      <a:pt x="110953" y="307463"/>
                      <a:pt x="110953" y="300274"/>
                    </a:cubicBezTo>
                    <a:lnTo>
                      <a:pt x="110953" y="258255"/>
                    </a:lnTo>
                    <a:lnTo>
                      <a:pt x="102128" y="253682"/>
                    </a:lnTo>
                    <a:cubicBezTo>
                      <a:pt x="57814" y="230901"/>
                      <a:pt x="48516" y="190215"/>
                      <a:pt x="48516" y="160161"/>
                    </a:cubicBezTo>
                    <a:cubicBezTo>
                      <a:pt x="48516" y="99900"/>
                      <a:pt x="97031" y="50878"/>
                      <a:pt x="156802" y="50676"/>
                    </a:cubicBezTo>
                    <a:cubicBezTo>
                      <a:pt x="216557" y="50878"/>
                      <a:pt x="265073" y="99900"/>
                      <a:pt x="265073" y="160161"/>
                    </a:cubicBezTo>
                    <a:cubicBezTo>
                      <a:pt x="265073" y="190232"/>
                      <a:pt x="255774" y="230918"/>
                      <a:pt x="211478" y="253699"/>
                    </a:cubicBezTo>
                    <a:close/>
                  </a:path>
                </a:pathLst>
              </a:custGeom>
              <a:grpFill/>
              <a:ln w="16669" cap="flat">
                <a:noFill/>
                <a:prstDash val="solid"/>
                <a:miter/>
              </a:ln>
            </p:spPr>
            <p:txBody>
              <a:bodyPr rtlCol="0" anchor="ctr"/>
              <a:lstStyle/>
              <a:p>
                <a:pPr algn="ctr">
                  <a:lnSpc>
                    <a:spcPct val="120000"/>
                  </a:lnSpc>
                  <a:spcAft>
                    <a:spcPts val="100"/>
                  </a:spcAft>
                </a:pPr>
                <a:endParaRPr lang="zh-CN" altLang="en-US" dirty="0"/>
              </a:p>
            </p:txBody>
          </p:sp>
          <p:sp>
            <p:nvSpPr>
              <p:cNvPr id="104" name="任意多边形: 形状 103">
                <a:extLst>
                  <a:ext uri="{FF2B5EF4-FFF2-40B4-BE49-F238E27FC236}">
                    <a16:creationId xmlns:a16="http://schemas.microsoft.com/office/drawing/2014/main" id="{26243911-021A-A086-12B7-DFCD0B2E36E6}"/>
                  </a:ext>
                </a:extLst>
              </p:cNvPr>
              <p:cNvSpPr/>
              <p:nvPr/>
            </p:nvSpPr>
            <p:spPr>
              <a:xfrm>
                <a:off x="9420525" y="2536256"/>
                <a:ext cx="50625" cy="50625"/>
              </a:xfrm>
              <a:custGeom>
                <a:avLst/>
                <a:gdLst>
                  <a:gd name="connsiteX0" fmla="*/ 57809 w 50625"/>
                  <a:gd name="connsiteY0" fmla="*/ 21352 h 50625"/>
                  <a:gd name="connsiteX1" fmla="*/ 54839 w 50625"/>
                  <a:gd name="connsiteY1" fmla="*/ 10468 h 50625"/>
                  <a:gd name="connsiteX2" fmla="*/ 50417 w 50625"/>
                  <a:gd name="connsiteY2" fmla="*/ 5051 h 50625"/>
                  <a:gd name="connsiteX3" fmla="*/ 40309 w 50625"/>
                  <a:gd name="connsiteY3" fmla="*/ 22 h 50625"/>
                  <a:gd name="connsiteX4" fmla="*/ 29746 w 50625"/>
                  <a:gd name="connsiteY4" fmla="*/ 3903 h 50625"/>
                  <a:gd name="connsiteX5" fmla="*/ 4349 w 50625"/>
                  <a:gd name="connsiteY5" fmla="*/ 28052 h 50625"/>
                  <a:gd name="connsiteX6" fmla="*/ 3218 w 50625"/>
                  <a:gd name="connsiteY6" fmla="*/ 47340 h 50625"/>
                  <a:gd name="connsiteX7" fmla="*/ 4096 w 50625"/>
                  <a:gd name="connsiteY7" fmla="*/ 48369 h 50625"/>
                  <a:gd name="connsiteX8" fmla="*/ 23215 w 50625"/>
                  <a:gd name="connsiteY8" fmla="*/ 51035 h 50625"/>
                  <a:gd name="connsiteX9" fmla="*/ 51886 w 50625"/>
                  <a:gd name="connsiteY9" fmla="*/ 30920 h 50625"/>
                  <a:gd name="connsiteX10" fmla="*/ 57809 w 50625"/>
                  <a:gd name="connsiteY10" fmla="*/ 21352 h 50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625" h="50625">
                    <a:moveTo>
                      <a:pt x="57809" y="21352"/>
                    </a:moveTo>
                    <a:cubicBezTo>
                      <a:pt x="58399" y="17488"/>
                      <a:pt x="57319" y="13556"/>
                      <a:pt x="54839" y="10468"/>
                    </a:cubicBezTo>
                    <a:cubicBezTo>
                      <a:pt x="53387" y="8645"/>
                      <a:pt x="51903" y="6857"/>
                      <a:pt x="50417" y="5051"/>
                    </a:cubicBezTo>
                    <a:cubicBezTo>
                      <a:pt x="47886" y="2064"/>
                      <a:pt x="44258" y="242"/>
                      <a:pt x="40309" y="22"/>
                    </a:cubicBezTo>
                    <a:cubicBezTo>
                      <a:pt x="36445" y="-197"/>
                      <a:pt x="32581" y="1220"/>
                      <a:pt x="29746" y="3903"/>
                    </a:cubicBezTo>
                    <a:lnTo>
                      <a:pt x="4349" y="28052"/>
                    </a:lnTo>
                    <a:cubicBezTo>
                      <a:pt x="-984" y="33198"/>
                      <a:pt x="-1473" y="41619"/>
                      <a:pt x="3218" y="47340"/>
                    </a:cubicBezTo>
                    <a:cubicBezTo>
                      <a:pt x="3539" y="47677"/>
                      <a:pt x="3775" y="48015"/>
                      <a:pt x="4096" y="48369"/>
                    </a:cubicBezTo>
                    <a:cubicBezTo>
                      <a:pt x="8753" y="54140"/>
                      <a:pt x="17106" y="55322"/>
                      <a:pt x="23215" y="51035"/>
                    </a:cubicBezTo>
                    <a:lnTo>
                      <a:pt x="51886" y="30920"/>
                    </a:lnTo>
                    <a:cubicBezTo>
                      <a:pt x="55075" y="28676"/>
                      <a:pt x="57218" y="25217"/>
                      <a:pt x="57809" y="21352"/>
                    </a:cubicBezTo>
                    <a:close/>
                  </a:path>
                </a:pathLst>
              </a:custGeom>
              <a:grpFill/>
              <a:ln w="16669" cap="flat">
                <a:noFill/>
                <a:prstDash val="solid"/>
                <a:miter/>
              </a:ln>
            </p:spPr>
            <p:txBody>
              <a:bodyPr rtlCol="0" anchor="ctr"/>
              <a:lstStyle/>
              <a:p>
                <a:pPr algn="ctr">
                  <a:lnSpc>
                    <a:spcPct val="120000"/>
                  </a:lnSpc>
                  <a:spcAft>
                    <a:spcPts val="100"/>
                  </a:spcAft>
                </a:pPr>
                <a:endParaRPr lang="zh-CN" altLang="en-US"/>
              </a:p>
            </p:txBody>
          </p:sp>
          <p:sp>
            <p:nvSpPr>
              <p:cNvPr id="105" name="任意多边形: 形状 104">
                <a:extLst>
                  <a:ext uri="{FF2B5EF4-FFF2-40B4-BE49-F238E27FC236}">
                    <a16:creationId xmlns:a16="http://schemas.microsoft.com/office/drawing/2014/main" id="{D1FCF548-209D-5D36-F668-F3CADFC20B5C}"/>
                  </a:ext>
                </a:extLst>
              </p:cNvPr>
              <p:cNvSpPr/>
              <p:nvPr/>
            </p:nvSpPr>
            <p:spPr>
              <a:xfrm>
                <a:off x="9260846" y="2453000"/>
                <a:ext cx="33750" cy="50625"/>
              </a:xfrm>
              <a:custGeom>
                <a:avLst/>
                <a:gdLst>
                  <a:gd name="connsiteX0" fmla="*/ 17383 w 33750"/>
                  <a:gd name="connsiteY0" fmla="*/ 63332 h 50625"/>
                  <a:gd name="connsiteX1" fmla="*/ 18666 w 33750"/>
                  <a:gd name="connsiteY1" fmla="*/ 63315 h 50625"/>
                  <a:gd name="connsiteX2" fmla="*/ 32706 w 33750"/>
                  <a:gd name="connsiteY2" fmla="*/ 50051 h 50625"/>
                  <a:gd name="connsiteX3" fmla="*/ 34950 w 33750"/>
                  <a:gd name="connsiteY3" fmla="*/ 15086 h 50625"/>
                  <a:gd name="connsiteX4" fmla="*/ 31136 w 33750"/>
                  <a:gd name="connsiteY4" fmla="*/ 4506 h 50625"/>
                  <a:gd name="connsiteX5" fmla="*/ 20859 w 33750"/>
                  <a:gd name="connsiteY5" fmla="*/ 0 h 50625"/>
                  <a:gd name="connsiteX6" fmla="*/ 13823 w 33750"/>
                  <a:gd name="connsiteY6" fmla="*/ 68 h 50625"/>
                  <a:gd name="connsiteX7" fmla="*/ 3613 w 33750"/>
                  <a:gd name="connsiteY7" fmla="*/ 4793 h 50625"/>
                  <a:gd name="connsiteX8" fmla="*/ 53 w 33750"/>
                  <a:gd name="connsiteY8" fmla="*/ 15474 h 50625"/>
                  <a:gd name="connsiteX9" fmla="*/ 3073 w 33750"/>
                  <a:gd name="connsiteY9" fmla="*/ 50389 h 50625"/>
                  <a:gd name="connsiteX10" fmla="*/ 17383 w 33750"/>
                  <a:gd name="connsiteY10" fmla="*/ 63332 h 50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750" h="50625">
                    <a:moveTo>
                      <a:pt x="17383" y="63332"/>
                    </a:moveTo>
                    <a:cubicBezTo>
                      <a:pt x="17805" y="63315"/>
                      <a:pt x="18244" y="63315"/>
                      <a:pt x="18666" y="63315"/>
                    </a:cubicBezTo>
                    <a:cubicBezTo>
                      <a:pt x="26091" y="63264"/>
                      <a:pt x="32233" y="57476"/>
                      <a:pt x="32706" y="50051"/>
                    </a:cubicBezTo>
                    <a:lnTo>
                      <a:pt x="34950" y="15086"/>
                    </a:lnTo>
                    <a:cubicBezTo>
                      <a:pt x="35203" y="11188"/>
                      <a:pt x="33853" y="7358"/>
                      <a:pt x="31136" y="4506"/>
                    </a:cubicBezTo>
                    <a:cubicBezTo>
                      <a:pt x="28504" y="1637"/>
                      <a:pt x="24741" y="17"/>
                      <a:pt x="20859" y="0"/>
                    </a:cubicBezTo>
                    <a:cubicBezTo>
                      <a:pt x="18497" y="0"/>
                      <a:pt x="16168" y="17"/>
                      <a:pt x="13823" y="68"/>
                    </a:cubicBezTo>
                    <a:cubicBezTo>
                      <a:pt x="9924" y="169"/>
                      <a:pt x="6212" y="1873"/>
                      <a:pt x="3613" y="4793"/>
                    </a:cubicBezTo>
                    <a:cubicBezTo>
                      <a:pt x="1014" y="7712"/>
                      <a:pt x="-285" y="11593"/>
                      <a:pt x="53" y="15474"/>
                    </a:cubicBezTo>
                    <a:lnTo>
                      <a:pt x="3073" y="50389"/>
                    </a:lnTo>
                    <a:cubicBezTo>
                      <a:pt x="3714" y="57780"/>
                      <a:pt x="9958" y="63433"/>
                      <a:pt x="17383" y="63332"/>
                    </a:cubicBezTo>
                    <a:close/>
                  </a:path>
                </a:pathLst>
              </a:custGeom>
              <a:grpFill/>
              <a:ln w="16669" cap="flat">
                <a:noFill/>
                <a:prstDash val="solid"/>
                <a:miter/>
              </a:ln>
            </p:spPr>
            <p:txBody>
              <a:bodyPr rtlCol="0" anchor="ctr"/>
              <a:lstStyle/>
              <a:p>
                <a:pPr algn="ctr">
                  <a:lnSpc>
                    <a:spcPct val="120000"/>
                  </a:lnSpc>
                  <a:spcAft>
                    <a:spcPts val="100"/>
                  </a:spcAft>
                </a:pPr>
                <a:endParaRPr lang="zh-CN" altLang="en-US"/>
              </a:p>
            </p:txBody>
          </p:sp>
          <p:sp>
            <p:nvSpPr>
              <p:cNvPr id="106" name="任意多边形: 形状 105">
                <a:extLst>
                  <a:ext uri="{FF2B5EF4-FFF2-40B4-BE49-F238E27FC236}">
                    <a16:creationId xmlns:a16="http://schemas.microsoft.com/office/drawing/2014/main" id="{58CF02F7-1E32-F77C-AA19-9FE3847CFBF7}"/>
                  </a:ext>
                </a:extLst>
              </p:cNvPr>
              <p:cNvSpPr/>
              <p:nvPr/>
            </p:nvSpPr>
            <p:spPr>
              <a:xfrm>
                <a:off x="9038676" y="2732680"/>
                <a:ext cx="50625" cy="33750"/>
              </a:xfrm>
              <a:custGeom>
                <a:avLst/>
                <a:gdLst>
                  <a:gd name="connsiteX0" fmla="*/ 62585 w 50625"/>
                  <a:gd name="connsiteY0" fmla="*/ 10890 h 33750"/>
                  <a:gd name="connsiteX1" fmla="*/ 46537 w 50625"/>
                  <a:gd name="connsiteY1" fmla="*/ 175 h 33750"/>
                  <a:gd name="connsiteX2" fmla="*/ 11927 w 50625"/>
                  <a:gd name="connsiteY2" fmla="*/ 5862 h 33750"/>
                  <a:gd name="connsiteX3" fmla="*/ 2443 w 50625"/>
                  <a:gd name="connsiteY3" fmla="*/ 11903 h 33750"/>
                  <a:gd name="connsiteX4" fmla="*/ 334 w 50625"/>
                  <a:gd name="connsiteY4" fmla="*/ 22939 h 33750"/>
                  <a:gd name="connsiteX5" fmla="*/ 1987 w 50625"/>
                  <a:gd name="connsiteY5" fmla="*/ 29740 h 33750"/>
                  <a:gd name="connsiteX6" fmla="*/ 8855 w 50625"/>
                  <a:gd name="connsiteY6" fmla="*/ 38599 h 33750"/>
                  <a:gd name="connsiteX7" fmla="*/ 20060 w 50625"/>
                  <a:gd name="connsiteY7" fmla="*/ 39645 h 33750"/>
                  <a:gd name="connsiteX8" fmla="*/ 53439 w 50625"/>
                  <a:gd name="connsiteY8" fmla="*/ 28930 h 33750"/>
                  <a:gd name="connsiteX9" fmla="*/ 62889 w 50625"/>
                  <a:gd name="connsiteY9" fmla="*/ 12089 h 33750"/>
                  <a:gd name="connsiteX10" fmla="*/ 62585 w 50625"/>
                  <a:gd name="connsiteY10" fmla="*/ 10890 h 33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625" h="33750">
                    <a:moveTo>
                      <a:pt x="62585" y="10890"/>
                    </a:moveTo>
                    <a:cubicBezTo>
                      <a:pt x="60881" y="3634"/>
                      <a:pt x="53878" y="-973"/>
                      <a:pt x="46537" y="175"/>
                    </a:cubicBezTo>
                    <a:lnTo>
                      <a:pt x="11927" y="5862"/>
                    </a:lnTo>
                    <a:cubicBezTo>
                      <a:pt x="8062" y="6486"/>
                      <a:pt x="4637" y="8663"/>
                      <a:pt x="2443" y="11903"/>
                    </a:cubicBezTo>
                    <a:cubicBezTo>
                      <a:pt x="266" y="15109"/>
                      <a:pt x="-510" y="19142"/>
                      <a:pt x="334" y="22939"/>
                    </a:cubicBezTo>
                    <a:cubicBezTo>
                      <a:pt x="840" y="25217"/>
                      <a:pt x="1397" y="27512"/>
                      <a:pt x="1987" y="29740"/>
                    </a:cubicBezTo>
                    <a:cubicBezTo>
                      <a:pt x="2949" y="33554"/>
                      <a:pt x="5430" y="36760"/>
                      <a:pt x="8855" y="38599"/>
                    </a:cubicBezTo>
                    <a:cubicBezTo>
                      <a:pt x="12281" y="40472"/>
                      <a:pt x="16331" y="40945"/>
                      <a:pt x="20060" y="39645"/>
                    </a:cubicBezTo>
                    <a:lnTo>
                      <a:pt x="53439" y="28930"/>
                    </a:lnTo>
                    <a:cubicBezTo>
                      <a:pt x="60493" y="26635"/>
                      <a:pt x="64644" y="19311"/>
                      <a:pt x="62889" y="12089"/>
                    </a:cubicBezTo>
                    <a:cubicBezTo>
                      <a:pt x="62788" y="11768"/>
                      <a:pt x="62687" y="11312"/>
                      <a:pt x="62585" y="10890"/>
                    </a:cubicBezTo>
                    <a:close/>
                  </a:path>
                </a:pathLst>
              </a:custGeom>
              <a:grpFill/>
              <a:ln w="16669" cap="flat">
                <a:noFill/>
                <a:prstDash val="solid"/>
                <a:miter/>
              </a:ln>
            </p:spPr>
            <p:txBody>
              <a:bodyPr rtlCol="0" anchor="ctr"/>
              <a:lstStyle/>
              <a:p>
                <a:pPr algn="ctr">
                  <a:lnSpc>
                    <a:spcPct val="120000"/>
                  </a:lnSpc>
                  <a:spcAft>
                    <a:spcPts val="100"/>
                  </a:spcAft>
                </a:pPr>
                <a:endParaRPr lang="zh-CN" altLang="en-US"/>
              </a:p>
            </p:txBody>
          </p:sp>
          <p:sp>
            <p:nvSpPr>
              <p:cNvPr id="107" name="任意多边形: 形状 106">
                <a:extLst>
                  <a:ext uri="{FF2B5EF4-FFF2-40B4-BE49-F238E27FC236}">
                    <a16:creationId xmlns:a16="http://schemas.microsoft.com/office/drawing/2014/main" id="{F76F878C-C548-B961-9680-8217B93F1FA4}"/>
                  </a:ext>
                </a:extLst>
              </p:cNvPr>
              <p:cNvSpPr/>
              <p:nvPr/>
            </p:nvSpPr>
            <p:spPr>
              <a:xfrm>
                <a:off x="9080336" y="2540605"/>
                <a:ext cx="50625" cy="50625"/>
              </a:xfrm>
              <a:custGeom>
                <a:avLst/>
                <a:gdLst>
                  <a:gd name="connsiteX0" fmla="*/ 54540 w 50625"/>
                  <a:gd name="connsiteY0" fmla="*/ 47529 h 50625"/>
                  <a:gd name="connsiteX1" fmla="*/ 55367 w 50625"/>
                  <a:gd name="connsiteY1" fmla="*/ 46483 h 50625"/>
                  <a:gd name="connsiteX2" fmla="*/ 53730 w 50625"/>
                  <a:gd name="connsiteY2" fmla="*/ 27229 h 50625"/>
                  <a:gd name="connsiteX3" fmla="*/ 27793 w 50625"/>
                  <a:gd name="connsiteY3" fmla="*/ 3688 h 50625"/>
                  <a:gd name="connsiteX4" fmla="*/ 17145 w 50625"/>
                  <a:gd name="connsiteY4" fmla="*/ 43 h 50625"/>
                  <a:gd name="connsiteX5" fmla="*/ 7206 w 50625"/>
                  <a:gd name="connsiteY5" fmla="*/ 5291 h 50625"/>
                  <a:gd name="connsiteX6" fmla="*/ 2869 w 50625"/>
                  <a:gd name="connsiteY6" fmla="*/ 10843 h 50625"/>
                  <a:gd name="connsiteX7" fmla="*/ 202 w 50625"/>
                  <a:gd name="connsiteY7" fmla="*/ 21778 h 50625"/>
                  <a:gd name="connsiteX8" fmla="*/ 6311 w 50625"/>
                  <a:gd name="connsiteY8" fmla="*/ 31211 h 50625"/>
                  <a:gd name="connsiteX9" fmla="*/ 35488 w 50625"/>
                  <a:gd name="connsiteY9" fmla="*/ 50634 h 50625"/>
                  <a:gd name="connsiteX10" fmla="*/ 54540 w 50625"/>
                  <a:gd name="connsiteY10" fmla="*/ 47529 h 50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625" h="50625">
                    <a:moveTo>
                      <a:pt x="54540" y="47529"/>
                    </a:moveTo>
                    <a:cubicBezTo>
                      <a:pt x="54827" y="47175"/>
                      <a:pt x="55080" y="46820"/>
                      <a:pt x="55367" y="46483"/>
                    </a:cubicBezTo>
                    <a:cubicBezTo>
                      <a:pt x="59957" y="40610"/>
                      <a:pt x="59231" y="32224"/>
                      <a:pt x="53730" y="27229"/>
                    </a:cubicBezTo>
                    <a:lnTo>
                      <a:pt x="27793" y="3688"/>
                    </a:lnTo>
                    <a:cubicBezTo>
                      <a:pt x="24891" y="1055"/>
                      <a:pt x="21043" y="-261"/>
                      <a:pt x="17145" y="43"/>
                    </a:cubicBezTo>
                    <a:cubicBezTo>
                      <a:pt x="13264" y="364"/>
                      <a:pt x="9652" y="2254"/>
                      <a:pt x="7206" y="5291"/>
                    </a:cubicBezTo>
                    <a:cubicBezTo>
                      <a:pt x="5721" y="7130"/>
                      <a:pt x="4286" y="8970"/>
                      <a:pt x="2869" y="10843"/>
                    </a:cubicBezTo>
                    <a:cubicBezTo>
                      <a:pt x="506" y="13982"/>
                      <a:pt x="-456" y="17914"/>
                      <a:pt x="202" y="21778"/>
                    </a:cubicBezTo>
                    <a:cubicBezTo>
                      <a:pt x="861" y="25625"/>
                      <a:pt x="3071" y="29017"/>
                      <a:pt x="6311" y="31211"/>
                    </a:cubicBezTo>
                    <a:lnTo>
                      <a:pt x="35488" y="50634"/>
                    </a:lnTo>
                    <a:cubicBezTo>
                      <a:pt x="41664" y="54752"/>
                      <a:pt x="50001" y="53385"/>
                      <a:pt x="54540" y="47529"/>
                    </a:cubicBezTo>
                    <a:close/>
                  </a:path>
                </a:pathLst>
              </a:custGeom>
              <a:grpFill/>
              <a:ln w="16669" cap="flat">
                <a:noFill/>
                <a:prstDash val="solid"/>
                <a:miter/>
              </a:ln>
            </p:spPr>
            <p:txBody>
              <a:bodyPr rtlCol="0" anchor="ctr"/>
              <a:lstStyle/>
              <a:p>
                <a:pPr algn="ctr">
                  <a:lnSpc>
                    <a:spcPct val="120000"/>
                  </a:lnSpc>
                  <a:spcAft>
                    <a:spcPts val="100"/>
                  </a:spcAft>
                </a:pPr>
                <a:endParaRPr lang="zh-CN" altLang="en-US"/>
              </a:p>
            </p:txBody>
          </p:sp>
          <p:sp>
            <p:nvSpPr>
              <p:cNvPr id="108" name="任意多边形: 形状 107">
                <a:extLst>
                  <a:ext uri="{FF2B5EF4-FFF2-40B4-BE49-F238E27FC236}">
                    <a16:creationId xmlns:a16="http://schemas.microsoft.com/office/drawing/2014/main" id="{B5228A54-D47A-1247-863A-70BF973BA14C}"/>
                  </a:ext>
                </a:extLst>
              </p:cNvPr>
              <p:cNvSpPr/>
              <p:nvPr/>
            </p:nvSpPr>
            <p:spPr>
              <a:xfrm>
                <a:off x="9461087" y="2728751"/>
                <a:ext cx="50625" cy="33750"/>
              </a:xfrm>
              <a:custGeom>
                <a:avLst/>
                <a:gdLst>
                  <a:gd name="connsiteX0" fmla="*/ 60817 w 50625"/>
                  <a:gd name="connsiteY0" fmla="*/ 10904 h 33750"/>
                  <a:gd name="connsiteX1" fmla="*/ 51216 w 50625"/>
                  <a:gd name="connsiteY1" fmla="*/ 5049 h 33750"/>
                  <a:gd name="connsiteX2" fmla="*/ 16554 w 50625"/>
                  <a:gd name="connsiteY2" fmla="*/ 138 h 33750"/>
                  <a:gd name="connsiteX3" fmla="*/ 726 w 50625"/>
                  <a:gd name="connsiteY3" fmla="*/ 11191 h 33750"/>
                  <a:gd name="connsiteX4" fmla="*/ 371 w 50625"/>
                  <a:gd name="connsiteY4" fmla="*/ 12508 h 33750"/>
                  <a:gd name="connsiteX5" fmla="*/ 10142 w 50625"/>
                  <a:gd name="connsiteY5" fmla="*/ 29079 h 33750"/>
                  <a:gd name="connsiteX6" fmla="*/ 43689 w 50625"/>
                  <a:gd name="connsiteY6" fmla="*/ 39052 h 33750"/>
                  <a:gd name="connsiteX7" fmla="*/ 54861 w 50625"/>
                  <a:gd name="connsiteY7" fmla="*/ 37786 h 33750"/>
                  <a:gd name="connsiteX8" fmla="*/ 61543 w 50625"/>
                  <a:gd name="connsiteY8" fmla="*/ 28724 h 33750"/>
                  <a:gd name="connsiteX9" fmla="*/ 63028 w 50625"/>
                  <a:gd name="connsiteY9" fmla="*/ 21907 h 33750"/>
                  <a:gd name="connsiteX10" fmla="*/ 60817 w 50625"/>
                  <a:gd name="connsiteY10" fmla="*/ 10904 h 33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625" h="33750">
                    <a:moveTo>
                      <a:pt x="60817" y="10904"/>
                    </a:moveTo>
                    <a:cubicBezTo>
                      <a:pt x="58539" y="7732"/>
                      <a:pt x="55080" y="5606"/>
                      <a:pt x="51216" y="5049"/>
                    </a:cubicBezTo>
                    <a:lnTo>
                      <a:pt x="16554" y="138"/>
                    </a:lnTo>
                    <a:cubicBezTo>
                      <a:pt x="9197" y="-891"/>
                      <a:pt x="2278" y="3935"/>
                      <a:pt x="726" y="11191"/>
                    </a:cubicBezTo>
                    <a:cubicBezTo>
                      <a:pt x="557" y="11563"/>
                      <a:pt x="472" y="12103"/>
                      <a:pt x="371" y="12508"/>
                    </a:cubicBezTo>
                    <a:cubicBezTo>
                      <a:pt x="-1333" y="19764"/>
                      <a:pt x="2987" y="26936"/>
                      <a:pt x="10142" y="29079"/>
                    </a:cubicBezTo>
                    <a:lnTo>
                      <a:pt x="43689" y="39052"/>
                    </a:lnTo>
                    <a:cubicBezTo>
                      <a:pt x="47503" y="40149"/>
                      <a:pt x="51502" y="39676"/>
                      <a:pt x="54861" y="37786"/>
                    </a:cubicBezTo>
                    <a:cubicBezTo>
                      <a:pt x="58219" y="35812"/>
                      <a:pt x="60666" y="32521"/>
                      <a:pt x="61543" y="28724"/>
                    </a:cubicBezTo>
                    <a:cubicBezTo>
                      <a:pt x="62066" y="26379"/>
                      <a:pt x="62572" y="24151"/>
                      <a:pt x="63028" y="21907"/>
                    </a:cubicBezTo>
                    <a:cubicBezTo>
                      <a:pt x="63906" y="18059"/>
                      <a:pt x="63062" y="14094"/>
                      <a:pt x="60817" y="10904"/>
                    </a:cubicBezTo>
                    <a:close/>
                  </a:path>
                </a:pathLst>
              </a:custGeom>
              <a:grpFill/>
              <a:ln w="16669" cap="flat">
                <a:noFill/>
                <a:prstDash val="solid"/>
                <a:miter/>
              </a:ln>
            </p:spPr>
            <p:txBody>
              <a:bodyPr rtlCol="0" anchor="ctr"/>
              <a:lstStyle/>
              <a:p>
                <a:pPr algn="ctr">
                  <a:lnSpc>
                    <a:spcPct val="120000"/>
                  </a:lnSpc>
                  <a:spcAft>
                    <a:spcPts val="100"/>
                  </a:spcAft>
                </a:pPr>
                <a:endParaRPr lang="zh-CN" altLang="en-US"/>
              </a:p>
            </p:txBody>
          </p:sp>
        </p:grpSp>
      </p:grpSp>
      <p:grpSp>
        <p:nvGrpSpPr>
          <p:cNvPr id="26" name="组合 25">
            <a:extLst>
              <a:ext uri="{FF2B5EF4-FFF2-40B4-BE49-F238E27FC236}">
                <a16:creationId xmlns:a16="http://schemas.microsoft.com/office/drawing/2014/main" id="{1AC01936-6576-FFFF-7A9B-5A7B5C11F5A6}"/>
              </a:ext>
            </a:extLst>
          </p:cNvPr>
          <p:cNvGrpSpPr/>
          <p:nvPr/>
        </p:nvGrpSpPr>
        <p:grpSpPr>
          <a:xfrm>
            <a:off x="6219245" y="4490617"/>
            <a:ext cx="5078145" cy="351297"/>
            <a:chOff x="6219245" y="4490617"/>
            <a:chExt cx="5078145" cy="351297"/>
          </a:xfrm>
        </p:grpSpPr>
        <p:sp>
          <p:nvSpPr>
            <p:cNvPr id="43" name="文本框 42">
              <a:extLst>
                <a:ext uri="{FF2B5EF4-FFF2-40B4-BE49-F238E27FC236}">
                  <a16:creationId xmlns:a16="http://schemas.microsoft.com/office/drawing/2014/main" id="{B5FE9FED-4531-5B1A-A1DD-9FCF033A8A8E}"/>
                </a:ext>
              </a:extLst>
            </p:cNvPr>
            <p:cNvSpPr txBox="1"/>
            <p:nvPr/>
          </p:nvSpPr>
          <p:spPr>
            <a:xfrm>
              <a:off x="6219245" y="4503360"/>
              <a:ext cx="5016596" cy="338554"/>
            </a:xfrm>
            <a:prstGeom prst="rect">
              <a:avLst/>
            </a:prstGeom>
            <a:noFill/>
          </p:spPr>
          <p:txBody>
            <a:bodyPr wrap="square" rtlCol="0">
              <a:spAutoFit/>
            </a:bodyPr>
            <a:lstStyle/>
            <a:p>
              <a:r>
                <a:rPr lang="zh-CN" altLang="en-US" sz="1600" dirty="0"/>
                <a:t>🔑 完全使用</a:t>
              </a:r>
              <a:r>
                <a:rPr lang="en-US" altLang="zh-CN" sz="1600" b="1" dirty="0">
                  <a:solidFill>
                    <a:srgbClr val="FF0000"/>
                  </a:solidFill>
                </a:rPr>
                <a:t>Safe Rust</a:t>
              </a:r>
              <a:r>
                <a:rPr lang="zh-CN" altLang="en-US" sz="1600" dirty="0"/>
                <a:t>实现（</a:t>
              </a:r>
              <a:r>
                <a:rPr lang="en-US" altLang="zh-CN" sz="1600" dirty="0"/>
                <a:t>Rust</a:t>
              </a:r>
              <a:r>
                <a:rPr lang="zh-CN" altLang="en-US" sz="1600" dirty="0"/>
                <a:t>的安全保证）</a:t>
              </a:r>
            </a:p>
          </p:txBody>
        </p:sp>
        <p:sp>
          <p:nvSpPr>
            <p:cNvPr id="109" name="矩形 108">
              <a:extLst>
                <a:ext uri="{FF2B5EF4-FFF2-40B4-BE49-F238E27FC236}">
                  <a16:creationId xmlns:a16="http://schemas.microsoft.com/office/drawing/2014/main" id="{9CAF383A-4800-95A7-1E46-067AD9501CF7}"/>
                </a:ext>
              </a:extLst>
            </p:cNvPr>
            <p:cNvSpPr/>
            <p:nvPr/>
          </p:nvSpPr>
          <p:spPr>
            <a:xfrm>
              <a:off x="6280793" y="4490617"/>
              <a:ext cx="5016597" cy="328082"/>
            </a:xfrm>
            <a:custGeom>
              <a:avLst/>
              <a:gdLst>
                <a:gd name="csX0" fmla="*/ 0 w 5016597"/>
                <a:gd name="csY0" fmla="*/ 0 h 328082"/>
                <a:gd name="csX1" fmla="*/ 576909 w 5016597"/>
                <a:gd name="csY1" fmla="*/ 0 h 328082"/>
                <a:gd name="csX2" fmla="*/ 1053485 w 5016597"/>
                <a:gd name="csY2" fmla="*/ 0 h 328082"/>
                <a:gd name="csX3" fmla="*/ 1780892 w 5016597"/>
                <a:gd name="csY3" fmla="*/ 0 h 328082"/>
                <a:gd name="csX4" fmla="*/ 2357801 w 5016597"/>
                <a:gd name="csY4" fmla="*/ 0 h 328082"/>
                <a:gd name="csX5" fmla="*/ 2934709 w 5016597"/>
                <a:gd name="csY5" fmla="*/ 0 h 328082"/>
                <a:gd name="csX6" fmla="*/ 3662116 w 5016597"/>
                <a:gd name="csY6" fmla="*/ 0 h 328082"/>
                <a:gd name="csX7" fmla="*/ 4188858 w 5016597"/>
                <a:gd name="csY7" fmla="*/ 0 h 328082"/>
                <a:gd name="csX8" fmla="*/ 5016597 w 5016597"/>
                <a:gd name="csY8" fmla="*/ 0 h 328082"/>
                <a:gd name="csX9" fmla="*/ 5016597 w 5016597"/>
                <a:gd name="csY9" fmla="*/ 328082 h 328082"/>
                <a:gd name="csX10" fmla="*/ 4489854 w 5016597"/>
                <a:gd name="csY10" fmla="*/ 328082 h 328082"/>
                <a:gd name="csX11" fmla="*/ 3862780 w 5016597"/>
                <a:gd name="csY11" fmla="*/ 328082 h 328082"/>
                <a:gd name="csX12" fmla="*/ 3285871 w 5016597"/>
                <a:gd name="csY12" fmla="*/ 328082 h 328082"/>
                <a:gd name="csX13" fmla="*/ 2558464 w 5016597"/>
                <a:gd name="csY13" fmla="*/ 328082 h 328082"/>
                <a:gd name="csX14" fmla="*/ 1831058 w 5016597"/>
                <a:gd name="csY14" fmla="*/ 328082 h 328082"/>
                <a:gd name="csX15" fmla="*/ 1304315 w 5016597"/>
                <a:gd name="csY15" fmla="*/ 328082 h 328082"/>
                <a:gd name="csX16" fmla="*/ 677241 w 5016597"/>
                <a:gd name="csY16" fmla="*/ 328082 h 328082"/>
                <a:gd name="csX17" fmla="*/ 0 w 5016597"/>
                <a:gd name="csY17" fmla="*/ 328082 h 328082"/>
                <a:gd name="csX18" fmla="*/ 0 w 5016597"/>
                <a:gd name="csY18" fmla="*/ 0 h 3280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016597" h="328082" extrusionOk="0">
                  <a:moveTo>
                    <a:pt x="0" y="0"/>
                  </a:moveTo>
                  <a:cubicBezTo>
                    <a:pt x="175723" y="-8189"/>
                    <a:pt x="395371" y="25118"/>
                    <a:pt x="576909" y="0"/>
                  </a:cubicBezTo>
                  <a:cubicBezTo>
                    <a:pt x="758447" y="-25118"/>
                    <a:pt x="924279" y="23745"/>
                    <a:pt x="1053485" y="0"/>
                  </a:cubicBezTo>
                  <a:cubicBezTo>
                    <a:pt x="1182691" y="-23745"/>
                    <a:pt x="1515765" y="-29900"/>
                    <a:pt x="1780892" y="0"/>
                  </a:cubicBezTo>
                  <a:cubicBezTo>
                    <a:pt x="2046019" y="29900"/>
                    <a:pt x="2106006" y="-11849"/>
                    <a:pt x="2357801" y="0"/>
                  </a:cubicBezTo>
                  <a:cubicBezTo>
                    <a:pt x="2609596" y="11849"/>
                    <a:pt x="2717642" y="-11823"/>
                    <a:pt x="2934709" y="0"/>
                  </a:cubicBezTo>
                  <a:cubicBezTo>
                    <a:pt x="3151776" y="11823"/>
                    <a:pt x="3475850" y="-3392"/>
                    <a:pt x="3662116" y="0"/>
                  </a:cubicBezTo>
                  <a:cubicBezTo>
                    <a:pt x="3848382" y="3392"/>
                    <a:pt x="4082526" y="7705"/>
                    <a:pt x="4188858" y="0"/>
                  </a:cubicBezTo>
                  <a:cubicBezTo>
                    <a:pt x="4295190" y="-7705"/>
                    <a:pt x="4622999" y="-11411"/>
                    <a:pt x="5016597" y="0"/>
                  </a:cubicBezTo>
                  <a:cubicBezTo>
                    <a:pt x="5003759" y="153017"/>
                    <a:pt x="5009606" y="242929"/>
                    <a:pt x="5016597" y="328082"/>
                  </a:cubicBezTo>
                  <a:cubicBezTo>
                    <a:pt x="4790008" y="332810"/>
                    <a:pt x="4687698" y="320732"/>
                    <a:pt x="4489854" y="328082"/>
                  </a:cubicBezTo>
                  <a:cubicBezTo>
                    <a:pt x="4292010" y="335432"/>
                    <a:pt x="4112470" y="334477"/>
                    <a:pt x="3862780" y="328082"/>
                  </a:cubicBezTo>
                  <a:cubicBezTo>
                    <a:pt x="3613090" y="321687"/>
                    <a:pt x="3506066" y="349825"/>
                    <a:pt x="3285871" y="328082"/>
                  </a:cubicBezTo>
                  <a:cubicBezTo>
                    <a:pt x="3065676" y="306339"/>
                    <a:pt x="2880989" y="323413"/>
                    <a:pt x="2558464" y="328082"/>
                  </a:cubicBezTo>
                  <a:cubicBezTo>
                    <a:pt x="2235939" y="332751"/>
                    <a:pt x="2131029" y="322913"/>
                    <a:pt x="1831058" y="328082"/>
                  </a:cubicBezTo>
                  <a:cubicBezTo>
                    <a:pt x="1531087" y="333251"/>
                    <a:pt x="1447431" y="328785"/>
                    <a:pt x="1304315" y="328082"/>
                  </a:cubicBezTo>
                  <a:cubicBezTo>
                    <a:pt x="1161199" y="327379"/>
                    <a:pt x="888919" y="312076"/>
                    <a:pt x="677241" y="328082"/>
                  </a:cubicBezTo>
                  <a:cubicBezTo>
                    <a:pt x="465563" y="344088"/>
                    <a:pt x="164087" y="301950"/>
                    <a:pt x="0" y="328082"/>
                  </a:cubicBezTo>
                  <a:cubicBezTo>
                    <a:pt x="6311" y="175331"/>
                    <a:pt x="-13820" y="111274"/>
                    <a:pt x="0" y="0"/>
                  </a:cubicBezTo>
                  <a:close/>
                </a:path>
              </a:pathLst>
            </a:custGeom>
            <a:noFill/>
            <a:ln w="12700">
              <a:gradFill flip="none" rotWithShape="1">
                <a:gsLst>
                  <a:gs pos="0">
                    <a:schemeClr val="tx2"/>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 name="组合 26">
            <a:extLst>
              <a:ext uri="{FF2B5EF4-FFF2-40B4-BE49-F238E27FC236}">
                <a16:creationId xmlns:a16="http://schemas.microsoft.com/office/drawing/2014/main" id="{BD5E6A27-9E31-A5D2-6994-9BADC3E7B948}"/>
              </a:ext>
            </a:extLst>
          </p:cNvPr>
          <p:cNvGrpSpPr/>
          <p:nvPr/>
        </p:nvGrpSpPr>
        <p:grpSpPr>
          <a:xfrm>
            <a:off x="6228582" y="4899666"/>
            <a:ext cx="5068808" cy="338554"/>
            <a:chOff x="6228582" y="4899666"/>
            <a:chExt cx="5068808" cy="338554"/>
          </a:xfrm>
        </p:grpSpPr>
        <p:sp>
          <p:nvSpPr>
            <p:cNvPr id="42" name="文本框 41">
              <a:extLst>
                <a:ext uri="{FF2B5EF4-FFF2-40B4-BE49-F238E27FC236}">
                  <a16:creationId xmlns:a16="http://schemas.microsoft.com/office/drawing/2014/main" id="{10103DD6-F4DA-3596-8154-55E9F39FF182}"/>
                </a:ext>
              </a:extLst>
            </p:cNvPr>
            <p:cNvSpPr txBox="1"/>
            <p:nvPr/>
          </p:nvSpPr>
          <p:spPr>
            <a:xfrm>
              <a:off x="6228582" y="4899666"/>
              <a:ext cx="3550596" cy="338554"/>
            </a:xfrm>
            <a:prstGeom prst="rect">
              <a:avLst/>
            </a:prstGeom>
            <a:noFill/>
          </p:spPr>
          <p:txBody>
            <a:bodyPr wrap="square" rtlCol="0">
              <a:spAutoFit/>
            </a:bodyPr>
            <a:lstStyle/>
            <a:p>
              <a:r>
                <a:rPr lang="zh-CN" altLang="en-US" sz="1600" dirty="0"/>
                <a:t>🔑 仅依赖域基础库的安全抽象</a:t>
              </a:r>
            </a:p>
          </p:txBody>
        </p:sp>
        <p:sp>
          <p:nvSpPr>
            <p:cNvPr id="110" name="矩形 109">
              <a:extLst>
                <a:ext uri="{FF2B5EF4-FFF2-40B4-BE49-F238E27FC236}">
                  <a16:creationId xmlns:a16="http://schemas.microsoft.com/office/drawing/2014/main" id="{C0A6BE2F-AD8D-E5DA-5130-EDCD8DA75204}"/>
                </a:ext>
              </a:extLst>
            </p:cNvPr>
            <p:cNvSpPr/>
            <p:nvPr/>
          </p:nvSpPr>
          <p:spPr>
            <a:xfrm>
              <a:off x="6280794" y="4904902"/>
              <a:ext cx="5016596" cy="328082"/>
            </a:xfrm>
            <a:custGeom>
              <a:avLst/>
              <a:gdLst>
                <a:gd name="csX0" fmla="*/ 0 w 5016596"/>
                <a:gd name="csY0" fmla="*/ 0 h 328082"/>
                <a:gd name="csX1" fmla="*/ 576909 w 5016596"/>
                <a:gd name="csY1" fmla="*/ 0 h 328082"/>
                <a:gd name="csX2" fmla="*/ 1053485 w 5016596"/>
                <a:gd name="csY2" fmla="*/ 0 h 328082"/>
                <a:gd name="csX3" fmla="*/ 1780892 w 5016596"/>
                <a:gd name="csY3" fmla="*/ 0 h 328082"/>
                <a:gd name="csX4" fmla="*/ 2357800 w 5016596"/>
                <a:gd name="csY4" fmla="*/ 0 h 328082"/>
                <a:gd name="csX5" fmla="*/ 2934709 w 5016596"/>
                <a:gd name="csY5" fmla="*/ 0 h 328082"/>
                <a:gd name="csX6" fmla="*/ 3662115 w 5016596"/>
                <a:gd name="csY6" fmla="*/ 0 h 328082"/>
                <a:gd name="csX7" fmla="*/ 4188858 w 5016596"/>
                <a:gd name="csY7" fmla="*/ 0 h 328082"/>
                <a:gd name="csX8" fmla="*/ 5016596 w 5016596"/>
                <a:gd name="csY8" fmla="*/ 0 h 328082"/>
                <a:gd name="csX9" fmla="*/ 5016596 w 5016596"/>
                <a:gd name="csY9" fmla="*/ 328082 h 328082"/>
                <a:gd name="csX10" fmla="*/ 4489853 w 5016596"/>
                <a:gd name="csY10" fmla="*/ 328082 h 328082"/>
                <a:gd name="csX11" fmla="*/ 3862779 w 5016596"/>
                <a:gd name="csY11" fmla="*/ 328082 h 328082"/>
                <a:gd name="csX12" fmla="*/ 3285870 w 5016596"/>
                <a:gd name="csY12" fmla="*/ 328082 h 328082"/>
                <a:gd name="csX13" fmla="*/ 2558464 w 5016596"/>
                <a:gd name="csY13" fmla="*/ 328082 h 328082"/>
                <a:gd name="csX14" fmla="*/ 1831058 w 5016596"/>
                <a:gd name="csY14" fmla="*/ 328082 h 328082"/>
                <a:gd name="csX15" fmla="*/ 1304315 w 5016596"/>
                <a:gd name="csY15" fmla="*/ 328082 h 328082"/>
                <a:gd name="csX16" fmla="*/ 677240 w 5016596"/>
                <a:gd name="csY16" fmla="*/ 328082 h 328082"/>
                <a:gd name="csX17" fmla="*/ 0 w 5016596"/>
                <a:gd name="csY17" fmla="*/ 328082 h 328082"/>
                <a:gd name="csX18" fmla="*/ 0 w 5016596"/>
                <a:gd name="csY18" fmla="*/ 0 h 3280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016596" h="328082" extrusionOk="0">
                  <a:moveTo>
                    <a:pt x="0" y="0"/>
                  </a:moveTo>
                  <a:cubicBezTo>
                    <a:pt x="175723" y="-8189"/>
                    <a:pt x="395371" y="25118"/>
                    <a:pt x="576909" y="0"/>
                  </a:cubicBezTo>
                  <a:cubicBezTo>
                    <a:pt x="758447" y="-25118"/>
                    <a:pt x="924279" y="23745"/>
                    <a:pt x="1053485" y="0"/>
                  </a:cubicBezTo>
                  <a:cubicBezTo>
                    <a:pt x="1182691" y="-23745"/>
                    <a:pt x="1515765" y="-29900"/>
                    <a:pt x="1780892" y="0"/>
                  </a:cubicBezTo>
                  <a:cubicBezTo>
                    <a:pt x="2046019" y="29900"/>
                    <a:pt x="2108494" y="-11830"/>
                    <a:pt x="2357800" y="0"/>
                  </a:cubicBezTo>
                  <a:cubicBezTo>
                    <a:pt x="2607106" y="11830"/>
                    <a:pt x="2715871" y="-16417"/>
                    <a:pt x="2934709" y="0"/>
                  </a:cubicBezTo>
                  <a:cubicBezTo>
                    <a:pt x="3153547" y="16417"/>
                    <a:pt x="3480401" y="633"/>
                    <a:pt x="3662115" y="0"/>
                  </a:cubicBezTo>
                  <a:cubicBezTo>
                    <a:pt x="3843829" y="-633"/>
                    <a:pt x="4079509" y="5447"/>
                    <a:pt x="4188858" y="0"/>
                  </a:cubicBezTo>
                  <a:cubicBezTo>
                    <a:pt x="4298207" y="-5447"/>
                    <a:pt x="4626422" y="-11366"/>
                    <a:pt x="5016596" y="0"/>
                  </a:cubicBezTo>
                  <a:cubicBezTo>
                    <a:pt x="5003758" y="153017"/>
                    <a:pt x="5009605" y="242929"/>
                    <a:pt x="5016596" y="328082"/>
                  </a:cubicBezTo>
                  <a:cubicBezTo>
                    <a:pt x="4790007" y="332810"/>
                    <a:pt x="4687697" y="320732"/>
                    <a:pt x="4489853" y="328082"/>
                  </a:cubicBezTo>
                  <a:cubicBezTo>
                    <a:pt x="4292009" y="335432"/>
                    <a:pt x="4112469" y="334477"/>
                    <a:pt x="3862779" y="328082"/>
                  </a:cubicBezTo>
                  <a:cubicBezTo>
                    <a:pt x="3613089" y="321687"/>
                    <a:pt x="3506065" y="349825"/>
                    <a:pt x="3285870" y="328082"/>
                  </a:cubicBezTo>
                  <a:cubicBezTo>
                    <a:pt x="3065675" y="306339"/>
                    <a:pt x="2878820" y="321738"/>
                    <a:pt x="2558464" y="328082"/>
                  </a:cubicBezTo>
                  <a:cubicBezTo>
                    <a:pt x="2238108" y="334426"/>
                    <a:pt x="2131029" y="322913"/>
                    <a:pt x="1831058" y="328082"/>
                  </a:cubicBezTo>
                  <a:cubicBezTo>
                    <a:pt x="1531087" y="333251"/>
                    <a:pt x="1447431" y="328785"/>
                    <a:pt x="1304315" y="328082"/>
                  </a:cubicBezTo>
                  <a:cubicBezTo>
                    <a:pt x="1161199" y="327379"/>
                    <a:pt x="894827" y="318288"/>
                    <a:pt x="677240" y="328082"/>
                  </a:cubicBezTo>
                  <a:cubicBezTo>
                    <a:pt x="459654" y="337876"/>
                    <a:pt x="162348" y="299936"/>
                    <a:pt x="0" y="328082"/>
                  </a:cubicBezTo>
                  <a:cubicBezTo>
                    <a:pt x="6311" y="175331"/>
                    <a:pt x="-13820" y="111274"/>
                    <a:pt x="0" y="0"/>
                  </a:cubicBezTo>
                  <a:close/>
                </a:path>
              </a:pathLst>
            </a:custGeom>
            <a:noFill/>
            <a:ln w="12700">
              <a:gradFill flip="none" rotWithShape="1">
                <a:gsLst>
                  <a:gs pos="0">
                    <a:schemeClr val="tx2"/>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27">
            <a:extLst>
              <a:ext uri="{FF2B5EF4-FFF2-40B4-BE49-F238E27FC236}">
                <a16:creationId xmlns:a16="http://schemas.microsoft.com/office/drawing/2014/main" id="{C1A3ADC3-7A47-5A70-CE70-E63AD4F67F5D}"/>
              </a:ext>
            </a:extLst>
          </p:cNvPr>
          <p:cNvGrpSpPr/>
          <p:nvPr/>
        </p:nvGrpSpPr>
        <p:grpSpPr>
          <a:xfrm>
            <a:off x="6231799" y="5317557"/>
            <a:ext cx="5255748" cy="338554"/>
            <a:chOff x="6231799" y="5317557"/>
            <a:chExt cx="5255748" cy="338554"/>
          </a:xfrm>
        </p:grpSpPr>
        <p:sp>
          <p:nvSpPr>
            <p:cNvPr id="45" name="文本框 44">
              <a:extLst>
                <a:ext uri="{FF2B5EF4-FFF2-40B4-BE49-F238E27FC236}">
                  <a16:creationId xmlns:a16="http://schemas.microsoft.com/office/drawing/2014/main" id="{CB08539C-D627-3116-7439-FABAEA152279}"/>
                </a:ext>
              </a:extLst>
            </p:cNvPr>
            <p:cNvSpPr txBox="1"/>
            <p:nvPr/>
          </p:nvSpPr>
          <p:spPr>
            <a:xfrm>
              <a:off x="6231799" y="5317557"/>
              <a:ext cx="5255748" cy="338554"/>
            </a:xfrm>
            <a:prstGeom prst="rect">
              <a:avLst/>
            </a:prstGeom>
            <a:noFill/>
          </p:spPr>
          <p:txBody>
            <a:bodyPr wrap="square" rtlCol="0">
              <a:spAutoFit/>
            </a:bodyPr>
            <a:lstStyle/>
            <a:p>
              <a:r>
                <a:rPr lang="zh-CN" altLang="en-US" sz="1600" dirty="0"/>
                <a:t>🔑 独立的私有堆和自定义堆，共享一个共享堆</a:t>
              </a:r>
            </a:p>
          </p:txBody>
        </p:sp>
        <p:sp>
          <p:nvSpPr>
            <p:cNvPr id="111" name="矩形 110">
              <a:extLst>
                <a:ext uri="{FF2B5EF4-FFF2-40B4-BE49-F238E27FC236}">
                  <a16:creationId xmlns:a16="http://schemas.microsoft.com/office/drawing/2014/main" id="{615F8BC0-8B1B-DD30-98C4-F80E5E4D9215}"/>
                </a:ext>
              </a:extLst>
            </p:cNvPr>
            <p:cNvSpPr/>
            <p:nvPr/>
          </p:nvSpPr>
          <p:spPr>
            <a:xfrm>
              <a:off x="6280794" y="5317557"/>
              <a:ext cx="5017732" cy="311324"/>
            </a:xfrm>
            <a:custGeom>
              <a:avLst/>
              <a:gdLst>
                <a:gd name="csX0" fmla="*/ 0 w 5017732"/>
                <a:gd name="csY0" fmla="*/ 0 h 311324"/>
                <a:gd name="csX1" fmla="*/ 577039 w 5017732"/>
                <a:gd name="csY1" fmla="*/ 0 h 311324"/>
                <a:gd name="csX2" fmla="*/ 1053724 w 5017732"/>
                <a:gd name="csY2" fmla="*/ 0 h 311324"/>
                <a:gd name="csX3" fmla="*/ 1781295 w 5017732"/>
                <a:gd name="csY3" fmla="*/ 0 h 311324"/>
                <a:gd name="csX4" fmla="*/ 2358334 w 5017732"/>
                <a:gd name="csY4" fmla="*/ 0 h 311324"/>
                <a:gd name="csX5" fmla="*/ 2935373 w 5017732"/>
                <a:gd name="csY5" fmla="*/ 0 h 311324"/>
                <a:gd name="csX6" fmla="*/ 3662944 w 5017732"/>
                <a:gd name="csY6" fmla="*/ 0 h 311324"/>
                <a:gd name="csX7" fmla="*/ 4189806 w 5017732"/>
                <a:gd name="csY7" fmla="*/ 0 h 311324"/>
                <a:gd name="csX8" fmla="*/ 5017732 w 5017732"/>
                <a:gd name="csY8" fmla="*/ 0 h 311324"/>
                <a:gd name="csX9" fmla="*/ 5017732 w 5017732"/>
                <a:gd name="csY9" fmla="*/ 311324 h 311324"/>
                <a:gd name="csX10" fmla="*/ 4490870 w 5017732"/>
                <a:gd name="csY10" fmla="*/ 311324 h 311324"/>
                <a:gd name="csX11" fmla="*/ 3863654 w 5017732"/>
                <a:gd name="csY11" fmla="*/ 311324 h 311324"/>
                <a:gd name="csX12" fmla="*/ 3286614 w 5017732"/>
                <a:gd name="csY12" fmla="*/ 311324 h 311324"/>
                <a:gd name="csX13" fmla="*/ 2559043 w 5017732"/>
                <a:gd name="csY13" fmla="*/ 311324 h 311324"/>
                <a:gd name="csX14" fmla="*/ 1831472 w 5017732"/>
                <a:gd name="csY14" fmla="*/ 311324 h 311324"/>
                <a:gd name="csX15" fmla="*/ 1304610 w 5017732"/>
                <a:gd name="csY15" fmla="*/ 311324 h 311324"/>
                <a:gd name="csX16" fmla="*/ 677394 w 5017732"/>
                <a:gd name="csY16" fmla="*/ 311324 h 311324"/>
                <a:gd name="csX17" fmla="*/ 0 w 5017732"/>
                <a:gd name="csY17" fmla="*/ 311324 h 311324"/>
                <a:gd name="csX18" fmla="*/ 0 w 5017732"/>
                <a:gd name="csY18" fmla="*/ 0 h 3113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017732" h="311324" extrusionOk="0">
                  <a:moveTo>
                    <a:pt x="0" y="0"/>
                  </a:moveTo>
                  <a:cubicBezTo>
                    <a:pt x="240824" y="4786"/>
                    <a:pt x="377012" y="1213"/>
                    <a:pt x="577039" y="0"/>
                  </a:cubicBezTo>
                  <a:cubicBezTo>
                    <a:pt x="777066" y="-1213"/>
                    <a:pt x="907442" y="-21219"/>
                    <a:pt x="1053724" y="0"/>
                  </a:cubicBezTo>
                  <a:cubicBezTo>
                    <a:pt x="1200007" y="21219"/>
                    <a:pt x="1607542" y="4999"/>
                    <a:pt x="1781295" y="0"/>
                  </a:cubicBezTo>
                  <a:cubicBezTo>
                    <a:pt x="1955048" y="-4999"/>
                    <a:pt x="2129194" y="-14260"/>
                    <a:pt x="2358334" y="0"/>
                  </a:cubicBezTo>
                  <a:cubicBezTo>
                    <a:pt x="2587474" y="14260"/>
                    <a:pt x="2659443" y="21126"/>
                    <a:pt x="2935373" y="0"/>
                  </a:cubicBezTo>
                  <a:cubicBezTo>
                    <a:pt x="3211303" y="-21126"/>
                    <a:pt x="3385000" y="-8620"/>
                    <a:pt x="3662944" y="0"/>
                  </a:cubicBezTo>
                  <a:cubicBezTo>
                    <a:pt x="3940888" y="8620"/>
                    <a:pt x="4037518" y="146"/>
                    <a:pt x="4189806" y="0"/>
                  </a:cubicBezTo>
                  <a:cubicBezTo>
                    <a:pt x="4342094" y="-146"/>
                    <a:pt x="4728851" y="-19835"/>
                    <a:pt x="5017732" y="0"/>
                  </a:cubicBezTo>
                  <a:cubicBezTo>
                    <a:pt x="5011403" y="94163"/>
                    <a:pt x="5021317" y="217394"/>
                    <a:pt x="5017732" y="311324"/>
                  </a:cubicBezTo>
                  <a:cubicBezTo>
                    <a:pt x="4854828" y="316742"/>
                    <a:pt x="4728813" y="287566"/>
                    <a:pt x="4490870" y="311324"/>
                  </a:cubicBezTo>
                  <a:cubicBezTo>
                    <a:pt x="4252927" y="335082"/>
                    <a:pt x="4052879" y="307672"/>
                    <a:pt x="3863654" y="311324"/>
                  </a:cubicBezTo>
                  <a:cubicBezTo>
                    <a:pt x="3674429" y="314976"/>
                    <a:pt x="3539933" y="317606"/>
                    <a:pt x="3286614" y="311324"/>
                  </a:cubicBezTo>
                  <a:cubicBezTo>
                    <a:pt x="3033295" y="305042"/>
                    <a:pt x="2800723" y="290335"/>
                    <a:pt x="2559043" y="311324"/>
                  </a:cubicBezTo>
                  <a:cubicBezTo>
                    <a:pt x="2317363" y="332313"/>
                    <a:pt x="2182799" y="292154"/>
                    <a:pt x="1831472" y="311324"/>
                  </a:cubicBezTo>
                  <a:cubicBezTo>
                    <a:pt x="1480145" y="330494"/>
                    <a:pt x="1549357" y="296982"/>
                    <a:pt x="1304610" y="311324"/>
                  </a:cubicBezTo>
                  <a:cubicBezTo>
                    <a:pt x="1059863" y="325666"/>
                    <a:pt x="975444" y="299242"/>
                    <a:pt x="677394" y="311324"/>
                  </a:cubicBezTo>
                  <a:cubicBezTo>
                    <a:pt x="379344" y="323406"/>
                    <a:pt x="226981" y="322353"/>
                    <a:pt x="0" y="311324"/>
                  </a:cubicBezTo>
                  <a:cubicBezTo>
                    <a:pt x="11265" y="192492"/>
                    <a:pt x="-4711" y="130476"/>
                    <a:pt x="0" y="0"/>
                  </a:cubicBezTo>
                  <a:close/>
                </a:path>
              </a:pathLst>
            </a:custGeom>
            <a:noFill/>
            <a:ln w="12700">
              <a:gradFill flip="none" rotWithShape="1">
                <a:gsLst>
                  <a:gs pos="0">
                    <a:schemeClr val="tx2"/>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a:extLst>
              <a:ext uri="{FF2B5EF4-FFF2-40B4-BE49-F238E27FC236}">
                <a16:creationId xmlns:a16="http://schemas.microsoft.com/office/drawing/2014/main" id="{A36EC4FA-A702-2C34-95D7-D72F069C139A}"/>
              </a:ext>
            </a:extLst>
          </p:cNvPr>
          <p:cNvGrpSpPr/>
          <p:nvPr/>
        </p:nvGrpSpPr>
        <p:grpSpPr>
          <a:xfrm>
            <a:off x="6228581" y="5710123"/>
            <a:ext cx="5068809" cy="338554"/>
            <a:chOff x="6228581" y="5710123"/>
            <a:chExt cx="5068809" cy="338554"/>
          </a:xfrm>
        </p:grpSpPr>
        <p:sp>
          <p:nvSpPr>
            <p:cNvPr id="47" name="文本框 46">
              <a:extLst>
                <a:ext uri="{FF2B5EF4-FFF2-40B4-BE49-F238E27FC236}">
                  <a16:creationId xmlns:a16="http://schemas.microsoft.com/office/drawing/2014/main" id="{A35910BF-57A7-A13C-BADF-0350B4CAC451}"/>
                </a:ext>
              </a:extLst>
            </p:cNvPr>
            <p:cNvSpPr txBox="1"/>
            <p:nvPr/>
          </p:nvSpPr>
          <p:spPr>
            <a:xfrm>
              <a:off x="6228581" y="5710123"/>
              <a:ext cx="3550597" cy="338554"/>
            </a:xfrm>
            <a:prstGeom prst="rect">
              <a:avLst/>
            </a:prstGeom>
            <a:noFill/>
          </p:spPr>
          <p:txBody>
            <a:bodyPr wrap="square" rtlCol="0">
              <a:spAutoFit/>
            </a:bodyPr>
            <a:lstStyle/>
            <a:p>
              <a:r>
                <a:rPr lang="zh-CN" altLang="en-US" sz="1600" dirty="0"/>
                <a:t>🔑 </a:t>
              </a:r>
              <a:r>
                <a:rPr lang="zh-CN" altLang="en-US" sz="1600" b="1" dirty="0">
                  <a:solidFill>
                    <a:srgbClr val="FF0000"/>
                  </a:solidFill>
                </a:rPr>
                <a:t>受限的域间通信</a:t>
              </a:r>
            </a:p>
          </p:txBody>
        </p:sp>
        <p:sp>
          <p:nvSpPr>
            <p:cNvPr id="112" name="矩形 111">
              <a:extLst>
                <a:ext uri="{FF2B5EF4-FFF2-40B4-BE49-F238E27FC236}">
                  <a16:creationId xmlns:a16="http://schemas.microsoft.com/office/drawing/2014/main" id="{E5CCC5BC-A1C4-4E83-B7F6-2FC67690A21A}"/>
                </a:ext>
              </a:extLst>
            </p:cNvPr>
            <p:cNvSpPr/>
            <p:nvPr/>
          </p:nvSpPr>
          <p:spPr>
            <a:xfrm>
              <a:off x="6280794" y="5715359"/>
              <a:ext cx="5016596" cy="328082"/>
            </a:xfrm>
            <a:custGeom>
              <a:avLst/>
              <a:gdLst>
                <a:gd name="csX0" fmla="*/ 0 w 5016596"/>
                <a:gd name="csY0" fmla="*/ 0 h 328082"/>
                <a:gd name="csX1" fmla="*/ 576909 w 5016596"/>
                <a:gd name="csY1" fmla="*/ 0 h 328082"/>
                <a:gd name="csX2" fmla="*/ 1053485 w 5016596"/>
                <a:gd name="csY2" fmla="*/ 0 h 328082"/>
                <a:gd name="csX3" fmla="*/ 1780892 w 5016596"/>
                <a:gd name="csY3" fmla="*/ 0 h 328082"/>
                <a:gd name="csX4" fmla="*/ 2357800 w 5016596"/>
                <a:gd name="csY4" fmla="*/ 0 h 328082"/>
                <a:gd name="csX5" fmla="*/ 2934709 w 5016596"/>
                <a:gd name="csY5" fmla="*/ 0 h 328082"/>
                <a:gd name="csX6" fmla="*/ 3662115 w 5016596"/>
                <a:gd name="csY6" fmla="*/ 0 h 328082"/>
                <a:gd name="csX7" fmla="*/ 4188858 w 5016596"/>
                <a:gd name="csY7" fmla="*/ 0 h 328082"/>
                <a:gd name="csX8" fmla="*/ 5016596 w 5016596"/>
                <a:gd name="csY8" fmla="*/ 0 h 328082"/>
                <a:gd name="csX9" fmla="*/ 5016596 w 5016596"/>
                <a:gd name="csY9" fmla="*/ 328082 h 328082"/>
                <a:gd name="csX10" fmla="*/ 4489853 w 5016596"/>
                <a:gd name="csY10" fmla="*/ 328082 h 328082"/>
                <a:gd name="csX11" fmla="*/ 3862779 w 5016596"/>
                <a:gd name="csY11" fmla="*/ 328082 h 328082"/>
                <a:gd name="csX12" fmla="*/ 3285870 w 5016596"/>
                <a:gd name="csY12" fmla="*/ 328082 h 328082"/>
                <a:gd name="csX13" fmla="*/ 2558464 w 5016596"/>
                <a:gd name="csY13" fmla="*/ 328082 h 328082"/>
                <a:gd name="csX14" fmla="*/ 1831058 w 5016596"/>
                <a:gd name="csY14" fmla="*/ 328082 h 328082"/>
                <a:gd name="csX15" fmla="*/ 1304315 w 5016596"/>
                <a:gd name="csY15" fmla="*/ 328082 h 328082"/>
                <a:gd name="csX16" fmla="*/ 677240 w 5016596"/>
                <a:gd name="csY16" fmla="*/ 328082 h 328082"/>
                <a:gd name="csX17" fmla="*/ 0 w 5016596"/>
                <a:gd name="csY17" fmla="*/ 328082 h 328082"/>
                <a:gd name="csX18" fmla="*/ 0 w 5016596"/>
                <a:gd name="csY18" fmla="*/ 0 h 3280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016596" h="328082" extrusionOk="0">
                  <a:moveTo>
                    <a:pt x="0" y="0"/>
                  </a:moveTo>
                  <a:cubicBezTo>
                    <a:pt x="175723" y="-8189"/>
                    <a:pt x="395371" y="25118"/>
                    <a:pt x="576909" y="0"/>
                  </a:cubicBezTo>
                  <a:cubicBezTo>
                    <a:pt x="758447" y="-25118"/>
                    <a:pt x="924279" y="23745"/>
                    <a:pt x="1053485" y="0"/>
                  </a:cubicBezTo>
                  <a:cubicBezTo>
                    <a:pt x="1182691" y="-23745"/>
                    <a:pt x="1515765" y="-29900"/>
                    <a:pt x="1780892" y="0"/>
                  </a:cubicBezTo>
                  <a:cubicBezTo>
                    <a:pt x="2046019" y="29900"/>
                    <a:pt x="2108494" y="-11830"/>
                    <a:pt x="2357800" y="0"/>
                  </a:cubicBezTo>
                  <a:cubicBezTo>
                    <a:pt x="2607106" y="11830"/>
                    <a:pt x="2715871" y="-16417"/>
                    <a:pt x="2934709" y="0"/>
                  </a:cubicBezTo>
                  <a:cubicBezTo>
                    <a:pt x="3153547" y="16417"/>
                    <a:pt x="3480401" y="633"/>
                    <a:pt x="3662115" y="0"/>
                  </a:cubicBezTo>
                  <a:cubicBezTo>
                    <a:pt x="3843829" y="-633"/>
                    <a:pt x="4079509" y="5447"/>
                    <a:pt x="4188858" y="0"/>
                  </a:cubicBezTo>
                  <a:cubicBezTo>
                    <a:pt x="4298207" y="-5447"/>
                    <a:pt x="4626422" y="-11366"/>
                    <a:pt x="5016596" y="0"/>
                  </a:cubicBezTo>
                  <a:cubicBezTo>
                    <a:pt x="5003758" y="153017"/>
                    <a:pt x="5009605" y="242929"/>
                    <a:pt x="5016596" y="328082"/>
                  </a:cubicBezTo>
                  <a:cubicBezTo>
                    <a:pt x="4790007" y="332810"/>
                    <a:pt x="4687697" y="320732"/>
                    <a:pt x="4489853" y="328082"/>
                  </a:cubicBezTo>
                  <a:cubicBezTo>
                    <a:pt x="4292009" y="335432"/>
                    <a:pt x="4112469" y="334477"/>
                    <a:pt x="3862779" y="328082"/>
                  </a:cubicBezTo>
                  <a:cubicBezTo>
                    <a:pt x="3613089" y="321687"/>
                    <a:pt x="3506065" y="349825"/>
                    <a:pt x="3285870" y="328082"/>
                  </a:cubicBezTo>
                  <a:cubicBezTo>
                    <a:pt x="3065675" y="306339"/>
                    <a:pt x="2878820" y="321738"/>
                    <a:pt x="2558464" y="328082"/>
                  </a:cubicBezTo>
                  <a:cubicBezTo>
                    <a:pt x="2238108" y="334426"/>
                    <a:pt x="2131029" y="322913"/>
                    <a:pt x="1831058" y="328082"/>
                  </a:cubicBezTo>
                  <a:cubicBezTo>
                    <a:pt x="1531087" y="333251"/>
                    <a:pt x="1447431" y="328785"/>
                    <a:pt x="1304315" y="328082"/>
                  </a:cubicBezTo>
                  <a:cubicBezTo>
                    <a:pt x="1161199" y="327379"/>
                    <a:pt x="894827" y="318288"/>
                    <a:pt x="677240" y="328082"/>
                  </a:cubicBezTo>
                  <a:cubicBezTo>
                    <a:pt x="459654" y="337876"/>
                    <a:pt x="162348" y="299936"/>
                    <a:pt x="0" y="328082"/>
                  </a:cubicBezTo>
                  <a:cubicBezTo>
                    <a:pt x="6311" y="175331"/>
                    <a:pt x="-13820" y="111274"/>
                    <a:pt x="0" y="0"/>
                  </a:cubicBezTo>
                  <a:close/>
                </a:path>
              </a:pathLst>
            </a:custGeom>
            <a:noFill/>
            <a:ln w="12700">
              <a:gradFill flip="none" rotWithShape="1">
                <a:gsLst>
                  <a:gs pos="0">
                    <a:schemeClr val="tx2"/>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1" name="组合 40">
            <a:extLst>
              <a:ext uri="{FF2B5EF4-FFF2-40B4-BE49-F238E27FC236}">
                <a16:creationId xmlns:a16="http://schemas.microsoft.com/office/drawing/2014/main" id="{91CA2F9A-5CA6-2380-ECB2-66902AB3853B}"/>
              </a:ext>
            </a:extLst>
          </p:cNvPr>
          <p:cNvGrpSpPr/>
          <p:nvPr/>
        </p:nvGrpSpPr>
        <p:grpSpPr>
          <a:xfrm>
            <a:off x="394367" y="1010970"/>
            <a:ext cx="5549234" cy="5143318"/>
            <a:chOff x="394366" y="1027530"/>
            <a:chExt cx="5859983" cy="5126757"/>
          </a:xfrm>
        </p:grpSpPr>
        <p:pic>
          <p:nvPicPr>
            <p:cNvPr id="44" name="图片 43" descr="图形用户界面&#10;&#10;AI 生成的内容可能不正确。">
              <a:extLst>
                <a:ext uri="{FF2B5EF4-FFF2-40B4-BE49-F238E27FC236}">
                  <a16:creationId xmlns:a16="http://schemas.microsoft.com/office/drawing/2014/main" id="{BED3345E-FAFD-EB22-0720-12514E0B7F03}"/>
                </a:ext>
              </a:extLst>
            </p:cNvPr>
            <p:cNvPicPr>
              <a:picLocks noChangeAspect="1"/>
            </p:cNvPicPr>
            <p:nvPr/>
          </p:nvPicPr>
          <p:blipFill>
            <a:blip r:embed="rId3"/>
            <a:stretch>
              <a:fillRect/>
            </a:stretch>
          </p:blipFill>
          <p:spPr>
            <a:xfrm>
              <a:off x="482459" y="1656462"/>
              <a:ext cx="5683795" cy="4406468"/>
            </a:xfrm>
            <a:prstGeom prst="rect">
              <a:avLst/>
            </a:prstGeom>
          </p:spPr>
        </p:pic>
        <p:grpSp>
          <p:nvGrpSpPr>
            <p:cNvPr id="46" name="组合 45">
              <a:extLst>
                <a:ext uri="{FF2B5EF4-FFF2-40B4-BE49-F238E27FC236}">
                  <a16:creationId xmlns:a16="http://schemas.microsoft.com/office/drawing/2014/main" id="{EC437063-CFC6-41CE-5DB4-101C80BECCAB}"/>
                </a:ext>
              </a:extLst>
            </p:cNvPr>
            <p:cNvGrpSpPr/>
            <p:nvPr/>
          </p:nvGrpSpPr>
          <p:grpSpPr>
            <a:xfrm>
              <a:off x="394366" y="1027530"/>
              <a:ext cx="5859983" cy="5126757"/>
              <a:chOff x="193945" y="1841642"/>
              <a:chExt cx="5516843" cy="5793230"/>
            </a:xfrm>
          </p:grpSpPr>
          <p:sp>
            <p:nvSpPr>
              <p:cNvPr id="49" name="矩形 48">
                <a:extLst>
                  <a:ext uri="{FF2B5EF4-FFF2-40B4-BE49-F238E27FC236}">
                    <a16:creationId xmlns:a16="http://schemas.microsoft.com/office/drawing/2014/main" id="{40F68608-BA41-66BD-6469-CCB9733AF279}"/>
                  </a:ext>
                </a:extLst>
              </p:cNvPr>
              <p:cNvSpPr/>
              <p:nvPr/>
            </p:nvSpPr>
            <p:spPr>
              <a:xfrm>
                <a:off x="193945" y="1841642"/>
                <a:ext cx="5516843" cy="5793230"/>
              </a:xfrm>
              <a:prstGeom prst="rect">
                <a:avLst/>
              </a:prstGeom>
              <a:noFill/>
              <a:ln w="25400">
                <a:solidFill>
                  <a:schemeClr val="tx2">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a:extLst>
                  <a:ext uri="{FF2B5EF4-FFF2-40B4-BE49-F238E27FC236}">
                    <a16:creationId xmlns:a16="http://schemas.microsoft.com/office/drawing/2014/main" id="{7D27C1A8-A5B8-9BB1-B33F-2FF71BC0A8DF}"/>
                  </a:ext>
                </a:extLst>
              </p:cNvPr>
              <p:cNvSpPr/>
              <p:nvPr/>
            </p:nvSpPr>
            <p:spPr>
              <a:xfrm>
                <a:off x="200836" y="1931940"/>
                <a:ext cx="5304499" cy="517162"/>
              </a:xfrm>
              <a:prstGeom prst="rect">
                <a:avLst/>
              </a:prstGeom>
              <a:gradFill flip="none" rotWithShape="1">
                <a:gsLst>
                  <a:gs pos="58000">
                    <a:schemeClr val="tx2"/>
                  </a:gs>
                  <a:gs pos="100000">
                    <a:schemeClr val="bg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1" name="文本框 50">
                <a:extLst>
                  <a:ext uri="{FF2B5EF4-FFF2-40B4-BE49-F238E27FC236}">
                    <a16:creationId xmlns:a16="http://schemas.microsoft.com/office/drawing/2014/main" id="{EF7B220D-A19B-E2C5-5133-A8E836CAE8FA}"/>
                  </a:ext>
                </a:extLst>
              </p:cNvPr>
              <p:cNvSpPr txBox="1"/>
              <p:nvPr/>
            </p:nvSpPr>
            <p:spPr>
              <a:xfrm>
                <a:off x="1051146" y="1955301"/>
                <a:ext cx="4392118" cy="400110"/>
              </a:xfrm>
              <a:prstGeom prst="rect">
                <a:avLst/>
              </a:prstGeom>
              <a:noFill/>
            </p:spPr>
            <p:txBody>
              <a:bodyPr wrap="square" rtlCol="0">
                <a:spAutoFit/>
              </a:bodyPr>
              <a:lstStyle/>
              <a:p>
                <a:r>
                  <a:rPr lang="en-US" altLang="zh-CN" sz="2000" b="1" dirty="0">
                    <a:solidFill>
                      <a:schemeClr val="bg1"/>
                    </a:solidFill>
                  </a:rPr>
                  <a:t>Moat</a:t>
                </a:r>
                <a:r>
                  <a:rPr lang="zh-CN" altLang="en-US" sz="2000" b="1" dirty="0">
                    <a:solidFill>
                      <a:schemeClr val="bg1"/>
                    </a:solidFill>
                  </a:rPr>
                  <a:t>框架结构</a:t>
                </a:r>
              </a:p>
            </p:txBody>
          </p:sp>
          <p:sp>
            <p:nvSpPr>
              <p:cNvPr id="52" name="箭头: V 形 51">
                <a:extLst>
                  <a:ext uri="{FF2B5EF4-FFF2-40B4-BE49-F238E27FC236}">
                    <a16:creationId xmlns:a16="http://schemas.microsoft.com/office/drawing/2014/main" id="{438D3270-3972-8F43-44D7-E2CA1102E2CF}"/>
                  </a:ext>
                </a:extLst>
              </p:cNvPr>
              <p:cNvSpPr/>
              <p:nvPr/>
            </p:nvSpPr>
            <p:spPr>
              <a:xfrm>
                <a:off x="706373" y="2025628"/>
                <a:ext cx="344773" cy="329784"/>
              </a:xfrm>
              <a:prstGeom prst="chevron">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3" name="任意多边形: 形状 52">
                <a:extLst>
                  <a:ext uri="{FF2B5EF4-FFF2-40B4-BE49-F238E27FC236}">
                    <a16:creationId xmlns:a16="http://schemas.microsoft.com/office/drawing/2014/main" id="{39E03E3A-4DE2-EE2B-BF5D-EBDCD3A761FD}"/>
                  </a:ext>
                </a:extLst>
              </p:cNvPr>
              <p:cNvSpPr/>
              <p:nvPr/>
            </p:nvSpPr>
            <p:spPr>
              <a:xfrm rot="5400000">
                <a:off x="328310" y="1934921"/>
                <a:ext cx="344773" cy="511199"/>
              </a:xfrm>
              <a:custGeom>
                <a:avLst/>
                <a:gdLst>
                  <a:gd name="connsiteX0" fmla="*/ 0 w 344773"/>
                  <a:gd name="connsiteY0" fmla="*/ 182611 h 511199"/>
                  <a:gd name="connsiteX1" fmla="*/ 172387 w 344773"/>
                  <a:gd name="connsiteY1" fmla="*/ 0 h 511199"/>
                  <a:gd name="connsiteX2" fmla="*/ 344773 w 344773"/>
                  <a:gd name="connsiteY2" fmla="*/ 182611 h 511199"/>
                  <a:gd name="connsiteX3" fmla="*/ 337279 w 344773"/>
                  <a:gd name="connsiteY3" fmla="*/ 182611 h 511199"/>
                  <a:gd name="connsiteX4" fmla="*/ 337279 w 344773"/>
                  <a:gd name="connsiteY4" fmla="*/ 511199 h 511199"/>
                  <a:gd name="connsiteX5" fmla="*/ 7495 w 344773"/>
                  <a:gd name="connsiteY5" fmla="*/ 511199 h 511199"/>
                  <a:gd name="connsiteX6" fmla="*/ 7495 w 344773"/>
                  <a:gd name="connsiteY6" fmla="*/ 182611 h 511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4773" h="511199">
                    <a:moveTo>
                      <a:pt x="0" y="182611"/>
                    </a:moveTo>
                    <a:lnTo>
                      <a:pt x="172387" y="0"/>
                    </a:lnTo>
                    <a:lnTo>
                      <a:pt x="344773" y="182611"/>
                    </a:lnTo>
                    <a:lnTo>
                      <a:pt x="337279" y="182611"/>
                    </a:lnTo>
                    <a:lnTo>
                      <a:pt x="337279" y="511199"/>
                    </a:lnTo>
                    <a:lnTo>
                      <a:pt x="7495" y="511199"/>
                    </a:lnTo>
                    <a:lnTo>
                      <a:pt x="7495" y="182611"/>
                    </a:lnTo>
                    <a:close/>
                  </a:path>
                </a:pathLst>
              </a:custGeom>
              <a:gradFill flip="none" rotWithShape="1">
                <a:gsLst>
                  <a:gs pos="3000">
                    <a:schemeClr val="tx2"/>
                  </a:gs>
                  <a:gs pos="100000">
                    <a:schemeClr val="bg1"/>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sp>
        <p:nvSpPr>
          <p:cNvPr id="54" name="矩形 53">
            <a:extLst>
              <a:ext uri="{FF2B5EF4-FFF2-40B4-BE49-F238E27FC236}">
                <a16:creationId xmlns:a16="http://schemas.microsoft.com/office/drawing/2014/main" id="{31C1D197-0B89-CAB5-FAA8-495DC838DC66}"/>
              </a:ext>
            </a:extLst>
          </p:cNvPr>
          <p:cNvSpPr/>
          <p:nvPr/>
        </p:nvSpPr>
        <p:spPr>
          <a:xfrm>
            <a:off x="2083132" y="1596108"/>
            <a:ext cx="3955921" cy="1505766"/>
          </a:xfrm>
          <a:custGeom>
            <a:avLst/>
            <a:gdLst>
              <a:gd name="csX0" fmla="*/ 0 w 3955921"/>
              <a:gd name="csY0" fmla="*/ 0 h 1505766"/>
              <a:gd name="csX1" fmla="*/ 525572 w 3955921"/>
              <a:gd name="csY1" fmla="*/ 0 h 1505766"/>
              <a:gd name="csX2" fmla="*/ 972026 w 3955921"/>
              <a:gd name="csY2" fmla="*/ 0 h 1505766"/>
              <a:gd name="csX3" fmla="*/ 1616276 w 3955921"/>
              <a:gd name="csY3" fmla="*/ 0 h 1505766"/>
              <a:gd name="csX4" fmla="*/ 2141849 w 3955921"/>
              <a:gd name="csY4" fmla="*/ 0 h 1505766"/>
              <a:gd name="csX5" fmla="*/ 2667421 w 3955921"/>
              <a:gd name="csY5" fmla="*/ 0 h 1505766"/>
              <a:gd name="csX6" fmla="*/ 3311671 w 3955921"/>
              <a:gd name="csY6" fmla="*/ 0 h 1505766"/>
              <a:gd name="csX7" fmla="*/ 3955921 w 3955921"/>
              <a:gd name="csY7" fmla="*/ 0 h 1505766"/>
              <a:gd name="csX8" fmla="*/ 3955921 w 3955921"/>
              <a:gd name="csY8" fmla="*/ 532037 h 1505766"/>
              <a:gd name="csX9" fmla="*/ 3955921 w 3955921"/>
              <a:gd name="csY9" fmla="*/ 1003844 h 1505766"/>
              <a:gd name="csX10" fmla="*/ 3955921 w 3955921"/>
              <a:gd name="csY10" fmla="*/ 1505766 h 1505766"/>
              <a:gd name="csX11" fmla="*/ 3390789 w 3955921"/>
              <a:gd name="csY11" fmla="*/ 1505766 h 1505766"/>
              <a:gd name="csX12" fmla="*/ 2865217 w 3955921"/>
              <a:gd name="csY12" fmla="*/ 1505766 h 1505766"/>
              <a:gd name="csX13" fmla="*/ 2220967 w 3955921"/>
              <a:gd name="csY13" fmla="*/ 1505766 h 1505766"/>
              <a:gd name="csX14" fmla="*/ 1576717 w 3955921"/>
              <a:gd name="csY14" fmla="*/ 1505766 h 1505766"/>
              <a:gd name="csX15" fmla="*/ 1090704 w 3955921"/>
              <a:gd name="csY15" fmla="*/ 1505766 h 1505766"/>
              <a:gd name="csX16" fmla="*/ 525572 w 3955921"/>
              <a:gd name="csY16" fmla="*/ 1505766 h 1505766"/>
              <a:gd name="csX17" fmla="*/ 0 w 3955921"/>
              <a:gd name="csY17" fmla="*/ 1505766 h 1505766"/>
              <a:gd name="csX18" fmla="*/ 0 w 3955921"/>
              <a:gd name="csY18" fmla="*/ 1003844 h 1505766"/>
              <a:gd name="csX19" fmla="*/ 0 w 3955921"/>
              <a:gd name="csY19" fmla="*/ 532037 h 1505766"/>
              <a:gd name="csX20" fmla="*/ 0 w 3955921"/>
              <a:gd name="csY20" fmla="*/ 0 h 1505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3955921" h="1505766" extrusionOk="0">
                <a:moveTo>
                  <a:pt x="0" y="0"/>
                </a:moveTo>
                <a:cubicBezTo>
                  <a:pt x="190476" y="-27352"/>
                  <a:pt x="414904" y="16065"/>
                  <a:pt x="525572" y="0"/>
                </a:cubicBezTo>
                <a:cubicBezTo>
                  <a:pt x="636240" y="-16065"/>
                  <a:pt x="781136" y="24530"/>
                  <a:pt x="972026" y="0"/>
                </a:cubicBezTo>
                <a:cubicBezTo>
                  <a:pt x="1162916" y="-24530"/>
                  <a:pt x="1456907" y="46391"/>
                  <a:pt x="1616276" y="0"/>
                </a:cubicBezTo>
                <a:cubicBezTo>
                  <a:pt x="1775645" y="-46391"/>
                  <a:pt x="1950309" y="31193"/>
                  <a:pt x="2141849" y="0"/>
                </a:cubicBezTo>
                <a:cubicBezTo>
                  <a:pt x="2333389" y="-31193"/>
                  <a:pt x="2536725" y="9672"/>
                  <a:pt x="2667421" y="0"/>
                </a:cubicBezTo>
                <a:cubicBezTo>
                  <a:pt x="2798117" y="-9672"/>
                  <a:pt x="3011754" y="57421"/>
                  <a:pt x="3311671" y="0"/>
                </a:cubicBezTo>
                <a:cubicBezTo>
                  <a:pt x="3611588" y="-57421"/>
                  <a:pt x="3760885" y="31167"/>
                  <a:pt x="3955921" y="0"/>
                </a:cubicBezTo>
                <a:cubicBezTo>
                  <a:pt x="3962843" y="249917"/>
                  <a:pt x="3925062" y="395248"/>
                  <a:pt x="3955921" y="532037"/>
                </a:cubicBezTo>
                <a:cubicBezTo>
                  <a:pt x="3986780" y="668826"/>
                  <a:pt x="3941595" y="843637"/>
                  <a:pt x="3955921" y="1003844"/>
                </a:cubicBezTo>
                <a:cubicBezTo>
                  <a:pt x="3970247" y="1164051"/>
                  <a:pt x="3943069" y="1405138"/>
                  <a:pt x="3955921" y="1505766"/>
                </a:cubicBezTo>
                <a:cubicBezTo>
                  <a:pt x="3717148" y="1511652"/>
                  <a:pt x="3545355" y="1481732"/>
                  <a:pt x="3390789" y="1505766"/>
                </a:cubicBezTo>
                <a:cubicBezTo>
                  <a:pt x="3236223" y="1529800"/>
                  <a:pt x="3108989" y="1490879"/>
                  <a:pt x="2865217" y="1505766"/>
                </a:cubicBezTo>
                <a:cubicBezTo>
                  <a:pt x="2621445" y="1520653"/>
                  <a:pt x="2510783" y="1463602"/>
                  <a:pt x="2220967" y="1505766"/>
                </a:cubicBezTo>
                <a:cubicBezTo>
                  <a:pt x="1931151" y="1547930"/>
                  <a:pt x="1773727" y="1469335"/>
                  <a:pt x="1576717" y="1505766"/>
                </a:cubicBezTo>
                <a:cubicBezTo>
                  <a:pt x="1379707" y="1542197"/>
                  <a:pt x="1285762" y="1476489"/>
                  <a:pt x="1090704" y="1505766"/>
                </a:cubicBezTo>
                <a:cubicBezTo>
                  <a:pt x="895646" y="1535043"/>
                  <a:pt x="778710" y="1453733"/>
                  <a:pt x="525572" y="1505766"/>
                </a:cubicBezTo>
                <a:cubicBezTo>
                  <a:pt x="272434" y="1557799"/>
                  <a:pt x="152455" y="1477186"/>
                  <a:pt x="0" y="1505766"/>
                </a:cubicBezTo>
                <a:cubicBezTo>
                  <a:pt x="-25011" y="1375330"/>
                  <a:pt x="38031" y="1126175"/>
                  <a:pt x="0" y="1003844"/>
                </a:cubicBezTo>
                <a:cubicBezTo>
                  <a:pt x="-38031" y="881513"/>
                  <a:pt x="35228" y="711543"/>
                  <a:pt x="0" y="532037"/>
                </a:cubicBezTo>
                <a:cubicBezTo>
                  <a:pt x="-35228" y="352531"/>
                  <a:pt x="1536" y="224158"/>
                  <a:pt x="0" y="0"/>
                </a:cubicBezTo>
                <a:close/>
              </a:path>
            </a:pathLst>
          </a:custGeom>
          <a:noFill/>
          <a:ln w="28575">
            <a:solidFill>
              <a:srgbClr val="FF0000"/>
            </a:solidFill>
            <a:prstDash val="dash"/>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a:extLst>
              <a:ext uri="{FF2B5EF4-FFF2-40B4-BE49-F238E27FC236}">
                <a16:creationId xmlns:a16="http://schemas.microsoft.com/office/drawing/2014/main" id="{1E9D967F-7A1A-E092-3369-5340EEB7BD7C}"/>
              </a:ext>
            </a:extLst>
          </p:cNvPr>
          <p:cNvSpPr/>
          <p:nvPr/>
        </p:nvSpPr>
        <p:spPr>
          <a:xfrm>
            <a:off x="445819" y="3276706"/>
            <a:ext cx="5521720" cy="2570324"/>
          </a:xfrm>
          <a:custGeom>
            <a:avLst/>
            <a:gdLst>
              <a:gd name="csX0" fmla="*/ 0 w 5521720"/>
              <a:gd name="csY0" fmla="*/ 0 h 2570324"/>
              <a:gd name="csX1" fmla="*/ 496955 w 5521720"/>
              <a:gd name="csY1" fmla="*/ 0 h 2570324"/>
              <a:gd name="csX2" fmla="*/ 883475 w 5521720"/>
              <a:gd name="csY2" fmla="*/ 0 h 2570324"/>
              <a:gd name="csX3" fmla="*/ 1546082 w 5521720"/>
              <a:gd name="csY3" fmla="*/ 0 h 2570324"/>
              <a:gd name="csX4" fmla="*/ 2043036 w 5521720"/>
              <a:gd name="csY4" fmla="*/ 0 h 2570324"/>
              <a:gd name="csX5" fmla="*/ 2539991 w 5521720"/>
              <a:gd name="csY5" fmla="*/ 0 h 2570324"/>
              <a:gd name="csX6" fmla="*/ 3202598 w 5521720"/>
              <a:gd name="csY6" fmla="*/ 0 h 2570324"/>
              <a:gd name="csX7" fmla="*/ 3644335 w 5521720"/>
              <a:gd name="csY7" fmla="*/ 0 h 2570324"/>
              <a:gd name="csX8" fmla="*/ 4306942 w 5521720"/>
              <a:gd name="csY8" fmla="*/ 0 h 2570324"/>
              <a:gd name="csX9" fmla="*/ 4969548 w 5521720"/>
              <a:gd name="csY9" fmla="*/ 0 h 2570324"/>
              <a:gd name="csX10" fmla="*/ 5521720 w 5521720"/>
              <a:gd name="csY10" fmla="*/ 0 h 2570324"/>
              <a:gd name="csX11" fmla="*/ 5521720 w 5521720"/>
              <a:gd name="csY11" fmla="*/ 565471 h 2570324"/>
              <a:gd name="csX12" fmla="*/ 5521720 w 5521720"/>
              <a:gd name="csY12" fmla="*/ 1105239 h 2570324"/>
              <a:gd name="csX13" fmla="*/ 5521720 w 5521720"/>
              <a:gd name="csY13" fmla="*/ 1542194 h 2570324"/>
              <a:gd name="csX14" fmla="*/ 5521720 w 5521720"/>
              <a:gd name="csY14" fmla="*/ 2056259 h 2570324"/>
              <a:gd name="csX15" fmla="*/ 5521720 w 5521720"/>
              <a:gd name="csY15" fmla="*/ 2570324 h 2570324"/>
              <a:gd name="csX16" fmla="*/ 4969548 w 5521720"/>
              <a:gd name="csY16" fmla="*/ 2570324 h 2570324"/>
              <a:gd name="csX17" fmla="*/ 4306942 w 5521720"/>
              <a:gd name="csY17" fmla="*/ 2570324 h 2570324"/>
              <a:gd name="csX18" fmla="*/ 3754770 w 5521720"/>
              <a:gd name="csY18" fmla="*/ 2570324 h 2570324"/>
              <a:gd name="csX19" fmla="*/ 3368249 w 5521720"/>
              <a:gd name="csY19" fmla="*/ 2570324 h 2570324"/>
              <a:gd name="csX20" fmla="*/ 2926512 w 5521720"/>
              <a:gd name="csY20" fmla="*/ 2570324 h 2570324"/>
              <a:gd name="csX21" fmla="*/ 2263905 w 5521720"/>
              <a:gd name="csY21" fmla="*/ 2570324 h 2570324"/>
              <a:gd name="csX22" fmla="*/ 1711733 w 5521720"/>
              <a:gd name="csY22" fmla="*/ 2570324 h 2570324"/>
              <a:gd name="csX23" fmla="*/ 1269996 w 5521720"/>
              <a:gd name="csY23" fmla="*/ 2570324 h 2570324"/>
              <a:gd name="csX24" fmla="*/ 717824 w 5521720"/>
              <a:gd name="csY24" fmla="*/ 2570324 h 2570324"/>
              <a:gd name="csX25" fmla="*/ 0 w 5521720"/>
              <a:gd name="csY25" fmla="*/ 2570324 h 2570324"/>
              <a:gd name="csX26" fmla="*/ 0 w 5521720"/>
              <a:gd name="csY26" fmla="*/ 2133369 h 2570324"/>
              <a:gd name="csX27" fmla="*/ 0 w 5521720"/>
              <a:gd name="csY27" fmla="*/ 1593601 h 2570324"/>
              <a:gd name="csX28" fmla="*/ 0 w 5521720"/>
              <a:gd name="csY28" fmla="*/ 1130943 h 2570324"/>
              <a:gd name="csX29" fmla="*/ 0 w 5521720"/>
              <a:gd name="csY29" fmla="*/ 565471 h 2570324"/>
              <a:gd name="csX30" fmla="*/ 0 w 5521720"/>
              <a:gd name="csY30" fmla="*/ 0 h 25703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5521720" h="2570324" extrusionOk="0">
                <a:moveTo>
                  <a:pt x="0" y="0"/>
                </a:moveTo>
                <a:cubicBezTo>
                  <a:pt x="134749" y="-9258"/>
                  <a:pt x="249677" y="14195"/>
                  <a:pt x="496955" y="0"/>
                </a:cubicBezTo>
                <a:cubicBezTo>
                  <a:pt x="744233" y="-14195"/>
                  <a:pt x="792687" y="22159"/>
                  <a:pt x="883475" y="0"/>
                </a:cubicBezTo>
                <a:cubicBezTo>
                  <a:pt x="974263" y="-22159"/>
                  <a:pt x="1300308" y="692"/>
                  <a:pt x="1546082" y="0"/>
                </a:cubicBezTo>
                <a:cubicBezTo>
                  <a:pt x="1791856" y="-692"/>
                  <a:pt x="1916911" y="15241"/>
                  <a:pt x="2043036" y="0"/>
                </a:cubicBezTo>
                <a:cubicBezTo>
                  <a:pt x="2169161" y="-15241"/>
                  <a:pt x="2419659" y="55369"/>
                  <a:pt x="2539991" y="0"/>
                </a:cubicBezTo>
                <a:cubicBezTo>
                  <a:pt x="2660324" y="-55369"/>
                  <a:pt x="2978852" y="51448"/>
                  <a:pt x="3202598" y="0"/>
                </a:cubicBezTo>
                <a:cubicBezTo>
                  <a:pt x="3426344" y="-51448"/>
                  <a:pt x="3460804" y="13433"/>
                  <a:pt x="3644335" y="0"/>
                </a:cubicBezTo>
                <a:cubicBezTo>
                  <a:pt x="3827866" y="-13433"/>
                  <a:pt x="4101768" y="66222"/>
                  <a:pt x="4306942" y="0"/>
                </a:cubicBezTo>
                <a:cubicBezTo>
                  <a:pt x="4512116" y="-66222"/>
                  <a:pt x="4639220" y="43510"/>
                  <a:pt x="4969548" y="0"/>
                </a:cubicBezTo>
                <a:cubicBezTo>
                  <a:pt x="5299876" y="-43510"/>
                  <a:pt x="5258791" y="21802"/>
                  <a:pt x="5521720" y="0"/>
                </a:cubicBezTo>
                <a:cubicBezTo>
                  <a:pt x="5559235" y="266118"/>
                  <a:pt x="5494099" y="329935"/>
                  <a:pt x="5521720" y="565471"/>
                </a:cubicBezTo>
                <a:cubicBezTo>
                  <a:pt x="5549341" y="801007"/>
                  <a:pt x="5460902" y="964166"/>
                  <a:pt x="5521720" y="1105239"/>
                </a:cubicBezTo>
                <a:cubicBezTo>
                  <a:pt x="5582538" y="1246312"/>
                  <a:pt x="5488457" y="1408385"/>
                  <a:pt x="5521720" y="1542194"/>
                </a:cubicBezTo>
                <a:cubicBezTo>
                  <a:pt x="5554983" y="1676004"/>
                  <a:pt x="5486792" y="1905041"/>
                  <a:pt x="5521720" y="2056259"/>
                </a:cubicBezTo>
                <a:cubicBezTo>
                  <a:pt x="5556648" y="2207478"/>
                  <a:pt x="5493338" y="2382553"/>
                  <a:pt x="5521720" y="2570324"/>
                </a:cubicBezTo>
                <a:cubicBezTo>
                  <a:pt x="5307438" y="2630698"/>
                  <a:pt x="5231526" y="2514722"/>
                  <a:pt x="4969548" y="2570324"/>
                </a:cubicBezTo>
                <a:cubicBezTo>
                  <a:pt x="4707570" y="2625926"/>
                  <a:pt x="4460572" y="2564090"/>
                  <a:pt x="4306942" y="2570324"/>
                </a:cubicBezTo>
                <a:cubicBezTo>
                  <a:pt x="4153312" y="2576558"/>
                  <a:pt x="4003743" y="2565059"/>
                  <a:pt x="3754770" y="2570324"/>
                </a:cubicBezTo>
                <a:cubicBezTo>
                  <a:pt x="3505797" y="2575589"/>
                  <a:pt x="3462002" y="2527034"/>
                  <a:pt x="3368249" y="2570324"/>
                </a:cubicBezTo>
                <a:cubicBezTo>
                  <a:pt x="3274496" y="2613614"/>
                  <a:pt x="3072405" y="2554545"/>
                  <a:pt x="2926512" y="2570324"/>
                </a:cubicBezTo>
                <a:cubicBezTo>
                  <a:pt x="2780619" y="2586103"/>
                  <a:pt x="2465952" y="2553558"/>
                  <a:pt x="2263905" y="2570324"/>
                </a:cubicBezTo>
                <a:cubicBezTo>
                  <a:pt x="2061858" y="2587090"/>
                  <a:pt x="1966944" y="2518621"/>
                  <a:pt x="1711733" y="2570324"/>
                </a:cubicBezTo>
                <a:cubicBezTo>
                  <a:pt x="1456522" y="2622027"/>
                  <a:pt x="1386303" y="2567162"/>
                  <a:pt x="1269996" y="2570324"/>
                </a:cubicBezTo>
                <a:cubicBezTo>
                  <a:pt x="1153689" y="2573486"/>
                  <a:pt x="910603" y="2544508"/>
                  <a:pt x="717824" y="2570324"/>
                </a:cubicBezTo>
                <a:cubicBezTo>
                  <a:pt x="525045" y="2596140"/>
                  <a:pt x="154523" y="2484900"/>
                  <a:pt x="0" y="2570324"/>
                </a:cubicBezTo>
                <a:cubicBezTo>
                  <a:pt x="-24546" y="2444294"/>
                  <a:pt x="30364" y="2351245"/>
                  <a:pt x="0" y="2133369"/>
                </a:cubicBezTo>
                <a:cubicBezTo>
                  <a:pt x="-30364" y="1915493"/>
                  <a:pt x="3382" y="1721728"/>
                  <a:pt x="0" y="1593601"/>
                </a:cubicBezTo>
                <a:cubicBezTo>
                  <a:pt x="-3382" y="1465474"/>
                  <a:pt x="39828" y="1279331"/>
                  <a:pt x="0" y="1130943"/>
                </a:cubicBezTo>
                <a:cubicBezTo>
                  <a:pt x="-39828" y="982555"/>
                  <a:pt x="67106" y="713336"/>
                  <a:pt x="0" y="565471"/>
                </a:cubicBezTo>
                <a:cubicBezTo>
                  <a:pt x="-67106" y="417606"/>
                  <a:pt x="16905" y="237617"/>
                  <a:pt x="0" y="0"/>
                </a:cubicBezTo>
                <a:close/>
              </a:path>
            </a:pathLst>
          </a:custGeom>
          <a:noFill/>
          <a:ln w="28575">
            <a:solidFill>
              <a:srgbClr val="FF0000"/>
            </a:solidFill>
            <a:prstDash val="dash"/>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5081579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0-#ppt_w/2"/>
                                          </p:val>
                                        </p:tav>
                                        <p:tav tm="100000">
                                          <p:val>
                                            <p:strVal val="#ppt_x"/>
                                          </p:val>
                                        </p:tav>
                                      </p:tavLst>
                                    </p:anim>
                                    <p:anim calcmode="lin" valueType="num">
                                      <p:cBhvr additive="base">
                                        <p:cTn id="8" dur="500" fill="hold"/>
                                        <p:tgtEl>
                                          <p:spTgt spid="4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wipe(up)">
                                      <p:cBhvr>
                                        <p:cTn id="13" dur="1000"/>
                                        <p:tgtEl>
                                          <p:spTgt spid="22"/>
                                        </p:tgtEl>
                                      </p:cBhvr>
                                    </p:animEffect>
                                  </p:childTnLst>
                                </p:cTn>
                              </p:par>
                            </p:childTnLst>
                          </p:cTn>
                        </p:par>
                        <p:par>
                          <p:cTn id="14" fill="hold">
                            <p:stCondLst>
                              <p:cond delay="1000"/>
                            </p:stCondLst>
                            <p:childTnLst>
                              <p:par>
                                <p:cTn id="15" presetID="22" presetClass="entr" presetSubtype="1" fill="hold" nodeType="after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up)">
                                      <p:cBhvr>
                                        <p:cTn id="17" dur="1000"/>
                                        <p:tgtEl>
                                          <p:spTgt spid="21"/>
                                        </p:tgtEl>
                                      </p:cBhvr>
                                    </p:animEffect>
                                  </p:childTnLst>
                                </p:cTn>
                              </p:par>
                            </p:childTnLst>
                          </p:cTn>
                        </p:par>
                        <p:par>
                          <p:cTn id="18" fill="hold">
                            <p:stCondLst>
                              <p:cond delay="2000"/>
                            </p:stCondLst>
                            <p:childTnLst>
                              <p:par>
                                <p:cTn id="19" presetID="22" presetClass="entr" presetSubtype="1" fill="hold" nodeType="after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up)">
                                      <p:cBhvr>
                                        <p:cTn id="21" dur="1000"/>
                                        <p:tgtEl>
                                          <p:spTgt spid="4"/>
                                        </p:tgtEl>
                                      </p:cBhvr>
                                    </p:animEffect>
                                  </p:childTnLst>
                                </p:cTn>
                              </p:par>
                            </p:childTnLst>
                          </p:cTn>
                        </p:par>
                        <p:par>
                          <p:cTn id="22" fill="hold">
                            <p:stCondLst>
                              <p:cond delay="3000"/>
                            </p:stCondLst>
                            <p:childTnLst>
                              <p:par>
                                <p:cTn id="23" presetID="22" presetClass="entr" presetSubtype="1" fill="hold" nodeType="after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up)">
                                      <p:cBhvr>
                                        <p:cTn id="25" dur="1000"/>
                                        <p:tgtEl>
                                          <p:spTgt spid="6"/>
                                        </p:tgtEl>
                                      </p:cBhvr>
                                    </p:animEffect>
                                  </p:childTnLst>
                                </p:cTn>
                              </p:par>
                              <p:par>
                                <p:cTn id="26" presetID="26" presetClass="entr" presetSubtype="0" fill="hold" grpId="0" nodeType="withEffect">
                                  <p:stCondLst>
                                    <p:cond delay="0"/>
                                  </p:stCondLst>
                                  <p:childTnLst>
                                    <p:set>
                                      <p:cBhvr>
                                        <p:cTn id="27" dur="1" fill="hold">
                                          <p:stCondLst>
                                            <p:cond delay="0"/>
                                          </p:stCondLst>
                                        </p:cTn>
                                        <p:tgtEl>
                                          <p:spTgt spid="55"/>
                                        </p:tgtEl>
                                        <p:attrNameLst>
                                          <p:attrName>style.visibility</p:attrName>
                                        </p:attrNameLst>
                                      </p:cBhvr>
                                      <p:to>
                                        <p:strVal val="visible"/>
                                      </p:to>
                                    </p:set>
                                    <p:animEffect transition="in" filter="wipe(down)">
                                      <p:cBhvr>
                                        <p:cTn id="28" dur="580">
                                          <p:stCondLst>
                                            <p:cond delay="0"/>
                                          </p:stCondLst>
                                        </p:cTn>
                                        <p:tgtEl>
                                          <p:spTgt spid="55"/>
                                        </p:tgtEl>
                                      </p:cBhvr>
                                    </p:animEffect>
                                    <p:anim calcmode="lin" valueType="num">
                                      <p:cBhvr>
                                        <p:cTn id="29" dur="1822" tmFilter="0,0; 0.14,0.36; 0.43,0.73; 0.71,0.91; 1.0,1.0">
                                          <p:stCondLst>
                                            <p:cond delay="0"/>
                                          </p:stCondLst>
                                        </p:cTn>
                                        <p:tgtEl>
                                          <p:spTgt spid="55"/>
                                        </p:tgtEl>
                                        <p:attrNameLst>
                                          <p:attrName>ppt_x</p:attrName>
                                        </p:attrNameLst>
                                      </p:cBhvr>
                                      <p:tavLst>
                                        <p:tav tm="0">
                                          <p:val>
                                            <p:strVal val="#ppt_x-0.25"/>
                                          </p:val>
                                        </p:tav>
                                        <p:tav tm="100000">
                                          <p:val>
                                            <p:strVal val="#ppt_x"/>
                                          </p:val>
                                        </p:tav>
                                      </p:tavLst>
                                    </p:anim>
                                    <p:anim calcmode="lin" valueType="num">
                                      <p:cBhvr>
                                        <p:cTn id="30" dur="664" tmFilter="0.0,0.0; 0.25,0.07; 0.50,0.2; 0.75,0.467; 1.0,1.0">
                                          <p:stCondLst>
                                            <p:cond delay="0"/>
                                          </p:stCondLst>
                                        </p:cTn>
                                        <p:tgtEl>
                                          <p:spTgt spid="55"/>
                                        </p:tgtEl>
                                        <p:attrNameLst>
                                          <p:attrName>ppt_y</p:attrName>
                                        </p:attrNameLst>
                                      </p:cBhvr>
                                      <p:tavLst>
                                        <p:tav tm="0" fmla="#ppt_y-sin(pi*$)/3">
                                          <p:val>
                                            <p:fltVal val="0.5"/>
                                          </p:val>
                                        </p:tav>
                                        <p:tav tm="100000">
                                          <p:val>
                                            <p:fltVal val="1"/>
                                          </p:val>
                                        </p:tav>
                                      </p:tavLst>
                                    </p:anim>
                                    <p:anim calcmode="lin" valueType="num">
                                      <p:cBhvr>
                                        <p:cTn id="31" dur="664" tmFilter="0, 0; 0.125,0.2665; 0.25,0.4; 0.375,0.465; 0.5,0.5;  0.625,0.535; 0.75,0.6; 0.875,0.7335; 1,1">
                                          <p:stCondLst>
                                            <p:cond delay="664"/>
                                          </p:stCondLst>
                                        </p:cTn>
                                        <p:tgtEl>
                                          <p:spTgt spid="55"/>
                                        </p:tgtEl>
                                        <p:attrNameLst>
                                          <p:attrName>ppt_y</p:attrName>
                                        </p:attrNameLst>
                                      </p:cBhvr>
                                      <p:tavLst>
                                        <p:tav tm="0" fmla="#ppt_y-sin(pi*$)/9">
                                          <p:val>
                                            <p:fltVal val="0"/>
                                          </p:val>
                                        </p:tav>
                                        <p:tav tm="100000">
                                          <p:val>
                                            <p:fltVal val="1"/>
                                          </p:val>
                                        </p:tav>
                                      </p:tavLst>
                                    </p:anim>
                                    <p:anim calcmode="lin" valueType="num">
                                      <p:cBhvr>
                                        <p:cTn id="32" dur="332" tmFilter="0, 0; 0.125,0.2665; 0.25,0.4; 0.375,0.465; 0.5,0.5;  0.625,0.535; 0.75,0.6; 0.875,0.7335; 1,1">
                                          <p:stCondLst>
                                            <p:cond delay="1324"/>
                                          </p:stCondLst>
                                        </p:cTn>
                                        <p:tgtEl>
                                          <p:spTgt spid="55"/>
                                        </p:tgtEl>
                                        <p:attrNameLst>
                                          <p:attrName>ppt_y</p:attrName>
                                        </p:attrNameLst>
                                      </p:cBhvr>
                                      <p:tavLst>
                                        <p:tav tm="0" fmla="#ppt_y-sin(pi*$)/27">
                                          <p:val>
                                            <p:fltVal val="0"/>
                                          </p:val>
                                        </p:tav>
                                        <p:tav tm="100000">
                                          <p:val>
                                            <p:fltVal val="1"/>
                                          </p:val>
                                        </p:tav>
                                      </p:tavLst>
                                    </p:anim>
                                    <p:anim calcmode="lin" valueType="num">
                                      <p:cBhvr>
                                        <p:cTn id="33" dur="164" tmFilter="0, 0; 0.125,0.2665; 0.25,0.4; 0.375,0.465; 0.5,0.5;  0.625,0.535; 0.75,0.6; 0.875,0.7335; 1,1">
                                          <p:stCondLst>
                                            <p:cond delay="1656"/>
                                          </p:stCondLst>
                                        </p:cTn>
                                        <p:tgtEl>
                                          <p:spTgt spid="55"/>
                                        </p:tgtEl>
                                        <p:attrNameLst>
                                          <p:attrName>ppt_y</p:attrName>
                                        </p:attrNameLst>
                                      </p:cBhvr>
                                      <p:tavLst>
                                        <p:tav tm="0" fmla="#ppt_y-sin(pi*$)/81">
                                          <p:val>
                                            <p:fltVal val="0"/>
                                          </p:val>
                                        </p:tav>
                                        <p:tav tm="100000">
                                          <p:val>
                                            <p:fltVal val="1"/>
                                          </p:val>
                                        </p:tav>
                                      </p:tavLst>
                                    </p:anim>
                                    <p:animScale>
                                      <p:cBhvr>
                                        <p:cTn id="34" dur="26">
                                          <p:stCondLst>
                                            <p:cond delay="650"/>
                                          </p:stCondLst>
                                        </p:cTn>
                                        <p:tgtEl>
                                          <p:spTgt spid="55"/>
                                        </p:tgtEl>
                                      </p:cBhvr>
                                      <p:to x="100000" y="60000"/>
                                    </p:animScale>
                                    <p:animScale>
                                      <p:cBhvr>
                                        <p:cTn id="35" dur="166" decel="50000">
                                          <p:stCondLst>
                                            <p:cond delay="676"/>
                                          </p:stCondLst>
                                        </p:cTn>
                                        <p:tgtEl>
                                          <p:spTgt spid="55"/>
                                        </p:tgtEl>
                                      </p:cBhvr>
                                      <p:to x="100000" y="100000"/>
                                    </p:animScale>
                                    <p:animScale>
                                      <p:cBhvr>
                                        <p:cTn id="36" dur="26">
                                          <p:stCondLst>
                                            <p:cond delay="1312"/>
                                          </p:stCondLst>
                                        </p:cTn>
                                        <p:tgtEl>
                                          <p:spTgt spid="55"/>
                                        </p:tgtEl>
                                      </p:cBhvr>
                                      <p:to x="100000" y="80000"/>
                                    </p:animScale>
                                    <p:animScale>
                                      <p:cBhvr>
                                        <p:cTn id="37" dur="166" decel="50000">
                                          <p:stCondLst>
                                            <p:cond delay="1338"/>
                                          </p:stCondLst>
                                        </p:cTn>
                                        <p:tgtEl>
                                          <p:spTgt spid="55"/>
                                        </p:tgtEl>
                                      </p:cBhvr>
                                      <p:to x="100000" y="100000"/>
                                    </p:animScale>
                                    <p:animScale>
                                      <p:cBhvr>
                                        <p:cTn id="38" dur="26">
                                          <p:stCondLst>
                                            <p:cond delay="1642"/>
                                          </p:stCondLst>
                                        </p:cTn>
                                        <p:tgtEl>
                                          <p:spTgt spid="55"/>
                                        </p:tgtEl>
                                      </p:cBhvr>
                                      <p:to x="100000" y="90000"/>
                                    </p:animScale>
                                    <p:animScale>
                                      <p:cBhvr>
                                        <p:cTn id="39" dur="166" decel="50000">
                                          <p:stCondLst>
                                            <p:cond delay="1668"/>
                                          </p:stCondLst>
                                        </p:cTn>
                                        <p:tgtEl>
                                          <p:spTgt spid="55"/>
                                        </p:tgtEl>
                                      </p:cBhvr>
                                      <p:to x="100000" y="100000"/>
                                    </p:animScale>
                                    <p:animScale>
                                      <p:cBhvr>
                                        <p:cTn id="40" dur="26">
                                          <p:stCondLst>
                                            <p:cond delay="1808"/>
                                          </p:stCondLst>
                                        </p:cTn>
                                        <p:tgtEl>
                                          <p:spTgt spid="55"/>
                                        </p:tgtEl>
                                      </p:cBhvr>
                                      <p:to x="100000" y="95000"/>
                                    </p:animScale>
                                    <p:animScale>
                                      <p:cBhvr>
                                        <p:cTn id="41" dur="166" decel="50000">
                                          <p:stCondLst>
                                            <p:cond delay="1834"/>
                                          </p:stCondLst>
                                        </p:cTn>
                                        <p:tgtEl>
                                          <p:spTgt spid="55"/>
                                        </p:tgtEl>
                                      </p:cBhvr>
                                      <p:to x="100000" y="100000"/>
                                    </p:animScale>
                                  </p:childTnLst>
                                </p:cTn>
                              </p:par>
                              <p:par>
                                <p:cTn id="42" presetID="26" presetClass="entr" presetSubtype="0" fill="hold" grpId="0" nodeType="withEffect">
                                  <p:stCondLst>
                                    <p:cond delay="0"/>
                                  </p:stCondLst>
                                  <p:childTnLst>
                                    <p:set>
                                      <p:cBhvr>
                                        <p:cTn id="43" dur="1" fill="hold">
                                          <p:stCondLst>
                                            <p:cond delay="0"/>
                                          </p:stCondLst>
                                        </p:cTn>
                                        <p:tgtEl>
                                          <p:spTgt spid="54"/>
                                        </p:tgtEl>
                                        <p:attrNameLst>
                                          <p:attrName>style.visibility</p:attrName>
                                        </p:attrNameLst>
                                      </p:cBhvr>
                                      <p:to>
                                        <p:strVal val="visible"/>
                                      </p:to>
                                    </p:set>
                                    <p:animEffect transition="in" filter="wipe(down)">
                                      <p:cBhvr>
                                        <p:cTn id="44" dur="580">
                                          <p:stCondLst>
                                            <p:cond delay="0"/>
                                          </p:stCondLst>
                                        </p:cTn>
                                        <p:tgtEl>
                                          <p:spTgt spid="54"/>
                                        </p:tgtEl>
                                      </p:cBhvr>
                                    </p:animEffect>
                                    <p:anim calcmode="lin" valueType="num">
                                      <p:cBhvr>
                                        <p:cTn id="45" dur="1822" tmFilter="0,0; 0.14,0.36; 0.43,0.73; 0.71,0.91; 1.0,1.0">
                                          <p:stCondLst>
                                            <p:cond delay="0"/>
                                          </p:stCondLst>
                                        </p:cTn>
                                        <p:tgtEl>
                                          <p:spTgt spid="54"/>
                                        </p:tgtEl>
                                        <p:attrNameLst>
                                          <p:attrName>ppt_x</p:attrName>
                                        </p:attrNameLst>
                                      </p:cBhvr>
                                      <p:tavLst>
                                        <p:tav tm="0">
                                          <p:val>
                                            <p:strVal val="#ppt_x-0.25"/>
                                          </p:val>
                                        </p:tav>
                                        <p:tav tm="100000">
                                          <p:val>
                                            <p:strVal val="#ppt_x"/>
                                          </p:val>
                                        </p:tav>
                                      </p:tavLst>
                                    </p:anim>
                                    <p:anim calcmode="lin" valueType="num">
                                      <p:cBhvr>
                                        <p:cTn id="46" dur="664" tmFilter="0.0,0.0; 0.25,0.07; 0.50,0.2; 0.75,0.467; 1.0,1.0">
                                          <p:stCondLst>
                                            <p:cond delay="0"/>
                                          </p:stCondLst>
                                        </p:cTn>
                                        <p:tgtEl>
                                          <p:spTgt spid="54"/>
                                        </p:tgtEl>
                                        <p:attrNameLst>
                                          <p:attrName>ppt_y</p:attrName>
                                        </p:attrNameLst>
                                      </p:cBhvr>
                                      <p:tavLst>
                                        <p:tav tm="0" fmla="#ppt_y-sin(pi*$)/3">
                                          <p:val>
                                            <p:fltVal val="0.5"/>
                                          </p:val>
                                        </p:tav>
                                        <p:tav tm="100000">
                                          <p:val>
                                            <p:fltVal val="1"/>
                                          </p:val>
                                        </p:tav>
                                      </p:tavLst>
                                    </p:anim>
                                    <p:anim calcmode="lin" valueType="num">
                                      <p:cBhvr>
                                        <p:cTn id="47" dur="664" tmFilter="0, 0; 0.125,0.2665; 0.25,0.4; 0.375,0.465; 0.5,0.5;  0.625,0.535; 0.75,0.6; 0.875,0.7335; 1,1">
                                          <p:stCondLst>
                                            <p:cond delay="664"/>
                                          </p:stCondLst>
                                        </p:cTn>
                                        <p:tgtEl>
                                          <p:spTgt spid="54"/>
                                        </p:tgtEl>
                                        <p:attrNameLst>
                                          <p:attrName>ppt_y</p:attrName>
                                        </p:attrNameLst>
                                      </p:cBhvr>
                                      <p:tavLst>
                                        <p:tav tm="0" fmla="#ppt_y-sin(pi*$)/9">
                                          <p:val>
                                            <p:fltVal val="0"/>
                                          </p:val>
                                        </p:tav>
                                        <p:tav tm="100000">
                                          <p:val>
                                            <p:fltVal val="1"/>
                                          </p:val>
                                        </p:tav>
                                      </p:tavLst>
                                    </p:anim>
                                    <p:anim calcmode="lin" valueType="num">
                                      <p:cBhvr>
                                        <p:cTn id="48" dur="332" tmFilter="0, 0; 0.125,0.2665; 0.25,0.4; 0.375,0.465; 0.5,0.5;  0.625,0.535; 0.75,0.6; 0.875,0.7335; 1,1">
                                          <p:stCondLst>
                                            <p:cond delay="1324"/>
                                          </p:stCondLst>
                                        </p:cTn>
                                        <p:tgtEl>
                                          <p:spTgt spid="54"/>
                                        </p:tgtEl>
                                        <p:attrNameLst>
                                          <p:attrName>ppt_y</p:attrName>
                                        </p:attrNameLst>
                                      </p:cBhvr>
                                      <p:tavLst>
                                        <p:tav tm="0" fmla="#ppt_y-sin(pi*$)/27">
                                          <p:val>
                                            <p:fltVal val="0"/>
                                          </p:val>
                                        </p:tav>
                                        <p:tav tm="100000">
                                          <p:val>
                                            <p:fltVal val="1"/>
                                          </p:val>
                                        </p:tav>
                                      </p:tavLst>
                                    </p:anim>
                                    <p:anim calcmode="lin" valueType="num">
                                      <p:cBhvr>
                                        <p:cTn id="49" dur="164" tmFilter="0, 0; 0.125,0.2665; 0.25,0.4; 0.375,0.465; 0.5,0.5;  0.625,0.535; 0.75,0.6; 0.875,0.7335; 1,1">
                                          <p:stCondLst>
                                            <p:cond delay="1656"/>
                                          </p:stCondLst>
                                        </p:cTn>
                                        <p:tgtEl>
                                          <p:spTgt spid="54"/>
                                        </p:tgtEl>
                                        <p:attrNameLst>
                                          <p:attrName>ppt_y</p:attrName>
                                        </p:attrNameLst>
                                      </p:cBhvr>
                                      <p:tavLst>
                                        <p:tav tm="0" fmla="#ppt_y-sin(pi*$)/81">
                                          <p:val>
                                            <p:fltVal val="0"/>
                                          </p:val>
                                        </p:tav>
                                        <p:tav tm="100000">
                                          <p:val>
                                            <p:fltVal val="1"/>
                                          </p:val>
                                        </p:tav>
                                      </p:tavLst>
                                    </p:anim>
                                    <p:animScale>
                                      <p:cBhvr>
                                        <p:cTn id="50" dur="26">
                                          <p:stCondLst>
                                            <p:cond delay="650"/>
                                          </p:stCondLst>
                                        </p:cTn>
                                        <p:tgtEl>
                                          <p:spTgt spid="54"/>
                                        </p:tgtEl>
                                      </p:cBhvr>
                                      <p:to x="100000" y="60000"/>
                                    </p:animScale>
                                    <p:animScale>
                                      <p:cBhvr>
                                        <p:cTn id="51" dur="166" decel="50000">
                                          <p:stCondLst>
                                            <p:cond delay="676"/>
                                          </p:stCondLst>
                                        </p:cTn>
                                        <p:tgtEl>
                                          <p:spTgt spid="54"/>
                                        </p:tgtEl>
                                      </p:cBhvr>
                                      <p:to x="100000" y="100000"/>
                                    </p:animScale>
                                    <p:animScale>
                                      <p:cBhvr>
                                        <p:cTn id="52" dur="26">
                                          <p:stCondLst>
                                            <p:cond delay="1312"/>
                                          </p:stCondLst>
                                        </p:cTn>
                                        <p:tgtEl>
                                          <p:spTgt spid="54"/>
                                        </p:tgtEl>
                                      </p:cBhvr>
                                      <p:to x="100000" y="80000"/>
                                    </p:animScale>
                                    <p:animScale>
                                      <p:cBhvr>
                                        <p:cTn id="53" dur="166" decel="50000">
                                          <p:stCondLst>
                                            <p:cond delay="1338"/>
                                          </p:stCondLst>
                                        </p:cTn>
                                        <p:tgtEl>
                                          <p:spTgt spid="54"/>
                                        </p:tgtEl>
                                      </p:cBhvr>
                                      <p:to x="100000" y="100000"/>
                                    </p:animScale>
                                    <p:animScale>
                                      <p:cBhvr>
                                        <p:cTn id="54" dur="26">
                                          <p:stCondLst>
                                            <p:cond delay="1642"/>
                                          </p:stCondLst>
                                        </p:cTn>
                                        <p:tgtEl>
                                          <p:spTgt spid="54"/>
                                        </p:tgtEl>
                                      </p:cBhvr>
                                      <p:to x="100000" y="90000"/>
                                    </p:animScale>
                                    <p:animScale>
                                      <p:cBhvr>
                                        <p:cTn id="55" dur="166" decel="50000">
                                          <p:stCondLst>
                                            <p:cond delay="1668"/>
                                          </p:stCondLst>
                                        </p:cTn>
                                        <p:tgtEl>
                                          <p:spTgt spid="54"/>
                                        </p:tgtEl>
                                      </p:cBhvr>
                                      <p:to x="100000" y="100000"/>
                                    </p:animScale>
                                    <p:animScale>
                                      <p:cBhvr>
                                        <p:cTn id="56" dur="26">
                                          <p:stCondLst>
                                            <p:cond delay="1808"/>
                                          </p:stCondLst>
                                        </p:cTn>
                                        <p:tgtEl>
                                          <p:spTgt spid="54"/>
                                        </p:tgtEl>
                                      </p:cBhvr>
                                      <p:to x="100000" y="95000"/>
                                    </p:animScale>
                                    <p:animScale>
                                      <p:cBhvr>
                                        <p:cTn id="57" dur="166" decel="50000">
                                          <p:stCondLst>
                                            <p:cond delay="1834"/>
                                          </p:stCondLst>
                                        </p:cTn>
                                        <p:tgtEl>
                                          <p:spTgt spid="54"/>
                                        </p:tgtEl>
                                      </p:cBhvr>
                                      <p:to x="100000" y="100000"/>
                                    </p:animScale>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nodeType="click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wipe(up)">
                                      <p:cBhvr>
                                        <p:cTn id="62" dur="1000"/>
                                        <p:tgtEl>
                                          <p:spTgt spid="24"/>
                                        </p:tgtEl>
                                      </p:cBhvr>
                                    </p:animEffect>
                                  </p:childTnLst>
                                </p:cTn>
                              </p:par>
                              <p:par>
                                <p:cTn id="63" presetID="1" presetClass="exit" presetSubtype="0" fill="hold" grpId="1" nodeType="withEffect">
                                  <p:stCondLst>
                                    <p:cond delay="0"/>
                                  </p:stCondLst>
                                  <p:childTnLst>
                                    <p:set>
                                      <p:cBhvr>
                                        <p:cTn id="64" dur="1" fill="hold">
                                          <p:stCondLst>
                                            <p:cond delay="0"/>
                                          </p:stCondLst>
                                        </p:cTn>
                                        <p:tgtEl>
                                          <p:spTgt spid="55"/>
                                        </p:tgtEl>
                                        <p:attrNameLst>
                                          <p:attrName>style.visibility</p:attrName>
                                        </p:attrNameLst>
                                      </p:cBhvr>
                                      <p:to>
                                        <p:strVal val="hidden"/>
                                      </p:to>
                                    </p:set>
                                  </p:childTnLst>
                                </p:cTn>
                              </p:par>
                            </p:childTnLst>
                          </p:cTn>
                        </p:par>
                        <p:par>
                          <p:cTn id="65" fill="hold">
                            <p:stCondLst>
                              <p:cond delay="1000"/>
                            </p:stCondLst>
                            <p:childTnLst>
                              <p:par>
                                <p:cTn id="66" presetID="22" presetClass="entr" presetSubtype="1" fill="hold" nodeType="after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wipe(up)">
                                      <p:cBhvr>
                                        <p:cTn id="68" dur="1000"/>
                                        <p:tgtEl>
                                          <p:spTgt spid="25"/>
                                        </p:tgtEl>
                                      </p:cBhvr>
                                    </p:animEffect>
                                  </p:childTnLst>
                                </p:cTn>
                              </p:par>
                            </p:childTnLst>
                          </p:cTn>
                        </p:par>
                        <p:par>
                          <p:cTn id="69" fill="hold">
                            <p:stCondLst>
                              <p:cond delay="2000"/>
                            </p:stCondLst>
                            <p:childTnLst>
                              <p:par>
                                <p:cTn id="70" presetID="22" presetClass="entr" presetSubtype="1" fill="hold" nodeType="after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wipe(up)">
                                      <p:cBhvr>
                                        <p:cTn id="72" dur="1000"/>
                                        <p:tgtEl>
                                          <p:spTgt spid="26"/>
                                        </p:tgtEl>
                                      </p:cBhvr>
                                    </p:animEffect>
                                  </p:childTnLst>
                                </p:cTn>
                              </p:par>
                            </p:childTnLst>
                          </p:cTn>
                        </p:par>
                        <p:par>
                          <p:cTn id="73" fill="hold">
                            <p:stCondLst>
                              <p:cond delay="3000"/>
                            </p:stCondLst>
                            <p:childTnLst>
                              <p:par>
                                <p:cTn id="74" presetID="22" presetClass="entr" presetSubtype="1" fill="hold" nodeType="after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wipe(up)">
                                      <p:cBhvr>
                                        <p:cTn id="76" dur="1000"/>
                                        <p:tgtEl>
                                          <p:spTgt spid="27"/>
                                        </p:tgtEl>
                                      </p:cBhvr>
                                    </p:animEffect>
                                  </p:childTnLst>
                                </p:cTn>
                              </p:par>
                            </p:childTnLst>
                          </p:cTn>
                        </p:par>
                        <p:par>
                          <p:cTn id="77" fill="hold">
                            <p:stCondLst>
                              <p:cond delay="4000"/>
                            </p:stCondLst>
                            <p:childTnLst>
                              <p:par>
                                <p:cTn id="78" presetID="22" presetClass="entr" presetSubtype="1" fill="hold" nodeType="after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wipe(up)">
                                      <p:cBhvr>
                                        <p:cTn id="80" dur="1000"/>
                                        <p:tgtEl>
                                          <p:spTgt spid="28"/>
                                        </p:tgtEl>
                                      </p:cBhvr>
                                    </p:animEffect>
                                  </p:childTnLst>
                                </p:cTn>
                              </p:par>
                            </p:childTnLst>
                          </p:cTn>
                        </p:par>
                        <p:par>
                          <p:cTn id="81" fill="hold">
                            <p:stCondLst>
                              <p:cond delay="5000"/>
                            </p:stCondLst>
                            <p:childTnLst>
                              <p:par>
                                <p:cTn id="82" presetID="22" presetClass="entr" presetSubtype="1" fill="hold" nodeType="after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wipe(up)">
                                      <p:cBhvr>
                                        <p:cTn id="84" dur="1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5" grpId="0" animBg="1"/>
      <p:bldP spid="55"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1FD16-4A40-6DDC-BCDD-E2126A13BA10}"/>
            </a:ext>
          </a:extLst>
        </p:cNvPr>
        <p:cNvGrpSpPr/>
        <p:nvPr/>
      </p:nvGrpSpPr>
      <p:grpSpPr>
        <a:xfrm>
          <a:off x="0" y="0"/>
          <a:ext cx="0" cy="0"/>
          <a:chOff x="0" y="0"/>
          <a:chExt cx="0" cy="0"/>
        </a:xfrm>
      </p:grpSpPr>
      <p:sp>
        <p:nvSpPr>
          <p:cNvPr id="9" name="标题 8">
            <a:extLst>
              <a:ext uri="{FF2B5EF4-FFF2-40B4-BE49-F238E27FC236}">
                <a16:creationId xmlns:a16="http://schemas.microsoft.com/office/drawing/2014/main" id="{360D3F7C-61A4-361A-8392-66721C2213AA}"/>
              </a:ext>
            </a:extLst>
          </p:cNvPr>
          <p:cNvSpPr>
            <a:spLocks noGrp="1"/>
          </p:cNvSpPr>
          <p:nvPr>
            <p:ph type="title"/>
          </p:nvPr>
        </p:nvSpPr>
        <p:spPr>
          <a:xfrm>
            <a:off x="1173494" y="249067"/>
            <a:ext cx="8048203" cy="480131"/>
          </a:xfrm>
        </p:spPr>
        <p:txBody>
          <a:bodyPr/>
          <a:lstStyle/>
          <a:p>
            <a:r>
              <a:rPr lang="zh-CN" altLang="en-US" spc="300" dirty="0">
                <a:latin typeface="+mj-ea"/>
              </a:rPr>
              <a:t>设计和实现</a:t>
            </a:r>
          </a:p>
        </p:txBody>
      </p:sp>
      <p:grpSp>
        <p:nvGrpSpPr>
          <p:cNvPr id="82" name="组合 81">
            <a:extLst>
              <a:ext uri="{FF2B5EF4-FFF2-40B4-BE49-F238E27FC236}">
                <a16:creationId xmlns:a16="http://schemas.microsoft.com/office/drawing/2014/main" id="{247C9618-F0DA-A580-63F9-1AAF10C05FAA}"/>
              </a:ext>
            </a:extLst>
          </p:cNvPr>
          <p:cNvGrpSpPr/>
          <p:nvPr/>
        </p:nvGrpSpPr>
        <p:grpSpPr>
          <a:xfrm>
            <a:off x="394367" y="1010970"/>
            <a:ext cx="5549234" cy="5143318"/>
            <a:chOff x="394366" y="1027530"/>
            <a:chExt cx="5859983" cy="5126757"/>
          </a:xfrm>
        </p:grpSpPr>
        <p:pic>
          <p:nvPicPr>
            <p:cNvPr id="12" name="图片 11" descr="图形用户界面&#10;&#10;AI 生成的内容可能不正确。">
              <a:extLst>
                <a:ext uri="{FF2B5EF4-FFF2-40B4-BE49-F238E27FC236}">
                  <a16:creationId xmlns:a16="http://schemas.microsoft.com/office/drawing/2014/main" id="{27C54B9A-58A3-03F5-98C3-0BA7A6D9A341}"/>
                </a:ext>
              </a:extLst>
            </p:cNvPr>
            <p:cNvPicPr>
              <a:picLocks noChangeAspect="1"/>
            </p:cNvPicPr>
            <p:nvPr/>
          </p:nvPicPr>
          <p:blipFill>
            <a:blip r:embed="rId3"/>
            <a:stretch>
              <a:fillRect/>
            </a:stretch>
          </p:blipFill>
          <p:spPr>
            <a:xfrm>
              <a:off x="482459" y="1656462"/>
              <a:ext cx="5683795" cy="4406468"/>
            </a:xfrm>
            <a:prstGeom prst="rect">
              <a:avLst/>
            </a:prstGeom>
          </p:spPr>
        </p:pic>
        <p:grpSp>
          <p:nvGrpSpPr>
            <p:cNvPr id="15" name="组合 14">
              <a:extLst>
                <a:ext uri="{FF2B5EF4-FFF2-40B4-BE49-F238E27FC236}">
                  <a16:creationId xmlns:a16="http://schemas.microsoft.com/office/drawing/2014/main" id="{D264883B-20B2-51B0-E0FB-F59C1F664458}"/>
                </a:ext>
              </a:extLst>
            </p:cNvPr>
            <p:cNvGrpSpPr/>
            <p:nvPr/>
          </p:nvGrpSpPr>
          <p:grpSpPr>
            <a:xfrm>
              <a:off x="394366" y="1027530"/>
              <a:ext cx="5859983" cy="5126757"/>
              <a:chOff x="193945" y="1841642"/>
              <a:chExt cx="5516843" cy="5793230"/>
            </a:xfrm>
          </p:grpSpPr>
          <p:sp>
            <p:nvSpPr>
              <p:cNvPr id="16" name="矩形 15">
                <a:extLst>
                  <a:ext uri="{FF2B5EF4-FFF2-40B4-BE49-F238E27FC236}">
                    <a16:creationId xmlns:a16="http://schemas.microsoft.com/office/drawing/2014/main" id="{2F9148C2-55EF-4817-51A7-470C0A5CFE21}"/>
                  </a:ext>
                </a:extLst>
              </p:cNvPr>
              <p:cNvSpPr/>
              <p:nvPr/>
            </p:nvSpPr>
            <p:spPr>
              <a:xfrm>
                <a:off x="193945" y="1841642"/>
                <a:ext cx="5516843" cy="5793230"/>
              </a:xfrm>
              <a:prstGeom prst="rect">
                <a:avLst/>
              </a:prstGeom>
              <a:noFill/>
              <a:ln w="25400">
                <a:solidFill>
                  <a:schemeClr val="tx2">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C20781C7-C441-0DFE-AD76-7A97D36D7E3B}"/>
                  </a:ext>
                </a:extLst>
              </p:cNvPr>
              <p:cNvSpPr/>
              <p:nvPr/>
            </p:nvSpPr>
            <p:spPr>
              <a:xfrm>
                <a:off x="200836" y="1931940"/>
                <a:ext cx="5304499" cy="517162"/>
              </a:xfrm>
              <a:prstGeom prst="rect">
                <a:avLst/>
              </a:prstGeom>
              <a:gradFill flip="none" rotWithShape="1">
                <a:gsLst>
                  <a:gs pos="58000">
                    <a:schemeClr val="tx2"/>
                  </a:gs>
                  <a:gs pos="100000">
                    <a:schemeClr val="bg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文本框 17">
                <a:extLst>
                  <a:ext uri="{FF2B5EF4-FFF2-40B4-BE49-F238E27FC236}">
                    <a16:creationId xmlns:a16="http://schemas.microsoft.com/office/drawing/2014/main" id="{ABE70105-687A-A397-2986-1020AF2D40FC}"/>
                  </a:ext>
                </a:extLst>
              </p:cNvPr>
              <p:cNvSpPr txBox="1"/>
              <p:nvPr/>
            </p:nvSpPr>
            <p:spPr>
              <a:xfrm>
                <a:off x="1051146" y="1955301"/>
                <a:ext cx="4392118" cy="400110"/>
              </a:xfrm>
              <a:prstGeom prst="rect">
                <a:avLst/>
              </a:prstGeom>
              <a:noFill/>
            </p:spPr>
            <p:txBody>
              <a:bodyPr wrap="square" rtlCol="0">
                <a:spAutoFit/>
              </a:bodyPr>
              <a:lstStyle/>
              <a:p>
                <a:r>
                  <a:rPr lang="en-US" altLang="zh-CN" sz="2000" b="1" dirty="0">
                    <a:solidFill>
                      <a:schemeClr val="bg1"/>
                    </a:solidFill>
                  </a:rPr>
                  <a:t>Moat</a:t>
                </a:r>
                <a:r>
                  <a:rPr lang="zh-CN" altLang="en-US" sz="2000" b="1" dirty="0">
                    <a:solidFill>
                      <a:schemeClr val="bg1"/>
                    </a:solidFill>
                  </a:rPr>
                  <a:t>框架结构</a:t>
                </a:r>
              </a:p>
            </p:txBody>
          </p:sp>
          <p:sp>
            <p:nvSpPr>
              <p:cNvPr id="19" name="箭头: V 形 18">
                <a:extLst>
                  <a:ext uri="{FF2B5EF4-FFF2-40B4-BE49-F238E27FC236}">
                    <a16:creationId xmlns:a16="http://schemas.microsoft.com/office/drawing/2014/main" id="{F523A7B7-4728-8FD9-64E0-0DDECE24CAF4}"/>
                  </a:ext>
                </a:extLst>
              </p:cNvPr>
              <p:cNvSpPr/>
              <p:nvPr/>
            </p:nvSpPr>
            <p:spPr>
              <a:xfrm>
                <a:off x="706373" y="2025628"/>
                <a:ext cx="344773" cy="329784"/>
              </a:xfrm>
              <a:prstGeom prst="chevron">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0" name="任意多边形: 形状 19">
                <a:extLst>
                  <a:ext uri="{FF2B5EF4-FFF2-40B4-BE49-F238E27FC236}">
                    <a16:creationId xmlns:a16="http://schemas.microsoft.com/office/drawing/2014/main" id="{9A2D1F8E-EB2C-C645-6C42-656AAD05CBBF}"/>
                  </a:ext>
                </a:extLst>
              </p:cNvPr>
              <p:cNvSpPr/>
              <p:nvPr/>
            </p:nvSpPr>
            <p:spPr>
              <a:xfrm rot="5400000">
                <a:off x="328310" y="1934921"/>
                <a:ext cx="344773" cy="511199"/>
              </a:xfrm>
              <a:custGeom>
                <a:avLst/>
                <a:gdLst>
                  <a:gd name="connsiteX0" fmla="*/ 0 w 344773"/>
                  <a:gd name="connsiteY0" fmla="*/ 182611 h 511199"/>
                  <a:gd name="connsiteX1" fmla="*/ 172387 w 344773"/>
                  <a:gd name="connsiteY1" fmla="*/ 0 h 511199"/>
                  <a:gd name="connsiteX2" fmla="*/ 344773 w 344773"/>
                  <a:gd name="connsiteY2" fmla="*/ 182611 h 511199"/>
                  <a:gd name="connsiteX3" fmla="*/ 337279 w 344773"/>
                  <a:gd name="connsiteY3" fmla="*/ 182611 h 511199"/>
                  <a:gd name="connsiteX4" fmla="*/ 337279 w 344773"/>
                  <a:gd name="connsiteY4" fmla="*/ 511199 h 511199"/>
                  <a:gd name="connsiteX5" fmla="*/ 7495 w 344773"/>
                  <a:gd name="connsiteY5" fmla="*/ 511199 h 511199"/>
                  <a:gd name="connsiteX6" fmla="*/ 7495 w 344773"/>
                  <a:gd name="connsiteY6" fmla="*/ 182611 h 511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4773" h="511199">
                    <a:moveTo>
                      <a:pt x="0" y="182611"/>
                    </a:moveTo>
                    <a:lnTo>
                      <a:pt x="172387" y="0"/>
                    </a:lnTo>
                    <a:lnTo>
                      <a:pt x="344773" y="182611"/>
                    </a:lnTo>
                    <a:lnTo>
                      <a:pt x="337279" y="182611"/>
                    </a:lnTo>
                    <a:lnTo>
                      <a:pt x="337279" y="511199"/>
                    </a:lnTo>
                    <a:lnTo>
                      <a:pt x="7495" y="511199"/>
                    </a:lnTo>
                    <a:lnTo>
                      <a:pt x="7495" y="182611"/>
                    </a:lnTo>
                    <a:close/>
                  </a:path>
                </a:pathLst>
              </a:custGeom>
              <a:gradFill flip="none" rotWithShape="1">
                <a:gsLst>
                  <a:gs pos="3000">
                    <a:schemeClr val="tx2"/>
                  </a:gs>
                  <a:gs pos="100000">
                    <a:schemeClr val="bg1"/>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pic>
        <p:nvPicPr>
          <p:cNvPr id="68" name="图片 67" descr="图形用户界面, 文本, 应用程序, 电子邮件&#10;&#10;AI 生成的内容可能不正确。">
            <a:extLst>
              <a:ext uri="{FF2B5EF4-FFF2-40B4-BE49-F238E27FC236}">
                <a16:creationId xmlns:a16="http://schemas.microsoft.com/office/drawing/2014/main" id="{532A5A1A-477C-7CA3-0865-1636AAA3EACF}"/>
              </a:ext>
            </a:extLst>
          </p:cNvPr>
          <p:cNvPicPr>
            <a:picLocks noChangeAspect="1"/>
          </p:cNvPicPr>
          <p:nvPr/>
        </p:nvPicPr>
        <p:blipFill>
          <a:blip r:embed="rId4"/>
          <a:stretch>
            <a:fillRect/>
          </a:stretch>
        </p:blipFill>
        <p:spPr>
          <a:xfrm>
            <a:off x="6536185" y="4575513"/>
            <a:ext cx="4101614" cy="1578775"/>
          </a:xfrm>
          <a:prstGeom prst="rect">
            <a:avLst/>
          </a:prstGeom>
        </p:spPr>
      </p:pic>
      <p:grpSp>
        <p:nvGrpSpPr>
          <p:cNvPr id="86" name="组合 85">
            <a:extLst>
              <a:ext uri="{FF2B5EF4-FFF2-40B4-BE49-F238E27FC236}">
                <a16:creationId xmlns:a16="http://schemas.microsoft.com/office/drawing/2014/main" id="{D9655597-7C92-EAA4-1D42-D8DC96840C45}"/>
              </a:ext>
            </a:extLst>
          </p:cNvPr>
          <p:cNvGrpSpPr/>
          <p:nvPr/>
        </p:nvGrpSpPr>
        <p:grpSpPr>
          <a:xfrm>
            <a:off x="6428057" y="1879200"/>
            <a:ext cx="5331870" cy="4275088"/>
            <a:chOff x="6437397" y="1879200"/>
            <a:chExt cx="5331870" cy="4275088"/>
          </a:xfrm>
        </p:grpSpPr>
        <p:sp>
          <p:nvSpPr>
            <p:cNvPr id="69" name="矩形 68">
              <a:extLst>
                <a:ext uri="{FF2B5EF4-FFF2-40B4-BE49-F238E27FC236}">
                  <a16:creationId xmlns:a16="http://schemas.microsoft.com/office/drawing/2014/main" id="{2C9A2ECD-2182-A391-0990-70F76B810945}"/>
                </a:ext>
              </a:extLst>
            </p:cNvPr>
            <p:cNvSpPr/>
            <p:nvPr/>
          </p:nvSpPr>
          <p:spPr>
            <a:xfrm>
              <a:off x="6437397" y="2253861"/>
              <a:ext cx="5331870" cy="3900427"/>
            </a:xfrm>
            <a:prstGeom prst="rect">
              <a:avLst/>
            </a:prstGeom>
            <a:no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圆角 69">
              <a:extLst>
                <a:ext uri="{FF2B5EF4-FFF2-40B4-BE49-F238E27FC236}">
                  <a16:creationId xmlns:a16="http://schemas.microsoft.com/office/drawing/2014/main" id="{C14E180B-1A7A-68FC-AEE1-0A53615248A3}"/>
                </a:ext>
              </a:extLst>
            </p:cNvPr>
            <p:cNvSpPr/>
            <p:nvPr/>
          </p:nvSpPr>
          <p:spPr>
            <a:xfrm>
              <a:off x="6438025" y="1879200"/>
              <a:ext cx="3712508" cy="535022"/>
            </a:xfrm>
            <a:prstGeom prst="roundRect">
              <a:avLst/>
            </a:prstGeom>
            <a:solidFill>
              <a:schemeClr val="tx2"/>
            </a:solid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t>域基础库</a:t>
              </a:r>
              <a:r>
                <a:rPr lang="en-US" altLang="zh-CN" b="1" dirty="0"/>
                <a:t>(Domain Library</a:t>
              </a:r>
              <a:r>
                <a:rPr lang="en-US" altLang="zh-CN" dirty="0"/>
                <a:t>)</a:t>
              </a:r>
              <a:endParaRPr lang="zh-CN" altLang="en-US" dirty="0"/>
            </a:p>
          </p:txBody>
        </p:sp>
      </p:grpSp>
      <p:grpSp>
        <p:nvGrpSpPr>
          <p:cNvPr id="87" name="组合 86">
            <a:extLst>
              <a:ext uri="{FF2B5EF4-FFF2-40B4-BE49-F238E27FC236}">
                <a16:creationId xmlns:a16="http://schemas.microsoft.com/office/drawing/2014/main" id="{ABA8A6B1-5A19-4471-8126-BC1D60914847}"/>
              </a:ext>
            </a:extLst>
          </p:cNvPr>
          <p:cNvGrpSpPr/>
          <p:nvPr/>
        </p:nvGrpSpPr>
        <p:grpSpPr>
          <a:xfrm>
            <a:off x="6434034" y="2537199"/>
            <a:ext cx="5079280" cy="344905"/>
            <a:chOff x="6434034" y="2537199"/>
            <a:chExt cx="5079280" cy="344905"/>
          </a:xfrm>
        </p:grpSpPr>
        <p:sp>
          <p:nvSpPr>
            <p:cNvPr id="71" name="文本框 70">
              <a:extLst>
                <a:ext uri="{FF2B5EF4-FFF2-40B4-BE49-F238E27FC236}">
                  <a16:creationId xmlns:a16="http://schemas.microsoft.com/office/drawing/2014/main" id="{BE68EED4-996D-1D54-70ED-64969B89CF18}"/>
                </a:ext>
              </a:extLst>
            </p:cNvPr>
            <p:cNvSpPr txBox="1"/>
            <p:nvPr/>
          </p:nvSpPr>
          <p:spPr>
            <a:xfrm>
              <a:off x="6434034" y="2543550"/>
              <a:ext cx="3550596" cy="338554"/>
            </a:xfrm>
            <a:prstGeom prst="rect">
              <a:avLst/>
            </a:prstGeom>
            <a:noFill/>
          </p:spPr>
          <p:txBody>
            <a:bodyPr wrap="square" rtlCol="0">
              <a:spAutoFit/>
            </a:bodyPr>
            <a:lstStyle/>
            <a:p>
              <a:r>
                <a:rPr lang="zh-CN" altLang="en-US" sz="1600" dirty="0"/>
                <a:t>🔑 最小化原则</a:t>
              </a:r>
            </a:p>
          </p:txBody>
        </p:sp>
        <p:sp>
          <p:nvSpPr>
            <p:cNvPr id="76" name="矩形 75">
              <a:extLst>
                <a:ext uri="{FF2B5EF4-FFF2-40B4-BE49-F238E27FC236}">
                  <a16:creationId xmlns:a16="http://schemas.microsoft.com/office/drawing/2014/main" id="{9D374391-79E6-F2D1-2277-0D870AF6C33B}"/>
                </a:ext>
              </a:extLst>
            </p:cNvPr>
            <p:cNvSpPr/>
            <p:nvPr/>
          </p:nvSpPr>
          <p:spPr>
            <a:xfrm>
              <a:off x="6496717" y="2537199"/>
              <a:ext cx="5016597" cy="328082"/>
            </a:xfrm>
            <a:custGeom>
              <a:avLst/>
              <a:gdLst>
                <a:gd name="csX0" fmla="*/ 0 w 5016597"/>
                <a:gd name="csY0" fmla="*/ 0 h 328082"/>
                <a:gd name="csX1" fmla="*/ 576909 w 5016597"/>
                <a:gd name="csY1" fmla="*/ 0 h 328082"/>
                <a:gd name="csX2" fmla="*/ 1053485 w 5016597"/>
                <a:gd name="csY2" fmla="*/ 0 h 328082"/>
                <a:gd name="csX3" fmla="*/ 1780892 w 5016597"/>
                <a:gd name="csY3" fmla="*/ 0 h 328082"/>
                <a:gd name="csX4" fmla="*/ 2357801 w 5016597"/>
                <a:gd name="csY4" fmla="*/ 0 h 328082"/>
                <a:gd name="csX5" fmla="*/ 2934709 w 5016597"/>
                <a:gd name="csY5" fmla="*/ 0 h 328082"/>
                <a:gd name="csX6" fmla="*/ 3662116 w 5016597"/>
                <a:gd name="csY6" fmla="*/ 0 h 328082"/>
                <a:gd name="csX7" fmla="*/ 4188858 w 5016597"/>
                <a:gd name="csY7" fmla="*/ 0 h 328082"/>
                <a:gd name="csX8" fmla="*/ 5016597 w 5016597"/>
                <a:gd name="csY8" fmla="*/ 0 h 328082"/>
                <a:gd name="csX9" fmla="*/ 5016597 w 5016597"/>
                <a:gd name="csY9" fmla="*/ 328082 h 328082"/>
                <a:gd name="csX10" fmla="*/ 4489854 w 5016597"/>
                <a:gd name="csY10" fmla="*/ 328082 h 328082"/>
                <a:gd name="csX11" fmla="*/ 3862780 w 5016597"/>
                <a:gd name="csY11" fmla="*/ 328082 h 328082"/>
                <a:gd name="csX12" fmla="*/ 3285871 w 5016597"/>
                <a:gd name="csY12" fmla="*/ 328082 h 328082"/>
                <a:gd name="csX13" fmla="*/ 2558464 w 5016597"/>
                <a:gd name="csY13" fmla="*/ 328082 h 328082"/>
                <a:gd name="csX14" fmla="*/ 1831058 w 5016597"/>
                <a:gd name="csY14" fmla="*/ 328082 h 328082"/>
                <a:gd name="csX15" fmla="*/ 1304315 w 5016597"/>
                <a:gd name="csY15" fmla="*/ 328082 h 328082"/>
                <a:gd name="csX16" fmla="*/ 677241 w 5016597"/>
                <a:gd name="csY16" fmla="*/ 328082 h 328082"/>
                <a:gd name="csX17" fmla="*/ 0 w 5016597"/>
                <a:gd name="csY17" fmla="*/ 328082 h 328082"/>
                <a:gd name="csX18" fmla="*/ 0 w 5016597"/>
                <a:gd name="csY18" fmla="*/ 0 h 3280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016597" h="328082" extrusionOk="0">
                  <a:moveTo>
                    <a:pt x="0" y="0"/>
                  </a:moveTo>
                  <a:cubicBezTo>
                    <a:pt x="175723" y="-8189"/>
                    <a:pt x="395371" y="25118"/>
                    <a:pt x="576909" y="0"/>
                  </a:cubicBezTo>
                  <a:cubicBezTo>
                    <a:pt x="758447" y="-25118"/>
                    <a:pt x="924279" y="23745"/>
                    <a:pt x="1053485" y="0"/>
                  </a:cubicBezTo>
                  <a:cubicBezTo>
                    <a:pt x="1182691" y="-23745"/>
                    <a:pt x="1515765" y="-29900"/>
                    <a:pt x="1780892" y="0"/>
                  </a:cubicBezTo>
                  <a:cubicBezTo>
                    <a:pt x="2046019" y="29900"/>
                    <a:pt x="2106006" y="-11849"/>
                    <a:pt x="2357801" y="0"/>
                  </a:cubicBezTo>
                  <a:cubicBezTo>
                    <a:pt x="2609596" y="11849"/>
                    <a:pt x="2717642" y="-11823"/>
                    <a:pt x="2934709" y="0"/>
                  </a:cubicBezTo>
                  <a:cubicBezTo>
                    <a:pt x="3151776" y="11823"/>
                    <a:pt x="3475850" y="-3392"/>
                    <a:pt x="3662116" y="0"/>
                  </a:cubicBezTo>
                  <a:cubicBezTo>
                    <a:pt x="3848382" y="3392"/>
                    <a:pt x="4082526" y="7705"/>
                    <a:pt x="4188858" y="0"/>
                  </a:cubicBezTo>
                  <a:cubicBezTo>
                    <a:pt x="4295190" y="-7705"/>
                    <a:pt x="4622999" y="-11411"/>
                    <a:pt x="5016597" y="0"/>
                  </a:cubicBezTo>
                  <a:cubicBezTo>
                    <a:pt x="5003759" y="153017"/>
                    <a:pt x="5009606" y="242929"/>
                    <a:pt x="5016597" y="328082"/>
                  </a:cubicBezTo>
                  <a:cubicBezTo>
                    <a:pt x="4790008" y="332810"/>
                    <a:pt x="4687698" y="320732"/>
                    <a:pt x="4489854" y="328082"/>
                  </a:cubicBezTo>
                  <a:cubicBezTo>
                    <a:pt x="4292010" y="335432"/>
                    <a:pt x="4112470" y="334477"/>
                    <a:pt x="3862780" y="328082"/>
                  </a:cubicBezTo>
                  <a:cubicBezTo>
                    <a:pt x="3613090" y="321687"/>
                    <a:pt x="3506066" y="349825"/>
                    <a:pt x="3285871" y="328082"/>
                  </a:cubicBezTo>
                  <a:cubicBezTo>
                    <a:pt x="3065676" y="306339"/>
                    <a:pt x="2880989" y="323413"/>
                    <a:pt x="2558464" y="328082"/>
                  </a:cubicBezTo>
                  <a:cubicBezTo>
                    <a:pt x="2235939" y="332751"/>
                    <a:pt x="2131029" y="322913"/>
                    <a:pt x="1831058" y="328082"/>
                  </a:cubicBezTo>
                  <a:cubicBezTo>
                    <a:pt x="1531087" y="333251"/>
                    <a:pt x="1447431" y="328785"/>
                    <a:pt x="1304315" y="328082"/>
                  </a:cubicBezTo>
                  <a:cubicBezTo>
                    <a:pt x="1161199" y="327379"/>
                    <a:pt x="888919" y="312076"/>
                    <a:pt x="677241" y="328082"/>
                  </a:cubicBezTo>
                  <a:cubicBezTo>
                    <a:pt x="465563" y="344088"/>
                    <a:pt x="164087" y="301950"/>
                    <a:pt x="0" y="328082"/>
                  </a:cubicBezTo>
                  <a:cubicBezTo>
                    <a:pt x="6311" y="175331"/>
                    <a:pt x="-13820" y="111274"/>
                    <a:pt x="0" y="0"/>
                  </a:cubicBezTo>
                  <a:close/>
                </a:path>
              </a:pathLst>
            </a:custGeom>
            <a:noFill/>
            <a:ln w="12700">
              <a:gradFill flip="none" rotWithShape="1">
                <a:gsLst>
                  <a:gs pos="0">
                    <a:schemeClr val="tx2"/>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8" name="组合 87">
            <a:extLst>
              <a:ext uri="{FF2B5EF4-FFF2-40B4-BE49-F238E27FC236}">
                <a16:creationId xmlns:a16="http://schemas.microsoft.com/office/drawing/2014/main" id="{266A0D20-1260-2DA1-DA25-3E588B498A77}"/>
              </a:ext>
            </a:extLst>
          </p:cNvPr>
          <p:cNvGrpSpPr/>
          <p:nvPr/>
        </p:nvGrpSpPr>
        <p:grpSpPr>
          <a:xfrm>
            <a:off x="6434034" y="2945092"/>
            <a:ext cx="5078145" cy="351297"/>
            <a:chOff x="6434034" y="2945092"/>
            <a:chExt cx="5078145" cy="351297"/>
          </a:xfrm>
        </p:grpSpPr>
        <p:sp>
          <p:nvSpPr>
            <p:cNvPr id="73" name="文本框 72">
              <a:extLst>
                <a:ext uri="{FF2B5EF4-FFF2-40B4-BE49-F238E27FC236}">
                  <a16:creationId xmlns:a16="http://schemas.microsoft.com/office/drawing/2014/main" id="{0FAFDE13-1380-C448-2D75-ED63D30FE187}"/>
                </a:ext>
              </a:extLst>
            </p:cNvPr>
            <p:cNvSpPr txBox="1"/>
            <p:nvPr/>
          </p:nvSpPr>
          <p:spPr>
            <a:xfrm>
              <a:off x="6434034" y="2957835"/>
              <a:ext cx="5016596" cy="338554"/>
            </a:xfrm>
            <a:prstGeom prst="rect">
              <a:avLst/>
            </a:prstGeom>
            <a:noFill/>
          </p:spPr>
          <p:txBody>
            <a:bodyPr wrap="square" rtlCol="0">
              <a:spAutoFit/>
            </a:bodyPr>
            <a:lstStyle/>
            <a:p>
              <a:r>
                <a:rPr lang="zh-CN" altLang="en-US" sz="1600" dirty="0"/>
                <a:t>🔑 内核资源的安全回收</a:t>
              </a:r>
            </a:p>
          </p:txBody>
        </p:sp>
        <p:sp>
          <p:nvSpPr>
            <p:cNvPr id="77" name="矩形 76">
              <a:extLst>
                <a:ext uri="{FF2B5EF4-FFF2-40B4-BE49-F238E27FC236}">
                  <a16:creationId xmlns:a16="http://schemas.microsoft.com/office/drawing/2014/main" id="{28E646C4-1F6D-5008-2E9C-CB0567F4B747}"/>
                </a:ext>
              </a:extLst>
            </p:cNvPr>
            <p:cNvSpPr/>
            <p:nvPr/>
          </p:nvSpPr>
          <p:spPr>
            <a:xfrm>
              <a:off x="6495582" y="2945092"/>
              <a:ext cx="5016597" cy="328082"/>
            </a:xfrm>
            <a:custGeom>
              <a:avLst/>
              <a:gdLst>
                <a:gd name="csX0" fmla="*/ 0 w 5016597"/>
                <a:gd name="csY0" fmla="*/ 0 h 328082"/>
                <a:gd name="csX1" fmla="*/ 576909 w 5016597"/>
                <a:gd name="csY1" fmla="*/ 0 h 328082"/>
                <a:gd name="csX2" fmla="*/ 1053485 w 5016597"/>
                <a:gd name="csY2" fmla="*/ 0 h 328082"/>
                <a:gd name="csX3" fmla="*/ 1780892 w 5016597"/>
                <a:gd name="csY3" fmla="*/ 0 h 328082"/>
                <a:gd name="csX4" fmla="*/ 2357801 w 5016597"/>
                <a:gd name="csY4" fmla="*/ 0 h 328082"/>
                <a:gd name="csX5" fmla="*/ 2934709 w 5016597"/>
                <a:gd name="csY5" fmla="*/ 0 h 328082"/>
                <a:gd name="csX6" fmla="*/ 3662116 w 5016597"/>
                <a:gd name="csY6" fmla="*/ 0 h 328082"/>
                <a:gd name="csX7" fmla="*/ 4188858 w 5016597"/>
                <a:gd name="csY7" fmla="*/ 0 h 328082"/>
                <a:gd name="csX8" fmla="*/ 5016597 w 5016597"/>
                <a:gd name="csY8" fmla="*/ 0 h 328082"/>
                <a:gd name="csX9" fmla="*/ 5016597 w 5016597"/>
                <a:gd name="csY9" fmla="*/ 328082 h 328082"/>
                <a:gd name="csX10" fmla="*/ 4489854 w 5016597"/>
                <a:gd name="csY10" fmla="*/ 328082 h 328082"/>
                <a:gd name="csX11" fmla="*/ 3862780 w 5016597"/>
                <a:gd name="csY11" fmla="*/ 328082 h 328082"/>
                <a:gd name="csX12" fmla="*/ 3285871 w 5016597"/>
                <a:gd name="csY12" fmla="*/ 328082 h 328082"/>
                <a:gd name="csX13" fmla="*/ 2558464 w 5016597"/>
                <a:gd name="csY13" fmla="*/ 328082 h 328082"/>
                <a:gd name="csX14" fmla="*/ 1831058 w 5016597"/>
                <a:gd name="csY14" fmla="*/ 328082 h 328082"/>
                <a:gd name="csX15" fmla="*/ 1304315 w 5016597"/>
                <a:gd name="csY15" fmla="*/ 328082 h 328082"/>
                <a:gd name="csX16" fmla="*/ 677241 w 5016597"/>
                <a:gd name="csY16" fmla="*/ 328082 h 328082"/>
                <a:gd name="csX17" fmla="*/ 0 w 5016597"/>
                <a:gd name="csY17" fmla="*/ 328082 h 328082"/>
                <a:gd name="csX18" fmla="*/ 0 w 5016597"/>
                <a:gd name="csY18" fmla="*/ 0 h 3280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016597" h="328082" extrusionOk="0">
                  <a:moveTo>
                    <a:pt x="0" y="0"/>
                  </a:moveTo>
                  <a:cubicBezTo>
                    <a:pt x="175723" y="-8189"/>
                    <a:pt x="395371" y="25118"/>
                    <a:pt x="576909" y="0"/>
                  </a:cubicBezTo>
                  <a:cubicBezTo>
                    <a:pt x="758447" y="-25118"/>
                    <a:pt x="924279" y="23745"/>
                    <a:pt x="1053485" y="0"/>
                  </a:cubicBezTo>
                  <a:cubicBezTo>
                    <a:pt x="1182691" y="-23745"/>
                    <a:pt x="1515765" y="-29900"/>
                    <a:pt x="1780892" y="0"/>
                  </a:cubicBezTo>
                  <a:cubicBezTo>
                    <a:pt x="2046019" y="29900"/>
                    <a:pt x="2106006" y="-11849"/>
                    <a:pt x="2357801" y="0"/>
                  </a:cubicBezTo>
                  <a:cubicBezTo>
                    <a:pt x="2609596" y="11849"/>
                    <a:pt x="2717642" y="-11823"/>
                    <a:pt x="2934709" y="0"/>
                  </a:cubicBezTo>
                  <a:cubicBezTo>
                    <a:pt x="3151776" y="11823"/>
                    <a:pt x="3475850" y="-3392"/>
                    <a:pt x="3662116" y="0"/>
                  </a:cubicBezTo>
                  <a:cubicBezTo>
                    <a:pt x="3848382" y="3392"/>
                    <a:pt x="4082526" y="7705"/>
                    <a:pt x="4188858" y="0"/>
                  </a:cubicBezTo>
                  <a:cubicBezTo>
                    <a:pt x="4295190" y="-7705"/>
                    <a:pt x="4622999" y="-11411"/>
                    <a:pt x="5016597" y="0"/>
                  </a:cubicBezTo>
                  <a:cubicBezTo>
                    <a:pt x="5003759" y="153017"/>
                    <a:pt x="5009606" y="242929"/>
                    <a:pt x="5016597" y="328082"/>
                  </a:cubicBezTo>
                  <a:cubicBezTo>
                    <a:pt x="4790008" y="332810"/>
                    <a:pt x="4687698" y="320732"/>
                    <a:pt x="4489854" y="328082"/>
                  </a:cubicBezTo>
                  <a:cubicBezTo>
                    <a:pt x="4292010" y="335432"/>
                    <a:pt x="4112470" y="334477"/>
                    <a:pt x="3862780" y="328082"/>
                  </a:cubicBezTo>
                  <a:cubicBezTo>
                    <a:pt x="3613090" y="321687"/>
                    <a:pt x="3506066" y="349825"/>
                    <a:pt x="3285871" y="328082"/>
                  </a:cubicBezTo>
                  <a:cubicBezTo>
                    <a:pt x="3065676" y="306339"/>
                    <a:pt x="2880989" y="323413"/>
                    <a:pt x="2558464" y="328082"/>
                  </a:cubicBezTo>
                  <a:cubicBezTo>
                    <a:pt x="2235939" y="332751"/>
                    <a:pt x="2131029" y="322913"/>
                    <a:pt x="1831058" y="328082"/>
                  </a:cubicBezTo>
                  <a:cubicBezTo>
                    <a:pt x="1531087" y="333251"/>
                    <a:pt x="1447431" y="328785"/>
                    <a:pt x="1304315" y="328082"/>
                  </a:cubicBezTo>
                  <a:cubicBezTo>
                    <a:pt x="1161199" y="327379"/>
                    <a:pt x="888919" y="312076"/>
                    <a:pt x="677241" y="328082"/>
                  </a:cubicBezTo>
                  <a:cubicBezTo>
                    <a:pt x="465563" y="344088"/>
                    <a:pt x="164087" y="301950"/>
                    <a:pt x="0" y="328082"/>
                  </a:cubicBezTo>
                  <a:cubicBezTo>
                    <a:pt x="6311" y="175331"/>
                    <a:pt x="-13820" y="111274"/>
                    <a:pt x="0" y="0"/>
                  </a:cubicBezTo>
                  <a:close/>
                </a:path>
              </a:pathLst>
            </a:custGeom>
            <a:noFill/>
            <a:ln w="12700">
              <a:gradFill flip="none" rotWithShape="1">
                <a:gsLst>
                  <a:gs pos="0">
                    <a:schemeClr val="tx2"/>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9" name="组合 88">
            <a:extLst>
              <a:ext uri="{FF2B5EF4-FFF2-40B4-BE49-F238E27FC236}">
                <a16:creationId xmlns:a16="http://schemas.microsoft.com/office/drawing/2014/main" id="{EABFF06E-A216-4BA2-49C3-CD85D67C23F4}"/>
              </a:ext>
            </a:extLst>
          </p:cNvPr>
          <p:cNvGrpSpPr/>
          <p:nvPr/>
        </p:nvGrpSpPr>
        <p:grpSpPr>
          <a:xfrm>
            <a:off x="6443371" y="3354141"/>
            <a:ext cx="5068808" cy="338554"/>
            <a:chOff x="6443371" y="3354141"/>
            <a:chExt cx="5068808" cy="338554"/>
          </a:xfrm>
        </p:grpSpPr>
        <p:sp>
          <p:nvSpPr>
            <p:cNvPr id="72" name="文本框 71">
              <a:extLst>
                <a:ext uri="{FF2B5EF4-FFF2-40B4-BE49-F238E27FC236}">
                  <a16:creationId xmlns:a16="http://schemas.microsoft.com/office/drawing/2014/main" id="{2E882F48-5F6B-DA15-F442-4201DBB43A40}"/>
                </a:ext>
              </a:extLst>
            </p:cNvPr>
            <p:cNvSpPr txBox="1"/>
            <p:nvPr/>
          </p:nvSpPr>
          <p:spPr>
            <a:xfrm>
              <a:off x="6443371" y="3354141"/>
              <a:ext cx="3550596" cy="338554"/>
            </a:xfrm>
            <a:prstGeom prst="rect">
              <a:avLst/>
            </a:prstGeom>
            <a:noFill/>
          </p:spPr>
          <p:txBody>
            <a:bodyPr wrap="square" rtlCol="0">
              <a:spAutoFit/>
            </a:bodyPr>
            <a:lstStyle/>
            <a:p>
              <a:r>
                <a:rPr lang="zh-CN" altLang="en-US" sz="1600" dirty="0"/>
                <a:t>🔑 域状态数据的安全存储</a:t>
              </a:r>
            </a:p>
          </p:txBody>
        </p:sp>
        <p:sp>
          <p:nvSpPr>
            <p:cNvPr id="78" name="矩形 77">
              <a:extLst>
                <a:ext uri="{FF2B5EF4-FFF2-40B4-BE49-F238E27FC236}">
                  <a16:creationId xmlns:a16="http://schemas.microsoft.com/office/drawing/2014/main" id="{8548D9EA-1405-438F-1348-992868ABD492}"/>
                </a:ext>
              </a:extLst>
            </p:cNvPr>
            <p:cNvSpPr/>
            <p:nvPr/>
          </p:nvSpPr>
          <p:spPr>
            <a:xfrm>
              <a:off x="6495583" y="3359377"/>
              <a:ext cx="5016596" cy="328082"/>
            </a:xfrm>
            <a:custGeom>
              <a:avLst/>
              <a:gdLst>
                <a:gd name="csX0" fmla="*/ 0 w 5016596"/>
                <a:gd name="csY0" fmla="*/ 0 h 328082"/>
                <a:gd name="csX1" fmla="*/ 576909 w 5016596"/>
                <a:gd name="csY1" fmla="*/ 0 h 328082"/>
                <a:gd name="csX2" fmla="*/ 1053485 w 5016596"/>
                <a:gd name="csY2" fmla="*/ 0 h 328082"/>
                <a:gd name="csX3" fmla="*/ 1780892 w 5016596"/>
                <a:gd name="csY3" fmla="*/ 0 h 328082"/>
                <a:gd name="csX4" fmla="*/ 2357800 w 5016596"/>
                <a:gd name="csY4" fmla="*/ 0 h 328082"/>
                <a:gd name="csX5" fmla="*/ 2934709 w 5016596"/>
                <a:gd name="csY5" fmla="*/ 0 h 328082"/>
                <a:gd name="csX6" fmla="*/ 3662115 w 5016596"/>
                <a:gd name="csY6" fmla="*/ 0 h 328082"/>
                <a:gd name="csX7" fmla="*/ 4188858 w 5016596"/>
                <a:gd name="csY7" fmla="*/ 0 h 328082"/>
                <a:gd name="csX8" fmla="*/ 5016596 w 5016596"/>
                <a:gd name="csY8" fmla="*/ 0 h 328082"/>
                <a:gd name="csX9" fmla="*/ 5016596 w 5016596"/>
                <a:gd name="csY9" fmla="*/ 328082 h 328082"/>
                <a:gd name="csX10" fmla="*/ 4489853 w 5016596"/>
                <a:gd name="csY10" fmla="*/ 328082 h 328082"/>
                <a:gd name="csX11" fmla="*/ 3862779 w 5016596"/>
                <a:gd name="csY11" fmla="*/ 328082 h 328082"/>
                <a:gd name="csX12" fmla="*/ 3285870 w 5016596"/>
                <a:gd name="csY12" fmla="*/ 328082 h 328082"/>
                <a:gd name="csX13" fmla="*/ 2558464 w 5016596"/>
                <a:gd name="csY13" fmla="*/ 328082 h 328082"/>
                <a:gd name="csX14" fmla="*/ 1831058 w 5016596"/>
                <a:gd name="csY14" fmla="*/ 328082 h 328082"/>
                <a:gd name="csX15" fmla="*/ 1304315 w 5016596"/>
                <a:gd name="csY15" fmla="*/ 328082 h 328082"/>
                <a:gd name="csX16" fmla="*/ 677240 w 5016596"/>
                <a:gd name="csY16" fmla="*/ 328082 h 328082"/>
                <a:gd name="csX17" fmla="*/ 0 w 5016596"/>
                <a:gd name="csY17" fmla="*/ 328082 h 328082"/>
                <a:gd name="csX18" fmla="*/ 0 w 5016596"/>
                <a:gd name="csY18" fmla="*/ 0 h 3280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016596" h="328082" extrusionOk="0">
                  <a:moveTo>
                    <a:pt x="0" y="0"/>
                  </a:moveTo>
                  <a:cubicBezTo>
                    <a:pt x="175723" y="-8189"/>
                    <a:pt x="395371" y="25118"/>
                    <a:pt x="576909" y="0"/>
                  </a:cubicBezTo>
                  <a:cubicBezTo>
                    <a:pt x="758447" y="-25118"/>
                    <a:pt x="924279" y="23745"/>
                    <a:pt x="1053485" y="0"/>
                  </a:cubicBezTo>
                  <a:cubicBezTo>
                    <a:pt x="1182691" y="-23745"/>
                    <a:pt x="1515765" y="-29900"/>
                    <a:pt x="1780892" y="0"/>
                  </a:cubicBezTo>
                  <a:cubicBezTo>
                    <a:pt x="2046019" y="29900"/>
                    <a:pt x="2108494" y="-11830"/>
                    <a:pt x="2357800" y="0"/>
                  </a:cubicBezTo>
                  <a:cubicBezTo>
                    <a:pt x="2607106" y="11830"/>
                    <a:pt x="2715871" y="-16417"/>
                    <a:pt x="2934709" y="0"/>
                  </a:cubicBezTo>
                  <a:cubicBezTo>
                    <a:pt x="3153547" y="16417"/>
                    <a:pt x="3480401" y="633"/>
                    <a:pt x="3662115" y="0"/>
                  </a:cubicBezTo>
                  <a:cubicBezTo>
                    <a:pt x="3843829" y="-633"/>
                    <a:pt x="4079509" y="5447"/>
                    <a:pt x="4188858" y="0"/>
                  </a:cubicBezTo>
                  <a:cubicBezTo>
                    <a:pt x="4298207" y="-5447"/>
                    <a:pt x="4626422" y="-11366"/>
                    <a:pt x="5016596" y="0"/>
                  </a:cubicBezTo>
                  <a:cubicBezTo>
                    <a:pt x="5003758" y="153017"/>
                    <a:pt x="5009605" y="242929"/>
                    <a:pt x="5016596" y="328082"/>
                  </a:cubicBezTo>
                  <a:cubicBezTo>
                    <a:pt x="4790007" y="332810"/>
                    <a:pt x="4687697" y="320732"/>
                    <a:pt x="4489853" y="328082"/>
                  </a:cubicBezTo>
                  <a:cubicBezTo>
                    <a:pt x="4292009" y="335432"/>
                    <a:pt x="4112469" y="334477"/>
                    <a:pt x="3862779" y="328082"/>
                  </a:cubicBezTo>
                  <a:cubicBezTo>
                    <a:pt x="3613089" y="321687"/>
                    <a:pt x="3506065" y="349825"/>
                    <a:pt x="3285870" y="328082"/>
                  </a:cubicBezTo>
                  <a:cubicBezTo>
                    <a:pt x="3065675" y="306339"/>
                    <a:pt x="2878820" y="321738"/>
                    <a:pt x="2558464" y="328082"/>
                  </a:cubicBezTo>
                  <a:cubicBezTo>
                    <a:pt x="2238108" y="334426"/>
                    <a:pt x="2131029" y="322913"/>
                    <a:pt x="1831058" y="328082"/>
                  </a:cubicBezTo>
                  <a:cubicBezTo>
                    <a:pt x="1531087" y="333251"/>
                    <a:pt x="1447431" y="328785"/>
                    <a:pt x="1304315" y="328082"/>
                  </a:cubicBezTo>
                  <a:cubicBezTo>
                    <a:pt x="1161199" y="327379"/>
                    <a:pt x="894827" y="318288"/>
                    <a:pt x="677240" y="328082"/>
                  </a:cubicBezTo>
                  <a:cubicBezTo>
                    <a:pt x="459654" y="337876"/>
                    <a:pt x="162348" y="299936"/>
                    <a:pt x="0" y="328082"/>
                  </a:cubicBezTo>
                  <a:cubicBezTo>
                    <a:pt x="6311" y="175331"/>
                    <a:pt x="-13820" y="111274"/>
                    <a:pt x="0" y="0"/>
                  </a:cubicBezTo>
                  <a:close/>
                </a:path>
              </a:pathLst>
            </a:custGeom>
            <a:noFill/>
            <a:ln w="12700">
              <a:gradFill flip="none" rotWithShape="1">
                <a:gsLst>
                  <a:gs pos="0">
                    <a:schemeClr val="tx2"/>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 name="组合 89">
            <a:extLst>
              <a:ext uri="{FF2B5EF4-FFF2-40B4-BE49-F238E27FC236}">
                <a16:creationId xmlns:a16="http://schemas.microsoft.com/office/drawing/2014/main" id="{9E58751A-C02A-89D6-2645-8EE863057B82}"/>
              </a:ext>
            </a:extLst>
          </p:cNvPr>
          <p:cNvGrpSpPr/>
          <p:nvPr/>
        </p:nvGrpSpPr>
        <p:grpSpPr>
          <a:xfrm>
            <a:off x="6446588" y="3772032"/>
            <a:ext cx="5255748" cy="338554"/>
            <a:chOff x="6446588" y="3772032"/>
            <a:chExt cx="5255748" cy="338554"/>
          </a:xfrm>
        </p:grpSpPr>
        <p:sp>
          <p:nvSpPr>
            <p:cNvPr id="74" name="文本框 73">
              <a:extLst>
                <a:ext uri="{FF2B5EF4-FFF2-40B4-BE49-F238E27FC236}">
                  <a16:creationId xmlns:a16="http://schemas.microsoft.com/office/drawing/2014/main" id="{2653FD4A-B43D-17D9-5893-DAE532736117}"/>
                </a:ext>
              </a:extLst>
            </p:cNvPr>
            <p:cNvSpPr txBox="1"/>
            <p:nvPr/>
          </p:nvSpPr>
          <p:spPr>
            <a:xfrm>
              <a:off x="6446588" y="3772032"/>
              <a:ext cx="5255748" cy="338554"/>
            </a:xfrm>
            <a:prstGeom prst="rect">
              <a:avLst/>
            </a:prstGeom>
            <a:noFill/>
          </p:spPr>
          <p:txBody>
            <a:bodyPr wrap="square" rtlCol="0">
              <a:spAutoFit/>
            </a:bodyPr>
            <a:lstStyle/>
            <a:p>
              <a:r>
                <a:rPr lang="zh-CN" altLang="en-US" sz="1600" dirty="0"/>
                <a:t>🔑 内存访问的安全抽象</a:t>
              </a:r>
            </a:p>
          </p:txBody>
        </p:sp>
        <p:sp>
          <p:nvSpPr>
            <p:cNvPr id="79" name="矩形 78">
              <a:extLst>
                <a:ext uri="{FF2B5EF4-FFF2-40B4-BE49-F238E27FC236}">
                  <a16:creationId xmlns:a16="http://schemas.microsoft.com/office/drawing/2014/main" id="{1C5D9B02-73F6-D8C4-6DA2-4661688E808F}"/>
                </a:ext>
              </a:extLst>
            </p:cNvPr>
            <p:cNvSpPr/>
            <p:nvPr/>
          </p:nvSpPr>
          <p:spPr>
            <a:xfrm>
              <a:off x="6495583" y="3772032"/>
              <a:ext cx="5017732" cy="311324"/>
            </a:xfrm>
            <a:custGeom>
              <a:avLst/>
              <a:gdLst>
                <a:gd name="csX0" fmla="*/ 0 w 5017732"/>
                <a:gd name="csY0" fmla="*/ 0 h 311324"/>
                <a:gd name="csX1" fmla="*/ 577039 w 5017732"/>
                <a:gd name="csY1" fmla="*/ 0 h 311324"/>
                <a:gd name="csX2" fmla="*/ 1053724 w 5017732"/>
                <a:gd name="csY2" fmla="*/ 0 h 311324"/>
                <a:gd name="csX3" fmla="*/ 1781295 w 5017732"/>
                <a:gd name="csY3" fmla="*/ 0 h 311324"/>
                <a:gd name="csX4" fmla="*/ 2358334 w 5017732"/>
                <a:gd name="csY4" fmla="*/ 0 h 311324"/>
                <a:gd name="csX5" fmla="*/ 2935373 w 5017732"/>
                <a:gd name="csY5" fmla="*/ 0 h 311324"/>
                <a:gd name="csX6" fmla="*/ 3662944 w 5017732"/>
                <a:gd name="csY6" fmla="*/ 0 h 311324"/>
                <a:gd name="csX7" fmla="*/ 4189806 w 5017732"/>
                <a:gd name="csY7" fmla="*/ 0 h 311324"/>
                <a:gd name="csX8" fmla="*/ 5017732 w 5017732"/>
                <a:gd name="csY8" fmla="*/ 0 h 311324"/>
                <a:gd name="csX9" fmla="*/ 5017732 w 5017732"/>
                <a:gd name="csY9" fmla="*/ 311324 h 311324"/>
                <a:gd name="csX10" fmla="*/ 4490870 w 5017732"/>
                <a:gd name="csY10" fmla="*/ 311324 h 311324"/>
                <a:gd name="csX11" fmla="*/ 3863654 w 5017732"/>
                <a:gd name="csY11" fmla="*/ 311324 h 311324"/>
                <a:gd name="csX12" fmla="*/ 3286614 w 5017732"/>
                <a:gd name="csY12" fmla="*/ 311324 h 311324"/>
                <a:gd name="csX13" fmla="*/ 2559043 w 5017732"/>
                <a:gd name="csY13" fmla="*/ 311324 h 311324"/>
                <a:gd name="csX14" fmla="*/ 1831472 w 5017732"/>
                <a:gd name="csY14" fmla="*/ 311324 h 311324"/>
                <a:gd name="csX15" fmla="*/ 1304610 w 5017732"/>
                <a:gd name="csY15" fmla="*/ 311324 h 311324"/>
                <a:gd name="csX16" fmla="*/ 677394 w 5017732"/>
                <a:gd name="csY16" fmla="*/ 311324 h 311324"/>
                <a:gd name="csX17" fmla="*/ 0 w 5017732"/>
                <a:gd name="csY17" fmla="*/ 311324 h 311324"/>
                <a:gd name="csX18" fmla="*/ 0 w 5017732"/>
                <a:gd name="csY18" fmla="*/ 0 h 3113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017732" h="311324" extrusionOk="0">
                  <a:moveTo>
                    <a:pt x="0" y="0"/>
                  </a:moveTo>
                  <a:cubicBezTo>
                    <a:pt x="240824" y="4786"/>
                    <a:pt x="377012" y="1213"/>
                    <a:pt x="577039" y="0"/>
                  </a:cubicBezTo>
                  <a:cubicBezTo>
                    <a:pt x="777066" y="-1213"/>
                    <a:pt x="907442" y="-21219"/>
                    <a:pt x="1053724" y="0"/>
                  </a:cubicBezTo>
                  <a:cubicBezTo>
                    <a:pt x="1200007" y="21219"/>
                    <a:pt x="1607542" y="4999"/>
                    <a:pt x="1781295" y="0"/>
                  </a:cubicBezTo>
                  <a:cubicBezTo>
                    <a:pt x="1955048" y="-4999"/>
                    <a:pt x="2129194" y="-14260"/>
                    <a:pt x="2358334" y="0"/>
                  </a:cubicBezTo>
                  <a:cubicBezTo>
                    <a:pt x="2587474" y="14260"/>
                    <a:pt x="2659443" y="21126"/>
                    <a:pt x="2935373" y="0"/>
                  </a:cubicBezTo>
                  <a:cubicBezTo>
                    <a:pt x="3211303" y="-21126"/>
                    <a:pt x="3385000" y="-8620"/>
                    <a:pt x="3662944" y="0"/>
                  </a:cubicBezTo>
                  <a:cubicBezTo>
                    <a:pt x="3940888" y="8620"/>
                    <a:pt x="4037518" y="146"/>
                    <a:pt x="4189806" y="0"/>
                  </a:cubicBezTo>
                  <a:cubicBezTo>
                    <a:pt x="4342094" y="-146"/>
                    <a:pt x="4728851" y="-19835"/>
                    <a:pt x="5017732" y="0"/>
                  </a:cubicBezTo>
                  <a:cubicBezTo>
                    <a:pt x="5011403" y="94163"/>
                    <a:pt x="5021317" y="217394"/>
                    <a:pt x="5017732" y="311324"/>
                  </a:cubicBezTo>
                  <a:cubicBezTo>
                    <a:pt x="4854828" y="316742"/>
                    <a:pt x="4728813" y="287566"/>
                    <a:pt x="4490870" y="311324"/>
                  </a:cubicBezTo>
                  <a:cubicBezTo>
                    <a:pt x="4252927" y="335082"/>
                    <a:pt x="4052879" y="307672"/>
                    <a:pt x="3863654" y="311324"/>
                  </a:cubicBezTo>
                  <a:cubicBezTo>
                    <a:pt x="3674429" y="314976"/>
                    <a:pt x="3539933" y="317606"/>
                    <a:pt x="3286614" y="311324"/>
                  </a:cubicBezTo>
                  <a:cubicBezTo>
                    <a:pt x="3033295" y="305042"/>
                    <a:pt x="2800723" y="290335"/>
                    <a:pt x="2559043" y="311324"/>
                  </a:cubicBezTo>
                  <a:cubicBezTo>
                    <a:pt x="2317363" y="332313"/>
                    <a:pt x="2182799" y="292154"/>
                    <a:pt x="1831472" y="311324"/>
                  </a:cubicBezTo>
                  <a:cubicBezTo>
                    <a:pt x="1480145" y="330494"/>
                    <a:pt x="1549357" y="296982"/>
                    <a:pt x="1304610" y="311324"/>
                  </a:cubicBezTo>
                  <a:cubicBezTo>
                    <a:pt x="1059863" y="325666"/>
                    <a:pt x="975444" y="299242"/>
                    <a:pt x="677394" y="311324"/>
                  </a:cubicBezTo>
                  <a:cubicBezTo>
                    <a:pt x="379344" y="323406"/>
                    <a:pt x="226981" y="322353"/>
                    <a:pt x="0" y="311324"/>
                  </a:cubicBezTo>
                  <a:cubicBezTo>
                    <a:pt x="11265" y="192492"/>
                    <a:pt x="-4711" y="130476"/>
                    <a:pt x="0" y="0"/>
                  </a:cubicBezTo>
                  <a:close/>
                </a:path>
              </a:pathLst>
            </a:custGeom>
            <a:noFill/>
            <a:ln w="12700">
              <a:gradFill flip="none" rotWithShape="1">
                <a:gsLst>
                  <a:gs pos="0">
                    <a:schemeClr val="tx2"/>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a:extLst>
              <a:ext uri="{FF2B5EF4-FFF2-40B4-BE49-F238E27FC236}">
                <a16:creationId xmlns:a16="http://schemas.microsoft.com/office/drawing/2014/main" id="{23D3184A-2734-AAE5-E19A-071009D1EBB8}"/>
              </a:ext>
            </a:extLst>
          </p:cNvPr>
          <p:cNvGrpSpPr/>
          <p:nvPr/>
        </p:nvGrpSpPr>
        <p:grpSpPr>
          <a:xfrm>
            <a:off x="6443370" y="4164598"/>
            <a:ext cx="5068809" cy="338554"/>
            <a:chOff x="6443370" y="4164598"/>
            <a:chExt cx="5068809" cy="338554"/>
          </a:xfrm>
        </p:grpSpPr>
        <p:sp>
          <p:nvSpPr>
            <p:cNvPr id="75" name="文本框 74">
              <a:extLst>
                <a:ext uri="{FF2B5EF4-FFF2-40B4-BE49-F238E27FC236}">
                  <a16:creationId xmlns:a16="http://schemas.microsoft.com/office/drawing/2014/main" id="{D90CFD69-A9CF-EF1A-8A45-C80A603A5626}"/>
                </a:ext>
              </a:extLst>
            </p:cNvPr>
            <p:cNvSpPr txBox="1"/>
            <p:nvPr/>
          </p:nvSpPr>
          <p:spPr>
            <a:xfrm>
              <a:off x="6443370" y="4164598"/>
              <a:ext cx="3550597" cy="338554"/>
            </a:xfrm>
            <a:prstGeom prst="rect">
              <a:avLst/>
            </a:prstGeom>
            <a:noFill/>
          </p:spPr>
          <p:txBody>
            <a:bodyPr wrap="square" rtlCol="0">
              <a:spAutoFit/>
            </a:bodyPr>
            <a:lstStyle/>
            <a:p>
              <a:r>
                <a:rPr lang="zh-CN" altLang="en-US" sz="1600" dirty="0"/>
                <a:t>🔑 指针对象的安全抽象</a:t>
              </a:r>
              <a:endParaRPr lang="zh-CN" altLang="en-US" sz="1600" b="1" dirty="0">
                <a:solidFill>
                  <a:srgbClr val="FF0000"/>
                </a:solidFill>
              </a:endParaRPr>
            </a:p>
          </p:txBody>
        </p:sp>
        <p:sp>
          <p:nvSpPr>
            <p:cNvPr id="80" name="矩形 79">
              <a:extLst>
                <a:ext uri="{FF2B5EF4-FFF2-40B4-BE49-F238E27FC236}">
                  <a16:creationId xmlns:a16="http://schemas.microsoft.com/office/drawing/2014/main" id="{C04FEFB3-E393-B1F3-9338-E057C23BD242}"/>
                </a:ext>
              </a:extLst>
            </p:cNvPr>
            <p:cNvSpPr/>
            <p:nvPr/>
          </p:nvSpPr>
          <p:spPr>
            <a:xfrm>
              <a:off x="6495583" y="4169834"/>
              <a:ext cx="5016596" cy="328082"/>
            </a:xfrm>
            <a:custGeom>
              <a:avLst/>
              <a:gdLst>
                <a:gd name="csX0" fmla="*/ 0 w 5016596"/>
                <a:gd name="csY0" fmla="*/ 0 h 328082"/>
                <a:gd name="csX1" fmla="*/ 576909 w 5016596"/>
                <a:gd name="csY1" fmla="*/ 0 h 328082"/>
                <a:gd name="csX2" fmla="*/ 1053485 w 5016596"/>
                <a:gd name="csY2" fmla="*/ 0 h 328082"/>
                <a:gd name="csX3" fmla="*/ 1780892 w 5016596"/>
                <a:gd name="csY3" fmla="*/ 0 h 328082"/>
                <a:gd name="csX4" fmla="*/ 2357800 w 5016596"/>
                <a:gd name="csY4" fmla="*/ 0 h 328082"/>
                <a:gd name="csX5" fmla="*/ 2934709 w 5016596"/>
                <a:gd name="csY5" fmla="*/ 0 h 328082"/>
                <a:gd name="csX6" fmla="*/ 3662115 w 5016596"/>
                <a:gd name="csY6" fmla="*/ 0 h 328082"/>
                <a:gd name="csX7" fmla="*/ 4188858 w 5016596"/>
                <a:gd name="csY7" fmla="*/ 0 h 328082"/>
                <a:gd name="csX8" fmla="*/ 5016596 w 5016596"/>
                <a:gd name="csY8" fmla="*/ 0 h 328082"/>
                <a:gd name="csX9" fmla="*/ 5016596 w 5016596"/>
                <a:gd name="csY9" fmla="*/ 328082 h 328082"/>
                <a:gd name="csX10" fmla="*/ 4489853 w 5016596"/>
                <a:gd name="csY10" fmla="*/ 328082 h 328082"/>
                <a:gd name="csX11" fmla="*/ 3862779 w 5016596"/>
                <a:gd name="csY11" fmla="*/ 328082 h 328082"/>
                <a:gd name="csX12" fmla="*/ 3285870 w 5016596"/>
                <a:gd name="csY12" fmla="*/ 328082 h 328082"/>
                <a:gd name="csX13" fmla="*/ 2558464 w 5016596"/>
                <a:gd name="csY13" fmla="*/ 328082 h 328082"/>
                <a:gd name="csX14" fmla="*/ 1831058 w 5016596"/>
                <a:gd name="csY14" fmla="*/ 328082 h 328082"/>
                <a:gd name="csX15" fmla="*/ 1304315 w 5016596"/>
                <a:gd name="csY15" fmla="*/ 328082 h 328082"/>
                <a:gd name="csX16" fmla="*/ 677240 w 5016596"/>
                <a:gd name="csY16" fmla="*/ 328082 h 328082"/>
                <a:gd name="csX17" fmla="*/ 0 w 5016596"/>
                <a:gd name="csY17" fmla="*/ 328082 h 328082"/>
                <a:gd name="csX18" fmla="*/ 0 w 5016596"/>
                <a:gd name="csY18" fmla="*/ 0 h 3280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016596" h="328082" extrusionOk="0">
                  <a:moveTo>
                    <a:pt x="0" y="0"/>
                  </a:moveTo>
                  <a:cubicBezTo>
                    <a:pt x="175723" y="-8189"/>
                    <a:pt x="395371" y="25118"/>
                    <a:pt x="576909" y="0"/>
                  </a:cubicBezTo>
                  <a:cubicBezTo>
                    <a:pt x="758447" y="-25118"/>
                    <a:pt x="924279" y="23745"/>
                    <a:pt x="1053485" y="0"/>
                  </a:cubicBezTo>
                  <a:cubicBezTo>
                    <a:pt x="1182691" y="-23745"/>
                    <a:pt x="1515765" y="-29900"/>
                    <a:pt x="1780892" y="0"/>
                  </a:cubicBezTo>
                  <a:cubicBezTo>
                    <a:pt x="2046019" y="29900"/>
                    <a:pt x="2108494" y="-11830"/>
                    <a:pt x="2357800" y="0"/>
                  </a:cubicBezTo>
                  <a:cubicBezTo>
                    <a:pt x="2607106" y="11830"/>
                    <a:pt x="2715871" y="-16417"/>
                    <a:pt x="2934709" y="0"/>
                  </a:cubicBezTo>
                  <a:cubicBezTo>
                    <a:pt x="3153547" y="16417"/>
                    <a:pt x="3480401" y="633"/>
                    <a:pt x="3662115" y="0"/>
                  </a:cubicBezTo>
                  <a:cubicBezTo>
                    <a:pt x="3843829" y="-633"/>
                    <a:pt x="4079509" y="5447"/>
                    <a:pt x="4188858" y="0"/>
                  </a:cubicBezTo>
                  <a:cubicBezTo>
                    <a:pt x="4298207" y="-5447"/>
                    <a:pt x="4626422" y="-11366"/>
                    <a:pt x="5016596" y="0"/>
                  </a:cubicBezTo>
                  <a:cubicBezTo>
                    <a:pt x="5003758" y="153017"/>
                    <a:pt x="5009605" y="242929"/>
                    <a:pt x="5016596" y="328082"/>
                  </a:cubicBezTo>
                  <a:cubicBezTo>
                    <a:pt x="4790007" y="332810"/>
                    <a:pt x="4687697" y="320732"/>
                    <a:pt x="4489853" y="328082"/>
                  </a:cubicBezTo>
                  <a:cubicBezTo>
                    <a:pt x="4292009" y="335432"/>
                    <a:pt x="4112469" y="334477"/>
                    <a:pt x="3862779" y="328082"/>
                  </a:cubicBezTo>
                  <a:cubicBezTo>
                    <a:pt x="3613089" y="321687"/>
                    <a:pt x="3506065" y="349825"/>
                    <a:pt x="3285870" y="328082"/>
                  </a:cubicBezTo>
                  <a:cubicBezTo>
                    <a:pt x="3065675" y="306339"/>
                    <a:pt x="2878820" y="321738"/>
                    <a:pt x="2558464" y="328082"/>
                  </a:cubicBezTo>
                  <a:cubicBezTo>
                    <a:pt x="2238108" y="334426"/>
                    <a:pt x="2131029" y="322913"/>
                    <a:pt x="1831058" y="328082"/>
                  </a:cubicBezTo>
                  <a:cubicBezTo>
                    <a:pt x="1531087" y="333251"/>
                    <a:pt x="1447431" y="328785"/>
                    <a:pt x="1304315" y="328082"/>
                  </a:cubicBezTo>
                  <a:cubicBezTo>
                    <a:pt x="1161199" y="327379"/>
                    <a:pt x="894827" y="318288"/>
                    <a:pt x="677240" y="328082"/>
                  </a:cubicBezTo>
                  <a:cubicBezTo>
                    <a:pt x="459654" y="337876"/>
                    <a:pt x="162348" y="299936"/>
                    <a:pt x="0" y="328082"/>
                  </a:cubicBezTo>
                  <a:cubicBezTo>
                    <a:pt x="6311" y="175331"/>
                    <a:pt x="-13820" y="111274"/>
                    <a:pt x="0" y="0"/>
                  </a:cubicBezTo>
                  <a:close/>
                </a:path>
              </a:pathLst>
            </a:custGeom>
            <a:noFill/>
            <a:ln w="12700">
              <a:gradFill flip="none" rotWithShape="1">
                <a:gsLst>
                  <a:gs pos="0">
                    <a:schemeClr val="tx2"/>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4" name="组合 83">
            <a:extLst>
              <a:ext uri="{FF2B5EF4-FFF2-40B4-BE49-F238E27FC236}">
                <a16:creationId xmlns:a16="http://schemas.microsoft.com/office/drawing/2014/main" id="{7CD6B228-2287-5A1D-45C3-E679884DDA10}"/>
              </a:ext>
            </a:extLst>
          </p:cNvPr>
          <p:cNvGrpSpPr/>
          <p:nvPr/>
        </p:nvGrpSpPr>
        <p:grpSpPr>
          <a:xfrm>
            <a:off x="6437397" y="1010969"/>
            <a:ext cx="5331870" cy="624980"/>
            <a:chOff x="6437397" y="1010969"/>
            <a:chExt cx="5331870" cy="624980"/>
          </a:xfrm>
        </p:grpSpPr>
        <p:sp>
          <p:nvSpPr>
            <p:cNvPr id="66" name="矩形 65">
              <a:extLst>
                <a:ext uri="{FF2B5EF4-FFF2-40B4-BE49-F238E27FC236}">
                  <a16:creationId xmlns:a16="http://schemas.microsoft.com/office/drawing/2014/main" id="{8E372770-C898-7D71-1828-7D70BDDCD66A}"/>
                </a:ext>
              </a:extLst>
            </p:cNvPr>
            <p:cNvSpPr/>
            <p:nvPr/>
          </p:nvSpPr>
          <p:spPr>
            <a:xfrm>
              <a:off x="6437397" y="1010969"/>
              <a:ext cx="5331870" cy="624980"/>
            </a:xfrm>
            <a:prstGeom prst="rect">
              <a:avLst/>
            </a:prstGeom>
            <a:no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67" name="菱形 66">
              <a:extLst>
                <a:ext uri="{FF2B5EF4-FFF2-40B4-BE49-F238E27FC236}">
                  <a16:creationId xmlns:a16="http://schemas.microsoft.com/office/drawing/2014/main" id="{21DD9AD9-1F34-B5BD-4038-4161A762B06E}"/>
                </a:ext>
              </a:extLst>
            </p:cNvPr>
            <p:cNvSpPr/>
            <p:nvPr/>
          </p:nvSpPr>
          <p:spPr>
            <a:xfrm>
              <a:off x="6481657" y="1076960"/>
              <a:ext cx="214562" cy="201542"/>
            </a:xfrm>
            <a:prstGeom prst="diamond">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81" name="文本框 80">
              <a:extLst>
                <a:ext uri="{FF2B5EF4-FFF2-40B4-BE49-F238E27FC236}">
                  <a16:creationId xmlns:a16="http://schemas.microsoft.com/office/drawing/2014/main" id="{E79C8815-5031-79BF-5C87-0536FAEADDA7}"/>
                </a:ext>
              </a:extLst>
            </p:cNvPr>
            <p:cNvSpPr txBox="1"/>
            <p:nvPr/>
          </p:nvSpPr>
          <p:spPr>
            <a:xfrm>
              <a:off x="6696219" y="1032497"/>
              <a:ext cx="5073048" cy="584775"/>
            </a:xfrm>
            <a:prstGeom prst="rect">
              <a:avLst/>
            </a:prstGeom>
            <a:noFill/>
          </p:spPr>
          <p:txBody>
            <a:bodyPr wrap="square">
              <a:spAutoFit/>
            </a:bodyPr>
            <a:lstStyle/>
            <a:p>
              <a:r>
                <a:rPr lang="zh-CN" altLang="en-US" sz="1600" b="1" dirty="0"/>
                <a:t>域基础库中对低级内核资源的不安全操作进行了封装和安全抽象，并为隔离域暴露出安全的接口</a:t>
              </a:r>
            </a:p>
          </p:txBody>
        </p:sp>
      </p:grpSp>
      <p:sp>
        <p:nvSpPr>
          <p:cNvPr id="83" name="矩形 82">
            <a:extLst>
              <a:ext uri="{FF2B5EF4-FFF2-40B4-BE49-F238E27FC236}">
                <a16:creationId xmlns:a16="http://schemas.microsoft.com/office/drawing/2014/main" id="{B396FF6B-7F2E-DDF7-BA92-52CAAC428C90}"/>
              </a:ext>
            </a:extLst>
          </p:cNvPr>
          <p:cNvSpPr/>
          <p:nvPr/>
        </p:nvSpPr>
        <p:spPr>
          <a:xfrm>
            <a:off x="833120" y="3429000"/>
            <a:ext cx="5027058" cy="990600"/>
          </a:xfrm>
          <a:custGeom>
            <a:avLst/>
            <a:gdLst>
              <a:gd name="csX0" fmla="*/ 0 w 5027058"/>
              <a:gd name="csY0" fmla="*/ 0 h 990600"/>
              <a:gd name="csX1" fmla="*/ 508291 w 5027058"/>
              <a:gd name="csY1" fmla="*/ 0 h 990600"/>
              <a:gd name="csX2" fmla="*/ 916042 w 5027058"/>
              <a:gd name="csY2" fmla="*/ 0 h 990600"/>
              <a:gd name="csX3" fmla="*/ 1575145 w 5027058"/>
              <a:gd name="csY3" fmla="*/ 0 h 990600"/>
              <a:gd name="csX4" fmla="*/ 2083436 w 5027058"/>
              <a:gd name="csY4" fmla="*/ 0 h 990600"/>
              <a:gd name="csX5" fmla="*/ 2591728 w 5027058"/>
              <a:gd name="csY5" fmla="*/ 0 h 990600"/>
              <a:gd name="csX6" fmla="*/ 3250831 w 5027058"/>
              <a:gd name="csY6" fmla="*/ 0 h 990600"/>
              <a:gd name="csX7" fmla="*/ 3708852 w 5027058"/>
              <a:gd name="csY7" fmla="*/ 0 h 990600"/>
              <a:gd name="csX8" fmla="*/ 4367955 w 5027058"/>
              <a:gd name="csY8" fmla="*/ 0 h 990600"/>
              <a:gd name="csX9" fmla="*/ 5027058 w 5027058"/>
              <a:gd name="csY9" fmla="*/ 0 h 990600"/>
              <a:gd name="csX10" fmla="*/ 5027058 w 5027058"/>
              <a:gd name="csY10" fmla="*/ 495300 h 990600"/>
              <a:gd name="csX11" fmla="*/ 5027058 w 5027058"/>
              <a:gd name="csY11" fmla="*/ 990600 h 990600"/>
              <a:gd name="csX12" fmla="*/ 4418225 w 5027058"/>
              <a:gd name="csY12" fmla="*/ 990600 h 990600"/>
              <a:gd name="csX13" fmla="*/ 3759122 w 5027058"/>
              <a:gd name="csY13" fmla="*/ 990600 h 990600"/>
              <a:gd name="csX14" fmla="*/ 3100019 w 5027058"/>
              <a:gd name="csY14" fmla="*/ 990600 h 990600"/>
              <a:gd name="csX15" fmla="*/ 2641998 w 5027058"/>
              <a:gd name="csY15" fmla="*/ 990600 h 990600"/>
              <a:gd name="csX16" fmla="*/ 2083436 w 5027058"/>
              <a:gd name="csY16" fmla="*/ 990600 h 990600"/>
              <a:gd name="csX17" fmla="*/ 1424333 w 5027058"/>
              <a:gd name="csY17" fmla="*/ 990600 h 990600"/>
              <a:gd name="csX18" fmla="*/ 865771 w 5027058"/>
              <a:gd name="csY18" fmla="*/ 990600 h 990600"/>
              <a:gd name="csX19" fmla="*/ 0 w 5027058"/>
              <a:gd name="csY19" fmla="*/ 990600 h 990600"/>
              <a:gd name="csX20" fmla="*/ 0 w 5027058"/>
              <a:gd name="csY20" fmla="*/ 515112 h 990600"/>
              <a:gd name="csX21" fmla="*/ 0 w 5027058"/>
              <a:gd name="csY21" fmla="*/ 0 h 990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5027058" h="990600" extrusionOk="0">
                <a:moveTo>
                  <a:pt x="0" y="0"/>
                </a:moveTo>
                <a:cubicBezTo>
                  <a:pt x="191033" y="-13643"/>
                  <a:pt x="394318" y="53615"/>
                  <a:pt x="508291" y="0"/>
                </a:cubicBezTo>
                <a:cubicBezTo>
                  <a:pt x="622264" y="-53615"/>
                  <a:pt x="785744" y="7362"/>
                  <a:pt x="916042" y="0"/>
                </a:cubicBezTo>
                <a:cubicBezTo>
                  <a:pt x="1046340" y="-7362"/>
                  <a:pt x="1318356" y="79053"/>
                  <a:pt x="1575145" y="0"/>
                </a:cubicBezTo>
                <a:cubicBezTo>
                  <a:pt x="1831934" y="-79053"/>
                  <a:pt x="1834947" y="15702"/>
                  <a:pt x="2083436" y="0"/>
                </a:cubicBezTo>
                <a:cubicBezTo>
                  <a:pt x="2331925" y="-15702"/>
                  <a:pt x="2346459" y="43500"/>
                  <a:pt x="2591728" y="0"/>
                </a:cubicBezTo>
                <a:cubicBezTo>
                  <a:pt x="2836997" y="-43500"/>
                  <a:pt x="2938434" y="30578"/>
                  <a:pt x="3250831" y="0"/>
                </a:cubicBezTo>
                <a:cubicBezTo>
                  <a:pt x="3563228" y="-30578"/>
                  <a:pt x="3606778" y="23969"/>
                  <a:pt x="3708852" y="0"/>
                </a:cubicBezTo>
                <a:cubicBezTo>
                  <a:pt x="3810926" y="-23969"/>
                  <a:pt x="4124918" y="25729"/>
                  <a:pt x="4367955" y="0"/>
                </a:cubicBezTo>
                <a:cubicBezTo>
                  <a:pt x="4610992" y="-25729"/>
                  <a:pt x="4732721" y="45838"/>
                  <a:pt x="5027058" y="0"/>
                </a:cubicBezTo>
                <a:cubicBezTo>
                  <a:pt x="5030141" y="185781"/>
                  <a:pt x="5007687" y="272620"/>
                  <a:pt x="5027058" y="495300"/>
                </a:cubicBezTo>
                <a:cubicBezTo>
                  <a:pt x="5046429" y="717980"/>
                  <a:pt x="4973055" y="819614"/>
                  <a:pt x="5027058" y="990600"/>
                </a:cubicBezTo>
                <a:cubicBezTo>
                  <a:pt x="4779377" y="1055266"/>
                  <a:pt x="4662584" y="943769"/>
                  <a:pt x="4418225" y="990600"/>
                </a:cubicBezTo>
                <a:cubicBezTo>
                  <a:pt x="4173866" y="1037431"/>
                  <a:pt x="4038295" y="960642"/>
                  <a:pt x="3759122" y="990600"/>
                </a:cubicBezTo>
                <a:cubicBezTo>
                  <a:pt x="3479949" y="1020558"/>
                  <a:pt x="3329999" y="953478"/>
                  <a:pt x="3100019" y="990600"/>
                </a:cubicBezTo>
                <a:cubicBezTo>
                  <a:pt x="2870039" y="1027722"/>
                  <a:pt x="2823752" y="964399"/>
                  <a:pt x="2641998" y="990600"/>
                </a:cubicBezTo>
                <a:cubicBezTo>
                  <a:pt x="2460244" y="1016801"/>
                  <a:pt x="2326413" y="967363"/>
                  <a:pt x="2083436" y="990600"/>
                </a:cubicBezTo>
                <a:cubicBezTo>
                  <a:pt x="1840459" y="1013837"/>
                  <a:pt x="1678101" y="971336"/>
                  <a:pt x="1424333" y="990600"/>
                </a:cubicBezTo>
                <a:cubicBezTo>
                  <a:pt x="1170565" y="1009864"/>
                  <a:pt x="1085236" y="950945"/>
                  <a:pt x="865771" y="990600"/>
                </a:cubicBezTo>
                <a:cubicBezTo>
                  <a:pt x="646306" y="1030255"/>
                  <a:pt x="280349" y="901466"/>
                  <a:pt x="0" y="990600"/>
                </a:cubicBezTo>
                <a:cubicBezTo>
                  <a:pt x="-11840" y="786971"/>
                  <a:pt x="54507" y="734555"/>
                  <a:pt x="0" y="515112"/>
                </a:cubicBezTo>
                <a:cubicBezTo>
                  <a:pt x="-54507" y="295669"/>
                  <a:pt x="7852" y="256145"/>
                  <a:pt x="0" y="0"/>
                </a:cubicBezTo>
                <a:close/>
              </a:path>
            </a:pathLst>
          </a:custGeom>
          <a:noFill/>
          <a:ln w="28575">
            <a:solidFill>
              <a:srgbClr val="FF0000"/>
            </a:solidFill>
            <a:prstDash val="dash"/>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02501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wipe(left)">
                                      <p:cBhvr>
                                        <p:cTn id="7" dur="500"/>
                                        <p:tgtEl>
                                          <p:spTgt spid="84"/>
                                        </p:tgtEl>
                                      </p:cBhvr>
                                    </p:animEffect>
                                  </p:childTnLst>
                                </p:cTn>
                              </p:par>
                            </p:childTnLst>
                          </p:cTn>
                        </p:par>
                        <p:par>
                          <p:cTn id="8" fill="hold">
                            <p:stCondLst>
                              <p:cond delay="500"/>
                            </p:stCondLst>
                            <p:childTnLst>
                              <p:par>
                                <p:cTn id="9" presetID="13" presetClass="entr" presetSubtype="16" fill="hold" grpId="0" nodeType="afterEffect">
                                  <p:stCondLst>
                                    <p:cond delay="0"/>
                                  </p:stCondLst>
                                  <p:childTnLst>
                                    <p:set>
                                      <p:cBhvr>
                                        <p:cTn id="10" dur="1" fill="hold">
                                          <p:stCondLst>
                                            <p:cond delay="0"/>
                                          </p:stCondLst>
                                        </p:cTn>
                                        <p:tgtEl>
                                          <p:spTgt spid="83"/>
                                        </p:tgtEl>
                                        <p:attrNameLst>
                                          <p:attrName>style.visibility</p:attrName>
                                        </p:attrNameLst>
                                      </p:cBhvr>
                                      <p:to>
                                        <p:strVal val="visible"/>
                                      </p:to>
                                    </p:set>
                                    <p:animEffect transition="in" filter="plus(in)">
                                      <p:cBhvr>
                                        <p:cTn id="11" dur="2000"/>
                                        <p:tgtEl>
                                          <p:spTgt spid="8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86"/>
                                        </p:tgtEl>
                                        <p:attrNameLst>
                                          <p:attrName>style.visibility</p:attrName>
                                        </p:attrNameLst>
                                      </p:cBhvr>
                                      <p:to>
                                        <p:strVal val="visible"/>
                                      </p:to>
                                    </p:set>
                                    <p:animEffect transition="in" filter="wipe(up)">
                                      <p:cBhvr>
                                        <p:cTn id="16" dur="750"/>
                                        <p:tgtEl>
                                          <p:spTgt spid="86"/>
                                        </p:tgtEl>
                                      </p:cBhvr>
                                    </p:animEffect>
                                  </p:childTnLst>
                                </p:cTn>
                              </p:par>
                            </p:childTnLst>
                          </p:cTn>
                        </p:par>
                        <p:par>
                          <p:cTn id="17" fill="hold">
                            <p:stCondLst>
                              <p:cond delay="750"/>
                            </p:stCondLst>
                            <p:childTnLst>
                              <p:par>
                                <p:cTn id="18" presetID="22" presetClass="entr" presetSubtype="1" fill="hold" nodeType="afterEffect">
                                  <p:stCondLst>
                                    <p:cond delay="0"/>
                                  </p:stCondLst>
                                  <p:childTnLst>
                                    <p:set>
                                      <p:cBhvr>
                                        <p:cTn id="19" dur="1" fill="hold">
                                          <p:stCondLst>
                                            <p:cond delay="0"/>
                                          </p:stCondLst>
                                        </p:cTn>
                                        <p:tgtEl>
                                          <p:spTgt spid="87"/>
                                        </p:tgtEl>
                                        <p:attrNameLst>
                                          <p:attrName>style.visibility</p:attrName>
                                        </p:attrNameLst>
                                      </p:cBhvr>
                                      <p:to>
                                        <p:strVal val="visible"/>
                                      </p:to>
                                    </p:set>
                                    <p:animEffect transition="in" filter="wipe(up)">
                                      <p:cBhvr>
                                        <p:cTn id="20" dur="750"/>
                                        <p:tgtEl>
                                          <p:spTgt spid="87"/>
                                        </p:tgtEl>
                                      </p:cBhvr>
                                    </p:animEffect>
                                  </p:childTnLst>
                                </p:cTn>
                              </p:par>
                            </p:childTnLst>
                          </p:cTn>
                        </p:par>
                        <p:par>
                          <p:cTn id="21" fill="hold">
                            <p:stCondLst>
                              <p:cond delay="1500"/>
                            </p:stCondLst>
                            <p:childTnLst>
                              <p:par>
                                <p:cTn id="22" presetID="22" presetClass="entr" presetSubtype="1" fill="hold" nodeType="afterEffect">
                                  <p:stCondLst>
                                    <p:cond delay="0"/>
                                  </p:stCondLst>
                                  <p:childTnLst>
                                    <p:set>
                                      <p:cBhvr>
                                        <p:cTn id="23" dur="1" fill="hold">
                                          <p:stCondLst>
                                            <p:cond delay="0"/>
                                          </p:stCondLst>
                                        </p:cTn>
                                        <p:tgtEl>
                                          <p:spTgt spid="88"/>
                                        </p:tgtEl>
                                        <p:attrNameLst>
                                          <p:attrName>style.visibility</p:attrName>
                                        </p:attrNameLst>
                                      </p:cBhvr>
                                      <p:to>
                                        <p:strVal val="visible"/>
                                      </p:to>
                                    </p:set>
                                    <p:animEffect transition="in" filter="wipe(up)">
                                      <p:cBhvr>
                                        <p:cTn id="24" dur="750"/>
                                        <p:tgtEl>
                                          <p:spTgt spid="88"/>
                                        </p:tgtEl>
                                      </p:cBhvr>
                                    </p:animEffect>
                                  </p:childTnLst>
                                </p:cTn>
                              </p:par>
                            </p:childTnLst>
                          </p:cTn>
                        </p:par>
                        <p:par>
                          <p:cTn id="25" fill="hold">
                            <p:stCondLst>
                              <p:cond delay="2250"/>
                            </p:stCondLst>
                            <p:childTnLst>
                              <p:par>
                                <p:cTn id="26" presetID="22" presetClass="entr" presetSubtype="1" fill="hold" nodeType="afterEffect">
                                  <p:stCondLst>
                                    <p:cond delay="0"/>
                                  </p:stCondLst>
                                  <p:childTnLst>
                                    <p:set>
                                      <p:cBhvr>
                                        <p:cTn id="27" dur="1" fill="hold">
                                          <p:stCondLst>
                                            <p:cond delay="0"/>
                                          </p:stCondLst>
                                        </p:cTn>
                                        <p:tgtEl>
                                          <p:spTgt spid="89"/>
                                        </p:tgtEl>
                                        <p:attrNameLst>
                                          <p:attrName>style.visibility</p:attrName>
                                        </p:attrNameLst>
                                      </p:cBhvr>
                                      <p:to>
                                        <p:strVal val="visible"/>
                                      </p:to>
                                    </p:set>
                                    <p:animEffect transition="in" filter="wipe(up)">
                                      <p:cBhvr>
                                        <p:cTn id="28" dur="750"/>
                                        <p:tgtEl>
                                          <p:spTgt spid="89"/>
                                        </p:tgtEl>
                                      </p:cBhvr>
                                    </p:animEffect>
                                  </p:childTnLst>
                                </p:cTn>
                              </p:par>
                            </p:childTnLst>
                          </p:cTn>
                        </p:par>
                        <p:par>
                          <p:cTn id="29" fill="hold">
                            <p:stCondLst>
                              <p:cond delay="3000"/>
                            </p:stCondLst>
                            <p:childTnLst>
                              <p:par>
                                <p:cTn id="30" presetID="22" presetClass="entr" presetSubtype="1" fill="hold" nodeType="afterEffect">
                                  <p:stCondLst>
                                    <p:cond delay="0"/>
                                  </p:stCondLst>
                                  <p:childTnLst>
                                    <p:set>
                                      <p:cBhvr>
                                        <p:cTn id="31" dur="1" fill="hold">
                                          <p:stCondLst>
                                            <p:cond delay="0"/>
                                          </p:stCondLst>
                                        </p:cTn>
                                        <p:tgtEl>
                                          <p:spTgt spid="90"/>
                                        </p:tgtEl>
                                        <p:attrNameLst>
                                          <p:attrName>style.visibility</p:attrName>
                                        </p:attrNameLst>
                                      </p:cBhvr>
                                      <p:to>
                                        <p:strVal val="visible"/>
                                      </p:to>
                                    </p:set>
                                    <p:animEffect transition="in" filter="wipe(up)">
                                      <p:cBhvr>
                                        <p:cTn id="32" dur="750"/>
                                        <p:tgtEl>
                                          <p:spTgt spid="90"/>
                                        </p:tgtEl>
                                      </p:cBhvr>
                                    </p:animEffect>
                                  </p:childTnLst>
                                </p:cTn>
                              </p:par>
                            </p:childTnLst>
                          </p:cTn>
                        </p:par>
                        <p:par>
                          <p:cTn id="33" fill="hold">
                            <p:stCondLst>
                              <p:cond delay="3750"/>
                            </p:stCondLst>
                            <p:childTnLst>
                              <p:par>
                                <p:cTn id="34" presetID="22" presetClass="entr" presetSubtype="1" fill="hold" nodeType="afterEffect">
                                  <p:stCondLst>
                                    <p:cond delay="0"/>
                                  </p:stCondLst>
                                  <p:childTnLst>
                                    <p:set>
                                      <p:cBhvr>
                                        <p:cTn id="35" dur="1" fill="hold">
                                          <p:stCondLst>
                                            <p:cond delay="0"/>
                                          </p:stCondLst>
                                        </p:cTn>
                                        <p:tgtEl>
                                          <p:spTgt spid="91"/>
                                        </p:tgtEl>
                                        <p:attrNameLst>
                                          <p:attrName>style.visibility</p:attrName>
                                        </p:attrNameLst>
                                      </p:cBhvr>
                                      <p:to>
                                        <p:strVal val="visible"/>
                                      </p:to>
                                    </p:set>
                                    <p:animEffect transition="in" filter="wipe(up)">
                                      <p:cBhvr>
                                        <p:cTn id="36" dur="750"/>
                                        <p:tgtEl>
                                          <p:spTgt spid="91"/>
                                        </p:tgtEl>
                                      </p:cBhvr>
                                    </p:animEffect>
                                  </p:childTnLst>
                                </p:cTn>
                              </p:par>
                            </p:childTnLst>
                          </p:cTn>
                        </p:par>
                        <p:par>
                          <p:cTn id="37" fill="hold">
                            <p:stCondLst>
                              <p:cond delay="4500"/>
                            </p:stCondLst>
                            <p:childTnLst>
                              <p:par>
                                <p:cTn id="38" presetID="22" presetClass="entr" presetSubtype="1" fill="hold" nodeType="afterEffect">
                                  <p:stCondLst>
                                    <p:cond delay="0"/>
                                  </p:stCondLst>
                                  <p:childTnLst>
                                    <p:set>
                                      <p:cBhvr>
                                        <p:cTn id="39" dur="1" fill="hold">
                                          <p:stCondLst>
                                            <p:cond delay="0"/>
                                          </p:stCondLst>
                                        </p:cTn>
                                        <p:tgtEl>
                                          <p:spTgt spid="68"/>
                                        </p:tgtEl>
                                        <p:attrNameLst>
                                          <p:attrName>style.visibility</p:attrName>
                                        </p:attrNameLst>
                                      </p:cBhvr>
                                      <p:to>
                                        <p:strVal val="visible"/>
                                      </p:to>
                                    </p:set>
                                    <p:animEffect transition="in" filter="wipe(up)">
                                      <p:cBhvr>
                                        <p:cTn id="40" dur="75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E138A-77CA-1558-E9B5-848D1E7D5F8F}"/>
            </a:ext>
          </a:extLst>
        </p:cNvPr>
        <p:cNvGrpSpPr/>
        <p:nvPr/>
      </p:nvGrpSpPr>
      <p:grpSpPr>
        <a:xfrm>
          <a:off x="0" y="0"/>
          <a:ext cx="0" cy="0"/>
          <a:chOff x="0" y="0"/>
          <a:chExt cx="0" cy="0"/>
        </a:xfrm>
      </p:grpSpPr>
      <p:sp>
        <p:nvSpPr>
          <p:cNvPr id="9" name="标题 8">
            <a:extLst>
              <a:ext uri="{FF2B5EF4-FFF2-40B4-BE49-F238E27FC236}">
                <a16:creationId xmlns:a16="http://schemas.microsoft.com/office/drawing/2014/main" id="{599C2F39-FA9B-6996-81D1-BB30038FCF61}"/>
              </a:ext>
            </a:extLst>
          </p:cNvPr>
          <p:cNvSpPr>
            <a:spLocks noGrp="1"/>
          </p:cNvSpPr>
          <p:nvPr>
            <p:ph type="title"/>
          </p:nvPr>
        </p:nvSpPr>
        <p:spPr>
          <a:xfrm>
            <a:off x="1173494" y="249067"/>
            <a:ext cx="8048203" cy="480131"/>
          </a:xfrm>
        </p:spPr>
        <p:txBody>
          <a:bodyPr/>
          <a:lstStyle/>
          <a:p>
            <a:r>
              <a:rPr lang="zh-CN" altLang="en-US" spc="300" dirty="0">
                <a:latin typeface="+mj-ea"/>
              </a:rPr>
              <a:t>设计和实现</a:t>
            </a:r>
          </a:p>
        </p:txBody>
      </p:sp>
      <p:grpSp>
        <p:nvGrpSpPr>
          <p:cNvPr id="82" name="组合 81">
            <a:extLst>
              <a:ext uri="{FF2B5EF4-FFF2-40B4-BE49-F238E27FC236}">
                <a16:creationId xmlns:a16="http://schemas.microsoft.com/office/drawing/2014/main" id="{EF7A8A6E-C811-896E-DF05-397525C30BF4}"/>
              </a:ext>
            </a:extLst>
          </p:cNvPr>
          <p:cNvGrpSpPr/>
          <p:nvPr/>
        </p:nvGrpSpPr>
        <p:grpSpPr>
          <a:xfrm>
            <a:off x="394367" y="1010970"/>
            <a:ext cx="5549234" cy="5143318"/>
            <a:chOff x="394366" y="1027530"/>
            <a:chExt cx="5859983" cy="5126757"/>
          </a:xfrm>
        </p:grpSpPr>
        <p:pic>
          <p:nvPicPr>
            <p:cNvPr id="12" name="图片 11" descr="图形用户界面&#10;&#10;AI 生成的内容可能不正确。">
              <a:extLst>
                <a:ext uri="{FF2B5EF4-FFF2-40B4-BE49-F238E27FC236}">
                  <a16:creationId xmlns:a16="http://schemas.microsoft.com/office/drawing/2014/main" id="{304810D0-947C-A119-184A-321F10E99A1F}"/>
                </a:ext>
              </a:extLst>
            </p:cNvPr>
            <p:cNvPicPr>
              <a:picLocks noChangeAspect="1"/>
            </p:cNvPicPr>
            <p:nvPr/>
          </p:nvPicPr>
          <p:blipFill>
            <a:blip r:embed="rId3"/>
            <a:stretch>
              <a:fillRect/>
            </a:stretch>
          </p:blipFill>
          <p:spPr>
            <a:xfrm>
              <a:off x="482459" y="1656462"/>
              <a:ext cx="5683795" cy="4406468"/>
            </a:xfrm>
            <a:prstGeom prst="rect">
              <a:avLst/>
            </a:prstGeom>
          </p:spPr>
        </p:pic>
        <p:grpSp>
          <p:nvGrpSpPr>
            <p:cNvPr id="15" name="组合 14">
              <a:extLst>
                <a:ext uri="{FF2B5EF4-FFF2-40B4-BE49-F238E27FC236}">
                  <a16:creationId xmlns:a16="http://schemas.microsoft.com/office/drawing/2014/main" id="{EA583E8B-4409-3E93-6520-AF46CB4B635C}"/>
                </a:ext>
              </a:extLst>
            </p:cNvPr>
            <p:cNvGrpSpPr/>
            <p:nvPr/>
          </p:nvGrpSpPr>
          <p:grpSpPr>
            <a:xfrm>
              <a:off x="394366" y="1027530"/>
              <a:ext cx="5859983" cy="5126757"/>
              <a:chOff x="193945" y="1841642"/>
              <a:chExt cx="5516843" cy="5793230"/>
            </a:xfrm>
          </p:grpSpPr>
          <p:sp>
            <p:nvSpPr>
              <p:cNvPr id="16" name="矩形 15">
                <a:extLst>
                  <a:ext uri="{FF2B5EF4-FFF2-40B4-BE49-F238E27FC236}">
                    <a16:creationId xmlns:a16="http://schemas.microsoft.com/office/drawing/2014/main" id="{BC470956-74F3-4054-B5BF-C93BB755C64A}"/>
                  </a:ext>
                </a:extLst>
              </p:cNvPr>
              <p:cNvSpPr/>
              <p:nvPr/>
            </p:nvSpPr>
            <p:spPr>
              <a:xfrm>
                <a:off x="193945" y="1841642"/>
                <a:ext cx="5516843" cy="5793230"/>
              </a:xfrm>
              <a:prstGeom prst="rect">
                <a:avLst/>
              </a:prstGeom>
              <a:noFill/>
              <a:ln w="25400">
                <a:solidFill>
                  <a:schemeClr val="tx2">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3DC3F6C2-7385-B631-585E-A50BE660CF57}"/>
                  </a:ext>
                </a:extLst>
              </p:cNvPr>
              <p:cNvSpPr/>
              <p:nvPr/>
            </p:nvSpPr>
            <p:spPr>
              <a:xfrm>
                <a:off x="200836" y="1931940"/>
                <a:ext cx="5304499" cy="517162"/>
              </a:xfrm>
              <a:prstGeom prst="rect">
                <a:avLst/>
              </a:prstGeom>
              <a:gradFill flip="none" rotWithShape="1">
                <a:gsLst>
                  <a:gs pos="58000">
                    <a:schemeClr val="tx2"/>
                  </a:gs>
                  <a:gs pos="100000">
                    <a:schemeClr val="bg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文本框 17">
                <a:extLst>
                  <a:ext uri="{FF2B5EF4-FFF2-40B4-BE49-F238E27FC236}">
                    <a16:creationId xmlns:a16="http://schemas.microsoft.com/office/drawing/2014/main" id="{E2B36277-76EF-02AD-C03F-F9C3896DA8B2}"/>
                  </a:ext>
                </a:extLst>
              </p:cNvPr>
              <p:cNvSpPr txBox="1"/>
              <p:nvPr/>
            </p:nvSpPr>
            <p:spPr>
              <a:xfrm>
                <a:off x="1051146" y="1955301"/>
                <a:ext cx="4392118" cy="400110"/>
              </a:xfrm>
              <a:prstGeom prst="rect">
                <a:avLst/>
              </a:prstGeom>
              <a:noFill/>
            </p:spPr>
            <p:txBody>
              <a:bodyPr wrap="square" rtlCol="0">
                <a:spAutoFit/>
              </a:bodyPr>
              <a:lstStyle/>
              <a:p>
                <a:r>
                  <a:rPr lang="en-US" altLang="zh-CN" sz="2000" b="1" dirty="0">
                    <a:solidFill>
                      <a:schemeClr val="bg1"/>
                    </a:solidFill>
                  </a:rPr>
                  <a:t>Moat</a:t>
                </a:r>
                <a:r>
                  <a:rPr lang="zh-CN" altLang="en-US" sz="2000" b="1" dirty="0">
                    <a:solidFill>
                      <a:schemeClr val="bg1"/>
                    </a:solidFill>
                  </a:rPr>
                  <a:t>框架结构</a:t>
                </a:r>
              </a:p>
            </p:txBody>
          </p:sp>
          <p:sp>
            <p:nvSpPr>
              <p:cNvPr id="19" name="箭头: V 形 18">
                <a:extLst>
                  <a:ext uri="{FF2B5EF4-FFF2-40B4-BE49-F238E27FC236}">
                    <a16:creationId xmlns:a16="http://schemas.microsoft.com/office/drawing/2014/main" id="{7056BBA6-2575-231D-E3F4-3B2CB12C59D9}"/>
                  </a:ext>
                </a:extLst>
              </p:cNvPr>
              <p:cNvSpPr/>
              <p:nvPr/>
            </p:nvSpPr>
            <p:spPr>
              <a:xfrm>
                <a:off x="706373" y="2025628"/>
                <a:ext cx="344773" cy="329784"/>
              </a:xfrm>
              <a:prstGeom prst="chevron">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0" name="任意多边形: 形状 19">
                <a:extLst>
                  <a:ext uri="{FF2B5EF4-FFF2-40B4-BE49-F238E27FC236}">
                    <a16:creationId xmlns:a16="http://schemas.microsoft.com/office/drawing/2014/main" id="{8A368787-3C63-7701-EA17-D11A873C7414}"/>
                  </a:ext>
                </a:extLst>
              </p:cNvPr>
              <p:cNvSpPr/>
              <p:nvPr/>
            </p:nvSpPr>
            <p:spPr>
              <a:xfrm rot="5400000">
                <a:off x="328310" y="1934921"/>
                <a:ext cx="344773" cy="511199"/>
              </a:xfrm>
              <a:custGeom>
                <a:avLst/>
                <a:gdLst>
                  <a:gd name="connsiteX0" fmla="*/ 0 w 344773"/>
                  <a:gd name="connsiteY0" fmla="*/ 182611 h 511199"/>
                  <a:gd name="connsiteX1" fmla="*/ 172387 w 344773"/>
                  <a:gd name="connsiteY1" fmla="*/ 0 h 511199"/>
                  <a:gd name="connsiteX2" fmla="*/ 344773 w 344773"/>
                  <a:gd name="connsiteY2" fmla="*/ 182611 h 511199"/>
                  <a:gd name="connsiteX3" fmla="*/ 337279 w 344773"/>
                  <a:gd name="connsiteY3" fmla="*/ 182611 h 511199"/>
                  <a:gd name="connsiteX4" fmla="*/ 337279 w 344773"/>
                  <a:gd name="connsiteY4" fmla="*/ 511199 h 511199"/>
                  <a:gd name="connsiteX5" fmla="*/ 7495 w 344773"/>
                  <a:gd name="connsiteY5" fmla="*/ 511199 h 511199"/>
                  <a:gd name="connsiteX6" fmla="*/ 7495 w 344773"/>
                  <a:gd name="connsiteY6" fmla="*/ 182611 h 511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4773" h="511199">
                    <a:moveTo>
                      <a:pt x="0" y="182611"/>
                    </a:moveTo>
                    <a:lnTo>
                      <a:pt x="172387" y="0"/>
                    </a:lnTo>
                    <a:lnTo>
                      <a:pt x="344773" y="182611"/>
                    </a:lnTo>
                    <a:lnTo>
                      <a:pt x="337279" y="182611"/>
                    </a:lnTo>
                    <a:lnTo>
                      <a:pt x="337279" y="511199"/>
                    </a:lnTo>
                    <a:lnTo>
                      <a:pt x="7495" y="511199"/>
                    </a:lnTo>
                    <a:lnTo>
                      <a:pt x="7495" y="182611"/>
                    </a:lnTo>
                    <a:close/>
                  </a:path>
                </a:pathLst>
              </a:custGeom>
              <a:gradFill flip="none" rotWithShape="1">
                <a:gsLst>
                  <a:gs pos="3000">
                    <a:schemeClr val="tx2"/>
                  </a:gs>
                  <a:gs pos="100000">
                    <a:schemeClr val="bg1"/>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pic>
        <p:nvPicPr>
          <p:cNvPr id="2" name="图片 1" descr="文本&#10;&#10;AI 生成的内容可能不正确。">
            <a:extLst>
              <a:ext uri="{FF2B5EF4-FFF2-40B4-BE49-F238E27FC236}">
                <a16:creationId xmlns:a16="http://schemas.microsoft.com/office/drawing/2014/main" id="{72880D9A-2153-7226-5B96-1B49277D6125}"/>
              </a:ext>
            </a:extLst>
          </p:cNvPr>
          <p:cNvPicPr>
            <a:picLocks noChangeAspect="1"/>
          </p:cNvPicPr>
          <p:nvPr/>
        </p:nvPicPr>
        <p:blipFill>
          <a:blip r:embed="rId4"/>
          <a:stretch>
            <a:fillRect/>
          </a:stretch>
        </p:blipFill>
        <p:spPr>
          <a:xfrm>
            <a:off x="6585368" y="4497916"/>
            <a:ext cx="3881150" cy="1578775"/>
          </a:xfrm>
          <a:prstGeom prst="rect">
            <a:avLst/>
          </a:prstGeom>
        </p:spPr>
      </p:pic>
      <p:grpSp>
        <p:nvGrpSpPr>
          <p:cNvPr id="26" name="组合 25">
            <a:extLst>
              <a:ext uri="{FF2B5EF4-FFF2-40B4-BE49-F238E27FC236}">
                <a16:creationId xmlns:a16="http://schemas.microsoft.com/office/drawing/2014/main" id="{992B8D1A-CAC8-D963-D39C-CB3E94F7893B}"/>
              </a:ext>
            </a:extLst>
          </p:cNvPr>
          <p:cNvGrpSpPr/>
          <p:nvPr/>
        </p:nvGrpSpPr>
        <p:grpSpPr>
          <a:xfrm>
            <a:off x="6420245" y="1928379"/>
            <a:ext cx="5331870" cy="4225909"/>
            <a:chOff x="6420245" y="1928379"/>
            <a:chExt cx="5331870" cy="4225909"/>
          </a:xfrm>
        </p:grpSpPr>
        <p:sp>
          <p:nvSpPr>
            <p:cNvPr id="3" name="矩形 2">
              <a:extLst>
                <a:ext uri="{FF2B5EF4-FFF2-40B4-BE49-F238E27FC236}">
                  <a16:creationId xmlns:a16="http://schemas.microsoft.com/office/drawing/2014/main" id="{B9AAFC71-24BE-DCFA-CAEC-D0F11BF6632D}"/>
                </a:ext>
              </a:extLst>
            </p:cNvPr>
            <p:cNvSpPr/>
            <p:nvPr/>
          </p:nvSpPr>
          <p:spPr>
            <a:xfrm>
              <a:off x="6420245" y="2253861"/>
              <a:ext cx="5331870" cy="3900427"/>
            </a:xfrm>
            <a:prstGeom prst="rect">
              <a:avLst/>
            </a:prstGeom>
            <a:no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圆角 3">
              <a:extLst>
                <a:ext uri="{FF2B5EF4-FFF2-40B4-BE49-F238E27FC236}">
                  <a16:creationId xmlns:a16="http://schemas.microsoft.com/office/drawing/2014/main" id="{55C351C2-4809-5962-B171-56319FD3D217}"/>
                </a:ext>
              </a:extLst>
            </p:cNvPr>
            <p:cNvSpPr/>
            <p:nvPr/>
          </p:nvSpPr>
          <p:spPr>
            <a:xfrm>
              <a:off x="6420245" y="1928379"/>
              <a:ext cx="3712508" cy="535022"/>
            </a:xfrm>
            <a:prstGeom prst="roundRect">
              <a:avLst/>
            </a:prstGeom>
            <a:solidFill>
              <a:schemeClr val="tx2"/>
            </a:solid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t>域管理运行时</a:t>
              </a:r>
              <a:r>
                <a:rPr lang="en-US" altLang="zh-CN" b="1" dirty="0"/>
                <a:t>(Runtime)</a:t>
              </a:r>
              <a:endParaRPr lang="zh-CN" altLang="en-US" b="1" dirty="0"/>
            </a:p>
          </p:txBody>
        </p:sp>
      </p:grpSp>
      <p:grpSp>
        <p:nvGrpSpPr>
          <p:cNvPr id="27" name="组合 26">
            <a:extLst>
              <a:ext uri="{FF2B5EF4-FFF2-40B4-BE49-F238E27FC236}">
                <a16:creationId xmlns:a16="http://schemas.microsoft.com/office/drawing/2014/main" id="{109BE263-67A5-C7A5-C3BC-C56F8E3B5E10}"/>
              </a:ext>
            </a:extLst>
          </p:cNvPr>
          <p:cNvGrpSpPr/>
          <p:nvPr/>
        </p:nvGrpSpPr>
        <p:grpSpPr>
          <a:xfrm>
            <a:off x="6424491" y="2689653"/>
            <a:ext cx="5079280" cy="344905"/>
            <a:chOff x="6424491" y="2689653"/>
            <a:chExt cx="5079280" cy="344905"/>
          </a:xfrm>
        </p:grpSpPr>
        <p:sp>
          <p:nvSpPr>
            <p:cNvPr id="5" name="文本框 4">
              <a:extLst>
                <a:ext uri="{FF2B5EF4-FFF2-40B4-BE49-F238E27FC236}">
                  <a16:creationId xmlns:a16="http://schemas.microsoft.com/office/drawing/2014/main" id="{D63CBE52-2CBD-97E6-21F6-15EF7D821034}"/>
                </a:ext>
              </a:extLst>
            </p:cNvPr>
            <p:cNvSpPr txBox="1"/>
            <p:nvPr/>
          </p:nvSpPr>
          <p:spPr>
            <a:xfrm>
              <a:off x="6424491" y="2696004"/>
              <a:ext cx="3550596" cy="338554"/>
            </a:xfrm>
            <a:prstGeom prst="rect">
              <a:avLst/>
            </a:prstGeom>
            <a:noFill/>
          </p:spPr>
          <p:txBody>
            <a:bodyPr wrap="square" rtlCol="0">
              <a:spAutoFit/>
            </a:bodyPr>
            <a:lstStyle/>
            <a:p>
              <a:r>
                <a:rPr lang="zh-CN" altLang="en-US" sz="1600" dirty="0"/>
                <a:t>🔑 系统初始化</a:t>
              </a:r>
            </a:p>
          </p:txBody>
        </p:sp>
        <p:sp>
          <p:nvSpPr>
            <p:cNvPr id="10" name="矩形 9">
              <a:extLst>
                <a:ext uri="{FF2B5EF4-FFF2-40B4-BE49-F238E27FC236}">
                  <a16:creationId xmlns:a16="http://schemas.microsoft.com/office/drawing/2014/main" id="{D89F4468-E740-379E-E486-DBEA2B0A18EA}"/>
                </a:ext>
              </a:extLst>
            </p:cNvPr>
            <p:cNvSpPr/>
            <p:nvPr/>
          </p:nvSpPr>
          <p:spPr>
            <a:xfrm>
              <a:off x="6487174" y="2689653"/>
              <a:ext cx="5016597" cy="328082"/>
            </a:xfrm>
            <a:custGeom>
              <a:avLst/>
              <a:gdLst>
                <a:gd name="csX0" fmla="*/ 0 w 5016597"/>
                <a:gd name="csY0" fmla="*/ 0 h 328082"/>
                <a:gd name="csX1" fmla="*/ 576909 w 5016597"/>
                <a:gd name="csY1" fmla="*/ 0 h 328082"/>
                <a:gd name="csX2" fmla="*/ 1053485 w 5016597"/>
                <a:gd name="csY2" fmla="*/ 0 h 328082"/>
                <a:gd name="csX3" fmla="*/ 1780892 w 5016597"/>
                <a:gd name="csY3" fmla="*/ 0 h 328082"/>
                <a:gd name="csX4" fmla="*/ 2357801 w 5016597"/>
                <a:gd name="csY4" fmla="*/ 0 h 328082"/>
                <a:gd name="csX5" fmla="*/ 2934709 w 5016597"/>
                <a:gd name="csY5" fmla="*/ 0 h 328082"/>
                <a:gd name="csX6" fmla="*/ 3662116 w 5016597"/>
                <a:gd name="csY6" fmla="*/ 0 h 328082"/>
                <a:gd name="csX7" fmla="*/ 4188858 w 5016597"/>
                <a:gd name="csY7" fmla="*/ 0 h 328082"/>
                <a:gd name="csX8" fmla="*/ 5016597 w 5016597"/>
                <a:gd name="csY8" fmla="*/ 0 h 328082"/>
                <a:gd name="csX9" fmla="*/ 5016597 w 5016597"/>
                <a:gd name="csY9" fmla="*/ 328082 h 328082"/>
                <a:gd name="csX10" fmla="*/ 4489854 w 5016597"/>
                <a:gd name="csY10" fmla="*/ 328082 h 328082"/>
                <a:gd name="csX11" fmla="*/ 3862780 w 5016597"/>
                <a:gd name="csY11" fmla="*/ 328082 h 328082"/>
                <a:gd name="csX12" fmla="*/ 3285871 w 5016597"/>
                <a:gd name="csY12" fmla="*/ 328082 h 328082"/>
                <a:gd name="csX13" fmla="*/ 2558464 w 5016597"/>
                <a:gd name="csY13" fmla="*/ 328082 h 328082"/>
                <a:gd name="csX14" fmla="*/ 1831058 w 5016597"/>
                <a:gd name="csY14" fmla="*/ 328082 h 328082"/>
                <a:gd name="csX15" fmla="*/ 1304315 w 5016597"/>
                <a:gd name="csY15" fmla="*/ 328082 h 328082"/>
                <a:gd name="csX16" fmla="*/ 677241 w 5016597"/>
                <a:gd name="csY16" fmla="*/ 328082 h 328082"/>
                <a:gd name="csX17" fmla="*/ 0 w 5016597"/>
                <a:gd name="csY17" fmla="*/ 328082 h 328082"/>
                <a:gd name="csX18" fmla="*/ 0 w 5016597"/>
                <a:gd name="csY18" fmla="*/ 0 h 3280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016597" h="328082" extrusionOk="0">
                  <a:moveTo>
                    <a:pt x="0" y="0"/>
                  </a:moveTo>
                  <a:cubicBezTo>
                    <a:pt x="175723" y="-8189"/>
                    <a:pt x="395371" y="25118"/>
                    <a:pt x="576909" y="0"/>
                  </a:cubicBezTo>
                  <a:cubicBezTo>
                    <a:pt x="758447" y="-25118"/>
                    <a:pt x="924279" y="23745"/>
                    <a:pt x="1053485" y="0"/>
                  </a:cubicBezTo>
                  <a:cubicBezTo>
                    <a:pt x="1182691" y="-23745"/>
                    <a:pt x="1515765" y="-29900"/>
                    <a:pt x="1780892" y="0"/>
                  </a:cubicBezTo>
                  <a:cubicBezTo>
                    <a:pt x="2046019" y="29900"/>
                    <a:pt x="2106006" y="-11849"/>
                    <a:pt x="2357801" y="0"/>
                  </a:cubicBezTo>
                  <a:cubicBezTo>
                    <a:pt x="2609596" y="11849"/>
                    <a:pt x="2717642" y="-11823"/>
                    <a:pt x="2934709" y="0"/>
                  </a:cubicBezTo>
                  <a:cubicBezTo>
                    <a:pt x="3151776" y="11823"/>
                    <a:pt x="3475850" y="-3392"/>
                    <a:pt x="3662116" y="0"/>
                  </a:cubicBezTo>
                  <a:cubicBezTo>
                    <a:pt x="3848382" y="3392"/>
                    <a:pt x="4082526" y="7705"/>
                    <a:pt x="4188858" y="0"/>
                  </a:cubicBezTo>
                  <a:cubicBezTo>
                    <a:pt x="4295190" y="-7705"/>
                    <a:pt x="4622999" y="-11411"/>
                    <a:pt x="5016597" y="0"/>
                  </a:cubicBezTo>
                  <a:cubicBezTo>
                    <a:pt x="5003759" y="153017"/>
                    <a:pt x="5009606" y="242929"/>
                    <a:pt x="5016597" y="328082"/>
                  </a:cubicBezTo>
                  <a:cubicBezTo>
                    <a:pt x="4790008" y="332810"/>
                    <a:pt x="4687698" y="320732"/>
                    <a:pt x="4489854" y="328082"/>
                  </a:cubicBezTo>
                  <a:cubicBezTo>
                    <a:pt x="4292010" y="335432"/>
                    <a:pt x="4112470" y="334477"/>
                    <a:pt x="3862780" y="328082"/>
                  </a:cubicBezTo>
                  <a:cubicBezTo>
                    <a:pt x="3613090" y="321687"/>
                    <a:pt x="3506066" y="349825"/>
                    <a:pt x="3285871" y="328082"/>
                  </a:cubicBezTo>
                  <a:cubicBezTo>
                    <a:pt x="3065676" y="306339"/>
                    <a:pt x="2880989" y="323413"/>
                    <a:pt x="2558464" y="328082"/>
                  </a:cubicBezTo>
                  <a:cubicBezTo>
                    <a:pt x="2235939" y="332751"/>
                    <a:pt x="2131029" y="322913"/>
                    <a:pt x="1831058" y="328082"/>
                  </a:cubicBezTo>
                  <a:cubicBezTo>
                    <a:pt x="1531087" y="333251"/>
                    <a:pt x="1447431" y="328785"/>
                    <a:pt x="1304315" y="328082"/>
                  </a:cubicBezTo>
                  <a:cubicBezTo>
                    <a:pt x="1161199" y="327379"/>
                    <a:pt x="888919" y="312076"/>
                    <a:pt x="677241" y="328082"/>
                  </a:cubicBezTo>
                  <a:cubicBezTo>
                    <a:pt x="465563" y="344088"/>
                    <a:pt x="164087" y="301950"/>
                    <a:pt x="0" y="328082"/>
                  </a:cubicBezTo>
                  <a:cubicBezTo>
                    <a:pt x="6311" y="175331"/>
                    <a:pt x="-13820" y="111274"/>
                    <a:pt x="0" y="0"/>
                  </a:cubicBezTo>
                  <a:close/>
                </a:path>
              </a:pathLst>
            </a:custGeom>
            <a:noFill/>
            <a:ln w="12700">
              <a:gradFill flip="none" rotWithShape="1">
                <a:gsLst>
                  <a:gs pos="0">
                    <a:schemeClr val="tx2"/>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27">
            <a:extLst>
              <a:ext uri="{FF2B5EF4-FFF2-40B4-BE49-F238E27FC236}">
                <a16:creationId xmlns:a16="http://schemas.microsoft.com/office/drawing/2014/main" id="{FAE75AB1-45BB-8235-62F8-D4D101D3FCDB}"/>
              </a:ext>
            </a:extLst>
          </p:cNvPr>
          <p:cNvGrpSpPr/>
          <p:nvPr/>
        </p:nvGrpSpPr>
        <p:grpSpPr>
          <a:xfrm>
            <a:off x="6424491" y="3097546"/>
            <a:ext cx="5078145" cy="351297"/>
            <a:chOff x="6424491" y="3097546"/>
            <a:chExt cx="5078145" cy="351297"/>
          </a:xfrm>
        </p:grpSpPr>
        <p:sp>
          <p:nvSpPr>
            <p:cNvPr id="7" name="文本框 6">
              <a:extLst>
                <a:ext uri="{FF2B5EF4-FFF2-40B4-BE49-F238E27FC236}">
                  <a16:creationId xmlns:a16="http://schemas.microsoft.com/office/drawing/2014/main" id="{8A70142D-6C85-AB81-0867-7093540CE47C}"/>
                </a:ext>
              </a:extLst>
            </p:cNvPr>
            <p:cNvSpPr txBox="1"/>
            <p:nvPr/>
          </p:nvSpPr>
          <p:spPr>
            <a:xfrm>
              <a:off x="6424491" y="3110289"/>
              <a:ext cx="5016596" cy="338554"/>
            </a:xfrm>
            <a:prstGeom prst="rect">
              <a:avLst/>
            </a:prstGeom>
            <a:noFill/>
          </p:spPr>
          <p:txBody>
            <a:bodyPr wrap="square" rtlCol="0">
              <a:spAutoFit/>
            </a:bodyPr>
            <a:lstStyle/>
            <a:p>
              <a:r>
                <a:rPr lang="zh-CN" altLang="en-US" sz="1600" dirty="0"/>
                <a:t>🔑 中断和异常分发，</a:t>
              </a:r>
              <a:r>
                <a:rPr lang="en-US" altLang="zh-CN" sz="1600" dirty="0"/>
                <a:t>CPU</a:t>
              </a:r>
              <a:r>
                <a:rPr lang="zh-CN" altLang="en-US" sz="1600" dirty="0"/>
                <a:t>上下文保存和恢复</a:t>
              </a:r>
            </a:p>
          </p:txBody>
        </p:sp>
        <p:sp>
          <p:nvSpPr>
            <p:cNvPr id="11" name="矩形 10">
              <a:extLst>
                <a:ext uri="{FF2B5EF4-FFF2-40B4-BE49-F238E27FC236}">
                  <a16:creationId xmlns:a16="http://schemas.microsoft.com/office/drawing/2014/main" id="{35924278-5DD6-3A1A-087D-6096C76F1770}"/>
                </a:ext>
              </a:extLst>
            </p:cNvPr>
            <p:cNvSpPr/>
            <p:nvPr/>
          </p:nvSpPr>
          <p:spPr>
            <a:xfrm>
              <a:off x="6486039" y="3097546"/>
              <a:ext cx="5016597" cy="328082"/>
            </a:xfrm>
            <a:custGeom>
              <a:avLst/>
              <a:gdLst>
                <a:gd name="csX0" fmla="*/ 0 w 5016597"/>
                <a:gd name="csY0" fmla="*/ 0 h 328082"/>
                <a:gd name="csX1" fmla="*/ 576909 w 5016597"/>
                <a:gd name="csY1" fmla="*/ 0 h 328082"/>
                <a:gd name="csX2" fmla="*/ 1053485 w 5016597"/>
                <a:gd name="csY2" fmla="*/ 0 h 328082"/>
                <a:gd name="csX3" fmla="*/ 1780892 w 5016597"/>
                <a:gd name="csY3" fmla="*/ 0 h 328082"/>
                <a:gd name="csX4" fmla="*/ 2357801 w 5016597"/>
                <a:gd name="csY4" fmla="*/ 0 h 328082"/>
                <a:gd name="csX5" fmla="*/ 2934709 w 5016597"/>
                <a:gd name="csY5" fmla="*/ 0 h 328082"/>
                <a:gd name="csX6" fmla="*/ 3662116 w 5016597"/>
                <a:gd name="csY6" fmla="*/ 0 h 328082"/>
                <a:gd name="csX7" fmla="*/ 4188858 w 5016597"/>
                <a:gd name="csY7" fmla="*/ 0 h 328082"/>
                <a:gd name="csX8" fmla="*/ 5016597 w 5016597"/>
                <a:gd name="csY8" fmla="*/ 0 h 328082"/>
                <a:gd name="csX9" fmla="*/ 5016597 w 5016597"/>
                <a:gd name="csY9" fmla="*/ 328082 h 328082"/>
                <a:gd name="csX10" fmla="*/ 4489854 w 5016597"/>
                <a:gd name="csY10" fmla="*/ 328082 h 328082"/>
                <a:gd name="csX11" fmla="*/ 3862780 w 5016597"/>
                <a:gd name="csY11" fmla="*/ 328082 h 328082"/>
                <a:gd name="csX12" fmla="*/ 3285871 w 5016597"/>
                <a:gd name="csY12" fmla="*/ 328082 h 328082"/>
                <a:gd name="csX13" fmla="*/ 2558464 w 5016597"/>
                <a:gd name="csY13" fmla="*/ 328082 h 328082"/>
                <a:gd name="csX14" fmla="*/ 1831058 w 5016597"/>
                <a:gd name="csY14" fmla="*/ 328082 h 328082"/>
                <a:gd name="csX15" fmla="*/ 1304315 w 5016597"/>
                <a:gd name="csY15" fmla="*/ 328082 h 328082"/>
                <a:gd name="csX16" fmla="*/ 677241 w 5016597"/>
                <a:gd name="csY16" fmla="*/ 328082 h 328082"/>
                <a:gd name="csX17" fmla="*/ 0 w 5016597"/>
                <a:gd name="csY17" fmla="*/ 328082 h 328082"/>
                <a:gd name="csX18" fmla="*/ 0 w 5016597"/>
                <a:gd name="csY18" fmla="*/ 0 h 3280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016597" h="328082" extrusionOk="0">
                  <a:moveTo>
                    <a:pt x="0" y="0"/>
                  </a:moveTo>
                  <a:cubicBezTo>
                    <a:pt x="175723" y="-8189"/>
                    <a:pt x="395371" y="25118"/>
                    <a:pt x="576909" y="0"/>
                  </a:cubicBezTo>
                  <a:cubicBezTo>
                    <a:pt x="758447" y="-25118"/>
                    <a:pt x="924279" y="23745"/>
                    <a:pt x="1053485" y="0"/>
                  </a:cubicBezTo>
                  <a:cubicBezTo>
                    <a:pt x="1182691" y="-23745"/>
                    <a:pt x="1515765" y="-29900"/>
                    <a:pt x="1780892" y="0"/>
                  </a:cubicBezTo>
                  <a:cubicBezTo>
                    <a:pt x="2046019" y="29900"/>
                    <a:pt x="2106006" y="-11849"/>
                    <a:pt x="2357801" y="0"/>
                  </a:cubicBezTo>
                  <a:cubicBezTo>
                    <a:pt x="2609596" y="11849"/>
                    <a:pt x="2717642" y="-11823"/>
                    <a:pt x="2934709" y="0"/>
                  </a:cubicBezTo>
                  <a:cubicBezTo>
                    <a:pt x="3151776" y="11823"/>
                    <a:pt x="3475850" y="-3392"/>
                    <a:pt x="3662116" y="0"/>
                  </a:cubicBezTo>
                  <a:cubicBezTo>
                    <a:pt x="3848382" y="3392"/>
                    <a:pt x="4082526" y="7705"/>
                    <a:pt x="4188858" y="0"/>
                  </a:cubicBezTo>
                  <a:cubicBezTo>
                    <a:pt x="4295190" y="-7705"/>
                    <a:pt x="4622999" y="-11411"/>
                    <a:pt x="5016597" y="0"/>
                  </a:cubicBezTo>
                  <a:cubicBezTo>
                    <a:pt x="5003759" y="153017"/>
                    <a:pt x="5009606" y="242929"/>
                    <a:pt x="5016597" y="328082"/>
                  </a:cubicBezTo>
                  <a:cubicBezTo>
                    <a:pt x="4790008" y="332810"/>
                    <a:pt x="4687698" y="320732"/>
                    <a:pt x="4489854" y="328082"/>
                  </a:cubicBezTo>
                  <a:cubicBezTo>
                    <a:pt x="4292010" y="335432"/>
                    <a:pt x="4112470" y="334477"/>
                    <a:pt x="3862780" y="328082"/>
                  </a:cubicBezTo>
                  <a:cubicBezTo>
                    <a:pt x="3613090" y="321687"/>
                    <a:pt x="3506066" y="349825"/>
                    <a:pt x="3285871" y="328082"/>
                  </a:cubicBezTo>
                  <a:cubicBezTo>
                    <a:pt x="3065676" y="306339"/>
                    <a:pt x="2880989" y="323413"/>
                    <a:pt x="2558464" y="328082"/>
                  </a:cubicBezTo>
                  <a:cubicBezTo>
                    <a:pt x="2235939" y="332751"/>
                    <a:pt x="2131029" y="322913"/>
                    <a:pt x="1831058" y="328082"/>
                  </a:cubicBezTo>
                  <a:cubicBezTo>
                    <a:pt x="1531087" y="333251"/>
                    <a:pt x="1447431" y="328785"/>
                    <a:pt x="1304315" y="328082"/>
                  </a:cubicBezTo>
                  <a:cubicBezTo>
                    <a:pt x="1161199" y="327379"/>
                    <a:pt x="888919" y="312076"/>
                    <a:pt x="677241" y="328082"/>
                  </a:cubicBezTo>
                  <a:cubicBezTo>
                    <a:pt x="465563" y="344088"/>
                    <a:pt x="164087" y="301950"/>
                    <a:pt x="0" y="328082"/>
                  </a:cubicBezTo>
                  <a:cubicBezTo>
                    <a:pt x="6311" y="175331"/>
                    <a:pt x="-13820" y="111274"/>
                    <a:pt x="0" y="0"/>
                  </a:cubicBezTo>
                  <a:close/>
                </a:path>
              </a:pathLst>
            </a:custGeom>
            <a:noFill/>
            <a:ln w="12700">
              <a:gradFill flip="none" rotWithShape="1">
                <a:gsLst>
                  <a:gs pos="0">
                    <a:schemeClr val="tx2"/>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a:extLst>
              <a:ext uri="{FF2B5EF4-FFF2-40B4-BE49-F238E27FC236}">
                <a16:creationId xmlns:a16="http://schemas.microsoft.com/office/drawing/2014/main" id="{39EF4B76-E51E-62C5-7592-B0C9AC10DD23}"/>
              </a:ext>
            </a:extLst>
          </p:cNvPr>
          <p:cNvGrpSpPr/>
          <p:nvPr/>
        </p:nvGrpSpPr>
        <p:grpSpPr>
          <a:xfrm>
            <a:off x="6433827" y="3506595"/>
            <a:ext cx="5068809" cy="338554"/>
            <a:chOff x="6433827" y="3506595"/>
            <a:chExt cx="5068809" cy="338554"/>
          </a:xfrm>
        </p:grpSpPr>
        <p:sp>
          <p:nvSpPr>
            <p:cNvPr id="6" name="文本框 5">
              <a:extLst>
                <a:ext uri="{FF2B5EF4-FFF2-40B4-BE49-F238E27FC236}">
                  <a16:creationId xmlns:a16="http://schemas.microsoft.com/office/drawing/2014/main" id="{D91EAA60-9442-08D5-E9F9-7BAD4F16FD81}"/>
                </a:ext>
              </a:extLst>
            </p:cNvPr>
            <p:cNvSpPr txBox="1"/>
            <p:nvPr/>
          </p:nvSpPr>
          <p:spPr>
            <a:xfrm>
              <a:off x="6433827" y="3506595"/>
              <a:ext cx="5007259" cy="338554"/>
            </a:xfrm>
            <a:prstGeom prst="rect">
              <a:avLst/>
            </a:prstGeom>
            <a:noFill/>
          </p:spPr>
          <p:txBody>
            <a:bodyPr wrap="square" rtlCol="0">
              <a:spAutoFit/>
            </a:bodyPr>
            <a:lstStyle/>
            <a:p>
              <a:r>
                <a:rPr lang="zh-CN" altLang="en-US" sz="1600" dirty="0"/>
                <a:t>🔑 隔离域生命周期管理：加载</a:t>
              </a:r>
              <a:r>
                <a:rPr lang="en-US" altLang="zh-CN" sz="1600" dirty="0"/>
                <a:t>/</a:t>
              </a:r>
              <a:r>
                <a:rPr lang="zh-CN" altLang="en-US" sz="1600" dirty="0"/>
                <a:t>卸载</a:t>
              </a:r>
              <a:r>
                <a:rPr lang="en-US" altLang="zh-CN" sz="1600" dirty="0"/>
                <a:t>/</a:t>
              </a:r>
              <a:r>
                <a:rPr lang="zh-CN" altLang="en-US" sz="1600" dirty="0"/>
                <a:t>热更新</a:t>
              </a:r>
            </a:p>
          </p:txBody>
        </p:sp>
        <p:sp>
          <p:nvSpPr>
            <p:cNvPr id="13" name="矩形 12">
              <a:extLst>
                <a:ext uri="{FF2B5EF4-FFF2-40B4-BE49-F238E27FC236}">
                  <a16:creationId xmlns:a16="http://schemas.microsoft.com/office/drawing/2014/main" id="{59F3209D-5F87-EA72-D97B-259AAF73BAED}"/>
                </a:ext>
              </a:extLst>
            </p:cNvPr>
            <p:cNvSpPr/>
            <p:nvPr/>
          </p:nvSpPr>
          <p:spPr>
            <a:xfrm>
              <a:off x="6486040" y="3511831"/>
              <a:ext cx="5016596" cy="328082"/>
            </a:xfrm>
            <a:custGeom>
              <a:avLst/>
              <a:gdLst>
                <a:gd name="csX0" fmla="*/ 0 w 5016596"/>
                <a:gd name="csY0" fmla="*/ 0 h 328082"/>
                <a:gd name="csX1" fmla="*/ 576909 w 5016596"/>
                <a:gd name="csY1" fmla="*/ 0 h 328082"/>
                <a:gd name="csX2" fmla="*/ 1053485 w 5016596"/>
                <a:gd name="csY2" fmla="*/ 0 h 328082"/>
                <a:gd name="csX3" fmla="*/ 1780892 w 5016596"/>
                <a:gd name="csY3" fmla="*/ 0 h 328082"/>
                <a:gd name="csX4" fmla="*/ 2357800 w 5016596"/>
                <a:gd name="csY4" fmla="*/ 0 h 328082"/>
                <a:gd name="csX5" fmla="*/ 2934709 w 5016596"/>
                <a:gd name="csY5" fmla="*/ 0 h 328082"/>
                <a:gd name="csX6" fmla="*/ 3662115 w 5016596"/>
                <a:gd name="csY6" fmla="*/ 0 h 328082"/>
                <a:gd name="csX7" fmla="*/ 4188858 w 5016596"/>
                <a:gd name="csY7" fmla="*/ 0 h 328082"/>
                <a:gd name="csX8" fmla="*/ 5016596 w 5016596"/>
                <a:gd name="csY8" fmla="*/ 0 h 328082"/>
                <a:gd name="csX9" fmla="*/ 5016596 w 5016596"/>
                <a:gd name="csY9" fmla="*/ 328082 h 328082"/>
                <a:gd name="csX10" fmla="*/ 4489853 w 5016596"/>
                <a:gd name="csY10" fmla="*/ 328082 h 328082"/>
                <a:gd name="csX11" fmla="*/ 3862779 w 5016596"/>
                <a:gd name="csY11" fmla="*/ 328082 h 328082"/>
                <a:gd name="csX12" fmla="*/ 3285870 w 5016596"/>
                <a:gd name="csY12" fmla="*/ 328082 h 328082"/>
                <a:gd name="csX13" fmla="*/ 2558464 w 5016596"/>
                <a:gd name="csY13" fmla="*/ 328082 h 328082"/>
                <a:gd name="csX14" fmla="*/ 1831058 w 5016596"/>
                <a:gd name="csY14" fmla="*/ 328082 h 328082"/>
                <a:gd name="csX15" fmla="*/ 1304315 w 5016596"/>
                <a:gd name="csY15" fmla="*/ 328082 h 328082"/>
                <a:gd name="csX16" fmla="*/ 677240 w 5016596"/>
                <a:gd name="csY16" fmla="*/ 328082 h 328082"/>
                <a:gd name="csX17" fmla="*/ 0 w 5016596"/>
                <a:gd name="csY17" fmla="*/ 328082 h 328082"/>
                <a:gd name="csX18" fmla="*/ 0 w 5016596"/>
                <a:gd name="csY18" fmla="*/ 0 h 3280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016596" h="328082" extrusionOk="0">
                  <a:moveTo>
                    <a:pt x="0" y="0"/>
                  </a:moveTo>
                  <a:cubicBezTo>
                    <a:pt x="175723" y="-8189"/>
                    <a:pt x="395371" y="25118"/>
                    <a:pt x="576909" y="0"/>
                  </a:cubicBezTo>
                  <a:cubicBezTo>
                    <a:pt x="758447" y="-25118"/>
                    <a:pt x="924279" y="23745"/>
                    <a:pt x="1053485" y="0"/>
                  </a:cubicBezTo>
                  <a:cubicBezTo>
                    <a:pt x="1182691" y="-23745"/>
                    <a:pt x="1515765" y="-29900"/>
                    <a:pt x="1780892" y="0"/>
                  </a:cubicBezTo>
                  <a:cubicBezTo>
                    <a:pt x="2046019" y="29900"/>
                    <a:pt x="2108494" y="-11830"/>
                    <a:pt x="2357800" y="0"/>
                  </a:cubicBezTo>
                  <a:cubicBezTo>
                    <a:pt x="2607106" y="11830"/>
                    <a:pt x="2715871" y="-16417"/>
                    <a:pt x="2934709" y="0"/>
                  </a:cubicBezTo>
                  <a:cubicBezTo>
                    <a:pt x="3153547" y="16417"/>
                    <a:pt x="3480401" y="633"/>
                    <a:pt x="3662115" y="0"/>
                  </a:cubicBezTo>
                  <a:cubicBezTo>
                    <a:pt x="3843829" y="-633"/>
                    <a:pt x="4079509" y="5447"/>
                    <a:pt x="4188858" y="0"/>
                  </a:cubicBezTo>
                  <a:cubicBezTo>
                    <a:pt x="4298207" y="-5447"/>
                    <a:pt x="4626422" y="-11366"/>
                    <a:pt x="5016596" y="0"/>
                  </a:cubicBezTo>
                  <a:cubicBezTo>
                    <a:pt x="5003758" y="153017"/>
                    <a:pt x="5009605" y="242929"/>
                    <a:pt x="5016596" y="328082"/>
                  </a:cubicBezTo>
                  <a:cubicBezTo>
                    <a:pt x="4790007" y="332810"/>
                    <a:pt x="4687697" y="320732"/>
                    <a:pt x="4489853" y="328082"/>
                  </a:cubicBezTo>
                  <a:cubicBezTo>
                    <a:pt x="4292009" y="335432"/>
                    <a:pt x="4112469" y="334477"/>
                    <a:pt x="3862779" y="328082"/>
                  </a:cubicBezTo>
                  <a:cubicBezTo>
                    <a:pt x="3613089" y="321687"/>
                    <a:pt x="3506065" y="349825"/>
                    <a:pt x="3285870" y="328082"/>
                  </a:cubicBezTo>
                  <a:cubicBezTo>
                    <a:pt x="3065675" y="306339"/>
                    <a:pt x="2878820" y="321738"/>
                    <a:pt x="2558464" y="328082"/>
                  </a:cubicBezTo>
                  <a:cubicBezTo>
                    <a:pt x="2238108" y="334426"/>
                    <a:pt x="2131029" y="322913"/>
                    <a:pt x="1831058" y="328082"/>
                  </a:cubicBezTo>
                  <a:cubicBezTo>
                    <a:pt x="1531087" y="333251"/>
                    <a:pt x="1447431" y="328785"/>
                    <a:pt x="1304315" y="328082"/>
                  </a:cubicBezTo>
                  <a:cubicBezTo>
                    <a:pt x="1161199" y="327379"/>
                    <a:pt x="894827" y="318288"/>
                    <a:pt x="677240" y="328082"/>
                  </a:cubicBezTo>
                  <a:cubicBezTo>
                    <a:pt x="459654" y="337876"/>
                    <a:pt x="162348" y="299936"/>
                    <a:pt x="0" y="328082"/>
                  </a:cubicBezTo>
                  <a:cubicBezTo>
                    <a:pt x="6311" y="175331"/>
                    <a:pt x="-13820" y="111274"/>
                    <a:pt x="0" y="0"/>
                  </a:cubicBezTo>
                  <a:close/>
                </a:path>
              </a:pathLst>
            </a:custGeom>
            <a:noFill/>
            <a:ln w="12700">
              <a:gradFill flip="none" rotWithShape="1">
                <a:gsLst>
                  <a:gs pos="0">
                    <a:schemeClr val="tx2"/>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0" name="组合 29">
            <a:extLst>
              <a:ext uri="{FF2B5EF4-FFF2-40B4-BE49-F238E27FC236}">
                <a16:creationId xmlns:a16="http://schemas.microsoft.com/office/drawing/2014/main" id="{D60D4A9D-FF4D-84FF-96D2-E687B534FE94}"/>
              </a:ext>
            </a:extLst>
          </p:cNvPr>
          <p:cNvGrpSpPr/>
          <p:nvPr/>
        </p:nvGrpSpPr>
        <p:grpSpPr>
          <a:xfrm>
            <a:off x="6437045" y="3924486"/>
            <a:ext cx="5255748" cy="338554"/>
            <a:chOff x="6437045" y="3924486"/>
            <a:chExt cx="5255748" cy="338554"/>
          </a:xfrm>
        </p:grpSpPr>
        <p:sp>
          <p:nvSpPr>
            <p:cNvPr id="8" name="文本框 7">
              <a:extLst>
                <a:ext uri="{FF2B5EF4-FFF2-40B4-BE49-F238E27FC236}">
                  <a16:creationId xmlns:a16="http://schemas.microsoft.com/office/drawing/2014/main" id="{2219B292-C452-145E-9D6D-67EB345C6C22}"/>
                </a:ext>
              </a:extLst>
            </p:cNvPr>
            <p:cNvSpPr txBox="1"/>
            <p:nvPr/>
          </p:nvSpPr>
          <p:spPr>
            <a:xfrm>
              <a:off x="6437045" y="3924486"/>
              <a:ext cx="5255748" cy="338554"/>
            </a:xfrm>
            <a:prstGeom prst="rect">
              <a:avLst/>
            </a:prstGeom>
            <a:noFill/>
          </p:spPr>
          <p:txBody>
            <a:bodyPr wrap="square" rtlCol="0">
              <a:spAutoFit/>
            </a:bodyPr>
            <a:lstStyle/>
            <a:p>
              <a:r>
                <a:rPr lang="zh-CN" altLang="en-US" sz="1600" dirty="0"/>
                <a:t>🔑 已有模块和域的交互</a:t>
              </a:r>
            </a:p>
          </p:txBody>
        </p:sp>
        <p:sp>
          <p:nvSpPr>
            <p:cNvPr id="14" name="矩形 13">
              <a:extLst>
                <a:ext uri="{FF2B5EF4-FFF2-40B4-BE49-F238E27FC236}">
                  <a16:creationId xmlns:a16="http://schemas.microsoft.com/office/drawing/2014/main" id="{24C1589E-8230-9691-74F4-D3B2B80B646D}"/>
                </a:ext>
              </a:extLst>
            </p:cNvPr>
            <p:cNvSpPr/>
            <p:nvPr/>
          </p:nvSpPr>
          <p:spPr>
            <a:xfrm>
              <a:off x="6486040" y="3924486"/>
              <a:ext cx="5017732" cy="311324"/>
            </a:xfrm>
            <a:custGeom>
              <a:avLst/>
              <a:gdLst>
                <a:gd name="csX0" fmla="*/ 0 w 5017732"/>
                <a:gd name="csY0" fmla="*/ 0 h 311324"/>
                <a:gd name="csX1" fmla="*/ 577039 w 5017732"/>
                <a:gd name="csY1" fmla="*/ 0 h 311324"/>
                <a:gd name="csX2" fmla="*/ 1053724 w 5017732"/>
                <a:gd name="csY2" fmla="*/ 0 h 311324"/>
                <a:gd name="csX3" fmla="*/ 1781295 w 5017732"/>
                <a:gd name="csY3" fmla="*/ 0 h 311324"/>
                <a:gd name="csX4" fmla="*/ 2358334 w 5017732"/>
                <a:gd name="csY4" fmla="*/ 0 h 311324"/>
                <a:gd name="csX5" fmla="*/ 2935373 w 5017732"/>
                <a:gd name="csY5" fmla="*/ 0 h 311324"/>
                <a:gd name="csX6" fmla="*/ 3662944 w 5017732"/>
                <a:gd name="csY6" fmla="*/ 0 h 311324"/>
                <a:gd name="csX7" fmla="*/ 4189806 w 5017732"/>
                <a:gd name="csY7" fmla="*/ 0 h 311324"/>
                <a:gd name="csX8" fmla="*/ 5017732 w 5017732"/>
                <a:gd name="csY8" fmla="*/ 0 h 311324"/>
                <a:gd name="csX9" fmla="*/ 5017732 w 5017732"/>
                <a:gd name="csY9" fmla="*/ 311324 h 311324"/>
                <a:gd name="csX10" fmla="*/ 4490870 w 5017732"/>
                <a:gd name="csY10" fmla="*/ 311324 h 311324"/>
                <a:gd name="csX11" fmla="*/ 3863654 w 5017732"/>
                <a:gd name="csY11" fmla="*/ 311324 h 311324"/>
                <a:gd name="csX12" fmla="*/ 3286614 w 5017732"/>
                <a:gd name="csY12" fmla="*/ 311324 h 311324"/>
                <a:gd name="csX13" fmla="*/ 2559043 w 5017732"/>
                <a:gd name="csY13" fmla="*/ 311324 h 311324"/>
                <a:gd name="csX14" fmla="*/ 1831472 w 5017732"/>
                <a:gd name="csY14" fmla="*/ 311324 h 311324"/>
                <a:gd name="csX15" fmla="*/ 1304610 w 5017732"/>
                <a:gd name="csY15" fmla="*/ 311324 h 311324"/>
                <a:gd name="csX16" fmla="*/ 677394 w 5017732"/>
                <a:gd name="csY16" fmla="*/ 311324 h 311324"/>
                <a:gd name="csX17" fmla="*/ 0 w 5017732"/>
                <a:gd name="csY17" fmla="*/ 311324 h 311324"/>
                <a:gd name="csX18" fmla="*/ 0 w 5017732"/>
                <a:gd name="csY18" fmla="*/ 0 h 3113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017732" h="311324" extrusionOk="0">
                  <a:moveTo>
                    <a:pt x="0" y="0"/>
                  </a:moveTo>
                  <a:cubicBezTo>
                    <a:pt x="240824" y="4786"/>
                    <a:pt x="377012" y="1213"/>
                    <a:pt x="577039" y="0"/>
                  </a:cubicBezTo>
                  <a:cubicBezTo>
                    <a:pt x="777066" y="-1213"/>
                    <a:pt x="907442" y="-21219"/>
                    <a:pt x="1053724" y="0"/>
                  </a:cubicBezTo>
                  <a:cubicBezTo>
                    <a:pt x="1200007" y="21219"/>
                    <a:pt x="1607542" y="4999"/>
                    <a:pt x="1781295" y="0"/>
                  </a:cubicBezTo>
                  <a:cubicBezTo>
                    <a:pt x="1955048" y="-4999"/>
                    <a:pt x="2129194" y="-14260"/>
                    <a:pt x="2358334" y="0"/>
                  </a:cubicBezTo>
                  <a:cubicBezTo>
                    <a:pt x="2587474" y="14260"/>
                    <a:pt x="2659443" y="21126"/>
                    <a:pt x="2935373" y="0"/>
                  </a:cubicBezTo>
                  <a:cubicBezTo>
                    <a:pt x="3211303" y="-21126"/>
                    <a:pt x="3385000" y="-8620"/>
                    <a:pt x="3662944" y="0"/>
                  </a:cubicBezTo>
                  <a:cubicBezTo>
                    <a:pt x="3940888" y="8620"/>
                    <a:pt x="4037518" y="146"/>
                    <a:pt x="4189806" y="0"/>
                  </a:cubicBezTo>
                  <a:cubicBezTo>
                    <a:pt x="4342094" y="-146"/>
                    <a:pt x="4728851" y="-19835"/>
                    <a:pt x="5017732" y="0"/>
                  </a:cubicBezTo>
                  <a:cubicBezTo>
                    <a:pt x="5011403" y="94163"/>
                    <a:pt x="5021317" y="217394"/>
                    <a:pt x="5017732" y="311324"/>
                  </a:cubicBezTo>
                  <a:cubicBezTo>
                    <a:pt x="4854828" y="316742"/>
                    <a:pt x="4728813" y="287566"/>
                    <a:pt x="4490870" y="311324"/>
                  </a:cubicBezTo>
                  <a:cubicBezTo>
                    <a:pt x="4252927" y="335082"/>
                    <a:pt x="4052879" y="307672"/>
                    <a:pt x="3863654" y="311324"/>
                  </a:cubicBezTo>
                  <a:cubicBezTo>
                    <a:pt x="3674429" y="314976"/>
                    <a:pt x="3539933" y="317606"/>
                    <a:pt x="3286614" y="311324"/>
                  </a:cubicBezTo>
                  <a:cubicBezTo>
                    <a:pt x="3033295" y="305042"/>
                    <a:pt x="2800723" y="290335"/>
                    <a:pt x="2559043" y="311324"/>
                  </a:cubicBezTo>
                  <a:cubicBezTo>
                    <a:pt x="2317363" y="332313"/>
                    <a:pt x="2182799" y="292154"/>
                    <a:pt x="1831472" y="311324"/>
                  </a:cubicBezTo>
                  <a:cubicBezTo>
                    <a:pt x="1480145" y="330494"/>
                    <a:pt x="1549357" y="296982"/>
                    <a:pt x="1304610" y="311324"/>
                  </a:cubicBezTo>
                  <a:cubicBezTo>
                    <a:pt x="1059863" y="325666"/>
                    <a:pt x="975444" y="299242"/>
                    <a:pt x="677394" y="311324"/>
                  </a:cubicBezTo>
                  <a:cubicBezTo>
                    <a:pt x="379344" y="323406"/>
                    <a:pt x="226981" y="322353"/>
                    <a:pt x="0" y="311324"/>
                  </a:cubicBezTo>
                  <a:cubicBezTo>
                    <a:pt x="11265" y="192492"/>
                    <a:pt x="-4711" y="130476"/>
                    <a:pt x="0" y="0"/>
                  </a:cubicBezTo>
                  <a:close/>
                </a:path>
              </a:pathLst>
            </a:custGeom>
            <a:noFill/>
            <a:ln w="12700">
              <a:gradFill flip="none" rotWithShape="1">
                <a:gsLst>
                  <a:gs pos="0">
                    <a:schemeClr val="tx2"/>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5" name="组合 24">
            <a:extLst>
              <a:ext uri="{FF2B5EF4-FFF2-40B4-BE49-F238E27FC236}">
                <a16:creationId xmlns:a16="http://schemas.microsoft.com/office/drawing/2014/main" id="{A8FD2797-01DF-F5EB-E309-F8721DEA4AC6}"/>
              </a:ext>
            </a:extLst>
          </p:cNvPr>
          <p:cNvGrpSpPr/>
          <p:nvPr/>
        </p:nvGrpSpPr>
        <p:grpSpPr>
          <a:xfrm>
            <a:off x="6433827" y="1010970"/>
            <a:ext cx="5331870" cy="606303"/>
            <a:chOff x="6420245" y="950009"/>
            <a:chExt cx="5331870" cy="606303"/>
          </a:xfrm>
        </p:grpSpPr>
        <p:sp>
          <p:nvSpPr>
            <p:cNvPr id="21" name="矩形 20">
              <a:extLst>
                <a:ext uri="{FF2B5EF4-FFF2-40B4-BE49-F238E27FC236}">
                  <a16:creationId xmlns:a16="http://schemas.microsoft.com/office/drawing/2014/main" id="{E0F640AC-79CD-43A7-57E0-B9762DFB647B}"/>
                </a:ext>
              </a:extLst>
            </p:cNvPr>
            <p:cNvSpPr/>
            <p:nvPr/>
          </p:nvSpPr>
          <p:spPr>
            <a:xfrm>
              <a:off x="6420245" y="950009"/>
              <a:ext cx="5331870" cy="584775"/>
            </a:xfrm>
            <a:prstGeom prst="rect">
              <a:avLst/>
            </a:prstGeom>
            <a:no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22" name="菱形 21">
              <a:extLst>
                <a:ext uri="{FF2B5EF4-FFF2-40B4-BE49-F238E27FC236}">
                  <a16:creationId xmlns:a16="http://schemas.microsoft.com/office/drawing/2014/main" id="{C137EA83-CA24-7EE0-C2BD-03E55FCAE1B2}"/>
                </a:ext>
              </a:extLst>
            </p:cNvPr>
            <p:cNvSpPr/>
            <p:nvPr/>
          </p:nvSpPr>
          <p:spPr>
            <a:xfrm>
              <a:off x="6464505" y="1016000"/>
              <a:ext cx="214562" cy="201542"/>
            </a:xfrm>
            <a:prstGeom prst="diamond">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23" name="文本框 22">
              <a:extLst>
                <a:ext uri="{FF2B5EF4-FFF2-40B4-BE49-F238E27FC236}">
                  <a16:creationId xmlns:a16="http://schemas.microsoft.com/office/drawing/2014/main" id="{2BBEA5A5-417E-CB19-AD3E-B1C719B5EF39}"/>
                </a:ext>
              </a:extLst>
            </p:cNvPr>
            <p:cNvSpPr txBox="1"/>
            <p:nvPr/>
          </p:nvSpPr>
          <p:spPr>
            <a:xfrm>
              <a:off x="6679067" y="971537"/>
              <a:ext cx="5073048" cy="584775"/>
            </a:xfrm>
            <a:prstGeom prst="rect">
              <a:avLst/>
            </a:prstGeom>
            <a:noFill/>
          </p:spPr>
          <p:txBody>
            <a:bodyPr wrap="square">
              <a:spAutoFit/>
            </a:bodyPr>
            <a:lstStyle/>
            <a:p>
              <a:r>
                <a:rPr lang="zh-CN" altLang="en-US" sz="1600" b="1" dirty="0"/>
                <a:t>为了让绝大部分内核功能受益于语言的类型和内存安全，</a:t>
              </a:r>
              <a:r>
                <a:rPr lang="en-US" altLang="zh-CN" sz="1600" b="1" dirty="0"/>
                <a:t>Moat </a:t>
              </a:r>
              <a:r>
                <a:rPr lang="zh-CN" altLang="en-US" sz="1600" b="1" dirty="0"/>
                <a:t>建议减少域管理运行时负责的功能</a:t>
              </a:r>
            </a:p>
          </p:txBody>
        </p:sp>
      </p:grpSp>
      <p:sp>
        <p:nvSpPr>
          <p:cNvPr id="24" name="矩形 23">
            <a:extLst>
              <a:ext uri="{FF2B5EF4-FFF2-40B4-BE49-F238E27FC236}">
                <a16:creationId xmlns:a16="http://schemas.microsoft.com/office/drawing/2014/main" id="{5FA5BCBC-30B2-6486-F812-27A879C7B5C2}"/>
              </a:ext>
            </a:extLst>
          </p:cNvPr>
          <p:cNvSpPr/>
          <p:nvPr/>
        </p:nvSpPr>
        <p:spPr>
          <a:xfrm>
            <a:off x="828103" y="4409441"/>
            <a:ext cx="5115497" cy="1437589"/>
          </a:xfrm>
          <a:custGeom>
            <a:avLst/>
            <a:gdLst>
              <a:gd name="csX0" fmla="*/ 0 w 5115497"/>
              <a:gd name="csY0" fmla="*/ 0 h 1437589"/>
              <a:gd name="csX1" fmla="*/ 517234 w 5115497"/>
              <a:gd name="csY1" fmla="*/ 0 h 1437589"/>
              <a:gd name="csX2" fmla="*/ 932157 w 5115497"/>
              <a:gd name="csY2" fmla="*/ 0 h 1437589"/>
              <a:gd name="csX3" fmla="*/ 1602856 w 5115497"/>
              <a:gd name="csY3" fmla="*/ 0 h 1437589"/>
              <a:gd name="csX4" fmla="*/ 2120089 w 5115497"/>
              <a:gd name="csY4" fmla="*/ 0 h 1437589"/>
              <a:gd name="csX5" fmla="*/ 2637323 w 5115497"/>
              <a:gd name="csY5" fmla="*/ 0 h 1437589"/>
              <a:gd name="csX6" fmla="*/ 3308021 w 5115497"/>
              <a:gd name="csY6" fmla="*/ 0 h 1437589"/>
              <a:gd name="csX7" fmla="*/ 3774100 w 5115497"/>
              <a:gd name="csY7" fmla="*/ 0 h 1437589"/>
              <a:gd name="csX8" fmla="*/ 4444799 w 5115497"/>
              <a:gd name="csY8" fmla="*/ 0 h 1437589"/>
              <a:gd name="csX9" fmla="*/ 5115497 w 5115497"/>
              <a:gd name="csY9" fmla="*/ 0 h 1437589"/>
              <a:gd name="csX10" fmla="*/ 5115497 w 5115497"/>
              <a:gd name="csY10" fmla="*/ 479196 h 1437589"/>
              <a:gd name="csX11" fmla="*/ 5115497 w 5115497"/>
              <a:gd name="csY11" fmla="*/ 958393 h 1437589"/>
              <a:gd name="csX12" fmla="*/ 5115497 w 5115497"/>
              <a:gd name="csY12" fmla="*/ 1437589 h 1437589"/>
              <a:gd name="csX13" fmla="*/ 4700573 w 5115497"/>
              <a:gd name="csY13" fmla="*/ 1437589 h 1437589"/>
              <a:gd name="csX14" fmla="*/ 4029875 w 5115497"/>
              <a:gd name="csY14" fmla="*/ 1437589 h 1437589"/>
              <a:gd name="csX15" fmla="*/ 3563796 w 5115497"/>
              <a:gd name="csY15" fmla="*/ 1437589 h 1437589"/>
              <a:gd name="csX16" fmla="*/ 2995408 w 5115497"/>
              <a:gd name="csY16" fmla="*/ 1437589 h 1437589"/>
              <a:gd name="csX17" fmla="*/ 2324709 w 5115497"/>
              <a:gd name="csY17" fmla="*/ 1437589 h 1437589"/>
              <a:gd name="csX18" fmla="*/ 1756321 w 5115497"/>
              <a:gd name="csY18" fmla="*/ 1437589 h 1437589"/>
              <a:gd name="csX19" fmla="*/ 1341397 w 5115497"/>
              <a:gd name="csY19" fmla="*/ 1437589 h 1437589"/>
              <a:gd name="csX20" fmla="*/ 875318 w 5115497"/>
              <a:gd name="csY20" fmla="*/ 1437589 h 1437589"/>
              <a:gd name="csX21" fmla="*/ 0 w 5115497"/>
              <a:gd name="csY21" fmla="*/ 1437589 h 1437589"/>
              <a:gd name="csX22" fmla="*/ 0 w 5115497"/>
              <a:gd name="csY22" fmla="*/ 958393 h 1437589"/>
              <a:gd name="csX23" fmla="*/ 0 w 5115497"/>
              <a:gd name="csY23" fmla="*/ 479196 h 1437589"/>
              <a:gd name="csX24" fmla="*/ 0 w 5115497"/>
              <a:gd name="csY24" fmla="*/ 0 h 14375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5115497" h="1437589" extrusionOk="0">
                <a:moveTo>
                  <a:pt x="0" y="0"/>
                </a:moveTo>
                <a:cubicBezTo>
                  <a:pt x="120473" y="-26955"/>
                  <a:pt x="324184" y="56382"/>
                  <a:pt x="517234" y="0"/>
                </a:cubicBezTo>
                <a:cubicBezTo>
                  <a:pt x="710284" y="-56382"/>
                  <a:pt x="763518" y="27342"/>
                  <a:pt x="932157" y="0"/>
                </a:cubicBezTo>
                <a:cubicBezTo>
                  <a:pt x="1100796" y="-27342"/>
                  <a:pt x="1373112" y="69879"/>
                  <a:pt x="1602856" y="0"/>
                </a:cubicBezTo>
                <a:cubicBezTo>
                  <a:pt x="1832600" y="-69879"/>
                  <a:pt x="1903307" y="14124"/>
                  <a:pt x="2120089" y="0"/>
                </a:cubicBezTo>
                <a:cubicBezTo>
                  <a:pt x="2336871" y="-14124"/>
                  <a:pt x="2419388" y="34113"/>
                  <a:pt x="2637323" y="0"/>
                </a:cubicBezTo>
                <a:cubicBezTo>
                  <a:pt x="2855258" y="-34113"/>
                  <a:pt x="3096838" y="38905"/>
                  <a:pt x="3308021" y="0"/>
                </a:cubicBezTo>
                <a:cubicBezTo>
                  <a:pt x="3519204" y="-38905"/>
                  <a:pt x="3675706" y="14646"/>
                  <a:pt x="3774100" y="0"/>
                </a:cubicBezTo>
                <a:cubicBezTo>
                  <a:pt x="3872494" y="-14646"/>
                  <a:pt x="4231098" y="14195"/>
                  <a:pt x="4444799" y="0"/>
                </a:cubicBezTo>
                <a:cubicBezTo>
                  <a:pt x="4658500" y="-14195"/>
                  <a:pt x="4812098" y="49832"/>
                  <a:pt x="5115497" y="0"/>
                </a:cubicBezTo>
                <a:cubicBezTo>
                  <a:pt x="5172530" y="168266"/>
                  <a:pt x="5084911" y="269631"/>
                  <a:pt x="5115497" y="479196"/>
                </a:cubicBezTo>
                <a:cubicBezTo>
                  <a:pt x="5146083" y="688761"/>
                  <a:pt x="5069354" y="822494"/>
                  <a:pt x="5115497" y="958393"/>
                </a:cubicBezTo>
                <a:cubicBezTo>
                  <a:pt x="5161640" y="1094292"/>
                  <a:pt x="5103698" y="1256115"/>
                  <a:pt x="5115497" y="1437589"/>
                </a:cubicBezTo>
                <a:cubicBezTo>
                  <a:pt x="4996378" y="1472681"/>
                  <a:pt x="4813562" y="1422449"/>
                  <a:pt x="4700573" y="1437589"/>
                </a:cubicBezTo>
                <a:cubicBezTo>
                  <a:pt x="4587584" y="1452729"/>
                  <a:pt x="4323156" y="1377991"/>
                  <a:pt x="4029875" y="1437589"/>
                </a:cubicBezTo>
                <a:cubicBezTo>
                  <a:pt x="3736594" y="1497187"/>
                  <a:pt x="3698959" y="1397941"/>
                  <a:pt x="3563796" y="1437589"/>
                </a:cubicBezTo>
                <a:cubicBezTo>
                  <a:pt x="3428633" y="1477237"/>
                  <a:pt x="3110992" y="1386601"/>
                  <a:pt x="2995408" y="1437589"/>
                </a:cubicBezTo>
                <a:cubicBezTo>
                  <a:pt x="2879824" y="1488577"/>
                  <a:pt x="2579306" y="1429499"/>
                  <a:pt x="2324709" y="1437589"/>
                </a:cubicBezTo>
                <a:cubicBezTo>
                  <a:pt x="2070112" y="1445679"/>
                  <a:pt x="1909904" y="1436218"/>
                  <a:pt x="1756321" y="1437589"/>
                </a:cubicBezTo>
                <a:cubicBezTo>
                  <a:pt x="1602738" y="1438960"/>
                  <a:pt x="1533035" y="1435044"/>
                  <a:pt x="1341397" y="1437589"/>
                </a:cubicBezTo>
                <a:cubicBezTo>
                  <a:pt x="1149759" y="1440134"/>
                  <a:pt x="1044514" y="1396596"/>
                  <a:pt x="875318" y="1437589"/>
                </a:cubicBezTo>
                <a:cubicBezTo>
                  <a:pt x="706122" y="1478582"/>
                  <a:pt x="181441" y="1380281"/>
                  <a:pt x="0" y="1437589"/>
                </a:cubicBezTo>
                <a:cubicBezTo>
                  <a:pt x="-22112" y="1241430"/>
                  <a:pt x="17558" y="1091763"/>
                  <a:pt x="0" y="958393"/>
                </a:cubicBezTo>
                <a:cubicBezTo>
                  <a:pt x="-17558" y="825023"/>
                  <a:pt x="15365" y="705546"/>
                  <a:pt x="0" y="479196"/>
                </a:cubicBezTo>
                <a:cubicBezTo>
                  <a:pt x="-15365" y="252846"/>
                  <a:pt x="33245" y="215501"/>
                  <a:pt x="0" y="0"/>
                </a:cubicBezTo>
                <a:close/>
              </a:path>
            </a:pathLst>
          </a:custGeom>
          <a:noFill/>
          <a:ln w="28575">
            <a:solidFill>
              <a:srgbClr val="FF0000"/>
            </a:solidFill>
            <a:prstDash val="dash"/>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70133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childTnLst>
                          </p:cTn>
                        </p:par>
                        <p:par>
                          <p:cTn id="8" fill="hold">
                            <p:stCondLst>
                              <p:cond delay="500"/>
                            </p:stCondLst>
                            <p:childTnLst>
                              <p:par>
                                <p:cTn id="9" presetID="13" presetClass="entr" presetSubtype="16"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plus(in)">
                                      <p:cBhvr>
                                        <p:cTn id="11" dur="2000"/>
                                        <p:tgtEl>
                                          <p:spTgt spid="2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wipe(up)">
                                      <p:cBhvr>
                                        <p:cTn id="16" dur="1000"/>
                                        <p:tgtEl>
                                          <p:spTgt spid="26"/>
                                        </p:tgtEl>
                                      </p:cBhvr>
                                    </p:animEffec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wipe(up)">
                                      <p:cBhvr>
                                        <p:cTn id="20" dur="1000"/>
                                        <p:tgtEl>
                                          <p:spTgt spid="27"/>
                                        </p:tgtEl>
                                      </p:cBhvr>
                                    </p:animEffect>
                                  </p:childTnLst>
                                </p:cTn>
                              </p:par>
                            </p:childTnLst>
                          </p:cTn>
                        </p:par>
                        <p:par>
                          <p:cTn id="21" fill="hold">
                            <p:stCondLst>
                              <p:cond delay="2000"/>
                            </p:stCondLst>
                            <p:childTnLst>
                              <p:par>
                                <p:cTn id="22" presetID="22" presetClass="entr" presetSubtype="1" fill="hold" nodeType="after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wipe(up)">
                                      <p:cBhvr>
                                        <p:cTn id="24" dur="1000"/>
                                        <p:tgtEl>
                                          <p:spTgt spid="28"/>
                                        </p:tgtEl>
                                      </p:cBhvr>
                                    </p:animEffect>
                                  </p:childTnLst>
                                </p:cTn>
                              </p:par>
                            </p:childTnLst>
                          </p:cTn>
                        </p:par>
                        <p:par>
                          <p:cTn id="25" fill="hold">
                            <p:stCondLst>
                              <p:cond delay="3000"/>
                            </p:stCondLst>
                            <p:childTnLst>
                              <p:par>
                                <p:cTn id="26" presetID="22" presetClass="entr" presetSubtype="1" fill="hold" nodeType="after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wipe(up)">
                                      <p:cBhvr>
                                        <p:cTn id="28" dur="1000"/>
                                        <p:tgtEl>
                                          <p:spTgt spid="29"/>
                                        </p:tgtEl>
                                      </p:cBhvr>
                                    </p:animEffect>
                                  </p:childTnLst>
                                </p:cTn>
                              </p:par>
                            </p:childTnLst>
                          </p:cTn>
                        </p:par>
                        <p:par>
                          <p:cTn id="29" fill="hold">
                            <p:stCondLst>
                              <p:cond delay="4000"/>
                            </p:stCondLst>
                            <p:childTnLst>
                              <p:par>
                                <p:cTn id="30" presetID="22" presetClass="entr" presetSubtype="1" fill="hold" nodeType="after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wipe(up)">
                                      <p:cBhvr>
                                        <p:cTn id="32" dur="1000"/>
                                        <p:tgtEl>
                                          <p:spTgt spid="30"/>
                                        </p:tgtEl>
                                      </p:cBhvr>
                                    </p:animEffect>
                                  </p:childTnLst>
                                </p:cTn>
                              </p:par>
                            </p:childTnLst>
                          </p:cTn>
                        </p:par>
                        <p:par>
                          <p:cTn id="33" fill="hold">
                            <p:stCondLst>
                              <p:cond delay="5000"/>
                            </p:stCondLst>
                            <p:childTnLst>
                              <p:par>
                                <p:cTn id="34" presetID="22" presetClass="entr" presetSubtype="1" fill="hold" nodeType="after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wipe(up)">
                                      <p:cBhvr>
                                        <p:cTn id="36"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B7659-5555-65F0-7E28-88E9D6065398}"/>
            </a:ext>
          </a:extLst>
        </p:cNvPr>
        <p:cNvGrpSpPr/>
        <p:nvPr/>
      </p:nvGrpSpPr>
      <p:grpSpPr>
        <a:xfrm>
          <a:off x="0" y="0"/>
          <a:ext cx="0" cy="0"/>
          <a:chOff x="0" y="0"/>
          <a:chExt cx="0" cy="0"/>
        </a:xfrm>
      </p:grpSpPr>
      <p:sp>
        <p:nvSpPr>
          <p:cNvPr id="9" name="标题 8">
            <a:extLst>
              <a:ext uri="{FF2B5EF4-FFF2-40B4-BE49-F238E27FC236}">
                <a16:creationId xmlns:a16="http://schemas.microsoft.com/office/drawing/2014/main" id="{0EA426B3-5877-5353-1DF0-FD4D35869A86}"/>
              </a:ext>
            </a:extLst>
          </p:cNvPr>
          <p:cNvSpPr>
            <a:spLocks noGrp="1"/>
          </p:cNvSpPr>
          <p:nvPr>
            <p:ph type="title"/>
          </p:nvPr>
        </p:nvSpPr>
        <p:spPr>
          <a:xfrm>
            <a:off x="1173494" y="249067"/>
            <a:ext cx="8048203" cy="480131"/>
          </a:xfrm>
        </p:spPr>
        <p:txBody>
          <a:bodyPr/>
          <a:lstStyle/>
          <a:p>
            <a:r>
              <a:rPr lang="zh-CN" altLang="en-US" spc="300" dirty="0">
                <a:latin typeface="+mj-ea"/>
              </a:rPr>
              <a:t>设计和实现</a:t>
            </a:r>
          </a:p>
        </p:txBody>
      </p:sp>
      <p:grpSp>
        <p:nvGrpSpPr>
          <p:cNvPr id="11" name="组合 10">
            <a:extLst>
              <a:ext uri="{FF2B5EF4-FFF2-40B4-BE49-F238E27FC236}">
                <a16:creationId xmlns:a16="http://schemas.microsoft.com/office/drawing/2014/main" id="{C18E6FE7-1EB0-06C1-FD3E-928716965CA5}"/>
              </a:ext>
            </a:extLst>
          </p:cNvPr>
          <p:cNvGrpSpPr/>
          <p:nvPr/>
        </p:nvGrpSpPr>
        <p:grpSpPr>
          <a:xfrm>
            <a:off x="439362" y="1000125"/>
            <a:ext cx="6554037" cy="5190994"/>
            <a:chOff x="370378" y="1000125"/>
            <a:chExt cx="7440122" cy="5270951"/>
          </a:xfrm>
        </p:grpSpPr>
        <p:pic>
          <p:nvPicPr>
            <p:cNvPr id="3" name="图片 2" descr="图形用户界面, 图示&#10;&#10;AI 生成的内容可能不正确。">
              <a:extLst>
                <a:ext uri="{FF2B5EF4-FFF2-40B4-BE49-F238E27FC236}">
                  <a16:creationId xmlns:a16="http://schemas.microsoft.com/office/drawing/2014/main" id="{256B2BAD-0B18-A64D-A8BB-29A19663A306}"/>
                </a:ext>
              </a:extLst>
            </p:cNvPr>
            <p:cNvPicPr>
              <a:picLocks noChangeAspect="1"/>
            </p:cNvPicPr>
            <p:nvPr/>
          </p:nvPicPr>
          <p:blipFill>
            <a:blip r:embed="rId3"/>
            <a:stretch>
              <a:fillRect/>
            </a:stretch>
          </p:blipFill>
          <p:spPr>
            <a:xfrm>
              <a:off x="557415" y="1749496"/>
              <a:ext cx="7094945" cy="4343771"/>
            </a:xfrm>
            <a:prstGeom prst="rect">
              <a:avLst/>
            </a:prstGeom>
          </p:spPr>
        </p:pic>
        <p:grpSp>
          <p:nvGrpSpPr>
            <p:cNvPr id="4" name="组合 3">
              <a:extLst>
                <a:ext uri="{FF2B5EF4-FFF2-40B4-BE49-F238E27FC236}">
                  <a16:creationId xmlns:a16="http://schemas.microsoft.com/office/drawing/2014/main" id="{992FB041-3B4F-72F6-A483-49A31650EBC8}"/>
                </a:ext>
              </a:extLst>
            </p:cNvPr>
            <p:cNvGrpSpPr/>
            <p:nvPr/>
          </p:nvGrpSpPr>
          <p:grpSpPr>
            <a:xfrm>
              <a:off x="370378" y="1000125"/>
              <a:ext cx="7440122" cy="5270951"/>
              <a:chOff x="193945" y="1841642"/>
              <a:chExt cx="5516843" cy="5793230"/>
            </a:xfrm>
          </p:grpSpPr>
          <p:sp>
            <p:nvSpPr>
              <p:cNvPr id="5" name="矩形 4">
                <a:extLst>
                  <a:ext uri="{FF2B5EF4-FFF2-40B4-BE49-F238E27FC236}">
                    <a16:creationId xmlns:a16="http://schemas.microsoft.com/office/drawing/2014/main" id="{619C6C1F-70E9-1D94-AE19-A05FDCF3F662}"/>
                  </a:ext>
                </a:extLst>
              </p:cNvPr>
              <p:cNvSpPr/>
              <p:nvPr/>
            </p:nvSpPr>
            <p:spPr>
              <a:xfrm>
                <a:off x="193945" y="1841642"/>
                <a:ext cx="5516843" cy="5793230"/>
              </a:xfrm>
              <a:prstGeom prst="rect">
                <a:avLst/>
              </a:prstGeom>
              <a:noFill/>
              <a:ln w="25400">
                <a:solidFill>
                  <a:schemeClr val="tx2">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5767494A-209D-0AF5-B825-BD589E1C4DEC}"/>
                  </a:ext>
                </a:extLst>
              </p:cNvPr>
              <p:cNvSpPr/>
              <p:nvPr/>
            </p:nvSpPr>
            <p:spPr>
              <a:xfrm>
                <a:off x="200836" y="1931940"/>
                <a:ext cx="5304499" cy="517162"/>
              </a:xfrm>
              <a:prstGeom prst="rect">
                <a:avLst/>
              </a:prstGeom>
              <a:gradFill flip="none" rotWithShape="1">
                <a:gsLst>
                  <a:gs pos="58000">
                    <a:schemeClr val="tx2"/>
                  </a:gs>
                  <a:gs pos="100000">
                    <a:schemeClr val="bg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文本框 6">
                <a:extLst>
                  <a:ext uri="{FF2B5EF4-FFF2-40B4-BE49-F238E27FC236}">
                    <a16:creationId xmlns:a16="http://schemas.microsoft.com/office/drawing/2014/main" id="{235FF7DB-6A3F-8104-4002-8E880DC578EF}"/>
                  </a:ext>
                </a:extLst>
              </p:cNvPr>
              <p:cNvSpPr txBox="1"/>
              <p:nvPr/>
            </p:nvSpPr>
            <p:spPr>
              <a:xfrm>
                <a:off x="1051146" y="1955301"/>
                <a:ext cx="4392118" cy="439755"/>
              </a:xfrm>
              <a:prstGeom prst="rect">
                <a:avLst/>
              </a:prstGeom>
              <a:noFill/>
            </p:spPr>
            <p:txBody>
              <a:bodyPr wrap="square" rtlCol="0">
                <a:spAutoFit/>
              </a:bodyPr>
              <a:lstStyle/>
              <a:p>
                <a:r>
                  <a:rPr lang="zh-CN" altLang="en-US" sz="2000" b="1" dirty="0">
                    <a:solidFill>
                      <a:schemeClr val="bg1"/>
                    </a:solidFill>
                  </a:rPr>
                  <a:t>域间通信</a:t>
                </a:r>
              </a:p>
            </p:txBody>
          </p:sp>
          <p:sp>
            <p:nvSpPr>
              <p:cNvPr id="8" name="箭头: V 形 7">
                <a:extLst>
                  <a:ext uri="{FF2B5EF4-FFF2-40B4-BE49-F238E27FC236}">
                    <a16:creationId xmlns:a16="http://schemas.microsoft.com/office/drawing/2014/main" id="{4E1AE3CC-0F49-2DE6-2CCA-1EA41A588B25}"/>
                  </a:ext>
                </a:extLst>
              </p:cNvPr>
              <p:cNvSpPr/>
              <p:nvPr/>
            </p:nvSpPr>
            <p:spPr>
              <a:xfrm>
                <a:off x="706373" y="2025628"/>
                <a:ext cx="344773" cy="329784"/>
              </a:xfrm>
              <a:prstGeom prst="chevron">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任意多边形: 形状 9">
                <a:extLst>
                  <a:ext uri="{FF2B5EF4-FFF2-40B4-BE49-F238E27FC236}">
                    <a16:creationId xmlns:a16="http://schemas.microsoft.com/office/drawing/2014/main" id="{52CE81E2-6D5D-F907-9184-71DCFD6341FF}"/>
                  </a:ext>
                </a:extLst>
              </p:cNvPr>
              <p:cNvSpPr/>
              <p:nvPr/>
            </p:nvSpPr>
            <p:spPr>
              <a:xfrm rot="5400000">
                <a:off x="328310" y="1934921"/>
                <a:ext cx="344773" cy="511199"/>
              </a:xfrm>
              <a:custGeom>
                <a:avLst/>
                <a:gdLst>
                  <a:gd name="connsiteX0" fmla="*/ 0 w 344773"/>
                  <a:gd name="connsiteY0" fmla="*/ 182611 h 511199"/>
                  <a:gd name="connsiteX1" fmla="*/ 172387 w 344773"/>
                  <a:gd name="connsiteY1" fmla="*/ 0 h 511199"/>
                  <a:gd name="connsiteX2" fmla="*/ 344773 w 344773"/>
                  <a:gd name="connsiteY2" fmla="*/ 182611 h 511199"/>
                  <a:gd name="connsiteX3" fmla="*/ 337279 w 344773"/>
                  <a:gd name="connsiteY3" fmla="*/ 182611 h 511199"/>
                  <a:gd name="connsiteX4" fmla="*/ 337279 w 344773"/>
                  <a:gd name="connsiteY4" fmla="*/ 511199 h 511199"/>
                  <a:gd name="connsiteX5" fmla="*/ 7495 w 344773"/>
                  <a:gd name="connsiteY5" fmla="*/ 511199 h 511199"/>
                  <a:gd name="connsiteX6" fmla="*/ 7495 w 344773"/>
                  <a:gd name="connsiteY6" fmla="*/ 182611 h 511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4773" h="511199">
                    <a:moveTo>
                      <a:pt x="0" y="182611"/>
                    </a:moveTo>
                    <a:lnTo>
                      <a:pt x="172387" y="0"/>
                    </a:lnTo>
                    <a:lnTo>
                      <a:pt x="344773" y="182611"/>
                    </a:lnTo>
                    <a:lnTo>
                      <a:pt x="337279" y="182611"/>
                    </a:lnTo>
                    <a:lnTo>
                      <a:pt x="337279" y="511199"/>
                    </a:lnTo>
                    <a:lnTo>
                      <a:pt x="7495" y="511199"/>
                    </a:lnTo>
                    <a:lnTo>
                      <a:pt x="7495" y="182611"/>
                    </a:lnTo>
                    <a:close/>
                  </a:path>
                </a:pathLst>
              </a:custGeom>
              <a:gradFill flip="none" rotWithShape="1">
                <a:gsLst>
                  <a:gs pos="3000">
                    <a:schemeClr val="tx2"/>
                  </a:gs>
                  <a:gs pos="100000">
                    <a:schemeClr val="bg1"/>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grpSp>
        <p:nvGrpSpPr>
          <p:cNvPr id="33" name="组合 32">
            <a:extLst>
              <a:ext uri="{FF2B5EF4-FFF2-40B4-BE49-F238E27FC236}">
                <a16:creationId xmlns:a16="http://schemas.microsoft.com/office/drawing/2014/main" id="{EE387AE4-AD67-8C7A-005B-A7820FB8B801}"/>
              </a:ext>
            </a:extLst>
          </p:cNvPr>
          <p:cNvGrpSpPr/>
          <p:nvPr/>
        </p:nvGrpSpPr>
        <p:grpSpPr>
          <a:xfrm>
            <a:off x="7201442" y="2292521"/>
            <a:ext cx="4594476" cy="426572"/>
            <a:chOff x="7201442" y="2292521"/>
            <a:chExt cx="4594476" cy="426572"/>
          </a:xfrm>
        </p:grpSpPr>
        <p:sp>
          <p:nvSpPr>
            <p:cNvPr id="12" name="矩形 11">
              <a:extLst>
                <a:ext uri="{FF2B5EF4-FFF2-40B4-BE49-F238E27FC236}">
                  <a16:creationId xmlns:a16="http://schemas.microsoft.com/office/drawing/2014/main" id="{716D8E68-6239-45F3-5097-04F7B205F847}"/>
                </a:ext>
              </a:extLst>
            </p:cNvPr>
            <p:cNvSpPr/>
            <p:nvPr/>
          </p:nvSpPr>
          <p:spPr>
            <a:xfrm>
              <a:off x="7201442" y="2292521"/>
              <a:ext cx="4594476" cy="426572"/>
            </a:xfrm>
            <a:prstGeom prst="rect">
              <a:avLst/>
            </a:prstGeom>
            <a:no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13" name="菱形 12">
              <a:extLst>
                <a:ext uri="{FF2B5EF4-FFF2-40B4-BE49-F238E27FC236}">
                  <a16:creationId xmlns:a16="http://schemas.microsoft.com/office/drawing/2014/main" id="{0B1EDEE5-6D8C-B5C0-9B79-DC42C71BDD6A}"/>
                </a:ext>
              </a:extLst>
            </p:cNvPr>
            <p:cNvSpPr/>
            <p:nvPr/>
          </p:nvSpPr>
          <p:spPr>
            <a:xfrm>
              <a:off x="7250155" y="2394005"/>
              <a:ext cx="229346" cy="201542"/>
            </a:xfrm>
            <a:prstGeom prst="diamond">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14" name="文本框 13">
              <a:extLst>
                <a:ext uri="{FF2B5EF4-FFF2-40B4-BE49-F238E27FC236}">
                  <a16:creationId xmlns:a16="http://schemas.microsoft.com/office/drawing/2014/main" id="{10C6C1BB-BE7D-0661-C2D4-FA8128E4DC67}"/>
                </a:ext>
              </a:extLst>
            </p:cNvPr>
            <p:cNvSpPr txBox="1"/>
            <p:nvPr/>
          </p:nvSpPr>
          <p:spPr>
            <a:xfrm>
              <a:off x="7478520" y="2314048"/>
              <a:ext cx="4298306" cy="338554"/>
            </a:xfrm>
            <a:prstGeom prst="rect">
              <a:avLst/>
            </a:prstGeom>
            <a:noFill/>
          </p:spPr>
          <p:txBody>
            <a:bodyPr wrap="square">
              <a:spAutoFit/>
            </a:bodyPr>
            <a:lstStyle/>
            <a:p>
              <a:r>
                <a:rPr lang="zh-CN" altLang="en-US" sz="1600" b="1" dirty="0"/>
                <a:t>通过</a:t>
              </a:r>
              <a:r>
                <a:rPr lang="zh-CN" altLang="en-US" sz="1600" b="1" dirty="0">
                  <a:solidFill>
                    <a:srgbClr val="FF0000"/>
                  </a:solidFill>
                </a:rPr>
                <a:t>受限的域间通信</a:t>
              </a:r>
              <a:r>
                <a:rPr lang="zh-CN" altLang="en-US" sz="1600" b="1" dirty="0"/>
                <a:t>实现内存隔离和故障隔离</a:t>
              </a:r>
            </a:p>
          </p:txBody>
        </p:sp>
      </p:grpSp>
      <p:grpSp>
        <p:nvGrpSpPr>
          <p:cNvPr id="2" name="组合 1">
            <a:extLst>
              <a:ext uri="{FF2B5EF4-FFF2-40B4-BE49-F238E27FC236}">
                <a16:creationId xmlns:a16="http://schemas.microsoft.com/office/drawing/2014/main" id="{2CB8CEF3-6745-48BF-D251-D9B5A345DD4D}"/>
              </a:ext>
            </a:extLst>
          </p:cNvPr>
          <p:cNvGrpSpPr/>
          <p:nvPr/>
        </p:nvGrpSpPr>
        <p:grpSpPr>
          <a:xfrm>
            <a:off x="7190420" y="974827"/>
            <a:ext cx="4573760" cy="894761"/>
            <a:chOff x="7190420" y="974827"/>
            <a:chExt cx="4573760" cy="894761"/>
          </a:xfrm>
        </p:grpSpPr>
        <p:sp>
          <p:nvSpPr>
            <p:cNvPr id="16" name="矩形 15">
              <a:extLst>
                <a:ext uri="{FF2B5EF4-FFF2-40B4-BE49-F238E27FC236}">
                  <a16:creationId xmlns:a16="http://schemas.microsoft.com/office/drawing/2014/main" id="{0A23ABB0-FCBE-54E1-9A0B-5BD6E0C43B94}"/>
                </a:ext>
              </a:extLst>
            </p:cNvPr>
            <p:cNvSpPr/>
            <p:nvPr/>
          </p:nvSpPr>
          <p:spPr>
            <a:xfrm>
              <a:off x="7190420" y="974827"/>
              <a:ext cx="1052662" cy="894761"/>
            </a:xfrm>
            <a:prstGeom prst="rect">
              <a:avLst/>
            </a:prstGeom>
            <a:solidFill>
              <a:schemeClr val="accent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7" name="矩形 16">
              <a:extLst>
                <a:ext uri="{FF2B5EF4-FFF2-40B4-BE49-F238E27FC236}">
                  <a16:creationId xmlns:a16="http://schemas.microsoft.com/office/drawing/2014/main" id="{E5651370-0C12-86DF-F369-CA3CCD62FCC7}"/>
                </a:ext>
              </a:extLst>
            </p:cNvPr>
            <p:cNvSpPr/>
            <p:nvPr/>
          </p:nvSpPr>
          <p:spPr>
            <a:xfrm>
              <a:off x="8228954" y="983763"/>
              <a:ext cx="3523684" cy="871127"/>
            </a:xfrm>
            <a:prstGeom prst="rect">
              <a:avLst/>
            </a:prstGeom>
            <a:noFill/>
            <a:ln w="222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18" name="文本框 9">
              <a:extLst>
                <a:ext uri="{FF2B5EF4-FFF2-40B4-BE49-F238E27FC236}">
                  <a16:creationId xmlns:a16="http://schemas.microsoft.com/office/drawing/2014/main" id="{AD6E2AD7-D99E-6606-317D-DD6EC52E68F0}"/>
                </a:ext>
              </a:extLst>
            </p:cNvPr>
            <p:cNvSpPr txBox="1"/>
            <p:nvPr/>
          </p:nvSpPr>
          <p:spPr>
            <a:xfrm>
              <a:off x="7348601" y="1072732"/>
              <a:ext cx="880353" cy="70788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solidFill>
                    <a:schemeClr val="bg1"/>
                  </a:solidFill>
                </a:rPr>
                <a:t>核 心问 题</a:t>
              </a:r>
            </a:p>
          </p:txBody>
        </p:sp>
        <p:sp>
          <p:nvSpPr>
            <p:cNvPr id="19" name="文本框 10">
              <a:extLst>
                <a:ext uri="{FF2B5EF4-FFF2-40B4-BE49-F238E27FC236}">
                  <a16:creationId xmlns:a16="http://schemas.microsoft.com/office/drawing/2014/main" id="{4BF85652-A829-5FED-8C36-7A2C4A1CDE0E}"/>
                </a:ext>
              </a:extLst>
            </p:cNvPr>
            <p:cNvSpPr txBox="1"/>
            <p:nvPr/>
          </p:nvSpPr>
          <p:spPr>
            <a:xfrm>
              <a:off x="8256351" y="974827"/>
              <a:ext cx="3507829" cy="78752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600" b="1" dirty="0"/>
                <a:t>域仍然可能通过域接口传递包含复杂层次和引用关系的对象</a:t>
              </a:r>
            </a:p>
          </p:txBody>
        </p:sp>
      </p:grpSp>
      <p:grpSp>
        <p:nvGrpSpPr>
          <p:cNvPr id="20" name="组合 19">
            <a:extLst>
              <a:ext uri="{FF2B5EF4-FFF2-40B4-BE49-F238E27FC236}">
                <a16:creationId xmlns:a16="http://schemas.microsoft.com/office/drawing/2014/main" id="{5F0D408B-F78E-D5AC-2945-C9258877ADEE}"/>
              </a:ext>
            </a:extLst>
          </p:cNvPr>
          <p:cNvGrpSpPr/>
          <p:nvPr/>
        </p:nvGrpSpPr>
        <p:grpSpPr>
          <a:xfrm rot="5400000">
            <a:off x="9189706" y="1761665"/>
            <a:ext cx="278665" cy="597268"/>
            <a:chOff x="925326" y="3986924"/>
            <a:chExt cx="1445172" cy="1117600"/>
          </a:xfrm>
        </p:grpSpPr>
        <p:sp>
          <p:nvSpPr>
            <p:cNvPr id="21" name="等腰三角形 20">
              <a:extLst>
                <a:ext uri="{FF2B5EF4-FFF2-40B4-BE49-F238E27FC236}">
                  <a16:creationId xmlns:a16="http://schemas.microsoft.com/office/drawing/2014/main" id="{A9811245-D173-571C-9758-3C13B7F8E6E0}"/>
                </a:ext>
              </a:extLst>
            </p:cNvPr>
            <p:cNvSpPr/>
            <p:nvPr/>
          </p:nvSpPr>
          <p:spPr>
            <a:xfrm rot="5400000">
              <a:off x="1329974" y="4064000"/>
              <a:ext cx="1117600" cy="963448"/>
            </a:xfrm>
            <a:prstGeom prst="triangle">
              <a:avLst/>
            </a:prstGeom>
            <a:gradFill>
              <a:gsLst>
                <a:gs pos="100000">
                  <a:schemeClr val="bg1"/>
                </a:gs>
                <a:gs pos="1000">
                  <a:srgbClr val="C00000"/>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a:extLst>
                <a:ext uri="{FF2B5EF4-FFF2-40B4-BE49-F238E27FC236}">
                  <a16:creationId xmlns:a16="http://schemas.microsoft.com/office/drawing/2014/main" id="{67161D05-F9DA-3070-BD66-67FF6A5CD97B}"/>
                </a:ext>
              </a:extLst>
            </p:cNvPr>
            <p:cNvSpPr/>
            <p:nvPr/>
          </p:nvSpPr>
          <p:spPr>
            <a:xfrm rot="5400000">
              <a:off x="848250" y="4064000"/>
              <a:ext cx="1117600" cy="963447"/>
            </a:xfrm>
            <a:prstGeom prst="triangle">
              <a:avLst/>
            </a:prstGeom>
            <a:gradFill>
              <a:gsLst>
                <a:gs pos="100000">
                  <a:schemeClr val="bg1"/>
                </a:gs>
                <a:gs pos="1000">
                  <a:srgbClr val="C00000"/>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5" name="组合 34">
            <a:extLst>
              <a:ext uri="{FF2B5EF4-FFF2-40B4-BE49-F238E27FC236}">
                <a16:creationId xmlns:a16="http://schemas.microsoft.com/office/drawing/2014/main" id="{F7060781-23E8-A3D0-EF36-2F715DA3DE4B}"/>
              </a:ext>
            </a:extLst>
          </p:cNvPr>
          <p:cNvGrpSpPr/>
          <p:nvPr/>
        </p:nvGrpSpPr>
        <p:grpSpPr>
          <a:xfrm>
            <a:off x="7187470" y="3554958"/>
            <a:ext cx="4467639" cy="344905"/>
            <a:chOff x="7187470" y="3554958"/>
            <a:chExt cx="4467639" cy="344905"/>
          </a:xfrm>
        </p:grpSpPr>
        <p:sp>
          <p:nvSpPr>
            <p:cNvPr id="23" name="文本框 22">
              <a:extLst>
                <a:ext uri="{FF2B5EF4-FFF2-40B4-BE49-F238E27FC236}">
                  <a16:creationId xmlns:a16="http://schemas.microsoft.com/office/drawing/2014/main" id="{BE79393C-A124-FE69-6302-15178BFF02A2}"/>
                </a:ext>
              </a:extLst>
            </p:cNvPr>
            <p:cNvSpPr txBox="1"/>
            <p:nvPr/>
          </p:nvSpPr>
          <p:spPr>
            <a:xfrm>
              <a:off x="7187470" y="3561309"/>
              <a:ext cx="4134263" cy="338554"/>
            </a:xfrm>
            <a:prstGeom prst="rect">
              <a:avLst/>
            </a:prstGeom>
            <a:noFill/>
          </p:spPr>
          <p:txBody>
            <a:bodyPr wrap="square" rtlCol="0">
              <a:spAutoFit/>
            </a:bodyPr>
            <a:lstStyle/>
            <a:p>
              <a:r>
                <a:rPr lang="zh-CN" altLang="en-US" sz="1600" dirty="0"/>
                <a:t>🔑 </a:t>
              </a:r>
              <a:r>
                <a:rPr lang="zh-CN" altLang="en-US" sz="1600" b="1" dirty="0"/>
                <a:t>私有堆</a:t>
              </a:r>
              <a:r>
                <a:rPr lang="zh-CN" altLang="en-US" sz="1600" dirty="0"/>
                <a:t>：满足域内部的堆分配</a:t>
              </a:r>
              <a:endParaRPr lang="en-US" altLang="zh-CN" sz="1600" dirty="0"/>
            </a:p>
          </p:txBody>
        </p:sp>
        <p:sp>
          <p:nvSpPr>
            <p:cNvPr id="24" name="矩形 23">
              <a:extLst>
                <a:ext uri="{FF2B5EF4-FFF2-40B4-BE49-F238E27FC236}">
                  <a16:creationId xmlns:a16="http://schemas.microsoft.com/office/drawing/2014/main" id="{38248B94-D183-21E7-6925-1AC9F9C750D7}"/>
                </a:ext>
              </a:extLst>
            </p:cNvPr>
            <p:cNvSpPr/>
            <p:nvPr/>
          </p:nvSpPr>
          <p:spPr>
            <a:xfrm>
              <a:off x="7250154" y="3554958"/>
              <a:ext cx="4404955" cy="344905"/>
            </a:xfrm>
            <a:custGeom>
              <a:avLst/>
              <a:gdLst>
                <a:gd name="csX0" fmla="*/ 0 w 4404955"/>
                <a:gd name="csY0" fmla="*/ 0 h 344905"/>
                <a:gd name="csX1" fmla="*/ 585230 w 4404955"/>
                <a:gd name="csY1" fmla="*/ 0 h 344905"/>
                <a:gd name="csX2" fmla="*/ 1082360 w 4404955"/>
                <a:gd name="csY2" fmla="*/ 0 h 344905"/>
                <a:gd name="csX3" fmla="*/ 1799739 w 4404955"/>
                <a:gd name="csY3" fmla="*/ 0 h 344905"/>
                <a:gd name="csX4" fmla="*/ 2384968 w 4404955"/>
                <a:gd name="csY4" fmla="*/ 0 h 344905"/>
                <a:gd name="csX5" fmla="*/ 2970198 w 4404955"/>
                <a:gd name="csY5" fmla="*/ 0 h 344905"/>
                <a:gd name="csX6" fmla="*/ 3687577 w 4404955"/>
                <a:gd name="csY6" fmla="*/ 0 h 344905"/>
                <a:gd name="csX7" fmla="*/ 4404955 w 4404955"/>
                <a:gd name="csY7" fmla="*/ 0 h 344905"/>
                <a:gd name="csX8" fmla="*/ 4404955 w 4404955"/>
                <a:gd name="csY8" fmla="*/ 344905 h 344905"/>
                <a:gd name="csX9" fmla="*/ 3863775 w 4404955"/>
                <a:gd name="csY9" fmla="*/ 344905 h 344905"/>
                <a:gd name="csX10" fmla="*/ 3234496 w 4404955"/>
                <a:gd name="csY10" fmla="*/ 344905 h 344905"/>
                <a:gd name="csX11" fmla="*/ 2605216 w 4404955"/>
                <a:gd name="csY11" fmla="*/ 344905 h 344905"/>
                <a:gd name="csX12" fmla="*/ 2019987 w 4404955"/>
                <a:gd name="csY12" fmla="*/ 344905 h 344905"/>
                <a:gd name="csX13" fmla="*/ 1302608 w 4404955"/>
                <a:gd name="csY13" fmla="*/ 344905 h 344905"/>
                <a:gd name="csX14" fmla="*/ 585230 w 4404955"/>
                <a:gd name="csY14" fmla="*/ 344905 h 344905"/>
                <a:gd name="csX15" fmla="*/ 0 w 4404955"/>
                <a:gd name="csY15" fmla="*/ 344905 h 344905"/>
                <a:gd name="csX16" fmla="*/ 0 w 4404955"/>
                <a:gd name="csY16" fmla="*/ 0 h 3449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04955" h="344905" extrusionOk="0">
                  <a:moveTo>
                    <a:pt x="0" y="0"/>
                  </a:moveTo>
                  <a:cubicBezTo>
                    <a:pt x="265271" y="22239"/>
                    <a:pt x="409937" y="9659"/>
                    <a:pt x="585230" y="0"/>
                  </a:cubicBezTo>
                  <a:cubicBezTo>
                    <a:pt x="760523" y="-9659"/>
                    <a:pt x="854658" y="17065"/>
                    <a:pt x="1082360" y="0"/>
                  </a:cubicBezTo>
                  <a:cubicBezTo>
                    <a:pt x="1310062" y="-17065"/>
                    <a:pt x="1549503" y="172"/>
                    <a:pt x="1799739" y="0"/>
                  </a:cubicBezTo>
                  <a:cubicBezTo>
                    <a:pt x="2049975" y="-172"/>
                    <a:pt x="2141918" y="9384"/>
                    <a:pt x="2384968" y="0"/>
                  </a:cubicBezTo>
                  <a:cubicBezTo>
                    <a:pt x="2628018" y="-9384"/>
                    <a:pt x="2764413" y="-26324"/>
                    <a:pt x="2970198" y="0"/>
                  </a:cubicBezTo>
                  <a:cubicBezTo>
                    <a:pt x="3175983" y="26324"/>
                    <a:pt x="3521245" y="-32639"/>
                    <a:pt x="3687577" y="0"/>
                  </a:cubicBezTo>
                  <a:cubicBezTo>
                    <a:pt x="3853909" y="32639"/>
                    <a:pt x="4145497" y="2496"/>
                    <a:pt x="4404955" y="0"/>
                  </a:cubicBezTo>
                  <a:cubicBezTo>
                    <a:pt x="4393709" y="125830"/>
                    <a:pt x="4413306" y="263733"/>
                    <a:pt x="4404955" y="344905"/>
                  </a:cubicBezTo>
                  <a:cubicBezTo>
                    <a:pt x="4177365" y="341188"/>
                    <a:pt x="3975849" y="360895"/>
                    <a:pt x="3863775" y="344905"/>
                  </a:cubicBezTo>
                  <a:cubicBezTo>
                    <a:pt x="3751701" y="328915"/>
                    <a:pt x="3513918" y="317173"/>
                    <a:pt x="3234496" y="344905"/>
                  </a:cubicBezTo>
                  <a:cubicBezTo>
                    <a:pt x="2955074" y="372637"/>
                    <a:pt x="2762127" y="315119"/>
                    <a:pt x="2605216" y="344905"/>
                  </a:cubicBezTo>
                  <a:cubicBezTo>
                    <a:pt x="2448305" y="374691"/>
                    <a:pt x="2280189" y="370811"/>
                    <a:pt x="2019987" y="344905"/>
                  </a:cubicBezTo>
                  <a:cubicBezTo>
                    <a:pt x="1759785" y="318999"/>
                    <a:pt x="1612089" y="329504"/>
                    <a:pt x="1302608" y="344905"/>
                  </a:cubicBezTo>
                  <a:cubicBezTo>
                    <a:pt x="993127" y="360306"/>
                    <a:pt x="872284" y="309815"/>
                    <a:pt x="585230" y="344905"/>
                  </a:cubicBezTo>
                  <a:cubicBezTo>
                    <a:pt x="298176" y="379995"/>
                    <a:pt x="220400" y="321209"/>
                    <a:pt x="0" y="344905"/>
                  </a:cubicBezTo>
                  <a:cubicBezTo>
                    <a:pt x="-9098" y="212099"/>
                    <a:pt x="2631" y="92556"/>
                    <a:pt x="0" y="0"/>
                  </a:cubicBezTo>
                  <a:close/>
                </a:path>
              </a:pathLst>
            </a:custGeom>
            <a:noFill/>
            <a:ln w="12700">
              <a:gradFill flip="none" rotWithShape="1">
                <a:gsLst>
                  <a:gs pos="0">
                    <a:schemeClr val="tx2"/>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6" name="组合 35">
            <a:extLst>
              <a:ext uri="{FF2B5EF4-FFF2-40B4-BE49-F238E27FC236}">
                <a16:creationId xmlns:a16="http://schemas.microsoft.com/office/drawing/2014/main" id="{E1036101-B5F5-7E41-771B-B0B3D49B9060}"/>
              </a:ext>
            </a:extLst>
          </p:cNvPr>
          <p:cNvGrpSpPr/>
          <p:nvPr/>
        </p:nvGrpSpPr>
        <p:grpSpPr>
          <a:xfrm>
            <a:off x="7187470" y="3955647"/>
            <a:ext cx="4467639" cy="357838"/>
            <a:chOff x="7187470" y="3955647"/>
            <a:chExt cx="4467639" cy="357838"/>
          </a:xfrm>
        </p:grpSpPr>
        <p:sp>
          <p:nvSpPr>
            <p:cNvPr id="25" name="文本框 24">
              <a:extLst>
                <a:ext uri="{FF2B5EF4-FFF2-40B4-BE49-F238E27FC236}">
                  <a16:creationId xmlns:a16="http://schemas.microsoft.com/office/drawing/2014/main" id="{A714ED9A-FB9B-57ED-4984-5D5DCD9AA456}"/>
                </a:ext>
              </a:extLst>
            </p:cNvPr>
            <p:cNvSpPr txBox="1"/>
            <p:nvPr/>
          </p:nvSpPr>
          <p:spPr>
            <a:xfrm>
              <a:off x="7187470" y="3974931"/>
              <a:ext cx="3848513" cy="338554"/>
            </a:xfrm>
            <a:prstGeom prst="rect">
              <a:avLst/>
            </a:prstGeom>
            <a:noFill/>
          </p:spPr>
          <p:txBody>
            <a:bodyPr wrap="square" rtlCol="0">
              <a:spAutoFit/>
            </a:bodyPr>
            <a:lstStyle/>
            <a:p>
              <a:r>
                <a:rPr lang="zh-CN" altLang="en-US" sz="1600" dirty="0"/>
                <a:t>🔑 </a:t>
              </a:r>
              <a:r>
                <a:rPr lang="zh-CN" altLang="en-US" sz="1600" b="1" dirty="0"/>
                <a:t>共享堆</a:t>
              </a:r>
              <a:r>
                <a:rPr lang="zh-CN" altLang="en-US" sz="1600" dirty="0"/>
                <a:t>：满足域间通信的要求</a:t>
              </a:r>
              <a:endParaRPr lang="en-US" altLang="zh-CN" sz="1600" dirty="0"/>
            </a:p>
          </p:txBody>
        </p:sp>
        <p:sp>
          <p:nvSpPr>
            <p:cNvPr id="27" name="矩形 26">
              <a:extLst>
                <a:ext uri="{FF2B5EF4-FFF2-40B4-BE49-F238E27FC236}">
                  <a16:creationId xmlns:a16="http://schemas.microsoft.com/office/drawing/2014/main" id="{94CFC930-A3D0-9EA8-1705-4DC18F2BD0F5}"/>
                </a:ext>
              </a:extLst>
            </p:cNvPr>
            <p:cNvSpPr/>
            <p:nvPr/>
          </p:nvSpPr>
          <p:spPr>
            <a:xfrm>
              <a:off x="7250154" y="3955647"/>
              <a:ext cx="4404955" cy="344905"/>
            </a:xfrm>
            <a:custGeom>
              <a:avLst/>
              <a:gdLst>
                <a:gd name="csX0" fmla="*/ 0 w 4404955"/>
                <a:gd name="csY0" fmla="*/ 0 h 344905"/>
                <a:gd name="csX1" fmla="*/ 585230 w 4404955"/>
                <a:gd name="csY1" fmla="*/ 0 h 344905"/>
                <a:gd name="csX2" fmla="*/ 1082360 w 4404955"/>
                <a:gd name="csY2" fmla="*/ 0 h 344905"/>
                <a:gd name="csX3" fmla="*/ 1799739 w 4404955"/>
                <a:gd name="csY3" fmla="*/ 0 h 344905"/>
                <a:gd name="csX4" fmla="*/ 2384968 w 4404955"/>
                <a:gd name="csY4" fmla="*/ 0 h 344905"/>
                <a:gd name="csX5" fmla="*/ 2970198 w 4404955"/>
                <a:gd name="csY5" fmla="*/ 0 h 344905"/>
                <a:gd name="csX6" fmla="*/ 3687577 w 4404955"/>
                <a:gd name="csY6" fmla="*/ 0 h 344905"/>
                <a:gd name="csX7" fmla="*/ 4404955 w 4404955"/>
                <a:gd name="csY7" fmla="*/ 0 h 344905"/>
                <a:gd name="csX8" fmla="*/ 4404955 w 4404955"/>
                <a:gd name="csY8" fmla="*/ 344905 h 344905"/>
                <a:gd name="csX9" fmla="*/ 3863775 w 4404955"/>
                <a:gd name="csY9" fmla="*/ 344905 h 344905"/>
                <a:gd name="csX10" fmla="*/ 3234496 w 4404955"/>
                <a:gd name="csY10" fmla="*/ 344905 h 344905"/>
                <a:gd name="csX11" fmla="*/ 2605216 w 4404955"/>
                <a:gd name="csY11" fmla="*/ 344905 h 344905"/>
                <a:gd name="csX12" fmla="*/ 2019987 w 4404955"/>
                <a:gd name="csY12" fmla="*/ 344905 h 344905"/>
                <a:gd name="csX13" fmla="*/ 1302608 w 4404955"/>
                <a:gd name="csY13" fmla="*/ 344905 h 344905"/>
                <a:gd name="csX14" fmla="*/ 585230 w 4404955"/>
                <a:gd name="csY14" fmla="*/ 344905 h 344905"/>
                <a:gd name="csX15" fmla="*/ 0 w 4404955"/>
                <a:gd name="csY15" fmla="*/ 344905 h 344905"/>
                <a:gd name="csX16" fmla="*/ 0 w 4404955"/>
                <a:gd name="csY16" fmla="*/ 0 h 3449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04955" h="344905" extrusionOk="0">
                  <a:moveTo>
                    <a:pt x="0" y="0"/>
                  </a:moveTo>
                  <a:cubicBezTo>
                    <a:pt x="265271" y="22239"/>
                    <a:pt x="409937" y="9659"/>
                    <a:pt x="585230" y="0"/>
                  </a:cubicBezTo>
                  <a:cubicBezTo>
                    <a:pt x="760523" y="-9659"/>
                    <a:pt x="854658" y="17065"/>
                    <a:pt x="1082360" y="0"/>
                  </a:cubicBezTo>
                  <a:cubicBezTo>
                    <a:pt x="1310062" y="-17065"/>
                    <a:pt x="1549503" y="172"/>
                    <a:pt x="1799739" y="0"/>
                  </a:cubicBezTo>
                  <a:cubicBezTo>
                    <a:pt x="2049975" y="-172"/>
                    <a:pt x="2141918" y="9384"/>
                    <a:pt x="2384968" y="0"/>
                  </a:cubicBezTo>
                  <a:cubicBezTo>
                    <a:pt x="2628018" y="-9384"/>
                    <a:pt x="2764413" y="-26324"/>
                    <a:pt x="2970198" y="0"/>
                  </a:cubicBezTo>
                  <a:cubicBezTo>
                    <a:pt x="3175983" y="26324"/>
                    <a:pt x="3521245" y="-32639"/>
                    <a:pt x="3687577" y="0"/>
                  </a:cubicBezTo>
                  <a:cubicBezTo>
                    <a:pt x="3853909" y="32639"/>
                    <a:pt x="4145497" y="2496"/>
                    <a:pt x="4404955" y="0"/>
                  </a:cubicBezTo>
                  <a:cubicBezTo>
                    <a:pt x="4393709" y="125830"/>
                    <a:pt x="4413306" y="263733"/>
                    <a:pt x="4404955" y="344905"/>
                  </a:cubicBezTo>
                  <a:cubicBezTo>
                    <a:pt x="4177365" y="341188"/>
                    <a:pt x="3975849" y="360895"/>
                    <a:pt x="3863775" y="344905"/>
                  </a:cubicBezTo>
                  <a:cubicBezTo>
                    <a:pt x="3751701" y="328915"/>
                    <a:pt x="3513918" y="317173"/>
                    <a:pt x="3234496" y="344905"/>
                  </a:cubicBezTo>
                  <a:cubicBezTo>
                    <a:pt x="2955074" y="372637"/>
                    <a:pt x="2762127" y="315119"/>
                    <a:pt x="2605216" y="344905"/>
                  </a:cubicBezTo>
                  <a:cubicBezTo>
                    <a:pt x="2448305" y="374691"/>
                    <a:pt x="2280189" y="370811"/>
                    <a:pt x="2019987" y="344905"/>
                  </a:cubicBezTo>
                  <a:cubicBezTo>
                    <a:pt x="1759785" y="318999"/>
                    <a:pt x="1612089" y="329504"/>
                    <a:pt x="1302608" y="344905"/>
                  </a:cubicBezTo>
                  <a:cubicBezTo>
                    <a:pt x="993127" y="360306"/>
                    <a:pt x="872284" y="309815"/>
                    <a:pt x="585230" y="344905"/>
                  </a:cubicBezTo>
                  <a:cubicBezTo>
                    <a:pt x="298176" y="379995"/>
                    <a:pt x="220400" y="321209"/>
                    <a:pt x="0" y="344905"/>
                  </a:cubicBezTo>
                  <a:cubicBezTo>
                    <a:pt x="-9098" y="212099"/>
                    <a:pt x="2631" y="92556"/>
                    <a:pt x="0" y="0"/>
                  </a:cubicBezTo>
                  <a:close/>
                </a:path>
              </a:pathLst>
            </a:custGeom>
            <a:noFill/>
            <a:ln w="12700">
              <a:gradFill flip="none" rotWithShape="1">
                <a:gsLst>
                  <a:gs pos="0">
                    <a:schemeClr val="tx2"/>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9" name="组合 38">
            <a:extLst>
              <a:ext uri="{FF2B5EF4-FFF2-40B4-BE49-F238E27FC236}">
                <a16:creationId xmlns:a16="http://schemas.microsoft.com/office/drawing/2014/main" id="{0E990685-B26E-7F5A-417C-A8C679743005}"/>
              </a:ext>
            </a:extLst>
          </p:cNvPr>
          <p:cNvGrpSpPr/>
          <p:nvPr/>
        </p:nvGrpSpPr>
        <p:grpSpPr>
          <a:xfrm>
            <a:off x="7180568" y="5409606"/>
            <a:ext cx="4477705" cy="354430"/>
            <a:chOff x="7180568" y="5409606"/>
            <a:chExt cx="4477705" cy="354430"/>
          </a:xfrm>
        </p:grpSpPr>
        <p:sp>
          <p:nvSpPr>
            <p:cNvPr id="26" name="文本框 25">
              <a:extLst>
                <a:ext uri="{FF2B5EF4-FFF2-40B4-BE49-F238E27FC236}">
                  <a16:creationId xmlns:a16="http://schemas.microsoft.com/office/drawing/2014/main" id="{38010814-3211-0FCC-593E-74D926DCDC4D}"/>
                </a:ext>
              </a:extLst>
            </p:cNvPr>
            <p:cNvSpPr txBox="1"/>
            <p:nvPr/>
          </p:nvSpPr>
          <p:spPr>
            <a:xfrm>
              <a:off x="7180568" y="5409606"/>
              <a:ext cx="4477705" cy="338554"/>
            </a:xfrm>
            <a:prstGeom prst="rect">
              <a:avLst/>
            </a:prstGeom>
            <a:noFill/>
          </p:spPr>
          <p:txBody>
            <a:bodyPr wrap="square" rtlCol="0">
              <a:spAutoFit/>
            </a:bodyPr>
            <a:lstStyle/>
            <a:p>
              <a:r>
                <a:rPr lang="zh-CN" altLang="en-US" sz="1600" dirty="0"/>
                <a:t>🔑 </a:t>
              </a:r>
              <a:r>
                <a:rPr lang="zh-CN" altLang="en-US" sz="1600" b="1" dirty="0"/>
                <a:t>自定义堆</a:t>
              </a:r>
              <a:r>
                <a:rPr lang="zh-CN" altLang="en-US" sz="1600" dirty="0"/>
                <a:t>：域内部状态数据的存储</a:t>
              </a:r>
              <a:endParaRPr lang="en-US" altLang="zh-CN" sz="1600" dirty="0"/>
            </a:p>
          </p:txBody>
        </p:sp>
        <p:sp>
          <p:nvSpPr>
            <p:cNvPr id="28" name="矩形 27">
              <a:extLst>
                <a:ext uri="{FF2B5EF4-FFF2-40B4-BE49-F238E27FC236}">
                  <a16:creationId xmlns:a16="http://schemas.microsoft.com/office/drawing/2014/main" id="{19565BF6-4DE0-71C6-C6F6-5C9952BDF021}"/>
                </a:ext>
              </a:extLst>
            </p:cNvPr>
            <p:cNvSpPr/>
            <p:nvPr/>
          </p:nvSpPr>
          <p:spPr>
            <a:xfrm>
              <a:off x="7253318" y="5419131"/>
              <a:ext cx="4404955" cy="344905"/>
            </a:xfrm>
            <a:custGeom>
              <a:avLst/>
              <a:gdLst>
                <a:gd name="csX0" fmla="*/ 0 w 4404955"/>
                <a:gd name="csY0" fmla="*/ 0 h 344905"/>
                <a:gd name="csX1" fmla="*/ 585230 w 4404955"/>
                <a:gd name="csY1" fmla="*/ 0 h 344905"/>
                <a:gd name="csX2" fmla="*/ 1082360 w 4404955"/>
                <a:gd name="csY2" fmla="*/ 0 h 344905"/>
                <a:gd name="csX3" fmla="*/ 1799739 w 4404955"/>
                <a:gd name="csY3" fmla="*/ 0 h 344905"/>
                <a:gd name="csX4" fmla="*/ 2384968 w 4404955"/>
                <a:gd name="csY4" fmla="*/ 0 h 344905"/>
                <a:gd name="csX5" fmla="*/ 2970198 w 4404955"/>
                <a:gd name="csY5" fmla="*/ 0 h 344905"/>
                <a:gd name="csX6" fmla="*/ 3687577 w 4404955"/>
                <a:gd name="csY6" fmla="*/ 0 h 344905"/>
                <a:gd name="csX7" fmla="*/ 4404955 w 4404955"/>
                <a:gd name="csY7" fmla="*/ 0 h 344905"/>
                <a:gd name="csX8" fmla="*/ 4404955 w 4404955"/>
                <a:gd name="csY8" fmla="*/ 344905 h 344905"/>
                <a:gd name="csX9" fmla="*/ 3863775 w 4404955"/>
                <a:gd name="csY9" fmla="*/ 344905 h 344905"/>
                <a:gd name="csX10" fmla="*/ 3234496 w 4404955"/>
                <a:gd name="csY10" fmla="*/ 344905 h 344905"/>
                <a:gd name="csX11" fmla="*/ 2605216 w 4404955"/>
                <a:gd name="csY11" fmla="*/ 344905 h 344905"/>
                <a:gd name="csX12" fmla="*/ 2019987 w 4404955"/>
                <a:gd name="csY12" fmla="*/ 344905 h 344905"/>
                <a:gd name="csX13" fmla="*/ 1302608 w 4404955"/>
                <a:gd name="csY13" fmla="*/ 344905 h 344905"/>
                <a:gd name="csX14" fmla="*/ 585230 w 4404955"/>
                <a:gd name="csY14" fmla="*/ 344905 h 344905"/>
                <a:gd name="csX15" fmla="*/ 0 w 4404955"/>
                <a:gd name="csY15" fmla="*/ 344905 h 344905"/>
                <a:gd name="csX16" fmla="*/ 0 w 4404955"/>
                <a:gd name="csY16" fmla="*/ 0 h 3449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04955" h="344905" extrusionOk="0">
                  <a:moveTo>
                    <a:pt x="0" y="0"/>
                  </a:moveTo>
                  <a:cubicBezTo>
                    <a:pt x="265271" y="22239"/>
                    <a:pt x="409937" y="9659"/>
                    <a:pt x="585230" y="0"/>
                  </a:cubicBezTo>
                  <a:cubicBezTo>
                    <a:pt x="760523" y="-9659"/>
                    <a:pt x="854658" y="17065"/>
                    <a:pt x="1082360" y="0"/>
                  </a:cubicBezTo>
                  <a:cubicBezTo>
                    <a:pt x="1310062" y="-17065"/>
                    <a:pt x="1549503" y="172"/>
                    <a:pt x="1799739" y="0"/>
                  </a:cubicBezTo>
                  <a:cubicBezTo>
                    <a:pt x="2049975" y="-172"/>
                    <a:pt x="2141918" y="9384"/>
                    <a:pt x="2384968" y="0"/>
                  </a:cubicBezTo>
                  <a:cubicBezTo>
                    <a:pt x="2628018" y="-9384"/>
                    <a:pt x="2764413" y="-26324"/>
                    <a:pt x="2970198" y="0"/>
                  </a:cubicBezTo>
                  <a:cubicBezTo>
                    <a:pt x="3175983" y="26324"/>
                    <a:pt x="3521245" y="-32639"/>
                    <a:pt x="3687577" y="0"/>
                  </a:cubicBezTo>
                  <a:cubicBezTo>
                    <a:pt x="3853909" y="32639"/>
                    <a:pt x="4145497" y="2496"/>
                    <a:pt x="4404955" y="0"/>
                  </a:cubicBezTo>
                  <a:cubicBezTo>
                    <a:pt x="4393709" y="125830"/>
                    <a:pt x="4413306" y="263733"/>
                    <a:pt x="4404955" y="344905"/>
                  </a:cubicBezTo>
                  <a:cubicBezTo>
                    <a:pt x="4177365" y="341188"/>
                    <a:pt x="3975849" y="360895"/>
                    <a:pt x="3863775" y="344905"/>
                  </a:cubicBezTo>
                  <a:cubicBezTo>
                    <a:pt x="3751701" y="328915"/>
                    <a:pt x="3513918" y="317173"/>
                    <a:pt x="3234496" y="344905"/>
                  </a:cubicBezTo>
                  <a:cubicBezTo>
                    <a:pt x="2955074" y="372637"/>
                    <a:pt x="2762127" y="315119"/>
                    <a:pt x="2605216" y="344905"/>
                  </a:cubicBezTo>
                  <a:cubicBezTo>
                    <a:pt x="2448305" y="374691"/>
                    <a:pt x="2280189" y="370811"/>
                    <a:pt x="2019987" y="344905"/>
                  </a:cubicBezTo>
                  <a:cubicBezTo>
                    <a:pt x="1759785" y="318999"/>
                    <a:pt x="1612089" y="329504"/>
                    <a:pt x="1302608" y="344905"/>
                  </a:cubicBezTo>
                  <a:cubicBezTo>
                    <a:pt x="993127" y="360306"/>
                    <a:pt x="872284" y="309815"/>
                    <a:pt x="585230" y="344905"/>
                  </a:cubicBezTo>
                  <a:cubicBezTo>
                    <a:pt x="298176" y="379995"/>
                    <a:pt x="220400" y="321209"/>
                    <a:pt x="0" y="344905"/>
                  </a:cubicBezTo>
                  <a:cubicBezTo>
                    <a:pt x="-9098" y="212099"/>
                    <a:pt x="2631" y="92556"/>
                    <a:pt x="0" y="0"/>
                  </a:cubicBezTo>
                  <a:close/>
                </a:path>
              </a:pathLst>
            </a:custGeom>
            <a:noFill/>
            <a:ln w="12700">
              <a:gradFill flip="none" rotWithShape="1">
                <a:gsLst>
                  <a:gs pos="0">
                    <a:schemeClr val="tx2"/>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a:extLst>
              <a:ext uri="{FF2B5EF4-FFF2-40B4-BE49-F238E27FC236}">
                <a16:creationId xmlns:a16="http://schemas.microsoft.com/office/drawing/2014/main" id="{49A485B3-E8AF-792B-E7A5-6A36F95CF412}"/>
              </a:ext>
            </a:extLst>
          </p:cNvPr>
          <p:cNvGrpSpPr/>
          <p:nvPr/>
        </p:nvGrpSpPr>
        <p:grpSpPr>
          <a:xfrm rot="5400000">
            <a:off x="9189706" y="2704060"/>
            <a:ext cx="278665" cy="597268"/>
            <a:chOff x="925326" y="3986924"/>
            <a:chExt cx="1445172" cy="1117600"/>
          </a:xfrm>
        </p:grpSpPr>
        <p:sp>
          <p:nvSpPr>
            <p:cNvPr id="30" name="等腰三角形 29">
              <a:extLst>
                <a:ext uri="{FF2B5EF4-FFF2-40B4-BE49-F238E27FC236}">
                  <a16:creationId xmlns:a16="http://schemas.microsoft.com/office/drawing/2014/main" id="{B0421FE3-CB3B-6FA7-DB55-DBE29504120A}"/>
                </a:ext>
              </a:extLst>
            </p:cNvPr>
            <p:cNvSpPr/>
            <p:nvPr/>
          </p:nvSpPr>
          <p:spPr>
            <a:xfrm rot="5400000">
              <a:off x="1329974" y="4064000"/>
              <a:ext cx="1117600" cy="963448"/>
            </a:xfrm>
            <a:prstGeom prst="triangle">
              <a:avLst/>
            </a:prstGeom>
            <a:gradFill>
              <a:gsLst>
                <a:gs pos="100000">
                  <a:schemeClr val="bg1"/>
                </a:gs>
                <a:gs pos="1000">
                  <a:srgbClr val="C00000"/>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等腰三角形 30">
              <a:extLst>
                <a:ext uri="{FF2B5EF4-FFF2-40B4-BE49-F238E27FC236}">
                  <a16:creationId xmlns:a16="http://schemas.microsoft.com/office/drawing/2014/main" id="{D589525D-C685-AD35-A64D-1576069A9385}"/>
                </a:ext>
              </a:extLst>
            </p:cNvPr>
            <p:cNvSpPr/>
            <p:nvPr/>
          </p:nvSpPr>
          <p:spPr>
            <a:xfrm rot="5400000">
              <a:off x="848250" y="4064000"/>
              <a:ext cx="1117600" cy="963447"/>
            </a:xfrm>
            <a:prstGeom prst="triangle">
              <a:avLst/>
            </a:prstGeom>
            <a:gradFill>
              <a:gsLst>
                <a:gs pos="100000">
                  <a:schemeClr val="bg1"/>
                </a:gs>
                <a:gs pos="1000">
                  <a:srgbClr val="C00000"/>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文本框 31">
            <a:extLst>
              <a:ext uri="{FF2B5EF4-FFF2-40B4-BE49-F238E27FC236}">
                <a16:creationId xmlns:a16="http://schemas.microsoft.com/office/drawing/2014/main" id="{29491CB8-FEE2-B9BE-A527-C6EBB98BEDA1}"/>
              </a:ext>
            </a:extLst>
          </p:cNvPr>
          <p:cNvSpPr txBox="1"/>
          <p:nvPr/>
        </p:nvSpPr>
        <p:spPr>
          <a:xfrm>
            <a:off x="7348601" y="4343190"/>
            <a:ext cx="4239274" cy="1077218"/>
          </a:xfrm>
          <a:prstGeom prst="rect">
            <a:avLst/>
          </a:prstGeom>
          <a:noFill/>
        </p:spPr>
        <p:txBody>
          <a:bodyPr wrap="square" rtlCol="0">
            <a:spAutoFit/>
          </a:bodyPr>
          <a:lstStyle/>
          <a:p>
            <a:pPr marL="285750" indent="-285750">
              <a:buFont typeface="Wingdings" panose="05000000000000000000" pitchFamily="2" charset="2"/>
              <a:buChar char="Ø"/>
            </a:pPr>
            <a:r>
              <a:rPr lang="zh-CN" altLang="en-US" sz="1600" i="1" dirty="0"/>
              <a:t>共享堆上分配的对象不能包含指向私有堆的指针</a:t>
            </a:r>
            <a:endParaRPr lang="en-US" altLang="zh-CN" sz="1600" i="1" dirty="0"/>
          </a:p>
          <a:p>
            <a:pPr marL="285750" indent="-285750">
              <a:buFont typeface="Wingdings" panose="05000000000000000000" pitchFamily="2" charset="2"/>
              <a:buChar char="Ø"/>
            </a:pPr>
            <a:r>
              <a:rPr lang="zh-CN" altLang="en-US" sz="1600" i="1" dirty="0"/>
              <a:t>共享堆上分配的对象不能存储私有堆对象</a:t>
            </a:r>
            <a:endParaRPr lang="en-US" altLang="zh-CN" sz="1600" i="1" dirty="0"/>
          </a:p>
          <a:p>
            <a:pPr marL="285750" indent="-285750">
              <a:buFont typeface="Wingdings" panose="05000000000000000000" pitchFamily="2" charset="2"/>
              <a:buChar char="Ø"/>
            </a:pPr>
            <a:r>
              <a:rPr lang="zh-CN" altLang="en-US" sz="1600" i="1" dirty="0"/>
              <a:t>移动所有权而不是使用可变对象引用</a:t>
            </a:r>
            <a:endParaRPr lang="en-US" altLang="zh-CN" sz="1600" i="1" dirty="0"/>
          </a:p>
        </p:txBody>
      </p:sp>
      <p:grpSp>
        <p:nvGrpSpPr>
          <p:cNvPr id="41" name="组合 40">
            <a:extLst>
              <a:ext uri="{FF2B5EF4-FFF2-40B4-BE49-F238E27FC236}">
                <a16:creationId xmlns:a16="http://schemas.microsoft.com/office/drawing/2014/main" id="{8718253B-FB8E-9E90-40DF-E42180A82339}"/>
              </a:ext>
            </a:extLst>
          </p:cNvPr>
          <p:cNvGrpSpPr/>
          <p:nvPr/>
        </p:nvGrpSpPr>
        <p:grpSpPr>
          <a:xfrm>
            <a:off x="7190420" y="3041151"/>
            <a:ext cx="4605498" cy="3149968"/>
            <a:chOff x="7190420" y="3041151"/>
            <a:chExt cx="4605498" cy="3149968"/>
          </a:xfrm>
        </p:grpSpPr>
        <p:sp>
          <p:nvSpPr>
            <p:cNvPr id="15" name="矩形 14">
              <a:extLst>
                <a:ext uri="{FF2B5EF4-FFF2-40B4-BE49-F238E27FC236}">
                  <a16:creationId xmlns:a16="http://schemas.microsoft.com/office/drawing/2014/main" id="{DBA29C99-8CFB-6AA6-DBBE-238CCF65B38C}"/>
                </a:ext>
              </a:extLst>
            </p:cNvPr>
            <p:cNvSpPr/>
            <p:nvPr/>
          </p:nvSpPr>
          <p:spPr>
            <a:xfrm>
              <a:off x="7201442" y="3264952"/>
              <a:ext cx="4594476" cy="2926167"/>
            </a:xfrm>
            <a:prstGeom prst="rect">
              <a:avLst/>
            </a:prstGeom>
            <a:no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圆角 33">
              <a:extLst>
                <a:ext uri="{FF2B5EF4-FFF2-40B4-BE49-F238E27FC236}">
                  <a16:creationId xmlns:a16="http://schemas.microsoft.com/office/drawing/2014/main" id="{C02E2201-619A-D502-0796-940885D4A536}"/>
                </a:ext>
              </a:extLst>
            </p:cNvPr>
            <p:cNvSpPr/>
            <p:nvPr/>
          </p:nvSpPr>
          <p:spPr>
            <a:xfrm>
              <a:off x="7190420" y="3041151"/>
              <a:ext cx="1576074" cy="431188"/>
            </a:xfrm>
            <a:prstGeom prst="roundRect">
              <a:avLst/>
            </a:prstGeom>
            <a:solidFill>
              <a:schemeClr val="tx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t>堆隔离</a:t>
              </a:r>
            </a:p>
          </p:txBody>
        </p:sp>
      </p:grpSp>
      <p:grpSp>
        <p:nvGrpSpPr>
          <p:cNvPr id="40" name="组合 39">
            <a:extLst>
              <a:ext uri="{FF2B5EF4-FFF2-40B4-BE49-F238E27FC236}">
                <a16:creationId xmlns:a16="http://schemas.microsoft.com/office/drawing/2014/main" id="{D41D0B0E-04C6-236D-8AFE-77671A146247}"/>
              </a:ext>
            </a:extLst>
          </p:cNvPr>
          <p:cNvGrpSpPr/>
          <p:nvPr/>
        </p:nvGrpSpPr>
        <p:grpSpPr>
          <a:xfrm>
            <a:off x="7181902" y="5800770"/>
            <a:ext cx="4477705" cy="354430"/>
            <a:chOff x="7181902" y="5800770"/>
            <a:chExt cx="4477705" cy="354430"/>
          </a:xfrm>
        </p:grpSpPr>
        <p:sp>
          <p:nvSpPr>
            <p:cNvPr id="37" name="文本框 36">
              <a:extLst>
                <a:ext uri="{FF2B5EF4-FFF2-40B4-BE49-F238E27FC236}">
                  <a16:creationId xmlns:a16="http://schemas.microsoft.com/office/drawing/2014/main" id="{E577055C-D695-7F18-9616-CBC5924BDEA6}"/>
                </a:ext>
              </a:extLst>
            </p:cNvPr>
            <p:cNvSpPr txBox="1"/>
            <p:nvPr/>
          </p:nvSpPr>
          <p:spPr>
            <a:xfrm>
              <a:off x="7181902" y="5800770"/>
              <a:ext cx="4477705" cy="338554"/>
            </a:xfrm>
            <a:prstGeom prst="rect">
              <a:avLst/>
            </a:prstGeom>
            <a:noFill/>
          </p:spPr>
          <p:txBody>
            <a:bodyPr wrap="square" rtlCol="0">
              <a:spAutoFit/>
            </a:bodyPr>
            <a:lstStyle/>
            <a:p>
              <a:r>
                <a:rPr lang="zh-CN" altLang="en-US" sz="1600" dirty="0"/>
                <a:t>🔑 </a:t>
              </a:r>
              <a:r>
                <a:rPr lang="zh-CN" altLang="en-US" sz="1600" b="1" dirty="0"/>
                <a:t>外部接口转换</a:t>
              </a:r>
              <a:r>
                <a:rPr lang="zh-CN" altLang="en-US" sz="1600" dirty="0"/>
                <a:t>：处理</a:t>
              </a:r>
              <a:r>
                <a:rPr lang="en-US" altLang="zh-CN" sz="1600" dirty="0"/>
                <a:t>C</a:t>
              </a:r>
              <a:r>
                <a:rPr lang="zh-CN" altLang="en-US" sz="1600" dirty="0"/>
                <a:t>模块</a:t>
              </a:r>
              <a:r>
                <a:rPr lang="en-US" altLang="zh-CN" sz="1600" dirty="0"/>
                <a:t>-&gt;</a:t>
              </a:r>
              <a:r>
                <a:rPr lang="zh-CN" altLang="en-US" sz="1600" dirty="0"/>
                <a:t>域模块的调用</a:t>
              </a:r>
              <a:endParaRPr lang="en-US" altLang="zh-CN" sz="1600" dirty="0"/>
            </a:p>
          </p:txBody>
        </p:sp>
        <p:sp>
          <p:nvSpPr>
            <p:cNvPr id="38" name="矩形 37">
              <a:extLst>
                <a:ext uri="{FF2B5EF4-FFF2-40B4-BE49-F238E27FC236}">
                  <a16:creationId xmlns:a16="http://schemas.microsoft.com/office/drawing/2014/main" id="{EE59348E-3AED-69E4-0AA9-9948D26EF057}"/>
                </a:ext>
              </a:extLst>
            </p:cNvPr>
            <p:cNvSpPr/>
            <p:nvPr/>
          </p:nvSpPr>
          <p:spPr>
            <a:xfrm>
              <a:off x="7254652" y="5810295"/>
              <a:ext cx="4404955" cy="344905"/>
            </a:xfrm>
            <a:custGeom>
              <a:avLst/>
              <a:gdLst>
                <a:gd name="csX0" fmla="*/ 0 w 4404955"/>
                <a:gd name="csY0" fmla="*/ 0 h 344905"/>
                <a:gd name="csX1" fmla="*/ 585230 w 4404955"/>
                <a:gd name="csY1" fmla="*/ 0 h 344905"/>
                <a:gd name="csX2" fmla="*/ 1082360 w 4404955"/>
                <a:gd name="csY2" fmla="*/ 0 h 344905"/>
                <a:gd name="csX3" fmla="*/ 1799739 w 4404955"/>
                <a:gd name="csY3" fmla="*/ 0 h 344905"/>
                <a:gd name="csX4" fmla="*/ 2384968 w 4404955"/>
                <a:gd name="csY4" fmla="*/ 0 h 344905"/>
                <a:gd name="csX5" fmla="*/ 2970198 w 4404955"/>
                <a:gd name="csY5" fmla="*/ 0 h 344905"/>
                <a:gd name="csX6" fmla="*/ 3687577 w 4404955"/>
                <a:gd name="csY6" fmla="*/ 0 h 344905"/>
                <a:gd name="csX7" fmla="*/ 4404955 w 4404955"/>
                <a:gd name="csY7" fmla="*/ 0 h 344905"/>
                <a:gd name="csX8" fmla="*/ 4404955 w 4404955"/>
                <a:gd name="csY8" fmla="*/ 344905 h 344905"/>
                <a:gd name="csX9" fmla="*/ 3863775 w 4404955"/>
                <a:gd name="csY9" fmla="*/ 344905 h 344905"/>
                <a:gd name="csX10" fmla="*/ 3234496 w 4404955"/>
                <a:gd name="csY10" fmla="*/ 344905 h 344905"/>
                <a:gd name="csX11" fmla="*/ 2605216 w 4404955"/>
                <a:gd name="csY11" fmla="*/ 344905 h 344905"/>
                <a:gd name="csX12" fmla="*/ 2019987 w 4404955"/>
                <a:gd name="csY12" fmla="*/ 344905 h 344905"/>
                <a:gd name="csX13" fmla="*/ 1302608 w 4404955"/>
                <a:gd name="csY13" fmla="*/ 344905 h 344905"/>
                <a:gd name="csX14" fmla="*/ 585230 w 4404955"/>
                <a:gd name="csY14" fmla="*/ 344905 h 344905"/>
                <a:gd name="csX15" fmla="*/ 0 w 4404955"/>
                <a:gd name="csY15" fmla="*/ 344905 h 344905"/>
                <a:gd name="csX16" fmla="*/ 0 w 4404955"/>
                <a:gd name="csY16" fmla="*/ 0 h 3449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04955" h="344905" extrusionOk="0">
                  <a:moveTo>
                    <a:pt x="0" y="0"/>
                  </a:moveTo>
                  <a:cubicBezTo>
                    <a:pt x="265271" y="22239"/>
                    <a:pt x="409937" y="9659"/>
                    <a:pt x="585230" y="0"/>
                  </a:cubicBezTo>
                  <a:cubicBezTo>
                    <a:pt x="760523" y="-9659"/>
                    <a:pt x="854658" y="17065"/>
                    <a:pt x="1082360" y="0"/>
                  </a:cubicBezTo>
                  <a:cubicBezTo>
                    <a:pt x="1310062" y="-17065"/>
                    <a:pt x="1549503" y="172"/>
                    <a:pt x="1799739" y="0"/>
                  </a:cubicBezTo>
                  <a:cubicBezTo>
                    <a:pt x="2049975" y="-172"/>
                    <a:pt x="2141918" y="9384"/>
                    <a:pt x="2384968" y="0"/>
                  </a:cubicBezTo>
                  <a:cubicBezTo>
                    <a:pt x="2628018" y="-9384"/>
                    <a:pt x="2764413" y="-26324"/>
                    <a:pt x="2970198" y="0"/>
                  </a:cubicBezTo>
                  <a:cubicBezTo>
                    <a:pt x="3175983" y="26324"/>
                    <a:pt x="3521245" y="-32639"/>
                    <a:pt x="3687577" y="0"/>
                  </a:cubicBezTo>
                  <a:cubicBezTo>
                    <a:pt x="3853909" y="32639"/>
                    <a:pt x="4145497" y="2496"/>
                    <a:pt x="4404955" y="0"/>
                  </a:cubicBezTo>
                  <a:cubicBezTo>
                    <a:pt x="4393709" y="125830"/>
                    <a:pt x="4413306" y="263733"/>
                    <a:pt x="4404955" y="344905"/>
                  </a:cubicBezTo>
                  <a:cubicBezTo>
                    <a:pt x="4177365" y="341188"/>
                    <a:pt x="3975849" y="360895"/>
                    <a:pt x="3863775" y="344905"/>
                  </a:cubicBezTo>
                  <a:cubicBezTo>
                    <a:pt x="3751701" y="328915"/>
                    <a:pt x="3513918" y="317173"/>
                    <a:pt x="3234496" y="344905"/>
                  </a:cubicBezTo>
                  <a:cubicBezTo>
                    <a:pt x="2955074" y="372637"/>
                    <a:pt x="2762127" y="315119"/>
                    <a:pt x="2605216" y="344905"/>
                  </a:cubicBezTo>
                  <a:cubicBezTo>
                    <a:pt x="2448305" y="374691"/>
                    <a:pt x="2280189" y="370811"/>
                    <a:pt x="2019987" y="344905"/>
                  </a:cubicBezTo>
                  <a:cubicBezTo>
                    <a:pt x="1759785" y="318999"/>
                    <a:pt x="1612089" y="329504"/>
                    <a:pt x="1302608" y="344905"/>
                  </a:cubicBezTo>
                  <a:cubicBezTo>
                    <a:pt x="993127" y="360306"/>
                    <a:pt x="872284" y="309815"/>
                    <a:pt x="585230" y="344905"/>
                  </a:cubicBezTo>
                  <a:cubicBezTo>
                    <a:pt x="298176" y="379995"/>
                    <a:pt x="220400" y="321209"/>
                    <a:pt x="0" y="344905"/>
                  </a:cubicBezTo>
                  <a:cubicBezTo>
                    <a:pt x="-9098" y="212099"/>
                    <a:pt x="2631" y="92556"/>
                    <a:pt x="0" y="0"/>
                  </a:cubicBezTo>
                  <a:close/>
                </a:path>
              </a:pathLst>
            </a:custGeom>
            <a:noFill/>
            <a:ln w="12700">
              <a:gradFill flip="none" rotWithShape="1">
                <a:gsLst>
                  <a:gs pos="0">
                    <a:schemeClr val="tx2"/>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8" name="组合 47">
            <a:extLst>
              <a:ext uri="{FF2B5EF4-FFF2-40B4-BE49-F238E27FC236}">
                <a16:creationId xmlns:a16="http://schemas.microsoft.com/office/drawing/2014/main" id="{9986AF91-E176-3BFA-BB71-1EFE1119A366}"/>
              </a:ext>
            </a:extLst>
          </p:cNvPr>
          <p:cNvGrpSpPr/>
          <p:nvPr/>
        </p:nvGrpSpPr>
        <p:grpSpPr>
          <a:xfrm>
            <a:off x="4066650" y="2719093"/>
            <a:ext cx="2476390" cy="215148"/>
            <a:chOff x="4066650" y="2719093"/>
            <a:chExt cx="2476390" cy="215148"/>
          </a:xfrm>
        </p:grpSpPr>
        <p:sp>
          <p:nvSpPr>
            <p:cNvPr id="43" name="爆炸形: 8 pt  42">
              <a:extLst>
                <a:ext uri="{FF2B5EF4-FFF2-40B4-BE49-F238E27FC236}">
                  <a16:creationId xmlns:a16="http://schemas.microsoft.com/office/drawing/2014/main" id="{0783D21A-4D5B-9A17-C823-12BFDDF84F0B}"/>
                </a:ext>
              </a:extLst>
            </p:cNvPr>
            <p:cNvSpPr/>
            <p:nvPr/>
          </p:nvSpPr>
          <p:spPr>
            <a:xfrm>
              <a:off x="6340299" y="2719093"/>
              <a:ext cx="202741" cy="102649"/>
            </a:xfrm>
            <a:prstGeom prst="irregularSeal1">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爆炸形: 8 pt  43">
              <a:extLst>
                <a:ext uri="{FF2B5EF4-FFF2-40B4-BE49-F238E27FC236}">
                  <a16:creationId xmlns:a16="http://schemas.microsoft.com/office/drawing/2014/main" id="{22016DDF-E6A7-54CE-6F2C-B9BF85C02842}"/>
                </a:ext>
              </a:extLst>
            </p:cNvPr>
            <p:cNvSpPr/>
            <p:nvPr/>
          </p:nvSpPr>
          <p:spPr>
            <a:xfrm>
              <a:off x="4066650" y="2831592"/>
              <a:ext cx="202741" cy="102649"/>
            </a:xfrm>
            <a:prstGeom prst="irregularSeal1">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5" name="爆炸形: 8 pt  44">
            <a:extLst>
              <a:ext uri="{FF2B5EF4-FFF2-40B4-BE49-F238E27FC236}">
                <a16:creationId xmlns:a16="http://schemas.microsoft.com/office/drawing/2014/main" id="{ED3B8ACD-5436-BC72-10F2-2289AFC70829}"/>
              </a:ext>
            </a:extLst>
          </p:cNvPr>
          <p:cNvSpPr/>
          <p:nvPr/>
        </p:nvSpPr>
        <p:spPr>
          <a:xfrm>
            <a:off x="3497063" y="3162334"/>
            <a:ext cx="202741" cy="102649"/>
          </a:xfrm>
          <a:prstGeom prst="irregularSeal1">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爆炸形: 8 pt  45">
            <a:extLst>
              <a:ext uri="{FF2B5EF4-FFF2-40B4-BE49-F238E27FC236}">
                <a16:creationId xmlns:a16="http://schemas.microsoft.com/office/drawing/2014/main" id="{601AA153-A8F4-4B1B-F3B7-B26802DF4C52}"/>
              </a:ext>
            </a:extLst>
          </p:cNvPr>
          <p:cNvSpPr/>
          <p:nvPr/>
        </p:nvSpPr>
        <p:spPr>
          <a:xfrm>
            <a:off x="4014027" y="2502343"/>
            <a:ext cx="202741" cy="102649"/>
          </a:xfrm>
          <a:prstGeom prst="irregularSeal1">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a:extLst>
              <a:ext uri="{FF2B5EF4-FFF2-40B4-BE49-F238E27FC236}">
                <a16:creationId xmlns:a16="http://schemas.microsoft.com/office/drawing/2014/main" id="{89AA4478-B691-A4DE-0B9B-AD2959CF2E4B}"/>
              </a:ext>
            </a:extLst>
          </p:cNvPr>
          <p:cNvSpPr/>
          <p:nvPr/>
        </p:nvSpPr>
        <p:spPr>
          <a:xfrm>
            <a:off x="604124" y="4144207"/>
            <a:ext cx="1625368" cy="1603953"/>
          </a:xfrm>
          <a:custGeom>
            <a:avLst/>
            <a:gdLst>
              <a:gd name="csX0" fmla="*/ 0 w 1625368"/>
              <a:gd name="csY0" fmla="*/ 0 h 1603953"/>
              <a:gd name="csX1" fmla="*/ 525536 w 1625368"/>
              <a:gd name="csY1" fmla="*/ 0 h 1603953"/>
              <a:gd name="csX2" fmla="*/ 1018564 w 1625368"/>
              <a:gd name="csY2" fmla="*/ 0 h 1603953"/>
              <a:gd name="csX3" fmla="*/ 1625368 w 1625368"/>
              <a:gd name="csY3" fmla="*/ 0 h 1603953"/>
              <a:gd name="csX4" fmla="*/ 1625368 w 1625368"/>
              <a:gd name="csY4" fmla="*/ 518611 h 1603953"/>
              <a:gd name="csX5" fmla="*/ 1625368 w 1625368"/>
              <a:gd name="csY5" fmla="*/ 1021183 h 1603953"/>
              <a:gd name="csX6" fmla="*/ 1625368 w 1625368"/>
              <a:gd name="csY6" fmla="*/ 1603953 h 1603953"/>
              <a:gd name="csX7" fmla="*/ 1083579 w 1625368"/>
              <a:gd name="csY7" fmla="*/ 1603953 h 1603953"/>
              <a:gd name="csX8" fmla="*/ 509282 w 1625368"/>
              <a:gd name="csY8" fmla="*/ 1603953 h 1603953"/>
              <a:gd name="csX9" fmla="*/ 0 w 1625368"/>
              <a:gd name="csY9" fmla="*/ 1603953 h 1603953"/>
              <a:gd name="csX10" fmla="*/ 0 w 1625368"/>
              <a:gd name="csY10" fmla="*/ 1069302 h 1603953"/>
              <a:gd name="csX11" fmla="*/ 0 w 1625368"/>
              <a:gd name="csY11" fmla="*/ 550691 h 1603953"/>
              <a:gd name="csX12" fmla="*/ 0 w 1625368"/>
              <a:gd name="csY12" fmla="*/ 0 h 16039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625368" h="1603953" extrusionOk="0">
                <a:moveTo>
                  <a:pt x="0" y="0"/>
                </a:moveTo>
                <a:cubicBezTo>
                  <a:pt x="118267" y="-52181"/>
                  <a:pt x="368065" y="9543"/>
                  <a:pt x="525536" y="0"/>
                </a:cubicBezTo>
                <a:cubicBezTo>
                  <a:pt x="683007" y="-9543"/>
                  <a:pt x="876177" y="19969"/>
                  <a:pt x="1018564" y="0"/>
                </a:cubicBezTo>
                <a:cubicBezTo>
                  <a:pt x="1160951" y="-19969"/>
                  <a:pt x="1426548" y="37674"/>
                  <a:pt x="1625368" y="0"/>
                </a:cubicBezTo>
                <a:cubicBezTo>
                  <a:pt x="1639686" y="210387"/>
                  <a:pt x="1621096" y="295873"/>
                  <a:pt x="1625368" y="518611"/>
                </a:cubicBezTo>
                <a:cubicBezTo>
                  <a:pt x="1629640" y="741349"/>
                  <a:pt x="1608999" y="821244"/>
                  <a:pt x="1625368" y="1021183"/>
                </a:cubicBezTo>
                <a:cubicBezTo>
                  <a:pt x="1641737" y="1221122"/>
                  <a:pt x="1596797" y="1313055"/>
                  <a:pt x="1625368" y="1603953"/>
                </a:cubicBezTo>
                <a:cubicBezTo>
                  <a:pt x="1491953" y="1608373"/>
                  <a:pt x="1297376" y="1540820"/>
                  <a:pt x="1083579" y="1603953"/>
                </a:cubicBezTo>
                <a:cubicBezTo>
                  <a:pt x="869782" y="1667086"/>
                  <a:pt x="680315" y="1551678"/>
                  <a:pt x="509282" y="1603953"/>
                </a:cubicBezTo>
                <a:cubicBezTo>
                  <a:pt x="338249" y="1656228"/>
                  <a:pt x="254046" y="1570972"/>
                  <a:pt x="0" y="1603953"/>
                </a:cubicBezTo>
                <a:cubicBezTo>
                  <a:pt x="-47131" y="1443446"/>
                  <a:pt x="51870" y="1208675"/>
                  <a:pt x="0" y="1069302"/>
                </a:cubicBezTo>
                <a:cubicBezTo>
                  <a:pt x="-51870" y="929929"/>
                  <a:pt x="60229" y="763645"/>
                  <a:pt x="0" y="550691"/>
                </a:cubicBezTo>
                <a:cubicBezTo>
                  <a:pt x="-60229" y="337737"/>
                  <a:pt x="24528" y="254690"/>
                  <a:pt x="0" y="0"/>
                </a:cubicBezTo>
                <a:close/>
              </a:path>
            </a:pathLst>
          </a:custGeom>
          <a:noFill/>
          <a:ln w="28575">
            <a:solidFill>
              <a:srgbClr val="FF0000"/>
            </a:solidFill>
            <a:prstDash val="dash"/>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8518560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up)">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wipe(up)">
                                      <p:cBhvr>
                                        <p:cTn id="18" dur="500"/>
                                        <p:tgtEl>
                                          <p:spTgt spid="20"/>
                                        </p:tgtEl>
                                      </p:cBhvr>
                                    </p:animEffect>
                                  </p:childTnLst>
                                </p:cTn>
                              </p:par>
                            </p:childTnLst>
                          </p:cTn>
                        </p:par>
                        <p:par>
                          <p:cTn id="19" fill="hold">
                            <p:stCondLst>
                              <p:cond delay="500"/>
                            </p:stCondLst>
                            <p:childTnLst>
                              <p:par>
                                <p:cTn id="20" presetID="22" presetClass="entr" presetSubtype="1" fill="hold" nodeType="after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wipe(up)">
                                      <p:cBhvr>
                                        <p:cTn id="22" dur="500"/>
                                        <p:tgtEl>
                                          <p:spTgt spid="3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wipe(up)">
                                      <p:cBhvr>
                                        <p:cTn id="27" dur="500"/>
                                        <p:tgtEl>
                                          <p:spTgt spid="29"/>
                                        </p:tgtEl>
                                      </p:cBhvr>
                                    </p:animEffect>
                                  </p:childTnLst>
                                </p:cTn>
                              </p:par>
                            </p:childTnLst>
                          </p:cTn>
                        </p:par>
                        <p:par>
                          <p:cTn id="28" fill="hold">
                            <p:stCondLst>
                              <p:cond delay="500"/>
                            </p:stCondLst>
                            <p:childTnLst>
                              <p:par>
                                <p:cTn id="29" presetID="22" presetClass="entr" presetSubtype="1" fill="hold" nodeType="afterEffect">
                                  <p:stCondLst>
                                    <p:cond delay="0"/>
                                  </p:stCondLst>
                                  <p:childTnLst>
                                    <p:set>
                                      <p:cBhvr>
                                        <p:cTn id="30" dur="1" fill="hold">
                                          <p:stCondLst>
                                            <p:cond delay="0"/>
                                          </p:stCondLst>
                                        </p:cTn>
                                        <p:tgtEl>
                                          <p:spTgt spid="41"/>
                                        </p:tgtEl>
                                        <p:attrNameLst>
                                          <p:attrName>style.visibility</p:attrName>
                                        </p:attrNameLst>
                                      </p:cBhvr>
                                      <p:to>
                                        <p:strVal val="visible"/>
                                      </p:to>
                                    </p:set>
                                    <p:animEffect transition="in" filter="wipe(up)">
                                      <p:cBhvr>
                                        <p:cTn id="31" dur="500"/>
                                        <p:tgtEl>
                                          <p:spTgt spid="4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35"/>
                                        </p:tgtEl>
                                        <p:attrNameLst>
                                          <p:attrName>style.visibility</p:attrName>
                                        </p:attrNameLst>
                                      </p:cBhvr>
                                      <p:to>
                                        <p:strVal val="visible"/>
                                      </p:to>
                                    </p:set>
                                    <p:animEffect transition="in" filter="wipe(up)">
                                      <p:cBhvr>
                                        <p:cTn id="36" dur="500"/>
                                        <p:tgtEl>
                                          <p:spTgt spid="35"/>
                                        </p:tgtEl>
                                      </p:cBhvr>
                                    </p:animEffect>
                                  </p:childTnLst>
                                </p:cTn>
                              </p:par>
                            </p:childTnLst>
                          </p:cTn>
                        </p:par>
                        <p:par>
                          <p:cTn id="37" fill="hold">
                            <p:stCondLst>
                              <p:cond delay="500"/>
                            </p:stCondLst>
                            <p:childTnLst>
                              <p:par>
                                <p:cTn id="38" presetID="1" presetClass="entr" presetSubtype="0" fill="hold" nodeType="afterEffect">
                                  <p:stCondLst>
                                    <p:cond delay="0"/>
                                  </p:stCondLst>
                                  <p:childTnLst>
                                    <p:set>
                                      <p:cBhvr>
                                        <p:cTn id="39" dur="1" fill="hold">
                                          <p:stCondLst>
                                            <p:cond delay="0"/>
                                          </p:stCondLst>
                                        </p:cTn>
                                        <p:tgtEl>
                                          <p:spTgt spid="48"/>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nodeType="click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wipe(up)">
                                      <p:cBhvr>
                                        <p:cTn id="44" dur="500"/>
                                        <p:tgtEl>
                                          <p:spTgt spid="36"/>
                                        </p:tgtEl>
                                      </p:cBhvr>
                                    </p:animEffect>
                                  </p:childTnLst>
                                </p:cTn>
                              </p:par>
                            </p:childTnLst>
                          </p:cTn>
                        </p:par>
                        <p:par>
                          <p:cTn id="45" fill="hold">
                            <p:stCondLst>
                              <p:cond delay="500"/>
                            </p:stCondLst>
                            <p:childTnLst>
                              <p:par>
                                <p:cTn id="46" presetID="22" presetClass="entr" presetSubtype="1" fill="hold" grpId="0" nodeType="afterEffect">
                                  <p:stCondLst>
                                    <p:cond delay="0"/>
                                  </p:stCondLst>
                                  <p:childTnLst>
                                    <p:set>
                                      <p:cBhvr>
                                        <p:cTn id="47" dur="1" fill="hold">
                                          <p:stCondLst>
                                            <p:cond delay="0"/>
                                          </p:stCondLst>
                                        </p:cTn>
                                        <p:tgtEl>
                                          <p:spTgt spid="32"/>
                                        </p:tgtEl>
                                        <p:attrNameLst>
                                          <p:attrName>style.visibility</p:attrName>
                                        </p:attrNameLst>
                                      </p:cBhvr>
                                      <p:to>
                                        <p:strVal val="visible"/>
                                      </p:to>
                                    </p:set>
                                    <p:animEffect transition="in" filter="wipe(up)">
                                      <p:cBhvr>
                                        <p:cTn id="48" dur="500"/>
                                        <p:tgtEl>
                                          <p:spTgt spid="32"/>
                                        </p:tgtEl>
                                      </p:cBhvr>
                                    </p:animEffect>
                                  </p:childTnLst>
                                </p:cTn>
                              </p:par>
                              <p:par>
                                <p:cTn id="49" presetID="1" presetClass="entr" presetSubtype="0" fill="hold" grpId="0" nodeType="withEffect">
                                  <p:stCondLst>
                                    <p:cond delay="0"/>
                                  </p:stCondLst>
                                  <p:childTnLst>
                                    <p:set>
                                      <p:cBhvr>
                                        <p:cTn id="50" dur="1" fill="hold">
                                          <p:stCondLst>
                                            <p:cond delay="0"/>
                                          </p:stCondLst>
                                        </p:cTn>
                                        <p:tgtEl>
                                          <p:spTgt spid="45"/>
                                        </p:tgtEl>
                                        <p:attrNameLst>
                                          <p:attrName>style.visibility</p:attrName>
                                        </p:attrNameLst>
                                      </p:cBhvr>
                                      <p:to>
                                        <p:strVal val="visible"/>
                                      </p:to>
                                    </p:set>
                                  </p:childTnLst>
                                </p:cTn>
                              </p:par>
                              <p:par>
                                <p:cTn id="51" presetID="1" presetClass="exit" presetSubtype="0" fill="hold" nodeType="withEffect">
                                  <p:stCondLst>
                                    <p:cond delay="0"/>
                                  </p:stCondLst>
                                  <p:childTnLst>
                                    <p:set>
                                      <p:cBhvr>
                                        <p:cTn id="52" dur="1" fill="hold">
                                          <p:stCondLst>
                                            <p:cond delay="0"/>
                                          </p:stCondLst>
                                        </p:cTn>
                                        <p:tgtEl>
                                          <p:spTgt spid="48"/>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39"/>
                                        </p:tgtEl>
                                        <p:attrNameLst>
                                          <p:attrName>style.visibility</p:attrName>
                                        </p:attrNameLst>
                                      </p:cBhvr>
                                      <p:to>
                                        <p:strVal val="visible"/>
                                      </p:to>
                                    </p:set>
                                    <p:animEffect transition="in" filter="wipe(up)">
                                      <p:cBhvr>
                                        <p:cTn id="57" dur="500"/>
                                        <p:tgtEl>
                                          <p:spTgt spid="39"/>
                                        </p:tgtEl>
                                      </p:cBhvr>
                                    </p:animEffect>
                                  </p:childTnLst>
                                </p:cTn>
                              </p:par>
                            </p:childTnLst>
                          </p:cTn>
                        </p:par>
                        <p:par>
                          <p:cTn id="58" fill="hold">
                            <p:stCondLst>
                              <p:cond delay="500"/>
                            </p:stCondLst>
                            <p:childTnLst>
                              <p:par>
                                <p:cTn id="59" presetID="1" presetClass="entr" presetSubtype="0" fill="hold" grpId="0" nodeType="afterEffect">
                                  <p:stCondLst>
                                    <p:cond delay="0"/>
                                  </p:stCondLst>
                                  <p:childTnLst>
                                    <p:set>
                                      <p:cBhvr>
                                        <p:cTn id="60" dur="1" fill="hold">
                                          <p:stCondLst>
                                            <p:cond delay="0"/>
                                          </p:stCondLst>
                                        </p:cTn>
                                        <p:tgtEl>
                                          <p:spTgt spid="46"/>
                                        </p:tgtEl>
                                        <p:attrNameLst>
                                          <p:attrName>style.visibility</p:attrName>
                                        </p:attrNameLst>
                                      </p:cBhvr>
                                      <p:to>
                                        <p:strVal val="visible"/>
                                      </p:to>
                                    </p:set>
                                  </p:childTnLst>
                                </p:cTn>
                              </p:par>
                              <p:par>
                                <p:cTn id="61" presetID="1" presetClass="exit" presetSubtype="0" fill="hold" grpId="1" nodeType="withEffect">
                                  <p:stCondLst>
                                    <p:cond delay="0"/>
                                  </p:stCondLst>
                                  <p:childTnLst>
                                    <p:set>
                                      <p:cBhvr>
                                        <p:cTn id="62" dur="1" fill="hold">
                                          <p:stCondLst>
                                            <p:cond delay="0"/>
                                          </p:stCondLst>
                                        </p:cTn>
                                        <p:tgtEl>
                                          <p:spTgt spid="45"/>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40"/>
                                        </p:tgtEl>
                                        <p:attrNameLst>
                                          <p:attrName>style.visibility</p:attrName>
                                        </p:attrNameLst>
                                      </p:cBhvr>
                                      <p:to>
                                        <p:strVal val="visible"/>
                                      </p:to>
                                    </p:set>
                                    <p:animEffect transition="in" filter="wipe(up)">
                                      <p:cBhvr>
                                        <p:cTn id="67" dur="500"/>
                                        <p:tgtEl>
                                          <p:spTgt spid="40"/>
                                        </p:tgtEl>
                                      </p:cBhvr>
                                    </p:animEffect>
                                  </p:childTnLst>
                                </p:cTn>
                              </p:par>
                            </p:childTnLst>
                          </p:cTn>
                        </p:par>
                        <p:par>
                          <p:cTn id="68" fill="hold">
                            <p:stCondLst>
                              <p:cond delay="500"/>
                            </p:stCondLst>
                            <p:childTnLst>
                              <p:par>
                                <p:cTn id="69" presetID="1" presetClass="entr" presetSubtype="0" fill="hold" grpId="0" nodeType="afterEffect">
                                  <p:stCondLst>
                                    <p:cond delay="0"/>
                                  </p:stCondLst>
                                  <p:childTnLst>
                                    <p:set>
                                      <p:cBhvr>
                                        <p:cTn id="70" dur="1" fill="hold">
                                          <p:stCondLst>
                                            <p:cond delay="0"/>
                                          </p:stCondLst>
                                        </p:cTn>
                                        <p:tgtEl>
                                          <p:spTgt spid="47"/>
                                        </p:tgtEl>
                                        <p:attrNameLst>
                                          <p:attrName>style.visibility</p:attrName>
                                        </p:attrNameLst>
                                      </p:cBhvr>
                                      <p:to>
                                        <p:strVal val="visible"/>
                                      </p:to>
                                    </p:set>
                                  </p:childTnLst>
                                </p:cTn>
                              </p:par>
                              <p:par>
                                <p:cTn id="71" presetID="1" presetClass="exit" presetSubtype="0" fill="hold" grpId="1" nodeType="withEffect">
                                  <p:stCondLst>
                                    <p:cond delay="0"/>
                                  </p:stCondLst>
                                  <p:childTnLst>
                                    <p:set>
                                      <p:cBhvr>
                                        <p:cTn id="72" dur="1" fill="hold">
                                          <p:stCondLst>
                                            <p:cond delay="0"/>
                                          </p:stCondLst>
                                        </p:cTn>
                                        <p:tgtEl>
                                          <p:spTgt spid="4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45" grpId="0" animBg="1"/>
      <p:bldP spid="45" grpId="1" animBg="1"/>
      <p:bldP spid="46" grpId="0" animBg="1"/>
      <p:bldP spid="46" grpId="1" animBg="1"/>
      <p:bldP spid="4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A6915-BBD5-938F-8FEB-CC8C5D8F0A0B}"/>
            </a:ext>
          </a:extLst>
        </p:cNvPr>
        <p:cNvGrpSpPr/>
        <p:nvPr/>
      </p:nvGrpSpPr>
      <p:grpSpPr>
        <a:xfrm>
          <a:off x="0" y="0"/>
          <a:ext cx="0" cy="0"/>
          <a:chOff x="0" y="0"/>
          <a:chExt cx="0" cy="0"/>
        </a:xfrm>
      </p:grpSpPr>
      <p:sp>
        <p:nvSpPr>
          <p:cNvPr id="9" name="标题 8">
            <a:extLst>
              <a:ext uri="{FF2B5EF4-FFF2-40B4-BE49-F238E27FC236}">
                <a16:creationId xmlns:a16="http://schemas.microsoft.com/office/drawing/2014/main" id="{510D8E28-D6E0-F63C-C8F5-AAB834A8893D}"/>
              </a:ext>
            </a:extLst>
          </p:cNvPr>
          <p:cNvSpPr>
            <a:spLocks noGrp="1"/>
          </p:cNvSpPr>
          <p:nvPr>
            <p:ph type="title"/>
          </p:nvPr>
        </p:nvSpPr>
        <p:spPr>
          <a:xfrm>
            <a:off x="1173494" y="249067"/>
            <a:ext cx="8048203" cy="480131"/>
          </a:xfrm>
        </p:spPr>
        <p:txBody>
          <a:bodyPr/>
          <a:lstStyle/>
          <a:p>
            <a:r>
              <a:rPr lang="zh-CN" altLang="en-US" spc="300" dirty="0">
                <a:latin typeface="+mj-ea"/>
              </a:rPr>
              <a:t>设计和实现</a:t>
            </a:r>
          </a:p>
        </p:txBody>
      </p:sp>
      <p:grpSp>
        <p:nvGrpSpPr>
          <p:cNvPr id="46" name="组合 45">
            <a:extLst>
              <a:ext uri="{FF2B5EF4-FFF2-40B4-BE49-F238E27FC236}">
                <a16:creationId xmlns:a16="http://schemas.microsoft.com/office/drawing/2014/main" id="{D1CAEB17-4A55-A296-972E-21F8EA7DCF81}"/>
              </a:ext>
            </a:extLst>
          </p:cNvPr>
          <p:cNvGrpSpPr/>
          <p:nvPr/>
        </p:nvGrpSpPr>
        <p:grpSpPr>
          <a:xfrm>
            <a:off x="7201442" y="2292520"/>
            <a:ext cx="4594476" cy="426573"/>
            <a:chOff x="7201442" y="2292520"/>
            <a:chExt cx="4594476" cy="426573"/>
          </a:xfrm>
        </p:grpSpPr>
        <p:sp>
          <p:nvSpPr>
            <p:cNvPr id="12" name="矩形 11">
              <a:extLst>
                <a:ext uri="{FF2B5EF4-FFF2-40B4-BE49-F238E27FC236}">
                  <a16:creationId xmlns:a16="http://schemas.microsoft.com/office/drawing/2014/main" id="{22820CCE-0A0B-113F-7D51-7BC6E9C68075}"/>
                </a:ext>
              </a:extLst>
            </p:cNvPr>
            <p:cNvSpPr/>
            <p:nvPr/>
          </p:nvSpPr>
          <p:spPr>
            <a:xfrm>
              <a:off x="7201442" y="2292520"/>
              <a:ext cx="4594476" cy="426573"/>
            </a:xfrm>
            <a:prstGeom prst="rect">
              <a:avLst/>
            </a:prstGeom>
            <a:no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13" name="菱形 12">
              <a:extLst>
                <a:ext uri="{FF2B5EF4-FFF2-40B4-BE49-F238E27FC236}">
                  <a16:creationId xmlns:a16="http://schemas.microsoft.com/office/drawing/2014/main" id="{754B134C-01D0-4D1D-9B15-D11FC859A311}"/>
                </a:ext>
              </a:extLst>
            </p:cNvPr>
            <p:cNvSpPr/>
            <p:nvPr/>
          </p:nvSpPr>
          <p:spPr>
            <a:xfrm>
              <a:off x="7250155" y="2394005"/>
              <a:ext cx="229346" cy="201542"/>
            </a:xfrm>
            <a:prstGeom prst="diamond">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14" name="文本框 13">
              <a:extLst>
                <a:ext uri="{FF2B5EF4-FFF2-40B4-BE49-F238E27FC236}">
                  <a16:creationId xmlns:a16="http://schemas.microsoft.com/office/drawing/2014/main" id="{5BA76FD3-9096-EC0C-697E-96FD8D5CFC93}"/>
                </a:ext>
              </a:extLst>
            </p:cNvPr>
            <p:cNvSpPr txBox="1"/>
            <p:nvPr/>
          </p:nvSpPr>
          <p:spPr>
            <a:xfrm>
              <a:off x="7478520" y="2314048"/>
              <a:ext cx="4298306" cy="338554"/>
            </a:xfrm>
            <a:prstGeom prst="rect">
              <a:avLst/>
            </a:prstGeom>
            <a:noFill/>
          </p:spPr>
          <p:txBody>
            <a:bodyPr wrap="square">
              <a:spAutoFit/>
            </a:bodyPr>
            <a:lstStyle/>
            <a:p>
              <a:r>
                <a:rPr lang="zh-CN" altLang="en-US" sz="1600" b="1" dirty="0"/>
                <a:t>语言级异常处理机制辅助</a:t>
              </a:r>
              <a:r>
                <a:rPr lang="en-US" altLang="zh-CN" sz="1600" b="1" dirty="0"/>
                <a:t>(panic)</a:t>
              </a:r>
              <a:endParaRPr lang="zh-CN" altLang="en-US" sz="1600" b="1" dirty="0"/>
            </a:p>
          </p:txBody>
        </p:sp>
      </p:grpSp>
      <p:grpSp>
        <p:nvGrpSpPr>
          <p:cNvPr id="45" name="组合 44">
            <a:extLst>
              <a:ext uri="{FF2B5EF4-FFF2-40B4-BE49-F238E27FC236}">
                <a16:creationId xmlns:a16="http://schemas.microsoft.com/office/drawing/2014/main" id="{F0AB4C93-85DA-B99D-A979-055656722300}"/>
              </a:ext>
            </a:extLst>
          </p:cNvPr>
          <p:cNvGrpSpPr/>
          <p:nvPr/>
        </p:nvGrpSpPr>
        <p:grpSpPr>
          <a:xfrm>
            <a:off x="7190420" y="974827"/>
            <a:ext cx="4573760" cy="894761"/>
            <a:chOff x="7190420" y="974827"/>
            <a:chExt cx="4573760" cy="894761"/>
          </a:xfrm>
        </p:grpSpPr>
        <p:sp>
          <p:nvSpPr>
            <p:cNvPr id="16" name="矩形 15">
              <a:extLst>
                <a:ext uri="{FF2B5EF4-FFF2-40B4-BE49-F238E27FC236}">
                  <a16:creationId xmlns:a16="http://schemas.microsoft.com/office/drawing/2014/main" id="{7CE111BA-23EF-713C-1C3A-A4E22BC783C8}"/>
                </a:ext>
              </a:extLst>
            </p:cNvPr>
            <p:cNvSpPr/>
            <p:nvPr/>
          </p:nvSpPr>
          <p:spPr>
            <a:xfrm>
              <a:off x="7190420" y="974827"/>
              <a:ext cx="1052662" cy="894761"/>
            </a:xfrm>
            <a:prstGeom prst="rect">
              <a:avLst/>
            </a:prstGeom>
            <a:solidFill>
              <a:schemeClr val="accent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7" name="矩形 16">
              <a:extLst>
                <a:ext uri="{FF2B5EF4-FFF2-40B4-BE49-F238E27FC236}">
                  <a16:creationId xmlns:a16="http://schemas.microsoft.com/office/drawing/2014/main" id="{26C0CCA5-5D3E-DE3D-232B-AAE8BDDE48E4}"/>
                </a:ext>
              </a:extLst>
            </p:cNvPr>
            <p:cNvSpPr/>
            <p:nvPr/>
          </p:nvSpPr>
          <p:spPr>
            <a:xfrm>
              <a:off x="8228954" y="983763"/>
              <a:ext cx="3523684" cy="871127"/>
            </a:xfrm>
            <a:prstGeom prst="rect">
              <a:avLst/>
            </a:prstGeom>
            <a:noFill/>
            <a:ln w="222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18" name="文本框 9">
              <a:extLst>
                <a:ext uri="{FF2B5EF4-FFF2-40B4-BE49-F238E27FC236}">
                  <a16:creationId xmlns:a16="http://schemas.microsoft.com/office/drawing/2014/main" id="{E4BF3D74-5846-D6B2-80C3-622E29297995}"/>
                </a:ext>
              </a:extLst>
            </p:cNvPr>
            <p:cNvSpPr txBox="1"/>
            <p:nvPr/>
          </p:nvSpPr>
          <p:spPr>
            <a:xfrm>
              <a:off x="7348601" y="1072732"/>
              <a:ext cx="880353" cy="70788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solidFill>
                    <a:schemeClr val="bg1"/>
                  </a:solidFill>
                </a:rPr>
                <a:t>核 心问 题</a:t>
              </a:r>
            </a:p>
          </p:txBody>
        </p:sp>
        <p:sp>
          <p:nvSpPr>
            <p:cNvPr id="19" name="文本框 10">
              <a:extLst>
                <a:ext uri="{FF2B5EF4-FFF2-40B4-BE49-F238E27FC236}">
                  <a16:creationId xmlns:a16="http://schemas.microsoft.com/office/drawing/2014/main" id="{02C01DFA-C5AD-1E74-A7D9-D959D5A339B1}"/>
                </a:ext>
              </a:extLst>
            </p:cNvPr>
            <p:cNvSpPr txBox="1"/>
            <p:nvPr/>
          </p:nvSpPr>
          <p:spPr>
            <a:xfrm>
              <a:off x="8256351" y="974827"/>
              <a:ext cx="3507829" cy="78752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600" b="1" dirty="0"/>
                <a:t>域可能因为违背某些安全属性而出现故障，如何正确处理故障</a:t>
              </a:r>
              <a:r>
                <a:rPr lang="en-US" altLang="zh-CN" sz="1600" b="1" dirty="0"/>
                <a:t>?</a:t>
              </a:r>
              <a:endParaRPr lang="zh-CN" altLang="en-US" sz="1600" b="1" dirty="0"/>
            </a:p>
          </p:txBody>
        </p:sp>
      </p:grpSp>
      <p:grpSp>
        <p:nvGrpSpPr>
          <p:cNvPr id="20" name="组合 19">
            <a:extLst>
              <a:ext uri="{FF2B5EF4-FFF2-40B4-BE49-F238E27FC236}">
                <a16:creationId xmlns:a16="http://schemas.microsoft.com/office/drawing/2014/main" id="{A3F75F72-7012-9FCF-13F2-2FD41E48B533}"/>
              </a:ext>
            </a:extLst>
          </p:cNvPr>
          <p:cNvGrpSpPr/>
          <p:nvPr/>
        </p:nvGrpSpPr>
        <p:grpSpPr>
          <a:xfrm rot="5400000">
            <a:off x="9189706" y="1761665"/>
            <a:ext cx="278665" cy="597268"/>
            <a:chOff x="925326" y="3986924"/>
            <a:chExt cx="1445172" cy="1117600"/>
          </a:xfrm>
        </p:grpSpPr>
        <p:sp>
          <p:nvSpPr>
            <p:cNvPr id="21" name="等腰三角形 20">
              <a:extLst>
                <a:ext uri="{FF2B5EF4-FFF2-40B4-BE49-F238E27FC236}">
                  <a16:creationId xmlns:a16="http://schemas.microsoft.com/office/drawing/2014/main" id="{204A0509-9333-AB76-794E-064B1D3BD5FA}"/>
                </a:ext>
              </a:extLst>
            </p:cNvPr>
            <p:cNvSpPr/>
            <p:nvPr/>
          </p:nvSpPr>
          <p:spPr>
            <a:xfrm rot="5400000">
              <a:off x="1329974" y="4064000"/>
              <a:ext cx="1117600" cy="963448"/>
            </a:xfrm>
            <a:prstGeom prst="triangle">
              <a:avLst/>
            </a:prstGeom>
            <a:gradFill>
              <a:gsLst>
                <a:gs pos="100000">
                  <a:schemeClr val="bg1"/>
                </a:gs>
                <a:gs pos="1000">
                  <a:srgbClr val="C00000"/>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a:extLst>
                <a:ext uri="{FF2B5EF4-FFF2-40B4-BE49-F238E27FC236}">
                  <a16:creationId xmlns:a16="http://schemas.microsoft.com/office/drawing/2014/main" id="{7461549E-B53C-9F9F-AB63-C07C7B84DDF1}"/>
                </a:ext>
              </a:extLst>
            </p:cNvPr>
            <p:cNvSpPr/>
            <p:nvPr/>
          </p:nvSpPr>
          <p:spPr>
            <a:xfrm rot="5400000">
              <a:off x="848250" y="4064000"/>
              <a:ext cx="1117600" cy="963447"/>
            </a:xfrm>
            <a:prstGeom prst="triangle">
              <a:avLst/>
            </a:prstGeom>
            <a:gradFill>
              <a:gsLst>
                <a:gs pos="100000">
                  <a:schemeClr val="bg1"/>
                </a:gs>
                <a:gs pos="1000">
                  <a:srgbClr val="C00000"/>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2" name="组合 41">
            <a:extLst>
              <a:ext uri="{FF2B5EF4-FFF2-40B4-BE49-F238E27FC236}">
                <a16:creationId xmlns:a16="http://schemas.microsoft.com/office/drawing/2014/main" id="{261653BD-0DE7-E6E3-BE64-A6A15984D8FB}"/>
              </a:ext>
            </a:extLst>
          </p:cNvPr>
          <p:cNvGrpSpPr/>
          <p:nvPr/>
        </p:nvGrpSpPr>
        <p:grpSpPr>
          <a:xfrm>
            <a:off x="7187470" y="3554958"/>
            <a:ext cx="4467639" cy="344905"/>
            <a:chOff x="7187470" y="3554958"/>
            <a:chExt cx="4467639" cy="344905"/>
          </a:xfrm>
        </p:grpSpPr>
        <p:sp>
          <p:nvSpPr>
            <p:cNvPr id="23" name="文本框 22">
              <a:extLst>
                <a:ext uri="{FF2B5EF4-FFF2-40B4-BE49-F238E27FC236}">
                  <a16:creationId xmlns:a16="http://schemas.microsoft.com/office/drawing/2014/main" id="{53FB1C82-79B6-C9AE-8526-E7A27E697384}"/>
                </a:ext>
              </a:extLst>
            </p:cNvPr>
            <p:cNvSpPr txBox="1"/>
            <p:nvPr/>
          </p:nvSpPr>
          <p:spPr>
            <a:xfrm>
              <a:off x="7187470" y="3561309"/>
              <a:ext cx="4134263" cy="338554"/>
            </a:xfrm>
            <a:prstGeom prst="rect">
              <a:avLst/>
            </a:prstGeom>
            <a:noFill/>
          </p:spPr>
          <p:txBody>
            <a:bodyPr wrap="square" rtlCol="0">
              <a:spAutoFit/>
            </a:bodyPr>
            <a:lstStyle/>
            <a:p>
              <a:r>
                <a:rPr lang="zh-CN" altLang="en-US" sz="1600" dirty="0"/>
                <a:t>🔑 </a:t>
              </a:r>
              <a:r>
                <a:rPr lang="zh-CN" altLang="en-US" sz="1600" b="1" dirty="0"/>
                <a:t>故障捕获点</a:t>
              </a:r>
              <a:r>
                <a:rPr lang="zh-CN" altLang="en-US" sz="1600" dirty="0"/>
                <a:t>：编译器生成的特定信息</a:t>
              </a:r>
              <a:endParaRPr lang="en-US" altLang="zh-CN" sz="1600" dirty="0"/>
            </a:p>
          </p:txBody>
        </p:sp>
        <p:sp>
          <p:nvSpPr>
            <p:cNvPr id="24" name="矩形 23">
              <a:extLst>
                <a:ext uri="{FF2B5EF4-FFF2-40B4-BE49-F238E27FC236}">
                  <a16:creationId xmlns:a16="http://schemas.microsoft.com/office/drawing/2014/main" id="{221F78A9-2050-64F9-47F5-C2D63CE982E2}"/>
                </a:ext>
              </a:extLst>
            </p:cNvPr>
            <p:cNvSpPr/>
            <p:nvPr/>
          </p:nvSpPr>
          <p:spPr>
            <a:xfrm>
              <a:off x="7250154" y="3554958"/>
              <a:ext cx="4404955" cy="344905"/>
            </a:xfrm>
            <a:custGeom>
              <a:avLst/>
              <a:gdLst>
                <a:gd name="csX0" fmla="*/ 0 w 4404955"/>
                <a:gd name="csY0" fmla="*/ 0 h 344905"/>
                <a:gd name="csX1" fmla="*/ 585230 w 4404955"/>
                <a:gd name="csY1" fmla="*/ 0 h 344905"/>
                <a:gd name="csX2" fmla="*/ 1082360 w 4404955"/>
                <a:gd name="csY2" fmla="*/ 0 h 344905"/>
                <a:gd name="csX3" fmla="*/ 1799739 w 4404955"/>
                <a:gd name="csY3" fmla="*/ 0 h 344905"/>
                <a:gd name="csX4" fmla="*/ 2384968 w 4404955"/>
                <a:gd name="csY4" fmla="*/ 0 h 344905"/>
                <a:gd name="csX5" fmla="*/ 2970198 w 4404955"/>
                <a:gd name="csY5" fmla="*/ 0 h 344905"/>
                <a:gd name="csX6" fmla="*/ 3687577 w 4404955"/>
                <a:gd name="csY6" fmla="*/ 0 h 344905"/>
                <a:gd name="csX7" fmla="*/ 4404955 w 4404955"/>
                <a:gd name="csY7" fmla="*/ 0 h 344905"/>
                <a:gd name="csX8" fmla="*/ 4404955 w 4404955"/>
                <a:gd name="csY8" fmla="*/ 344905 h 344905"/>
                <a:gd name="csX9" fmla="*/ 3863775 w 4404955"/>
                <a:gd name="csY9" fmla="*/ 344905 h 344905"/>
                <a:gd name="csX10" fmla="*/ 3234496 w 4404955"/>
                <a:gd name="csY10" fmla="*/ 344905 h 344905"/>
                <a:gd name="csX11" fmla="*/ 2605216 w 4404955"/>
                <a:gd name="csY11" fmla="*/ 344905 h 344905"/>
                <a:gd name="csX12" fmla="*/ 2019987 w 4404955"/>
                <a:gd name="csY12" fmla="*/ 344905 h 344905"/>
                <a:gd name="csX13" fmla="*/ 1302608 w 4404955"/>
                <a:gd name="csY13" fmla="*/ 344905 h 344905"/>
                <a:gd name="csX14" fmla="*/ 585230 w 4404955"/>
                <a:gd name="csY14" fmla="*/ 344905 h 344905"/>
                <a:gd name="csX15" fmla="*/ 0 w 4404955"/>
                <a:gd name="csY15" fmla="*/ 344905 h 344905"/>
                <a:gd name="csX16" fmla="*/ 0 w 4404955"/>
                <a:gd name="csY16" fmla="*/ 0 h 3449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04955" h="344905" extrusionOk="0">
                  <a:moveTo>
                    <a:pt x="0" y="0"/>
                  </a:moveTo>
                  <a:cubicBezTo>
                    <a:pt x="265271" y="22239"/>
                    <a:pt x="409937" y="9659"/>
                    <a:pt x="585230" y="0"/>
                  </a:cubicBezTo>
                  <a:cubicBezTo>
                    <a:pt x="760523" y="-9659"/>
                    <a:pt x="854658" y="17065"/>
                    <a:pt x="1082360" y="0"/>
                  </a:cubicBezTo>
                  <a:cubicBezTo>
                    <a:pt x="1310062" y="-17065"/>
                    <a:pt x="1549503" y="172"/>
                    <a:pt x="1799739" y="0"/>
                  </a:cubicBezTo>
                  <a:cubicBezTo>
                    <a:pt x="2049975" y="-172"/>
                    <a:pt x="2141918" y="9384"/>
                    <a:pt x="2384968" y="0"/>
                  </a:cubicBezTo>
                  <a:cubicBezTo>
                    <a:pt x="2628018" y="-9384"/>
                    <a:pt x="2764413" y="-26324"/>
                    <a:pt x="2970198" y="0"/>
                  </a:cubicBezTo>
                  <a:cubicBezTo>
                    <a:pt x="3175983" y="26324"/>
                    <a:pt x="3521245" y="-32639"/>
                    <a:pt x="3687577" y="0"/>
                  </a:cubicBezTo>
                  <a:cubicBezTo>
                    <a:pt x="3853909" y="32639"/>
                    <a:pt x="4145497" y="2496"/>
                    <a:pt x="4404955" y="0"/>
                  </a:cubicBezTo>
                  <a:cubicBezTo>
                    <a:pt x="4393709" y="125830"/>
                    <a:pt x="4413306" y="263733"/>
                    <a:pt x="4404955" y="344905"/>
                  </a:cubicBezTo>
                  <a:cubicBezTo>
                    <a:pt x="4177365" y="341188"/>
                    <a:pt x="3975849" y="360895"/>
                    <a:pt x="3863775" y="344905"/>
                  </a:cubicBezTo>
                  <a:cubicBezTo>
                    <a:pt x="3751701" y="328915"/>
                    <a:pt x="3513918" y="317173"/>
                    <a:pt x="3234496" y="344905"/>
                  </a:cubicBezTo>
                  <a:cubicBezTo>
                    <a:pt x="2955074" y="372637"/>
                    <a:pt x="2762127" y="315119"/>
                    <a:pt x="2605216" y="344905"/>
                  </a:cubicBezTo>
                  <a:cubicBezTo>
                    <a:pt x="2448305" y="374691"/>
                    <a:pt x="2280189" y="370811"/>
                    <a:pt x="2019987" y="344905"/>
                  </a:cubicBezTo>
                  <a:cubicBezTo>
                    <a:pt x="1759785" y="318999"/>
                    <a:pt x="1612089" y="329504"/>
                    <a:pt x="1302608" y="344905"/>
                  </a:cubicBezTo>
                  <a:cubicBezTo>
                    <a:pt x="993127" y="360306"/>
                    <a:pt x="872284" y="309815"/>
                    <a:pt x="585230" y="344905"/>
                  </a:cubicBezTo>
                  <a:cubicBezTo>
                    <a:pt x="298176" y="379995"/>
                    <a:pt x="220400" y="321209"/>
                    <a:pt x="0" y="344905"/>
                  </a:cubicBezTo>
                  <a:cubicBezTo>
                    <a:pt x="-9098" y="212099"/>
                    <a:pt x="2631" y="92556"/>
                    <a:pt x="0" y="0"/>
                  </a:cubicBezTo>
                  <a:close/>
                </a:path>
              </a:pathLst>
            </a:custGeom>
            <a:noFill/>
            <a:ln w="12700">
              <a:gradFill flip="none" rotWithShape="1">
                <a:gsLst>
                  <a:gs pos="0">
                    <a:schemeClr val="tx2"/>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a:extLst>
              <a:ext uri="{FF2B5EF4-FFF2-40B4-BE49-F238E27FC236}">
                <a16:creationId xmlns:a16="http://schemas.microsoft.com/office/drawing/2014/main" id="{F75845DB-B23F-F7C6-26DA-8635B7D35CC9}"/>
              </a:ext>
            </a:extLst>
          </p:cNvPr>
          <p:cNvGrpSpPr/>
          <p:nvPr/>
        </p:nvGrpSpPr>
        <p:grpSpPr>
          <a:xfrm>
            <a:off x="7187470" y="4021920"/>
            <a:ext cx="4467639" cy="357838"/>
            <a:chOff x="7187470" y="4021920"/>
            <a:chExt cx="4467639" cy="357838"/>
          </a:xfrm>
        </p:grpSpPr>
        <p:sp>
          <p:nvSpPr>
            <p:cNvPr id="25" name="文本框 24">
              <a:extLst>
                <a:ext uri="{FF2B5EF4-FFF2-40B4-BE49-F238E27FC236}">
                  <a16:creationId xmlns:a16="http://schemas.microsoft.com/office/drawing/2014/main" id="{DA594E32-2D8B-85A6-8C7F-DB774B40B026}"/>
                </a:ext>
              </a:extLst>
            </p:cNvPr>
            <p:cNvSpPr txBox="1"/>
            <p:nvPr/>
          </p:nvSpPr>
          <p:spPr>
            <a:xfrm>
              <a:off x="7187470" y="4041204"/>
              <a:ext cx="3848513" cy="338554"/>
            </a:xfrm>
            <a:prstGeom prst="rect">
              <a:avLst/>
            </a:prstGeom>
            <a:noFill/>
          </p:spPr>
          <p:txBody>
            <a:bodyPr wrap="square" rtlCol="0">
              <a:spAutoFit/>
            </a:bodyPr>
            <a:lstStyle/>
            <a:p>
              <a:r>
                <a:rPr lang="zh-CN" altLang="en-US" sz="1600" dirty="0"/>
                <a:t>🔑 </a:t>
              </a:r>
              <a:r>
                <a:rPr lang="en-US" altLang="zh-CN" sz="1600" b="1" dirty="0"/>
                <a:t>panic </a:t>
              </a:r>
              <a:r>
                <a:rPr lang="zh-CN" altLang="en-US" sz="1600" b="1" dirty="0"/>
                <a:t>钩子</a:t>
              </a:r>
              <a:r>
                <a:rPr lang="zh-CN" altLang="en-US" sz="1600" dirty="0"/>
                <a:t>：定义故障恢复流程</a:t>
              </a:r>
              <a:endParaRPr lang="en-US" altLang="zh-CN" sz="1600" dirty="0"/>
            </a:p>
          </p:txBody>
        </p:sp>
        <p:sp>
          <p:nvSpPr>
            <p:cNvPr id="27" name="矩形 26">
              <a:extLst>
                <a:ext uri="{FF2B5EF4-FFF2-40B4-BE49-F238E27FC236}">
                  <a16:creationId xmlns:a16="http://schemas.microsoft.com/office/drawing/2014/main" id="{B8AF6792-A9DE-FC12-AB70-0628DD92B342}"/>
                </a:ext>
              </a:extLst>
            </p:cNvPr>
            <p:cNvSpPr/>
            <p:nvPr/>
          </p:nvSpPr>
          <p:spPr>
            <a:xfrm>
              <a:off x="7250154" y="4021920"/>
              <a:ext cx="4404955" cy="344905"/>
            </a:xfrm>
            <a:custGeom>
              <a:avLst/>
              <a:gdLst>
                <a:gd name="csX0" fmla="*/ 0 w 4404955"/>
                <a:gd name="csY0" fmla="*/ 0 h 344905"/>
                <a:gd name="csX1" fmla="*/ 585230 w 4404955"/>
                <a:gd name="csY1" fmla="*/ 0 h 344905"/>
                <a:gd name="csX2" fmla="*/ 1082360 w 4404955"/>
                <a:gd name="csY2" fmla="*/ 0 h 344905"/>
                <a:gd name="csX3" fmla="*/ 1799739 w 4404955"/>
                <a:gd name="csY3" fmla="*/ 0 h 344905"/>
                <a:gd name="csX4" fmla="*/ 2384968 w 4404955"/>
                <a:gd name="csY4" fmla="*/ 0 h 344905"/>
                <a:gd name="csX5" fmla="*/ 2970198 w 4404955"/>
                <a:gd name="csY5" fmla="*/ 0 h 344905"/>
                <a:gd name="csX6" fmla="*/ 3687577 w 4404955"/>
                <a:gd name="csY6" fmla="*/ 0 h 344905"/>
                <a:gd name="csX7" fmla="*/ 4404955 w 4404955"/>
                <a:gd name="csY7" fmla="*/ 0 h 344905"/>
                <a:gd name="csX8" fmla="*/ 4404955 w 4404955"/>
                <a:gd name="csY8" fmla="*/ 344905 h 344905"/>
                <a:gd name="csX9" fmla="*/ 3863775 w 4404955"/>
                <a:gd name="csY9" fmla="*/ 344905 h 344905"/>
                <a:gd name="csX10" fmla="*/ 3234496 w 4404955"/>
                <a:gd name="csY10" fmla="*/ 344905 h 344905"/>
                <a:gd name="csX11" fmla="*/ 2605216 w 4404955"/>
                <a:gd name="csY11" fmla="*/ 344905 h 344905"/>
                <a:gd name="csX12" fmla="*/ 2019987 w 4404955"/>
                <a:gd name="csY12" fmla="*/ 344905 h 344905"/>
                <a:gd name="csX13" fmla="*/ 1302608 w 4404955"/>
                <a:gd name="csY13" fmla="*/ 344905 h 344905"/>
                <a:gd name="csX14" fmla="*/ 585230 w 4404955"/>
                <a:gd name="csY14" fmla="*/ 344905 h 344905"/>
                <a:gd name="csX15" fmla="*/ 0 w 4404955"/>
                <a:gd name="csY15" fmla="*/ 344905 h 344905"/>
                <a:gd name="csX16" fmla="*/ 0 w 4404955"/>
                <a:gd name="csY16" fmla="*/ 0 h 3449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04955" h="344905" extrusionOk="0">
                  <a:moveTo>
                    <a:pt x="0" y="0"/>
                  </a:moveTo>
                  <a:cubicBezTo>
                    <a:pt x="265271" y="22239"/>
                    <a:pt x="409937" y="9659"/>
                    <a:pt x="585230" y="0"/>
                  </a:cubicBezTo>
                  <a:cubicBezTo>
                    <a:pt x="760523" y="-9659"/>
                    <a:pt x="854658" y="17065"/>
                    <a:pt x="1082360" y="0"/>
                  </a:cubicBezTo>
                  <a:cubicBezTo>
                    <a:pt x="1310062" y="-17065"/>
                    <a:pt x="1549503" y="172"/>
                    <a:pt x="1799739" y="0"/>
                  </a:cubicBezTo>
                  <a:cubicBezTo>
                    <a:pt x="2049975" y="-172"/>
                    <a:pt x="2141918" y="9384"/>
                    <a:pt x="2384968" y="0"/>
                  </a:cubicBezTo>
                  <a:cubicBezTo>
                    <a:pt x="2628018" y="-9384"/>
                    <a:pt x="2764413" y="-26324"/>
                    <a:pt x="2970198" y="0"/>
                  </a:cubicBezTo>
                  <a:cubicBezTo>
                    <a:pt x="3175983" y="26324"/>
                    <a:pt x="3521245" y="-32639"/>
                    <a:pt x="3687577" y="0"/>
                  </a:cubicBezTo>
                  <a:cubicBezTo>
                    <a:pt x="3853909" y="32639"/>
                    <a:pt x="4145497" y="2496"/>
                    <a:pt x="4404955" y="0"/>
                  </a:cubicBezTo>
                  <a:cubicBezTo>
                    <a:pt x="4393709" y="125830"/>
                    <a:pt x="4413306" y="263733"/>
                    <a:pt x="4404955" y="344905"/>
                  </a:cubicBezTo>
                  <a:cubicBezTo>
                    <a:pt x="4177365" y="341188"/>
                    <a:pt x="3975849" y="360895"/>
                    <a:pt x="3863775" y="344905"/>
                  </a:cubicBezTo>
                  <a:cubicBezTo>
                    <a:pt x="3751701" y="328915"/>
                    <a:pt x="3513918" y="317173"/>
                    <a:pt x="3234496" y="344905"/>
                  </a:cubicBezTo>
                  <a:cubicBezTo>
                    <a:pt x="2955074" y="372637"/>
                    <a:pt x="2762127" y="315119"/>
                    <a:pt x="2605216" y="344905"/>
                  </a:cubicBezTo>
                  <a:cubicBezTo>
                    <a:pt x="2448305" y="374691"/>
                    <a:pt x="2280189" y="370811"/>
                    <a:pt x="2019987" y="344905"/>
                  </a:cubicBezTo>
                  <a:cubicBezTo>
                    <a:pt x="1759785" y="318999"/>
                    <a:pt x="1612089" y="329504"/>
                    <a:pt x="1302608" y="344905"/>
                  </a:cubicBezTo>
                  <a:cubicBezTo>
                    <a:pt x="993127" y="360306"/>
                    <a:pt x="872284" y="309815"/>
                    <a:pt x="585230" y="344905"/>
                  </a:cubicBezTo>
                  <a:cubicBezTo>
                    <a:pt x="298176" y="379995"/>
                    <a:pt x="220400" y="321209"/>
                    <a:pt x="0" y="344905"/>
                  </a:cubicBezTo>
                  <a:cubicBezTo>
                    <a:pt x="-9098" y="212099"/>
                    <a:pt x="2631" y="92556"/>
                    <a:pt x="0" y="0"/>
                  </a:cubicBezTo>
                  <a:close/>
                </a:path>
              </a:pathLst>
            </a:custGeom>
            <a:noFill/>
            <a:ln w="12700">
              <a:gradFill flip="none" rotWithShape="1">
                <a:gsLst>
                  <a:gs pos="0">
                    <a:schemeClr val="tx2"/>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4" name="组合 43">
            <a:extLst>
              <a:ext uri="{FF2B5EF4-FFF2-40B4-BE49-F238E27FC236}">
                <a16:creationId xmlns:a16="http://schemas.microsoft.com/office/drawing/2014/main" id="{928FE7A1-E8EB-D6C4-55F8-CA6E09352129}"/>
              </a:ext>
            </a:extLst>
          </p:cNvPr>
          <p:cNvGrpSpPr/>
          <p:nvPr/>
        </p:nvGrpSpPr>
        <p:grpSpPr>
          <a:xfrm>
            <a:off x="7177405" y="5775743"/>
            <a:ext cx="4477705" cy="354430"/>
            <a:chOff x="7177405" y="5775743"/>
            <a:chExt cx="4477705" cy="354430"/>
          </a:xfrm>
        </p:grpSpPr>
        <p:sp>
          <p:nvSpPr>
            <p:cNvPr id="26" name="文本框 25">
              <a:extLst>
                <a:ext uri="{FF2B5EF4-FFF2-40B4-BE49-F238E27FC236}">
                  <a16:creationId xmlns:a16="http://schemas.microsoft.com/office/drawing/2014/main" id="{2AF18CB0-50FC-9782-A250-2CDDE781BA64}"/>
                </a:ext>
              </a:extLst>
            </p:cNvPr>
            <p:cNvSpPr txBox="1"/>
            <p:nvPr/>
          </p:nvSpPr>
          <p:spPr>
            <a:xfrm>
              <a:off x="7177405" y="5775743"/>
              <a:ext cx="4477705" cy="338554"/>
            </a:xfrm>
            <a:prstGeom prst="rect">
              <a:avLst/>
            </a:prstGeom>
            <a:noFill/>
          </p:spPr>
          <p:txBody>
            <a:bodyPr wrap="square" rtlCol="0">
              <a:spAutoFit/>
            </a:bodyPr>
            <a:lstStyle/>
            <a:p>
              <a:r>
                <a:rPr lang="zh-CN" altLang="en-US" sz="1600" dirty="0"/>
                <a:t>🔑</a:t>
              </a:r>
              <a:r>
                <a:rPr lang="zh-CN" altLang="en-US" sz="1600" b="1" dirty="0"/>
                <a:t>故障隔离代理</a:t>
              </a:r>
              <a:r>
                <a:rPr lang="zh-CN" altLang="en-US" sz="1600" dirty="0"/>
                <a:t>：对开发者隐藏故障处理细节</a:t>
              </a:r>
              <a:endParaRPr lang="en-US" altLang="zh-CN" sz="1600" dirty="0"/>
            </a:p>
          </p:txBody>
        </p:sp>
        <p:sp>
          <p:nvSpPr>
            <p:cNvPr id="28" name="矩形 27">
              <a:extLst>
                <a:ext uri="{FF2B5EF4-FFF2-40B4-BE49-F238E27FC236}">
                  <a16:creationId xmlns:a16="http://schemas.microsoft.com/office/drawing/2014/main" id="{E6D2B1B2-B1BD-ACDE-C15B-658E2FF2C452}"/>
                </a:ext>
              </a:extLst>
            </p:cNvPr>
            <p:cNvSpPr/>
            <p:nvPr/>
          </p:nvSpPr>
          <p:spPr>
            <a:xfrm>
              <a:off x="7250155" y="5785268"/>
              <a:ext cx="4404955" cy="344905"/>
            </a:xfrm>
            <a:custGeom>
              <a:avLst/>
              <a:gdLst>
                <a:gd name="csX0" fmla="*/ 0 w 4404955"/>
                <a:gd name="csY0" fmla="*/ 0 h 344905"/>
                <a:gd name="csX1" fmla="*/ 585230 w 4404955"/>
                <a:gd name="csY1" fmla="*/ 0 h 344905"/>
                <a:gd name="csX2" fmla="*/ 1082360 w 4404955"/>
                <a:gd name="csY2" fmla="*/ 0 h 344905"/>
                <a:gd name="csX3" fmla="*/ 1799739 w 4404955"/>
                <a:gd name="csY3" fmla="*/ 0 h 344905"/>
                <a:gd name="csX4" fmla="*/ 2384968 w 4404955"/>
                <a:gd name="csY4" fmla="*/ 0 h 344905"/>
                <a:gd name="csX5" fmla="*/ 2970198 w 4404955"/>
                <a:gd name="csY5" fmla="*/ 0 h 344905"/>
                <a:gd name="csX6" fmla="*/ 3687577 w 4404955"/>
                <a:gd name="csY6" fmla="*/ 0 h 344905"/>
                <a:gd name="csX7" fmla="*/ 4404955 w 4404955"/>
                <a:gd name="csY7" fmla="*/ 0 h 344905"/>
                <a:gd name="csX8" fmla="*/ 4404955 w 4404955"/>
                <a:gd name="csY8" fmla="*/ 344905 h 344905"/>
                <a:gd name="csX9" fmla="*/ 3863775 w 4404955"/>
                <a:gd name="csY9" fmla="*/ 344905 h 344905"/>
                <a:gd name="csX10" fmla="*/ 3234496 w 4404955"/>
                <a:gd name="csY10" fmla="*/ 344905 h 344905"/>
                <a:gd name="csX11" fmla="*/ 2605216 w 4404955"/>
                <a:gd name="csY11" fmla="*/ 344905 h 344905"/>
                <a:gd name="csX12" fmla="*/ 2019987 w 4404955"/>
                <a:gd name="csY12" fmla="*/ 344905 h 344905"/>
                <a:gd name="csX13" fmla="*/ 1302608 w 4404955"/>
                <a:gd name="csY13" fmla="*/ 344905 h 344905"/>
                <a:gd name="csX14" fmla="*/ 585230 w 4404955"/>
                <a:gd name="csY14" fmla="*/ 344905 h 344905"/>
                <a:gd name="csX15" fmla="*/ 0 w 4404955"/>
                <a:gd name="csY15" fmla="*/ 344905 h 344905"/>
                <a:gd name="csX16" fmla="*/ 0 w 4404955"/>
                <a:gd name="csY16" fmla="*/ 0 h 3449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04955" h="344905" extrusionOk="0">
                  <a:moveTo>
                    <a:pt x="0" y="0"/>
                  </a:moveTo>
                  <a:cubicBezTo>
                    <a:pt x="265271" y="22239"/>
                    <a:pt x="409937" y="9659"/>
                    <a:pt x="585230" y="0"/>
                  </a:cubicBezTo>
                  <a:cubicBezTo>
                    <a:pt x="760523" y="-9659"/>
                    <a:pt x="854658" y="17065"/>
                    <a:pt x="1082360" y="0"/>
                  </a:cubicBezTo>
                  <a:cubicBezTo>
                    <a:pt x="1310062" y="-17065"/>
                    <a:pt x="1549503" y="172"/>
                    <a:pt x="1799739" y="0"/>
                  </a:cubicBezTo>
                  <a:cubicBezTo>
                    <a:pt x="2049975" y="-172"/>
                    <a:pt x="2141918" y="9384"/>
                    <a:pt x="2384968" y="0"/>
                  </a:cubicBezTo>
                  <a:cubicBezTo>
                    <a:pt x="2628018" y="-9384"/>
                    <a:pt x="2764413" y="-26324"/>
                    <a:pt x="2970198" y="0"/>
                  </a:cubicBezTo>
                  <a:cubicBezTo>
                    <a:pt x="3175983" y="26324"/>
                    <a:pt x="3521245" y="-32639"/>
                    <a:pt x="3687577" y="0"/>
                  </a:cubicBezTo>
                  <a:cubicBezTo>
                    <a:pt x="3853909" y="32639"/>
                    <a:pt x="4145497" y="2496"/>
                    <a:pt x="4404955" y="0"/>
                  </a:cubicBezTo>
                  <a:cubicBezTo>
                    <a:pt x="4393709" y="125830"/>
                    <a:pt x="4413306" y="263733"/>
                    <a:pt x="4404955" y="344905"/>
                  </a:cubicBezTo>
                  <a:cubicBezTo>
                    <a:pt x="4177365" y="341188"/>
                    <a:pt x="3975849" y="360895"/>
                    <a:pt x="3863775" y="344905"/>
                  </a:cubicBezTo>
                  <a:cubicBezTo>
                    <a:pt x="3751701" y="328915"/>
                    <a:pt x="3513918" y="317173"/>
                    <a:pt x="3234496" y="344905"/>
                  </a:cubicBezTo>
                  <a:cubicBezTo>
                    <a:pt x="2955074" y="372637"/>
                    <a:pt x="2762127" y="315119"/>
                    <a:pt x="2605216" y="344905"/>
                  </a:cubicBezTo>
                  <a:cubicBezTo>
                    <a:pt x="2448305" y="374691"/>
                    <a:pt x="2280189" y="370811"/>
                    <a:pt x="2019987" y="344905"/>
                  </a:cubicBezTo>
                  <a:cubicBezTo>
                    <a:pt x="1759785" y="318999"/>
                    <a:pt x="1612089" y="329504"/>
                    <a:pt x="1302608" y="344905"/>
                  </a:cubicBezTo>
                  <a:cubicBezTo>
                    <a:pt x="993127" y="360306"/>
                    <a:pt x="872284" y="309815"/>
                    <a:pt x="585230" y="344905"/>
                  </a:cubicBezTo>
                  <a:cubicBezTo>
                    <a:pt x="298176" y="379995"/>
                    <a:pt x="220400" y="321209"/>
                    <a:pt x="0" y="344905"/>
                  </a:cubicBezTo>
                  <a:cubicBezTo>
                    <a:pt x="-9098" y="212099"/>
                    <a:pt x="2631" y="92556"/>
                    <a:pt x="0" y="0"/>
                  </a:cubicBezTo>
                  <a:close/>
                </a:path>
              </a:pathLst>
            </a:custGeom>
            <a:noFill/>
            <a:ln w="12700">
              <a:gradFill flip="none" rotWithShape="1">
                <a:gsLst>
                  <a:gs pos="0">
                    <a:schemeClr val="tx2"/>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a:extLst>
              <a:ext uri="{FF2B5EF4-FFF2-40B4-BE49-F238E27FC236}">
                <a16:creationId xmlns:a16="http://schemas.microsoft.com/office/drawing/2014/main" id="{D355C910-DD26-9CFD-8991-FC1CB5CB0FD2}"/>
              </a:ext>
            </a:extLst>
          </p:cNvPr>
          <p:cNvGrpSpPr/>
          <p:nvPr/>
        </p:nvGrpSpPr>
        <p:grpSpPr>
          <a:xfrm rot="5400000">
            <a:off x="9189706" y="2704059"/>
            <a:ext cx="278665" cy="597268"/>
            <a:chOff x="925326" y="3986924"/>
            <a:chExt cx="1445172" cy="1117600"/>
          </a:xfrm>
        </p:grpSpPr>
        <p:sp>
          <p:nvSpPr>
            <p:cNvPr id="30" name="等腰三角形 29">
              <a:extLst>
                <a:ext uri="{FF2B5EF4-FFF2-40B4-BE49-F238E27FC236}">
                  <a16:creationId xmlns:a16="http://schemas.microsoft.com/office/drawing/2014/main" id="{5E9AF314-E59A-4414-E0FC-BE2CECA6941D}"/>
                </a:ext>
              </a:extLst>
            </p:cNvPr>
            <p:cNvSpPr/>
            <p:nvPr/>
          </p:nvSpPr>
          <p:spPr>
            <a:xfrm rot="5400000">
              <a:off x="1329974" y="4064000"/>
              <a:ext cx="1117600" cy="963448"/>
            </a:xfrm>
            <a:prstGeom prst="triangle">
              <a:avLst/>
            </a:prstGeom>
            <a:gradFill>
              <a:gsLst>
                <a:gs pos="100000">
                  <a:schemeClr val="bg1"/>
                </a:gs>
                <a:gs pos="1000">
                  <a:srgbClr val="C00000"/>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等腰三角形 30">
              <a:extLst>
                <a:ext uri="{FF2B5EF4-FFF2-40B4-BE49-F238E27FC236}">
                  <a16:creationId xmlns:a16="http://schemas.microsoft.com/office/drawing/2014/main" id="{3F6C2404-13AF-3725-E6D4-509A54DFE849}"/>
                </a:ext>
              </a:extLst>
            </p:cNvPr>
            <p:cNvSpPr/>
            <p:nvPr/>
          </p:nvSpPr>
          <p:spPr>
            <a:xfrm rot="5400000">
              <a:off x="848250" y="4064000"/>
              <a:ext cx="1117600" cy="963447"/>
            </a:xfrm>
            <a:prstGeom prst="triangle">
              <a:avLst/>
            </a:prstGeom>
            <a:gradFill>
              <a:gsLst>
                <a:gs pos="100000">
                  <a:schemeClr val="bg1"/>
                </a:gs>
                <a:gs pos="1000">
                  <a:srgbClr val="C00000"/>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文本框 31">
            <a:extLst>
              <a:ext uri="{FF2B5EF4-FFF2-40B4-BE49-F238E27FC236}">
                <a16:creationId xmlns:a16="http://schemas.microsoft.com/office/drawing/2014/main" id="{61CCF0B8-C2EF-074A-06FA-9E3986FEC717}"/>
              </a:ext>
            </a:extLst>
          </p:cNvPr>
          <p:cNvSpPr txBox="1"/>
          <p:nvPr/>
        </p:nvSpPr>
        <p:spPr>
          <a:xfrm>
            <a:off x="7362346" y="4551268"/>
            <a:ext cx="4239274" cy="1077218"/>
          </a:xfrm>
          <a:prstGeom prst="rect">
            <a:avLst/>
          </a:prstGeom>
          <a:noFill/>
        </p:spPr>
        <p:txBody>
          <a:bodyPr wrap="square" rtlCol="0">
            <a:spAutoFit/>
          </a:bodyPr>
          <a:lstStyle/>
          <a:p>
            <a:pPr marL="285750" indent="-285750">
              <a:buFont typeface="Wingdings" panose="05000000000000000000" pitchFamily="2" charset="2"/>
              <a:buChar char="Ø"/>
            </a:pPr>
            <a:r>
              <a:rPr lang="zh-CN" altLang="en-US" sz="1600" i="1" dirty="0"/>
              <a:t>逐级进行堆栈回退</a:t>
            </a:r>
            <a:endParaRPr lang="en-US" altLang="zh-CN" sz="1600" i="1" dirty="0"/>
          </a:p>
          <a:p>
            <a:pPr marL="285750" indent="-285750">
              <a:buFont typeface="Wingdings" panose="05000000000000000000" pitchFamily="2" charset="2"/>
              <a:buChar char="Ø"/>
            </a:pPr>
            <a:r>
              <a:rPr lang="zh-CN" altLang="en-US" sz="1600" i="1" dirty="0"/>
              <a:t>调用栈中每个活跃对象的 </a:t>
            </a:r>
            <a:r>
              <a:rPr lang="en-US" altLang="zh-CN" sz="1600" i="1" dirty="0"/>
              <a:t>Drop </a:t>
            </a:r>
            <a:r>
              <a:rPr lang="zh-CN" altLang="en-US" sz="1600" i="1" dirty="0"/>
              <a:t>方法，确保资源被释放</a:t>
            </a:r>
            <a:endParaRPr lang="en-US" altLang="zh-CN" sz="1600" i="1" dirty="0"/>
          </a:p>
          <a:p>
            <a:pPr marL="285750" indent="-285750">
              <a:buFont typeface="Wingdings" panose="05000000000000000000" pitchFamily="2" charset="2"/>
              <a:buChar char="Ø"/>
            </a:pPr>
            <a:r>
              <a:rPr lang="zh-CN" altLang="en-US" sz="1600" i="1" dirty="0"/>
              <a:t>堆栈展开过程在捕获点停止</a:t>
            </a:r>
            <a:endParaRPr lang="en-US" altLang="zh-CN" sz="1600" i="1" dirty="0"/>
          </a:p>
        </p:txBody>
      </p:sp>
      <p:grpSp>
        <p:nvGrpSpPr>
          <p:cNvPr id="41" name="组合 40">
            <a:extLst>
              <a:ext uri="{FF2B5EF4-FFF2-40B4-BE49-F238E27FC236}">
                <a16:creationId xmlns:a16="http://schemas.microsoft.com/office/drawing/2014/main" id="{D522700E-9563-9B98-1755-15089BA1A37E}"/>
              </a:ext>
            </a:extLst>
          </p:cNvPr>
          <p:cNvGrpSpPr/>
          <p:nvPr/>
        </p:nvGrpSpPr>
        <p:grpSpPr>
          <a:xfrm>
            <a:off x="7190420" y="3041151"/>
            <a:ext cx="4605498" cy="3149968"/>
            <a:chOff x="7190420" y="3041151"/>
            <a:chExt cx="4605498" cy="3149968"/>
          </a:xfrm>
        </p:grpSpPr>
        <p:sp>
          <p:nvSpPr>
            <p:cNvPr id="15" name="矩形 14">
              <a:extLst>
                <a:ext uri="{FF2B5EF4-FFF2-40B4-BE49-F238E27FC236}">
                  <a16:creationId xmlns:a16="http://schemas.microsoft.com/office/drawing/2014/main" id="{5E211BE9-1074-31C2-BFC9-97F7947F2D6C}"/>
                </a:ext>
              </a:extLst>
            </p:cNvPr>
            <p:cNvSpPr/>
            <p:nvPr/>
          </p:nvSpPr>
          <p:spPr>
            <a:xfrm>
              <a:off x="7201442" y="3264952"/>
              <a:ext cx="4594476" cy="2926167"/>
            </a:xfrm>
            <a:prstGeom prst="rect">
              <a:avLst/>
            </a:prstGeom>
            <a:no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圆角 33">
              <a:extLst>
                <a:ext uri="{FF2B5EF4-FFF2-40B4-BE49-F238E27FC236}">
                  <a16:creationId xmlns:a16="http://schemas.microsoft.com/office/drawing/2014/main" id="{0F8ED743-CF3E-FBF5-F632-3A9F00A999F9}"/>
                </a:ext>
              </a:extLst>
            </p:cNvPr>
            <p:cNvSpPr/>
            <p:nvPr/>
          </p:nvSpPr>
          <p:spPr>
            <a:xfrm>
              <a:off x="7190420" y="3041151"/>
              <a:ext cx="1576074" cy="431188"/>
            </a:xfrm>
            <a:prstGeom prst="roundRect">
              <a:avLst/>
            </a:prstGeom>
            <a:solidFill>
              <a:schemeClr val="tx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t>故障隔离</a:t>
              </a:r>
            </a:p>
          </p:txBody>
        </p:sp>
      </p:grpSp>
      <p:grpSp>
        <p:nvGrpSpPr>
          <p:cNvPr id="2" name="组合 1">
            <a:extLst>
              <a:ext uri="{FF2B5EF4-FFF2-40B4-BE49-F238E27FC236}">
                <a16:creationId xmlns:a16="http://schemas.microsoft.com/office/drawing/2014/main" id="{3F422859-B1C8-E896-0DF8-A1CDC6CE2C8A}"/>
              </a:ext>
            </a:extLst>
          </p:cNvPr>
          <p:cNvGrpSpPr/>
          <p:nvPr/>
        </p:nvGrpSpPr>
        <p:grpSpPr>
          <a:xfrm>
            <a:off x="439362" y="1000125"/>
            <a:ext cx="6554037" cy="5190994"/>
            <a:chOff x="370378" y="1000125"/>
            <a:chExt cx="7440122" cy="5270951"/>
          </a:xfrm>
        </p:grpSpPr>
        <p:pic>
          <p:nvPicPr>
            <p:cNvPr id="33" name="图片 32" descr="图形用户界面, 图示&#10;&#10;AI 生成的内容可能不正确。">
              <a:extLst>
                <a:ext uri="{FF2B5EF4-FFF2-40B4-BE49-F238E27FC236}">
                  <a16:creationId xmlns:a16="http://schemas.microsoft.com/office/drawing/2014/main" id="{B3DC168F-ECF0-2A8E-F113-BBE4E88744B6}"/>
                </a:ext>
              </a:extLst>
            </p:cNvPr>
            <p:cNvPicPr>
              <a:picLocks noChangeAspect="1"/>
            </p:cNvPicPr>
            <p:nvPr/>
          </p:nvPicPr>
          <p:blipFill>
            <a:blip r:embed="rId3"/>
            <a:stretch>
              <a:fillRect/>
            </a:stretch>
          </p:blipFill>
          <p:spPr>
            <a:xfrm>
              <a:off x="557415" y="1749496"/>
              <a:ext cx="7094945" cy="4343771"/>
            </a:xfrm>
            <a:prstGeom prst="rect">
              <a:avLst/>
            </a:prstGeom>
          </p:spPr>
        </p:pic>
        <p:grpSp>
          <p:nvGrpSpPr>
            <p:cNvPr id="35" name="组合 34">
              <a:extLst>
                <a:ext uri="{FF2B5EF4-FFF2-40B4-BE49-F238E27FC236}">
                  <a16:creationId xmlns:a16="http://schemas.microsoft.com/office/drawing/2014/main" id="{58322AB2-4FF3-2C71-25BE-5178FFEEF6F3}"/>
                </a:ext>
              </a:extLst>
            </p:cNvPr>
            <p:cNvGrpSpPr/>
            <p:nvPr/>
          </p:nvGrpSpPr>
          <p:grpSpPr>
            <a:xfrm>
              <a:off x="370378" y="1000125"/>
              <a:ext cx="7440122" cy="5270951"/>
              <a:chOff x="193945" y="1841642"/>
              <a:chExt cx="5516843" cy="5793230"/>
            </a:xfrm>
          </p:grpSpPr>
          <p:sp>
            <p:nvSpPr>
              <p:cNvPr id="36" name="矩形 35">
                <a:extLst>
                  <a:ext uri="{FF2B5EF4-FFF2-40B4-BE49-F238E27FC236}">
                    <a16:creationId xmlns:a16="http://schemas.microsoft.com/office/drawing/2014/main" id="{F27EA397-AC60-AAA5-C27B-DC2D01B49F3F}"/>
                  </a:ext>
                </a:extLst>
              </p:cNvPr>
              <p:cNvSpPr/>
              <p:nvPr/>
            </p:nvSpPr>
            <p:spPr>
              <a:xfrm>
                <a:off x="193945" y="1841642"/>
                <a:ext cx="5516843" cy="5793230"/>
              </a:xfrm>
              <a:prstGeom prst="rect">
                <a:avLst/>
              </a:prstGeom>
              <a:noFill/>
              <a:ln w="25400">
                <a:solidFill>
                  <a:schemeClr val="tx2">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B453A458-CED1-4916-A500-8FEDC9B0098F}"/>
                  </a:ext>
                </a:extLst>
              </p:cNvPr>
              <p:cNvSpPr/>
              <p:nvPr/>
            </p:nvSpPr>
            <p:spPr>
              <a:xfrm>
                <a:off x="200836" y="1931940"/>
                <a:ext cx="5304499" cy="517162"/>
              </a:xfrm>
              <a:prstGeom prst="rect">
                <a:avLst/>
              </a:prstGeom>
              <a:gradFill flip="none" rotWithShape="1">
                <a:gsLst>
                  <a:gs pos="58000">
                    <a:schemeClr val="tx2"/>
                  </a:gs>
                  <a:gs pos="100000">
                    <a:schemeClr val="bg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文本框 37">
                <a:extLst>
                  <a:ext uri="{FF2B5EF4-FFF2-40B4-BE49-F238E27FC236}">
                    <a16:creationId xmlns:a16="http://schemas.microsoft.com/office/drawing/2014/main" id="{D631AB65-E4A0-51C9-2DB5-ED3B793F1A25}"/>
                  </a:ext>
                </a:extLst>
              </p:cNvPr>
              <p:cNvSpPr txBox="1"/>
              <p:nvPr/>
            </p:nvSpPr>
            <p:spPr>
              <a:xfrm>
                <a:off x="1051146" y="1955301"/>
                <a:ext cx="4392118" cy="439755"/>
              </a:xfrm>
              <a:prstGeom prst="rect">
                <a:avLst/>
              </a:prstGeom>
              <a:noFill/>
            </p:spPr>
            <p:txBody>
              <a:bodyPr wrap="square" rtlCol="0">
                <a:spAutoFit/>
              </a:bodyPr>
              <a:lstStyle/>
              <a:p>
                <a:r>
                  <a:rPr lang="zh-CN" altLang="en-US" sz="2000" b="1" dirty="0">
                    <a:solidFill>
                      <a:schemeClr val="bg1"/>
                    </a:solidFill>
                  </a:rPr>
                  <a:t>域间通信</a:t>
                </a:r>
              </a:p>
            </p:txBody>
          </p:sp>
          <p:sp>
            <p:nvSpPr>
              <p:cNvPr id="39" name="箭头: V 形 38">
                <a:extLst>
                  <a:ext uri="{FF2B5EF4-FFF2-40B4-BE49-F238E27FC236}">
                    <a16:creationId xmlns:a16="http://schemas.microsoft.com/office/drawing/2014/main" id="{E0800E58-86D1-7C12-23F0-9AD1A764F988}"/>
                  </a:ext>
                </a:extLst>
              </p:cNvPr>
              <p:cNvSpPr/>
              <p:nvPr/>
            </p:nvSpPr>
            <p:spPr>
              <a:xfrm>
                <a:off x="706373" y="2025628"/>
                <a:ext cx="344773" cy="329784"/>
              </a:xfrm>
              <a:prstGeom prst="chevron">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0" name="任意多边形: 形状 39">
                <a:extLst>
                  <a:ext uri="{FF2B5EF4-FFF2-40B4-BE49-F238E27FC236}">
                    <a16:creationId xmlns:a16="http://schemas.microsoft.com/office/drawing/2014/main" id="{851DAAA7-6084-D3A7-E1F9-F379CBA7A9DD}"/>
                  </a:ext>
                </a:extLst>
              </p:cNvPr>
              <p:cNvSpPr/>
              <p:nvPr/>
            </p:nvSpPr>
            <p:spPr>
              <a:xfrm rot="5400000">
                <a:off x="328310" y="1934921"/>
                <a:ext cx="344773" cy="511199"/>
              </a:xfrm>
              <a:custGeom>
                <a:avLst/>
                <a:gdLst>
                  <a:gd name="connsiteX0" fmla="*/ 0 w 344773"/>
                  <a:gd name="connsiteY0" fmla="*/ 182611 h 511199"/>
                  <a:gd name="connsiteX1" fmla="*/ 172387 w 344773"/>
                  <a:gd name="connsiteY1" fmla="*/ 0 h 511199"/>
                  <a:gd name="connsiteX2" fmla="*/ 344773 w 344773"/>
                  <a:gd name="connsiteY2" fmla="*/ 182611 h 511199"/>
                  <a:gd name="connsiteX3" fmla="*/ 337279 w 344773"/>
                  <a:gd name="connsiteY3" fmla="*/ 182611 h 511199"/>
                  <a:gd name="connsiteX4" fmla="*/ 337279 w 344773"/>
                  <a:gd name="connsiteY4" fmla="*/ 511199 h 511199"/>
                  <a:gd name="connsiteX5" fmla="*/ 7495 w 344773"/>
                  <a:gd name="connsiteY5" fmla="*/ 511199 h 511199"/>
                  <a:gd name="connsiteX6" fmla="*/ 7495 w 344773"/>
                  <a:gd name="connsiteY6" fmla="*/ 182611 h 511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4773" h="511199">
                    <a:moveTo>
                      <a:pt x="0" y="182611"/>
                    </a:moveTo>
                    <a:lnTo>
                      <a:pt x="172387" y="0"/>
                    </a:lnTo>
                    <a:lnTo>
                      <a:pt x="344773" y="182611"/>
                    </a:lnTo>
                    <a:lnTo>
                      <a:pt x="337279" y="182611"/>
                    </a:lnTo>
                    <a:lnTo>
                      <a:pt x="337279" y="511199"/>
                    </a:lnTo>
                    <a:lnTo>
                      <a:pt x="7495" y="511199"/>
                    </a:lnTo>
                    <a:lnTo>
                      <a:pt x="7495" y="182611"/>
                    </a:lnTo>
                    <a:close/>
                  </a:path>
                </a:pathLst>
              </a:custGeom>
              <a:gradFill flip="none" rotWithShape="1">
                <a:gsLst>
                  <a:gs pos="3000">
                    <a:schemeClr val="tx2"/>
                  </a:gs>
                  <a:gs pos="100000">
                    <a:schemeClr val="bg1"/>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sp>
        <p:nvSpPr>
          <p:cNvPr id="47" name="矩形 46">
            <a:extLst>
              <a:ext uri="{FF2B5EF4-FFF2-40B4-BE49-F238E27FC236}">
                <a16:creationId xmlns:a16="http://schemas.microsoft.com/office/drawing/2014/main" id="{BE0C2723-3758-0153-89A1-7A2B59466F06}"/>
              </a:ext>
            </a:extLst>
          </p:cNvPr>
          <p:cNvSpPr/>
          <p:nvPr/>
        </p:nvSpPr>
        <p:spPr>
          <a:xfrm>
            <a:off x="4335694" y="2863361"/>
            <a:ext cx="1520576" cy="886706"/>
          </a:xfrm>
          <a:custGeom>
            <a:avLst/>
            <a:gdLst>
              <a:gd name="csX0" fmla="*/ 0 w 1520576"/>
              <a:gd name="csY0" fmla="*/ 0 h 886706"/>
              <a:gd name="csX1" fmla="*/ 537270 w 1520576"/>
              <a:gd name="csY1" fmla="*/ 0 h 886706"/>
              <a:gd name="csX2" fmla="*/ 1059335 w 1520576"/>
              <a:gd name="csY2" fmla="*/ 0 h 886706"/>
              <a:gd name="csX3" fmla="*/ 1520576 w 1520576"/>
              <a:gd name="csY3" fmla="*/ 0 h 886706"/>
              <a:gd name="csX4" fmla="*/ 1520576 w 1520576"/>
              <a:gd name="csY4" fmla="*/ 443353 h 886706"/>
              <a:gd name="csX5" fmla="*/ 1520576 w 1520576"/>
              <a:gd name="csY5" fmla="*/ 886706 h 886706"/>
              <a:gd name="csX6" fmla="*/ 983306 w 1520576"/>
              <a:gd name="csY6" fmla="*/ 886706 h 886706"/>
              <a:gd name="csX7" fmla="*/ 491653 w 1520576"/>
              <a:gd name="csY7" fmla="*/ 886706 h 886706"/>
              <a:gd name="csX8" fmla="*/ 0 w 1520576"/>
              <a:gd name="csY8" fmla="*/ 886706 h 886706"/>
              <a:gd name="csX9" fmla="*/ 0 w 1520576"/>
              <a:gd name="csY9" fmla="*/ 443353 h 886706"/>
              <a:gd name="csX10" fmla="*/ 0 w 1520576"/>
              <a:gd name="csY10" fmla="*/ 0 h 8867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520576" h="886706" extrusionOk="0">
                <a:moveTo>
                  <a:pt x="0" y="0"/>
                </a:moveTo>
                <a:cubicBezTo>
                  <a:pt x="226573" y="-34208"/>
                  <a:pt x="426659" y="59469"/>
                  <a:pt x="537270" y="0"/>
                </a:cubicBezTo>
                <a:cubicBezTo>
                  <a:pt x="647881" y="-59469"/>
                  <a:pt x="820891" y="29970"/>
                  <a:pt x="1059335" y="0"/>
                </a:cubicBezTo>
                <a:cubicBezTo>
                  <a:pt x="1297780" y="-29970"/>
                  <a:pt x="1358942" y="34388"/>
                  <a:pt x="1520576" y="0"/>
                </a:cubicBezTo>
                <a:cubicBezTo>
                  <a:pt x="1567552" y="106716"/>
                  <a:pt x="1482930" y="263202"/>
                  <a:pt x="1520576" y="443353"/>
                </a:cubicBezTo>
                <a:cubicBezTo>
                  <a:pt x="1558222" y="623504"/>
                  <a:pt x="1487926" y="740670"/>
                  <a:pt x="1520576" y="886706"/>
                </a:cubicBezTo>
                <a:cubicBezTo>
                  <a:pt x="1269076" y="909856"/>
                  <a:pt x="1140704" y="848189"/>
                  <a:pt x="983306" y="886706"/>
                </a:cubicBezTo>
                <a:cubicBezTo>
                  <a:pt x="825908" y="925223"/>
                  <a:pt x="712959" y="834242"/>
                  <a:pt x="491653" y="886706"/>
                </a:cubicBezTo>
                <a:cubicBezTo>
                  <a:pt x="270347" y="939170"/>
                  <a:pt x="106877" y="836986"/>
                  <a:pt x="0" y="886706"/>
                </a:cubicBezTo>
                <a:cubicBezTo>
                  <a:pt x="-33102" y="770282"/>
                  <a:pt x="5734" y="543467"/>
                  <a:pt x="0" y="443353"/>
                </a:cubicBezTo>
                <a:cubicBezTo>
                  <a:pt x="-5734" y="343239"/>
                  <a:pt x="410" y="137073"/>
                  <a:pt x="0" y="0"/>
                </a:cubicBezTo>
                <a:close/>
              </a:path>
            </a:pathLst>
          </a:custGeom>
          <a:noFill/>
          <a:ln w="28575">
            <a:solidFill>
              <a:srgbClr val="FF0000"/>
            </a:solidFill>
            <a:prstDash val="dash"/>
            <a:extLst>
              <a:ext uri="{C807C97D-BFC1-408E-A445-0C87EB9F89A2}">
                <ask:lineSketchStyleProps xmlns:ask="http://schemas.microsoft.com/office/drawing/2018/sketchyshapes" sd="1202931326">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788447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up)">
                                      <p:cBhvr>
                                        <p:cTn id="7" dur="500"/>
                                        <p:tgtEl>
                                          <p:spTgt spid="4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up)">
                                      <p:cBhvr>
                                        <p:cTn id="12" dur="500"/>
                                        <p:tgtEl>
                                          <p:spTgt spid="20"/>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46"/>
                                        </p:tgtEl>
                                        <p:attrNameLst>
                                          <p:attrName>style.visibility</p:attrName>
                                        </p:attrNameLst>
                                      </p:cBhvr>
                                      <p:to>
                                        <p:strVal val="visible"/>
                                      </p:to>
                                    </p:set>
                                    <p:animEffect transition="in" filter="wipe(up)">
                                      <p:cBhvr>
                                        <p:cTn id="16" dur="500"/>
                                        <p:tgtEl>
                                          <p:spTgt spid="4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wipe(up)">
                                      <p:cBhvr>
                                        <p:cTn id="21" dur="500"/>
                                        <p:tgtEl>
                                          <p:spTgt spid="29"/>
                                        </p:tgtEl>
                                      </p:cBhvr>
                                    </p:animEffect>
                                  </p:childTnLst>
                                </p:cTn>
                              </p:par>
                            </p:childTnLst>
                          </p:cTn>
                        </p:par>
                        <p:par>
                          <p:cTn id="22" fill="hold">
                            <p:stCondLst>
                              <p:cond delay="500"/>
                            </p:stCondLst>
                            <p:childTnLst>
                              <p:par>
                                <p:cTn id="23" presetID="22" presetClass="entr" presetSubtype="1" fill="hold" nodeType="after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wipe(up)">
                                      <p:cBhvr>
                                        <p:cTn id="25" dur="500"/>
                                        <p:tgtEl>
                                          <p:spTgt spid="4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42"/>
                                        </p:tgtEl>
                                        <p:attrNameLst>
                                          <p:attrName>style.visibility</p:attrName>
                                        </p:attrNameLst>
                                      </p:cBhvr>
                                      <p:to>
                                        <p:strVal val="visible"/>
                                      </p:to>
                                    </p:set>
                                    <p:animEffect transition="in" filter="wipe(up)">
                                      <p:cBhvr>
                                        <p:cTn id="30" dur="500"/>
                                        <p:tgtEl>
                                          <p:spTgt spid="42"/>
                                        </p:tgtEl>
                                      </p:cBhvr>
                                    </p:animEffect>
                                  </p:childTnLst>
                                </p:cTn>
                              </p:par>
                            </p:childTnLst>
                          </p:cTn>
                        </p:par>
                        <p:par>
                          <p:cTn id="31" fill="hold">
                            <p:stCondLst>
                              <p:cond delay="500"/>
                            </p:stCondLst>
                            <p:childTnLst>
                              <p:par>
                                <p:cTn id="32" presetID="1" presetClass="entr" presetSubtype="0" fill="hold" grpId="0" nodeType="afterEffect">
                                  <p:stCondLst>
                                    <p:cond delay="0"/>
                                  </p:stCondLst>
                                  <p:childTnLst>
                                    <p:set>
                                      <p:cBhvr>
                                        <p:cTn id="33" dur="1" fill="hold">
                                          <p:stCondLst>
                                            <p:cond delay="0"/>
                                          </p:stCondLst>
                                        </p:cTn>
                                        <p:tgtEl>
                                          <p:spTgt spid="47"/>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43"/>
                                        </p:tgtEl>
                                        <p:attrNameLst>
                                          <p:attrName>style.visibility</p:attrName>
                                        </p:attrNameLst>
                                      </p:cBhvr>
                                      <p:to>
                                        <p:strVal val="visible"/>
                                      </p:to>
                                    </p:set>
                                    <p:animEffect transition="in" filter="wipe(up)">
                                      <p:cBhvr>
                                        <p:cTn id="38" dur="500"/>
                                        <p:tgtEl>
                                          <p:spTgt spid="4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wipe(up)">
                                      <p:cBhvr>
                                        <p:cTn id="43" dur="500"/>
                                        <p:tgtEl>
                                          <p:spTgt spid="32"/>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44"/>
                                        </p:tgtEl>
                                        <p:attrNameLst>
                                          <p:attrName>style.visibility</p:attrName>
                                        </p:attrNameLst>
                                      </p:cBhvr>
                                      <p:to>
                                        <p:strVal val="visible"/>
                                      </p:to>
                                    </p:set>
                                    <p:animEffect transition="in" filter="wipe(up)">
                                      <p:cBhvr>
                                        <p:cTn id="48"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4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1E297-BC5D-026D-1E41-41B307B85D37}"/>
            </a:ext>
          </a:extLst>
        </p:cNvPr>
        <p:cNvGrpSpPr/>
        <p:nvPr/>
      </p:nvGrpSpPr>
      <p:grpSpPr>
        <a:xfrm>
          <a:off x="0" y="0"/>
          <a:ext cx="0" cy="0"/>
          <a:chOff x="0" y="0"/>
          <a:chExt cx="0" cy="0"/>
        </a:xfrm>
      </p:grpSpPr>
      <p:sp>
        <p:nvSpPr>
          <p:cNvPr id="9" name="标题 8">
            <a:extLst>
              <a:ext uri="{FF2B5EF4-FFF2-40B4-BE49-F238E27FC236}">
                <a16:creationId xmlns:a16="http://schemas.microsoft.com/office/drawing/2014/main" id="{C9BF320B-B0A4-F41F-EE7A-17B5306965BD}"/>
              </a:ext>
            </a:extLst>
          </p:cNvPr>
          <p:cNvSpPr>
            <a:spLocks noGrp="1"/>
          </p:cNvSpPr>
          <p:nvPr>
            <p:ph type="title"/>
          </p:nvPr>
        </p:nvSpPr>
        <p:spPr>
          <a:xfrm>
            <a:off x="1173494" y="249067"/>
            <a:ext cx="8048203" cy="480131"/>
          </a:xfrm>
        </p:spPr>
        <p:txBody>
          <a:bodyPr/>
          <a:lstStyle/>
          <a:p>
            <a:r>
              <a:rPr lang="zh-CN" altLang="en-US" spc="300" dirty="0">
                <a:latin typeface="+mj-ea"/>
              </a:rPr>
              <a:t>设计和实现：热更新</a:t>
            </a:r>
          </a:p>
        </p:txBody>
      </p:sp>
      <p:pic>
        <p:nvPicPr>
          <p:cNvPr id="7" name="图片 6" descr="图形用户界面, 文本, 应用程序&#10;&#10;AI 生成的内容可能不正确。">
            <a:extLst>
              <a:ext uri="{FF2B5EF4-FFF2-40B4-BE49-F238E27FC236}">
                <a16:creationId xmlns:a16="http://schemas.microsoft.com/office/drawing/2014/main" id="{B2F46CC7-F4F3-073E-4E47-38FF575FBDE7}"/>
              </a:ext>
            </a:extLst>
          </p:cNvPr>
          <p:cNvPicPr>
            <a:picLocks noChangeAspect="1"/>
          </p:cNvPicPr>
          <p:nvPr/>
        </p:nvPicPr>
        <p:blipFill>
          <a:blip r:embed="rId3"/>
          <a:stretch>
            <a:fillRect/>
          </a:stretch>
        </p:blipFill>
        <p:spPr>
          <a:xfrm>
            <a:off x="451959" y="2184717"/>
            <a:ext cx="5775234" cy="1543265"/>
          </a:xfrm>
          <a:prstGeom prst="rect">
            <a:avLst/>
          </a:prstGeom>
        </p:spPr>
      </p:pic>
      <p:pic>
        <p:nvPicPr>
          <p:cNvPr id="10" name="图片 9" descr="图形用户界面, 文本, 应用程序, 电子邮件&#10;&#10;AI 生成的内容可能不正确。">
            <a:extLst>
              <a:ext uri="{FF2B5EF4-FFF2-40B4-BE49-F238E27FC236}">
                <a16:creationId xmlns:a16="http://schemas.microsoft.com/office/drawing/2014/main" id="{3FC65F62-3732-CDB8-3C37-AD13458CFE55}"/>
              </a:ext>
            </a:extLst>
          </p:cNvPr>
          <p:cNvPicPr>
            <a:picLocks noChangeAspect="1"/>
          </p:cNvPicPr>
          <p:nvPr/>
        </p:nvPicPr>
        <p:blipFill>
          <a:blip r:embed="rId4"/>
          <a:stretch>
            <a:fillRect/>
          </a:stretch>
        </p:blipFill>
        <p:spPr>
          <a:xfrm>
            <a:off x="451959" y="3815862"/>
            <a:ext cx="5775234" cy="2423236"/>
          </a:xfrm>
          <a:prstGeom prst="rect">
            <a:avLst/>
          </a:prstGeom>
        </p:spPr>
      </p:pic>
      <p:grpSp>
        <p:nvGrpSpPr>
          <p:cNvPr id="2" name="组合 1">
            <a:extLst>
              <a:ext uri="{FF2B5EF4-FFF2-40B4-BE49-F238E27FC236}">
                <a16:creationId xmlns:a16="http://schemas.microsoft.com/office/drawing/2014/main" id="{24C8583E-8FD8-BBF8-6E74-3773B5D924EA}"/>
              </a:ext>
            </a:extLst>
          </p:cNvPr>
          <p:cNvGrpSpPr/>
          <p:nvPr/>
        </p:nvGrpSpPr>
        <p:grpSpPr>
          <a:xfrm>
            <a:off x="513505" y="1009577"/>
            <a:ext cx="11164990" cy="894761"/>
            <a:chOff x="513505" y="1009577"/>
            <a:chExt cx="11164990" cy="894761"/>
          </a:xfrm>
        </p:grpSpPr>
        <p:sp>
          <p:nvSpPr>
            <p:cNvPr id="11" name="矩形 10">
              <a:extLst>
                <a:ext uri="{FF2B5EF4-FFF2-40B4-BE49-F238E27FC236}">
                  <a16:creationId xmlns:a16="http://schemas.microsoft.com/office/drawing/2014/main" id="{1E387B64-447B-EEC0-204F-DCA4C62D5E1B}"/>
                </a:ext>
              </a:extLst>
            </p:cNvPr>
            <p:cNvSpPr/>
            <p:nvPr/>
          </p:nvSpPr>
          <p:spPr>
            <a:xfrm>
              <a:off x="513505" y="1009577"/>
              <a:ext cx="1052662" cy="894761"/>
            </a:xfrm>
            <a:prstGeom prst="rect">
              <a:avLst/>
            </a:prstGeom>
            <a:solidFill>
              <a:schemeClr val="accent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2" name="矩形 11">
              <a:extLst>
                <a:ext uri="{FF2B5EF4-FFF2-40B4-BE49-F238E27FC236}">
                  <a16:creationId xmlns:a16="http://schemas.microsoft.com/office/drawing/2014/main" id="{D0C85D63-FD6D-9C84-EF57-314DCAA35743}"/>
                </a:ext>
              </a:extLst>
            </p:cNvPr>
            <p:cNvSpPr/>
            <p:nvPr/>
          </p:nvSpPr>
          <p:spPr>
            <a:xfrm>
              <a:off x="1552039" y="1018513"/>
              <a:ext cx="10126456" cy="866467"/>
            </a:xfrm>
            <a:prstGeom prst="rect">
              <a:avLst/>
            </a:prstGeom>
            <a:noFill/>
            <a:ln w="222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13" name="文本框 9">
              <a:extLst>
                <a:ext uri="{FF2B5EF4-FFF2-40B4-BE49-F238E27FC236}">
                  <a16:creationId xmlns:a16="http://schemas.microsoft.com/office/drawing/2014/main" id="{6C65BF50-119D-47C6-CB3C-162DA016B056}"/>
                </a:ext>
              </a:extLst>
            </p:cNvPr>
            <p:cNvSpPr txBox="1"/>
            <p:nvPr/>
          </p:nvSpPr>
          <p:spPr>
            <a:xfrm>
              <a:off x="671686" y="1107482"/>
              <a:ext cx="880353" cy="70788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solidFill>
                    <a:schemeClr val="bg1"/>
                  </a:solidFill>
                </a:rPr>
                <a:t>核 心问 题</a:t>
              </a:r>
            </a:p>
          </p:txBody>
        </p:sp>
        <p:sp>
          <p:nvSpPr>
            <p:cNvPr id="14" name="文本框 10">
              <a:extLst>
                <a:ext uri="{FF2B5EF4-FFF2-40B4-BE49-F238E27FC236}">
                  <a16:creationId xmlns:a16="http://schemas.microsoft.com/office/drawing/2014/main" id="{408D7643-120A-7447-3801-AD780054E33B}"/>
                </a:ext>
              </a:extLst>
            </p:cNvPr>
            <p:cNvSpPr txBox="1"/>
            <p:nvPr/>
          </p:nvSpPr>
          <p:spPr>
            <a:xfrm>
              <a:off x="1579436" y="1009577"/>
              <a:ext cx="9940878" cy="78752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600" b="1" dirty="0"/>
                <a:t>内核模块互相交织导致一个模块的状态可能被多个模块共享和修改，而热更新的核心在于确保域在升级前后拥有相同的正确的状态，如何保存和同步模块的状态？</a:t>
              </a:r>
            </a:p>
          </p:txBody>
        </p:sp>
      </p:grpSp>
      <p:grpSp>
        <p:nvGrpSpPr>
          <p:cNvPr id="3" name="组合 2">
            <a:extLst>
              <a:ext uri="{FF2B5EF4-FFF2-40B4-BE49-F238E27FC236}">
                <a16:creationId xmlns:a16="http://schemas.microsoft.com/office/drawing/2014/main" id="{CDF62769-2636-BE01-E735-2BEFC95403A7}"/>
              </a:ext>
            </a:extLst>
          </p:cNvPr>
          <p:cNvGrpSpPr/>
          <p:nvPr/>
        </p:nvGrpSpPr>
        <p:grpSpPr>
          <a:xfrm>
            <a:off x="6448473" y="2077479"/>
            <a:ext cx="5291568" cy="1879059"/>
            <a:chOff x="6448473" y="2077479"/>
            <a:chExt cx="5291568" cy="1879059"/>
          </a:xfrm>
        </p:grpSpPr>
        <p:sp>
          <p:nvSpPr>
            <p:cNvPr id="15" name="矩形 14">
              <a:extLst>
                <a:ext uri="{FF2B5EF4-FFF2-40B4-BE49-F238E27FC236}">
                  <a16:creationId xmlns:a16="http://schemas.microsoft.com/office/drawing/2014/main" id="{EE5A4A3E-7EC9-9392-BE84-6ABFFE86AE7C}"/>
                </a:ext>
              </a:extLst>
            </p:cNvPr>
            <p:cNvSpPr/>
            <p:nvPr/>
          </p:nvSpPr>
          <p:spPr>
            <a:xfrm>
              <a:off x="6448473" y="2276302"/>
              <a:ext cx="5291568" cy="1680236"/>
            </a:xfrm>
            <a:prstGeom prst="rect">
              <a:avLst/>
            </a:prstGeom>
            <a:no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六边形 18">
              <a:extLst>
                <a:ext uri="{FF2B5EF4-FFF2-40B4-BE49-F238E27FC236}">
                  <a16:creationId xmlns:a16="http://schemas.microsoft.com/office/drawing/2014/main" id="{7D533512-D3F1-03A1-13D9-AB9DE2097BF9}"/>
                </a:ext>
              </a:extLst>
            </p:cNvPr>
            <p:cNvSpPr/>
            <p:nvPr/>
          </p:nvSpPr>
          <p:spPr>
            <a:xfrm>
              <a:off x="8379274" y="2077479"/>
              <a:ext cx="1429966" cy="414208"/>
            </a:xfrm>
            <a:prstGeom prst="hexagon">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洞察</a:t>
              </a:r>
            </a:p>
          </p:txBody>
        </p:sp>
      </p:grpSp>
      <p:grpSp>
        <p:nvGrpSpPr>
          <p:cNvPr id="4" name="组合 3">
            <a:extLst>
              <a:ext uri="{FF2B5EF4-FFF2-40B4-BE49-F238E27FC236}">
                <a16:creationId xmlns:a16="http://schemas.microsoft.com/office/drawing/2014/main" id="{8CC5D9F6-CEA0-859C-76C5-29FE904B3300}"/>
              </a:ext>
            </a:extLst>
          </p:cNvPr>
          <p:cNvGrpSpPr/>
          <p:nvPr/>
        </p:nvGrpSpPr>
        <p:grpSpPr>
          <a:xfrm>
            <a:off x="6492027" y="2499341"/>
            <a:ext cx="5456689" cy="584776"/>
            <a:chOff x="6492027" y="2499341"/>
            <a:chExt cx="5456689" cy="584776"/>
          </a:xfrm>
        </p:grpSpPr>
        <p:sp>
          <p:nvSpPr>
            <p:cNvPr id="16" name="文本框 15">
              <a:extLst>
                <a:ext uri="{FF2B5EF4-FFF2-40B4-BE49-F238E27FC236}">
                  <a16:creationId xmlns:a16="http://schemas.microsoft.com/office/drawing/2014/main" id="{F7EC117A-DE62-8C77-B948-70B525F76B9A}"/>
                </a:ext>
              </a:extLst>
            </p:cNvPr>
            <p:cNvSpPr txBox="1"/>
            <p:nvPr/>
          </p:nvSpPr>
          <p:spPr>
            <a:xfrm>
              <a:off x="6900654" y="2499342"/>
              <a:ext cx="5048062" cy="584775"/>
            </a:xfrm>
            <a:prstGeom prst="rect">
              <a:avLst/>
            </a:prstGeom>
            <a:noFill/>
          </p:spPr>
          <p:txBody>
            <a:bodyPr wrap="square">
              <a:spAutoFit/>
            </a:bodyPr>
            <a:lstStyle/>
            <a:p>
              <a:r>
                <a:rPr lang="zh-CN" altLang="en-US" sz="1600" b="1" dirty="0"/>
                <a:t>域通过接口访问功能，因此</a:t>
              </a:r>
              <a:r>
                <a:rPr lang="zh-CN" altLang="en-US" sz="1600" b="1" dirty="0">
                  <a:solidFill>
                    <a:srgbClr val="FF0000"/>
                  </a:solidFill>
                </a:rPr>
                <a:t>不会共享特殊的全局状态</a:t>
              </a:r>
              <a:r>
                <a:rPr lang="zh-CN" altLang="en-US" sz="1600" b="1" dirty="0"/>
                <a:t>有状态的域；无状态的域；</a:t>
              </a:r>
              <a:endParaRPr lang="zh-CN" altLang="en-US" sz="1600" dirty="0">
                <a:solidFill>
                  <a:srgbClr val="FF0000"/>
                </a:solidFill>
              </a:endParaRPr>
            </a:p>
          </p:txBody>
        </p:sp>
        <p:grpSp>
          <p:nvGrpSpPr>
            <p:cNvPr id="20" name="组合 19">
              <a:extLst>
                <a:ext uri="{FF2B5EF4-FFF2-40B4-BE49-F238E27FC236}">
                  <a16:creationId xmlns:a16="http://schemas.microsoft.com/office/drawing/2014/main" id="{A55B1BBF-63DF-F3A2-9BCF-096F4E925B22}"/>
                </a:ext>
              </a:extLst>
            </p:cNvPr>
            <p:cNvGrpSpPr/>
            <p:nvPr/>
          </p:nvGrpSpPr>
          <p:grpSpPr>
            <a:xfrm>
              <a:off x="6492027" y="2499341"/>
              <a:ext cx="351569" cy="360321"/>
              <a:chOff x="9038676" y="2453000"/>
              <a:chExt cx="473036" cy="525437"/>
            </a:xfrm>
            <a:solidFill>
              <a:schemeClr val="accent1"/>
            </a:solidFill>
          </p:grpSpPr>
          <p:sp>
            <p:nvSpPr>
              <p:cNvPr id="21" name="任意多边形: 形状 20">
                <a:extLst>
                  <a:ext uri="{FF2B5EF4-FFF2-40B4-BE49-F238E27FC236}">
                    <a16:creationId xmlns:a16="http://schemas.microsoft.com/office/drawing/2014/main" id="{862F4283-FC4B-BDC6-E970-0A710F3FFD74}"/>
                  </a:ext>
                </a:extLst>
              </p:cNvPr>
              <p:cNvSpPr/>
              <p:nvPr/>
            </p:nvSpPr>
            <p:spPr>
              <a:xfrm>
                <a:off x="9122895" y="2539687"/>
                <a:ext cx="303750" cy="438750"/>
              </a:xfrm>
              <a:custGeom>
                <a:avLst/>
                <a:gdLst>
                  <a:gd name="connsiteX0" fmla="*/ 166421 w 303750"/>
                  <a:gd name="connsiteY0" fmla="*/ 0 h 438750"/>
                  <a:gd name="connsiteX1" fmla="*/ 147167 w 303750"/>
                  <a:gd name="connsiteY1" fmla="*/ 0 h 438750"/>
                  <a:gd name="connsiteX2" fmla="*/ 0 w 303750"/>
                  <a:gd name="connsiteY2" fmla="*/ 157309 h 438750"/>
                  <a:gd name="connsiteX3" fmla="*/ 69221 w 303750"/>
                  <a:gd name="connsiteY3" fmla="*/ 287938 h 438750"/>
                  <a:gd name="connsiteX4" fmla="*/ 69221 w 303750"/>
                  <a:gd name="connsiteY4" fmla="*/ 333197 h 438750"/>
                  <a:gd name="connsiteX5" fmla="*/ 81793 w 303750"/>
                  <a:gd name="connsiteY5" fmla="*/ 356619 h 438750"/>
                  <a:gd name="connsiteX6" fmla="*/ 85050 w 303750"/>
                  <a:gd name="connsiteY6" fmla="*/ 362273 h 438750"/>
                  <a:gd name="connsiteX7" fmla="*/ 82502 w 303750"/>
                  <a:gd name="connsiteY7" fmla="*/ 368246 h 438750"/>
                  <a:gd name="connsiteX8" fmla="*/ 70673 w 303750"/>
                  <a:gd name="connsiteY8" fmla="*/ 381257 h 438750"/>
                  <a:gd name="connsiteX9" fmla="*/ 70673 w 303750"/>
                  <a:gd name="connsiteY9" fmla="*/ 410434 h 438750"/>
                  <a:gd name="connsiteX10" fmla="*/ 82502 w 303750"/>
                  <a:gd name="connsiteY10" fmla="*/ 422246 h 438750"/>
                  <a:gd name="connsiteX11" fmla="*/ 90416 w 303750"/>
                  <a:gd name="connsiteY11" fmla="*/ 422246 h 438750"/>
                  <a:gd name="connsiteX12" fmla="*/ 101351 w 303750"/>
                  <a:gd name="connsiteY12" fmla="*/ 427478 h 438750"/>
                  <a:gd name="connsiteX13" fmla="*/ 156802 w 303750"/>
                  <a:gd name="connsiteY13" fmla="*/ 450225 h 438750"/>
                  <a:gd name="connsiteX14" fmla="*/ 212237 w 303750"/>
                  <a:gd name="connsiteY14" fmla="*/ 427478 h 438750"/>
                  <a:gd name="connsiteX15" fmla="*/ 223172 w 303750"/>
                  <a:gd name="connsiteY15" fmla="*/ 422246 h 438750"/>
                  <a:gd name="connsiteX16" fmla="*/ 231086 w 303750"/>
                  <a:gd name="connsiteY16" fmla="*/ 422246 h 438750"/>
                  <a:gd name="connsiteX17" fmla="*/ 242916 w 303750"/>
                  <a:gd name="connsiteY17" fmla="*/ 410434 h 438750"/>
                  <a:gd name="connsiteX18" fmla="*/ 242916 w 303750"/>
                  <a:gd name="connsiteY18" fmla="*/ 381257 h 438750"/>
                  <a:gd name="connsiteX19" fmla="*/ 231086 w 303750"/>
                  <a:gd name="connsiteY19" fmla="*/ 368246 h 438750"/>
                  <a:gd name="connsiteX20" fmla="*/ 228555 w 303750"/>
                  <a:gd name="connsiteY20" fmla="*/ 362273 h 438750"/>
                  <a:gd name="connsiteX21" fmla="*/ 231812 w 303750"/>
                  <a:gd name="connsiteY21" fmla="*/ 356619 h 438750"/>
                  <a:gd name="connsiteX22" fmla="*/ 244367 w 303750"/>
                  <a:gd name="connsiteY22" fmla="*/ 333197 h 438750"/>
                  <a:gd name="connsiteX23" fmla="*/ 244367 w 303750"/>
                  <a:gd name="connsiteY23" fmla="*/ 287938 h 438750"/>
                  <a:gd name="connsiteX24" fmla="*/ 313588 w 303750"/>
                  <a:gd name="connsiteY24" fmla="*/ 157309 h 438750"/>
                  <a:gd name="connsiteX25" fmla="*/ 166421 w 303750"/>
                  <a:gd name="connsiteY25" fmla="*/ 0 h 438750"/>
                  <a:gd name="connsiteX26" fmla="*/ 211478 w 303750"/>
                  <a:gd name="connsiteY26" fmla="*/ 253699 h 438750"/>
                  <a:gd name="connsiteX27" fmla="*/ 202652 w 303750"/>
                  <a:gd name="connsiteY27" fmla="*/ 258272 h 438750"/>
                  <a:gd name="connsiteX28" fmla="*/ 202652 w 303750"/>
                  <a:gd name="connsiteY28" fmla="*/ 300274 h 438750"/>
                  <a:gd name="connsiteX29" fmla="*/ 190688 w 303750"/>
                  <a:gd name="connsiteY29" fmla="*/ 315107 h 438750"/>
                  <a:gd name="connsiteX30" fmla="*/ 172091 w 303750"/>
                  <a:gd name="connsiteY30" fmla="*/ 319022 h 438750"/>
                  <a:gd name="connsiteX31" fmla="*/ 141514 w 303750"/>
                  <a:gd name="connsiteY31" fmla="*/ 319022 h 438750"/>
                  <a:gd name="connsiteX32" fmla="*/ 122918 w 303750"/>
                  <a:gd name="connsiteY32" fmla="*/ 315107 h 438750"/>
                  <a:gd name="connsiteX33" fmla="*/ 110953 w 303750"/>
                  <a:gd name="connsiteY33" fmla="*/ 300274 h 438750"/>
                  <a:gd name="connsiteX34" fmla="*/ 110953 w 303750"/>
                  <a:gd name="connsiteY34" fmla="*/ 258255 h 438750"/>
                  <a:gd name="connsiteX35" fmla="*/ 102128 w 303750"/>
                  <a:gd name="connsiteY35" fmla="*/ 253682 h 438750"/>
                  <a:gd name="connsiteX36" fmla="*/ 48516 w 303750"/>
                  <a:gd name="connsiteY36" fmla="*/ 160161 h 438750"/>
                  <a:gd name="connsiteX37" fmla="*/ 156802 w 303750"/>
                  <a:gd name="connsiteY37" fmla="*/ 50676 h 438750"/>
                  <a:gd name="connsiteX38" fmla="*/ 265073 w 303750"/>
                  <a:gd name="connsiteY38" fmla="*/ 160161 h 438750"/>
                  <a:gd name="connsiteX39" fmla="*/ 211478 w 303750"/>
                  <a:gd name="connsiteY39" fmla="*/ 253699 h 43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03750" h="438750">
                    <a:moveTo>
                      <a:pt x="166421" y="0"/>
                    </a:moveTo>
                    <a:lnTo>
                      <a:pt x="147167" y="0"/>
                    </a:lnTo>
                    <a:cubicBezTo>
                      <a:pt x="65289" y="5181"/>
                      <a:pt x="0" y="73643"/>
                      <a:pt x="0" y="157309"/>
                    </a:cubicBezTo>
                    <a:cubicBezTo>
                      <a:pt x="0" y="214819"/>
                      <a:pt x="25380" y="260769"/>
                      <a:pt x="69221" y="287938"/>
                    </a:cubicBezTo>
                    <a:lnTo>
                      <a:pt x="69221" y="333197"/>
                    </a:lnTo>
                    <a:cubicBezTo>
                      <a:pt x="69221" y="346410"/>
                      <a:pt x="74132" y="351523"/>
                      <a:pt x="81793" y="356619"/>
                    </a:cubicBezTo>
                    <a:cubicBezTo>
                      <a:pt x="83700" y="357851"/>
                      <a:pt x="84915" y="359961"/>
                      <a:pt x="85050" y="362273"/>
                    </a:cubicBezTo>
                    <a:cubicBezTo>
                      <a:pt x="85185" y="364568"/>
                      <a:pt x="85404" y="367538"/>
                      <a:pt x="82502" y="368246"/>
                    </a:cubicBezTo>
                    <a:cubicBezTo>
                      <a:pt x="70639" y="368246"/>
                      <a:pt x="70673" y="381257"/>
                      <a:pt x="70673" y="381257"/>
                    </a:cubicBezTo>
                    <a:cubicBezTo>
                      <a:pt x="70673" y="386522"/>
                      <a:pt x="70673" y="410434"/>
                      <a:pt x="70673" y="410434"/>
                    </a:cubicBezTo>
                    <a:cubicBezTo>
                      <a:pt x="70673" y="416964"/>
                      <a:pt x="75954" y="422246"/>
                      <a:pt x="82502" y="422246"/>
                    </a:cubicBezTo>
                    <a:lnTo>
                      <a:pt x="90416" y="422246"/>
                    </a:lnTo>
                    <a:cubicBezTo>
                      <a:pt x="96744" y="422246"/>
                      <a:pt x="101351" y="427478"/>
                      <a:pt x="101351" y="427478"/>
                    </a:cubicBezTo>
                    <a:cubicBezTo>
                      <a:pt x="101351" y="427478"/>
                      <a:pt x="129178" y="450225"/>
                      <a:pt x="156802" y="450225"/>
                    </a:cubicBezTo>
                    <a:cubicBezTo>
                      <a:pt x="184815" y="450225"/>
                      <a:pt x="212237" y="427478"/>
                      <a:pt x="212237" y="427478"/>
                    </a:cubicBezTo>
                    <a:cubicBezTo>
                      <a:pt x="212237" y="427478"/>
                      <a:pt x="216844" y="422246"/>
                      <a:pt x="223172" y="422246"/>
                    </a:cubicBezTo>
                    <a:lnTo>
                      <a:pt x="231086" y="422246"/>
                    </a:lnTo>
                    <a:cubicBezTo>
                      <a:pt x="237651" y="422246"/>
                      <a:pt x="242916" y="416964"/>
                      <a:pt x="242916" y="410434"/>
                    </a:cubicBezTo>
                    <a:cubicBezTo>
                      <a:pt x="242916" y="410434"/>
                      <a:pt x="242916" y="386539"/>
                      <a:pt x="242916" y="381257"/>
                    </a:cubicBezTo>
                    <a:cubicBezTo>
                      <a:pt x="242916" y="381257"/>
                      <a:pt x="242949" y="368246"/>
                      <a:pt x="231086" y="368246"/>
                    </a:cubicBezTo>
                    <a:cubicBezTo>
                      <a:pt x="228184" y="367554"/>
                      <a:pt x="228420" y="364534"/>
                      <a:pt x="228555" y="362273"/>
                    </a:cubicBezTo>
                    <a:cubicBezTo>
                      <a:pt x="228724" y="359961"/>
                      <a:pt x="229905" y="357851"/>
                      <a:pt x="231812" y="356619"/>
                    </a:cubicBezTo>
                    <a:cubicBezTo>
                      <a:pt x="239456" y="351523"/>
                      <a:pt x="244367" y="346427"/>
                      <a:pt x="244367" y="333197"/>
                    </a:cubicBezTo>
                    <a:lnTo>
                      <a:pt x="244367" y="287938"/>
                    </a:lnTo>
                    <a:cubicBezTo>
                      <a:pt x="288208" y="260786"/>
                      <a:pt x="313588" y="214819"/>
                      <a:pt x="313588" y="157309"/>
                    </a:cubicBezTo>
                    <a:cubicBezTo>
                      <a:pt x="313588" y="73643"/>
                      <a:pt x="248333" y="5164"/>
                      <a:pt x="166421" y="0"/>
                    </a:cubicBezTo>
                    <a:close/>
                    <a:moveTo>
                      <a:pt x="211478" y="253699"/>
                    </a:moveTo>
                    <a:lnTo>
                      <a:pt x="202652" y="258272"/>
                    </a:lnTo>
                    <a:lnTo>
                      <a:pt x="202652" y="300274"/>
                    </a:lnTo>
                    <a:cubicBezTo>
                      <a:pt x="202652" y="307463"/>
                      <a:pt x="197674" y="313588"/>
                      <a:pt x="190688" y="315107"/>
                    </a:cubicBezTo>
                    <a:lnTo>
                      <a:pt x="172091" y="319022"/>
                    </a:lnTo>
                    <a:cubicBezTo>
                      <a:pt x="168953" y="319714"/>
                      <a:pt x="153968" y="322194"/>
                      <a:pt x="141514" y="319022"/>
                    </a:cubicBezTo>
                    <a:lnTo>
                      <a:pt x="122918" y="315107"/>
                    </a:lnTo>
                    <a:cubicBezTo>
                      <a:pt x="115931" y="313588"/>
                      <a:pt x="110953" y="307463"/>
                      <a:pt x="110953" y="300274"/>
                    </a:cubicBezTo>
                    <a:lnTo>
                      <a:pt x="110953" y="258255"/>
                    </a:lnTo>
                    <a:lnTo>
                      <a:pt x="102128" y="253682"/>
                    </a:lnTo>
                    <a:cubicBezTo>
                      <a:pt x="57814" y="230901"/>
                      <a:pt x="48516" y="190215"/>
                      <a:pt x="48516" y="160161"/>
                    </a:cubicBezTo>
                    <a:cubicBezTo>
                      <a:pt x="48516" y="99900"/>
                      <a:pt x="97031" y="50878"/>
                      <a:pt x="156802" y="50676"/>
                    </a:cubicBezTo>
                    <a:cubicBezTo>
                      <a:pt x="216557" y="50878"/>
                      <a:pt x="265073" y="99900"/>
                      <a:pt x="265073" y="160161"/>
                    </a:cubicBezTo>
                    <a:cubicBezTo>
                      <a:pt x="265073" y="190232"/>
                      <a:pt x="255774" y="230918"/>
                      <a:pt x="211478" y="253699"/>
                    </a:cubicBezTo>
                    <a:close/>
                  </a:path>
                </a:pathLst>
              </a:custGeom>
              <a:grpFill/>
              <a:ln w="16669" cap="flat">
                <a:noFill/>
                <a:prstDash val="solid"/>
                <a:miter/>
              </a:ln>
            </p:spPr>
            <p:txBody>
              <a:bodyPr rtlCol="0" anchor="ctr"/>
              <a:lstStyle/>
              <a:p>
                <a:pPr>
                  <a:lnSpc>
                    <a:spcPct val="120000"/>
                  </a:lnSpc>
                  <a:spcAft>
                    <a:spcPts val="100"/>
                  </a:spcAft>
                </a:pPr>
                <a:endParaRPr lang="zh-CN" altLang="en-US"/>
              </a:p>
            </p:txBody>
          </p:sp>
          <p:sp>
            <p:nvSpPr>
              <p:cNvPr id="22" name="任意多边形: 形状 21">
                <a:extLst>
                  <a:ext uri="{FF2B5EF4-FFF2-40B4-BE49-F238E27FC236}">
                    <a16:creationId xmlns:a16="http://schemas.microsoft.com/office/drawing/2014/main" id="{0A1DC437-9C1E-1CBC-1C38-81CDED5FE0C1}"/>
                  </a:ext>
                </a:extLst>
              </p:cNvPr>
              <p:cNvSpPr/>
              <p:nvPr/>
            </p:nvSpPr>
            <p:spPr>
              <a:xfrm>
                <a:off x="9420525" y="2536256"/>
                <a:ext cx="50625" cy="50625"/>
              </a:xfrm>
              <a:custGeom>
                <a:avLst/>
                <a:gdLst>
                  <a:gd name="connsiteX0" fmla="*/ 57809 w 50625"/>
                  <a:gd name="connsiteY0" fmla="*/ 21352 h 50625"/>
                  <a:gd name="connsiteX1" fmla="*/ 54839 w 50625"/>
                  <a:gd name="connsiteY1" fmla="*/ 10468 h 50625"/>
                  <a:gd name="connsiteX2" fmla="*/ 50417 w 50625"/>
                  <a:gd name="connsiteY2" fmla="*/ 5051 h 50625"/>
                  <a:gd name="connsiteX3" fmla="*/ 40309 w 50625"/>
                  <a:gd name="connsiteY3" fmla="*/ 22 h 50625"/>
                  <a:gd name="connsiteX4" fmla="*/ 29746 w 50625"/>
                  <a:gd name="connsiteY4" fmla="*/ 3903 h 50625"/>
                  <a:gd name="connsiteX5" fmla="*/ 4349 w 50625"/>
                  <a:gd name="connsiteY5" fmla="*/ 28052 h 50625"/>
                  <a:gd name="connsiteX6" fmla="*/ 3218 w 50625"/>
                  <a:gd name="connsiteY6" fmla="*/ 47340 h 50625"/>
                  <a:gd name="connsiteX7" fmla="*/ 4096 w 50625"/>
                  <a:gd name="connsiteY7" fmla="*/ 48369 h 50625"/>
                  <a:gd name="connsiteX8" fmla="*/ 23215 w 50625"/>
                  <a:gd name="connsiteY8" fmla="*/ 51035 h 50625"/>
                  <a:gd name="connsiteX9" fmla="*/ 51886 w 50625"/>
                  <a:gd name="connsiteY9" fmla="*/ 30920 h 50625"/>
                  <a:gd name="connsiteX10" fmla="*/ 57809 w 50625"/>
                  <a:gd name="connsiteY10" fmla="*/ 21352 h 50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625" h="50625">
                    <a:moveTo>
                      <a:pt x="57809" y="21352"/>
                    </a:moveTo>
                    <a:cubicBezTo>
                      <a:pt x="58399" y="17488"/>
                      <a:pt x="57319" y="13556"/>
                      <a:pt x="54839" y="10468"/>
                    </a:cubicBezTo>
                    <a:cubicBezTo>
                      <a:pt x="53387" y="8645"/>
                      <a:pt x="51903" y="6857"/>
                      <a:pt x="50417" y="5051"/>
                    </a:cubicBezTo>
                    <a:cubicBezTo>
                      <a:pt x="47886" y="2064"/>
                      <a:pt x="44258" y="242"/>
                      <a:pt x="40309" y="22"/>
                    </a:cubicBezTo>
                    <a:cubicBezTo>
                      <a:pt x="36445" y="-197"/>
                      <a:pt x="32581" y="1220"/>
                      <a:pt x="29746" y="3903"/>
                    </a:cubicBezTo>
                    <a:lnTo>
                      <a:pt x="4349" y="28052"/>
                    </a:lnTo>
                    <a:cubicBezTo>
                      <a:pt x="-984" y="33198"/>
                      <a:pt x="-1473" y="41619"/>
                      <a:pt x="3218" y="47340"/>
                    </a:cubicBezTo>
                    <a:cubicBezTo>
                      <a:pt x="3539" y="47677"/>
                      <a:pt x="3775" y="48015"/>
                      <a:pt x="4096" y="48369"/>
                    </a:cubicBezTo>
                    <a:cubicBezTo>
                      <a:pt x="8753" y="54140"/>
                      <a:pt x="17106" y="55322"/>
                      <a:pt x="23215" y="51035"/>
                    </a:cubicBezTo>
                    <a:lnTo>
                      <a:pt x="51886" y="30920"/>
                    </a:lnTo>
                    <a:cubicBezTo>
                      <a:pt x="55075" y="28676"/>
                      <a:pt x="57218" y="25217"/>
                      <a:pt x="57809" y="21352"/>
                    </a:cubicBezTo>
                    <a:close/>
                  </a:path>
                </a:pathLst>
              </a:custGeom>
              <a:grpFill/>
              <a:ln w="16669" cap="flat">
                <a:noFill/>
                <a:prstDash val="solid"/>
                <a:miter/>
              </a:ln>
            </p:spPr>
            <p:txBody>
              <a:bodyPr rtlCol="0" anchor="ctr"/>
              <a:lstStyle/>
              <a:p>
                <a:pPr>
                  <a:lnSpc>
                    <a:spcPct val="120000"/>
                  </a:lnSpc>
                  <a:spcAft>
                    <a:spcPts val="100"/>
                  </a:spcAft>
                </a:pPr>
                <a:endParaRPr lang="zh-CN" altLang="en-US"/>
              </a:p>
            </p:txBody>
          </p:sp>
          <p:sp>
            <p:nvSpPr>
              <p:cNvPr id="23" name="任意多边形: 形状 22">
                <a:extLst>
                  <a:ext uri="{FF2B5EF4-FFF2-40B4-BE49-F238E27FC236}">
                    <a16:creationId xmlns:a16="http://schemas.microsoft.com/office/drawing/2014/main" id="{AC4F3D8D-1DB0-C58C-7AAB-3D40811C2C23}"/>
                  </a:ext>
                </a:extLst>
              </p:cNvPr>
              <p:cNvSpPr/>
              <p:nvPr/>
            </p:nvSpPr>
            <p:spPr>
              <a:xfrm>
                <a:off x="9260846" y="2453000"/>
                <a:ext cx="33750" cy="50625"/>
              </a:xfrm>
              <a:custGeom>
                <a:avLst/>
                <a:gdLst>
                  <a:gd name="connsiteX0" fmla="*/ 17383 w 33750"/>
                  <a:gd name="connsiteY0" fmla="*/ 63332 h 50625"/>
                  <a:gd name="connsiteX1" fmla="*/ 18666 w 33750"/>
                  <a:gd name="connsiteY1" fmla="*/ 63315 h 50625"/>
                  <a:gd name="connsiteX2" fmla="*/ 32706 w 33750"/>
                  <a:gd name="connsiteY2" fmla="*/ 50051 h 50625"/>
                  <a:gd name="connsiteX3" fmla="*/ 34950 w 33750"/>
                  <a:gd name="connsiteY3" fmla="*/ 15086 h 50625"/>
                  <a:gd name="connsiteX4" fmla="*/ 31136 w 33750"/>
                  <a:gd name="connsiteY4" fmla="*/ 4506 h 50625"/>
                  <a:gd name="connsiteX5" fmla="*/ 20859 w 33750"/>
                  <a:gd name="connsiteY5" fmla="*/ 0 h 50625"/>
                  <a:gd name="connsiteX6" fmla="*/ 13823 w 33750"/>
                  <a:gd name="connsiteY6" fmla="*/ 68 h 50625"/>
                  <a:gd name="connsiteX7" fmla="*/ 3613 w 33750"/>
                  <a:gd name="connsiteY7" fmla="*/ 4793 h 50625"/>
                  <a:gd name="connsiteX8" fmla="*/ 53 w 33750"/>
                  <a:gd name="connsiteY8" fmla="*/ 15474 h 50625"/>
                  <a:gd name="connsiteX9" fmla="*/ 3073 w 33750"/>
                  <a:gd name="connsiteY9" fmla="*/ 50389 h 50625"/>
                  <a:gd name="connsiteX10" fmla="*/ 17383 w 33750"/>
                  <a:gd name="connsiteY10" fmla="*/ 63332 h 50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750" h="50625">
                    <a:moveTo>
                      <a:pt x="17383" y="63332"/>
                    </a:moveTo>
                    <a:cubicBezTo>
                      <a:pt x="17805" y="63315"/>
                      <a:pt x="18244" y="63315"/>
                      <a:pt x="18666" y="63315"/>
                    </a:cubicBezTo>
                    <a:cubicBezTo>
                      <a:pt x="26091" y="63264"/>
                      <a:pt x="32233" y="57476"/>
                      <a:pt x="32706" y="50051"/>
                    </a:cubicBezTo>
                    <a:lnTo>
                      <a:pt x="34950" y="15086"/>
                    </a:lnTo>
                    <a:cubicBezTo>
                      <a:pt x="35203" y="11188"/>
                      <a:pt x="33853" y="7358"/>
                      <a:pt x="31136" y="4506"/>
                    </a:cubicBezTo>
                    <a:cubicBezTo>
                      <a:pt x="28504" y="1637"/>
                      <a:pt x="24741" y="17"/>
                      <a:pt x="20859" y="0"/>
                    </a:cubicBezTo>
                    <a:cubicBezTo>
                      <a:pt x="18497" y="0"/>
                      <a:pt x="16168" y="17"/>
                      <a:pt x="13823" y="68"/>
                    </a:cubicBezTo>
                    <a:cubicBezTo>
                      <a:pt x="9924" y="169"/>
                      <a:pt x="6212" y="1873"/>
                      <a:pt x="3613" y="4793"/>
                    </a:cubicBezTo>
                    <a:cubicBezTo>
                      <a:pt x="1014" y="7712"/>
                      <a:pt x="-285" y="11593"/>
                      <a:pt x="53" y="15474"/>
                    </a:cubicBezTo>
                    <a:lnTo>
                      <a:pt x="3073" y="50389"/>
                    </a:lnTo>
                    <a:cubicBezTo>
                      <a:pt x="3714" y="57780"/>
                      <a:pt x="9958" y="63433"/>
                      <a:pt x="17383" y="63332"/>
                    </a:cubicBezTo>
                    <a:close/>
                  </a:path>
                </a:pathLst>
              </a:custGeom>
              <a:grpFill/>
              <a:ln w="16669" cap="flat">
                <a:noFill/>
                <a:prstDash val="solid"/>
                <a:miter/>
              </a:ln>
            </p:spPr>
            <p:txBody>
              <a:bodyPr rtlCol="0" anchor="ctr"/>
              <a:lstStyle/>
              <a:p>
                <a:pPr>
                  <a:lnSpc>
                    <a:spcPct val="120000"/>
                  </a:lnSpc>
                  <a:spcAft>
                    <a:spcPts val="100"/>
                  </a:spcAft>
                </a:pPr>
                <a:endParaRPr lang="zh-CN" altLang="en-US"/>
              </a:p>
            </p:txBody>
          </p:sp>
          <p:sp>
            <p:nvSpPr>
              <p:cNvPr id="24" name="任意多边形: 形状 23">
                <a:extLst>
                  <a:ext uri="{FF2B5EF4-FFF2-40B4-BE49-F238E27FC236}">
                    <a16:creationId xmlns:a16="http://schemas.microsoft.com/office/drawing/2014/main" id="{52331803-FFE3-2CCC-2F33-886D3464FBAC}"/>
                  </a:ext>
                </a:extLst>
              </p:cNvPr>
              <p:cNvSpPr/>
              <p:nvPr/>
            </p:nvSpPr>
            <p:spPr>
              <a:xfrm>
                <a:off x="9038676" y="2732680"/>
                <a:ext cx="50625" cy="33750"/>
              </a:xfrm>
              <a:custGeom>
                <a:avLst/>
                <a:gdLst>
                  <a:gd name="connsiteX0" fmla="*/ 62585 w 50625"/>
                  <a:gd name="connsiteY0" fmla="*/ 10890 h 33750"/>
                  <a:gd name="connsiteX1" fmla="*/ 46537 w 50625"/>
                  <a:gd name="connsiteY1" fmla="*/ 175 h 33750"/>
                  <a:gd name="connsiteX2" fmla="*/ 11927 w 50625"/>
                  <a:gd name="connsiteY2" fmla="*/ 5862 h 33750"/>
                  <a:gd name="connsiteX3" fmla="*/ 2443 w 50625"/>
                  <a:gd name="connsiteY3" fmla="*/ 11903 h 33750"/>
                  <a:gd name="connsiteX4" fmla="*/ 334 w 50625"/>
                  <a:gd name="connsiteY4" fmla="*/ 22939 h 33750"/>
                  <a:gd name="connsiteX5" fmla="*/ 1987 w 50625"/>
                  <a:gd name="connsiteY5" fmla="*/ 29740 h 33750"/>
                  <a:gd name="connsiteX6" fmla="*/ 8855 w 50625"/>
                  <a:gd name="connsiteY6" fmla="*/ 38599 h 33750"/>
                  <a:gd name="connsiteX7" fmla="*/ 20060 w 50625"/>
                  <a:gd name="connsiteY7" fmla="*/ 39645 h 33750"/>
                  <a:gd name="connsiteX8" fmla="*/ 53439 w 50625"/>
                  <a:gd name="connsiteY8" fmla="*/ 28930 h 33750"/>
                  <a:gd name="connsiteX9" fmla="*/ 62889 w 50625"/>
                  <a:gd name="connsiteY9" fmla="*/ 12089 h 33750"/>
                  <a:gd name="connsiteX10" fmla="*/ 62585 w 50625"/>
                  <a:gd name="connsiteY10" fmla="*/ 10890 h 33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625" h="33750">
                    <a:moveTo>
                      <a:pt x="62585" y="10890"/>
                    </a:moveTo>
                    <a:cubicBezTo>
                      <a:pt x="60881" y="3634"/>
                      <a:pt x="53878" y="-973"/>
                      <a:pt x="46537" y="175"/>
                    </a:cubicBezTo>
                    <a:lnTo>
                      <a:pt x="11927" y="5862"/>
                    </a:lnTo>
                    <a:cubicBezTo>
                      <a:pt x="8062" y="6486"/>
                      <a:pt x="4637" y="8663"/>
                      <a:pt x="2443" y="11903"/>
                    </a:cubicBezTo>
                    <a:cubicBezTo>
                      <a:pt x="266" y="15109"/>
                      <a:pt x="-510" y="19142"/>
                      <a:pt x="334" y="22939"/>
                    </a:cubicBezTo>
                    <a:cubicBezTo>
                      <a:pt x="840" y="25217"/>
                      <a:pt x="1397" y="27512"/>
                      <a:pt x="1987" y="29740"/>
                    </a:cubicBezTo>
                    <a:cubicBezTo>
                      <a:pt x="2949" y="33554"/>
                      <a:pt x="5430" y="36760"/>
                      <a:pt x="8855" y="38599"/>
                    </a:cubicBezTo>
                    <a:cubicBezTo>
                      <a:pt x="12281" y="40472"/>
                      <a:pt x="16331" y="40945"/>
                      <a:pt x="20060" y="39645"/>
                    </a:cubicBezTo>
                    <a:lnTo>
                      <a:pt x="53439" y="28930"/>
                    </a:lnTo>
                    <a:cubicBezTo>
                      <a:pt x="60493" y="26635"/>
                      <a:pt x="64644" y="19311"/>
                      <a:pt x="62889" y="12089"/>
                    </a:cubicBezTo>
                    <a:cubicBezTo>
                      <a:pt x="62788" y="11768"/>
                      <a:pt x="62687" y="11312"/>
                      <a:pt x="62585" y="10890"/>
                    </a:cubicBezTo>
                    <a:close/>
                  </a:path>
                </a:pathLst>
              </a:custGeom>
              <a:grpFill/>
              <a:ln w="16669" cap="flat">
                <a:noFill/>
                <a:prstDash val="solid"/>
                <a:miter/>
              </a:ln>
            </p:spPr>
            <p:txBody>
              <a:bodyPr rtlCol="0" anchor="ctr"/>
              <a:lstStyle/>
              <a:p>
                <a:pPr>
                  <a:lnSpc>
                    <a:spcPct val="120000"/>
                  </a:lnSpc>
                  <a:spcAft>
                    <a:spcPts val="100"/>
                  </a:spcAft>
                </a:pPr>
                <a:endParaRPr lang="zh-CN" altLang="en-US"/>
              </a:p>
            </p:txBody>
          </p:sp>
          <p:sp>
            <p:nvSpPr>
              <p:cNvPr id="25" name="任意多边形: 形状 24">
                <a:extLst>
                  <a:ext uri="{FF2B5EF4-FFF2-40B4-BE49-F238E27FC236}">
                    <a16:creationId xmlns:a16="http://schemas.microsoft.com/office/drawing/2014/main" id="{FC0FE656-F34F-9165-0F9F-624DF05471F9}"/>
                  </a:ext>
                </a:extLst>
              </p:cNvPr>
              <p:cNvSpPr/>
              <p:nvPr/>
            </p:nvSpPr>
            <p:spPr>
              <a:xfrm>
                <a:off x="9080336" y="2540605"/>
                <a:ext cx="50625" cy="50625"/>
              </a:xfrm>
              <a:custGeom>
                <a:avLst/>
                <a:gdLst>
                  <a:gd name="connsiteX0" fmla="*/ 54540 w 50625"/>
                  <a:gd name="connsiteY0" fmla="*/ 47529 h 50625"/>
                  <a:gd name="connsiteX1" fmla="*/ 55367 w 50625"/>
                  <a:gd name="connsiteY1" fmla="*/ 46483 h 50625"/>
                  <a:gd name="connsiteX2" fmla="*/ 53730 w 50625"/>
                  <a:gd name="connsiteY2" fmla="*/ 27229 h 50625"/>
                  <a:gd name="connsiteX3" fmla="*/ 27793 w 50625"/>
                  <a:gd name="connsiteY3" fmla="*/ 3688 h 50625"/>
                  <a:gd name="connsiteX4" fmla="*/ 17145 w 50625"/>
                  <a:gd name="connsiteY4" fmla="*/ 43 h 50625"/>
                  <a:gd name="connsiteX5" fmla="*/ 7206 w 50625"/>
                  <a:gd name="connsiteY5" fmla="*/ 5291 h 50625"/>
                  <a:gd name="connsiteX6" fmla="*/ 2869 w 50625"/>
                  <a:gd name="connsiteY6" fmla="*/ 10843 h 50625"/>
                  <a:gd name="connsiteX7" fmla="*/ 202 w 50625"/>
                  <a:gd name="connsiteY7" fmla="*/ 21778 h 50625"/>
                  <a:gd name="connsiteX8" fmla="*/ 6311 w 50625"/>
                  <a:gd name="connsiteY8" fmla="*/ 31211 h 50625"/>
                  <a:gd name="connsiteX9" fmla="*/ 35488 w 50625"/>
                  <a:gd name="connsiteY9" fmla="*/ 50634 h 50625"/>
                  <a:gd name="connsiteX10" fmla="*/ 54540 w 50625"/>
                  <a:gd name="connsiteY10" fmla="*/ 47529 h 50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625" h="50625">
                    <a:moveTo>
                      <a:pt x="54540" y="47529"/>
                    </a:moveTo>
                    <a:cubicBezTo>
                      <a:pt x="54827" y="47175"/>
                      <a:pt x="55080" y="46820"/>
                      <a:pt x="55367" y="46483"/>
                    </a:cubicBezTo>
                    <a:cubicBezTo>
                      <a:pt x="59957" y="40610"/>
                      <a:pt x="59231" y="32224"/>
                      <a:pt x="53730" y="27229"/>
                    </a:cubicBezTo>
                    <a:lnTo>
                      <a:pt x="27793" y="3688"/>
                    </a:lnTo>
                    <a:cubicBezTo>
                      <a:pt x="24891" y="1055"/>
                      <a:pt x="21043" y="-261"/>
                      <a:pt x="17145" y="43"/>
                    </a:cubicBezTo>
                    <a:cubicBezTo>
                      <a:pt x="13264" y="364"/>
                      <a:pt x="9652" y="2254"/>
                      <a:pt x="7206" y="5291"/>
                    </a:cubicBezTo>
                    <a:cubicBezTo>
                      <a:pt x="5721" y="7130"/>
                      <a:pt x="4286" y="8970"/>
                      <a:pt x="2869" y="10843"/>
                    </a:cubicBezTo>
                    <a:cubicBezTo>
                      <a:pt x="506" y="13982"/>
                      <a:pt x="-456" y="17914"/>
                      <a:pt x="202" y="21778"/>
                    </a:cubicBezTo>
                    <a:cubicBezTo>
                      <a:pt x="861" y="25625"/>
                      <a:pt x="3071" y="29017"/>
                      <a:pt x="6311" y="31211"/>
                    </a:cubicBezTo>
                    <a:lnTo>
                      <a:pt x="35488" y="50634"/>
                    </a:lnTo>
                    <a:cubicBezTo>
                      <a:pt x="41664" y="54752"/>
                      <a:pt x="50001" y="53385"/>
                      <a:pt x="54540" y="47529"/>
                    </a:cubicBezTo>
                    <a:close/>
                  </a:path>
                </a:pathLst>
              </a:custGeom>
              <a:grpFill/>
              <a:ln w="16669" cap="flat">
                <a:noFill/>
                <a:prstDash val="solid"/>
                <a:miter/>
              </a:ln>
            </p:spPr>
            <p:txBody>
              <a:bodyPr rtlCol="0" anchor="ctr"/>
              <a:lstStyle/>
              <a:p>
                <a:pPr>
                  <a:lnSpc>
                    <a:spcPct val="120000"/>
                  </a:lnSpc>
                  <a:spcAft>
                    <a:spcPts val="100"/>
                  </a:spcAft>
                </a:pPr>
                <a:endParaRPr lang="zh-CN" altLang="en-US"/>
              </a:p>
            </p:txBody>
          </p:sp>
          <p:sp>
            <p:nvSpPr>
              <p:cNvPr id="26" name="任意多边形: 形状 25">
                <a:extLst>
                  <a:ext uri="{FF2B5EF4-FFF2-40B4-BE49-F238E27FC236}">
                    <a16:creationId xmlns:a16="http://schemas.microsoft.com/office/drawing/2014/main" id="{1CB74751-6145-5BA5-E3BE-A24E19F29F4B}"/>
                  </a:ext>
                </a:extLst>
              </p:cNvPr>
              <p:cNvSpPr/>
              <p:nvPr/>
            </p:nvSpPr>
            <p:spPr>
              <a:xfrm>
                <a:off x="9461087" y="2728751"/>
                <a:ext cx="50625" cy="33750"/>
              </a:xfrm>
              <a:custGeom>
                <a:avLst/>
                <a:gdLst>
                  <a:gd name="connsiteX0" fmla="*/ 60817 w 50625"/>
                  <a:gd name="connsiteY0" fmla="*/ 10904 h 33750"/>
                  <a:gd name="connsiteX1" fmla="*/ 51216 w 50625"/>
                  <a:gd name="connsiteY1" fmla="*/ 5049 h 33750"/>
                  <a:gd name="connsiteX2" fmla="*/ 16554 w 50625"/>
                  <a:gd name="connsiteY2" fmla="*/ 138 h 33750"/>
                  <a:gd name="connsiteX3" fmla="*/ 726 w 50625"/>
                  <a:gd name="connsiteY3" fmla="*/ 11191 h 33750"/>
                  <a:gd name="connsiteX4" fmla="*/ 371 w 50625"/>
                  <a:gd name="connsiteY4" fmla="*/ 12508 h 33750"/>
                  <a:gd name="connsiteX5" fmla="*/ 10142 w 50625"/>
                  <a:gd name="connsiteY5" fmla="*/ 29079 h 33750"/>
                  <a:gd name="connsiteX6" fmla="*/ 43689 w 50625"/>
                  <a:gd name="connsiteY6" fmla="*/ 39052 h 33750"/>
                  <a:gd name="connsiteX7" fmla="*/ 54861 w 50625"/>
                  <a:gd name="connsiteY7" fmla="*/ 37786 h 33750"/>
                  <a:gd name="connsiteX8" fmla="*/ 61543 w 50625"/>
                  <a:gd name="connsiteY8" fmla="*/ 28724 h 33750"/>
                  <a:gd name="connsiteX9" fmla="*/ 63028 w 50625"/>
                  <a:gd name="connsiteY9" fmla="*/ 21907 h 33750"/>
                  <a:gd name="connsiteX10" fmla="*/ 60817 w 50625"/>
                  <a:gd name="connsiteY10" fmla="*/ 10904 h 33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625" h="33750">
                    <a:moveTo>
                      <a:pt x="60817" y="10904"/>
                    </a:moveTo>
                    <a:cubicBezTo>
                      <a:pt x="58539" y="7732"/>
                      <a:pt x="55080" y="5606"/>
                      <a:pt x="51216" y="5049"/>
                    </a:cubicBezTo>
                    <a:lnTo>
                      <a:pt x="16554" y="138"/>
                    </a:lnTo>
                    <a:cubicBezTo>
                      <a:pt x="9197" y="-891"/>
                      <a:pt x="2278" y="3935"/>
                      <a:pt x="726" y="11191"/>
                    </a:cubicBezTo>
                    <a:cubicBezTo>
                      <a:pt x="557" y="11563"/>
                      <a:pt x="472" y="12103"/>
                      <a:pt x="371" y="12508"/>
                    </a:cubicBezTo>
                    <a:cubicBezTo>
                      <a:pt x="-1333" y="19764"/>
                      <a:pt x="2987" y="26936"/>
                      <a:pt x="10142" y="29079"/>
                    </a:cubicBezTo>
                    <a:lnTo>
                      <a:pt x="43689" y="39052"/>
                    </a:lnTo>
                    <a:cubicBezTo>
                      <a:pt x="47503" y="40149"/>
                      <a:pt x="51502" y="39676"/>
                      <a:pt x="54861" y="37786"/>
                    </a:cubicBezTo>
                    <a:cubicBezTo>
                      <a:pt x="58219" y="35812"/>
                      <a:pt x="60666" y="32521"/>
                      <a:pt x="61543" y="28724"/>
                    </a:cubicBezTo>
                    <a:cubicBezTo>
                      <a:pt x="62066" y="26379"/>
                      <a:pt x="62572" y="24151"/>
                      <a:pt x="63028" y="21907"/>
                    </a:cubicBezTo>
                    <a:cubicBezTo>
                      <a:pt x="63906" y="18059"/>
                      <a:pt x="63062" y="14094"/>
                      <a:pt x="60817" y="10904"/>
                    </a:cubicBezTo>
                    <a:close/>
                  </a:path>
                </a:pathLst>
              </a:custGeom>
              <a:grpFill/>
              <a:ln w="16669" cap="flat">
                <a:noFill/>
                <a:prstDash val="solid"/>
                <a:miter/>
              </a:ln>
            </p:spPr>
            <p:txBody>
              <a:bodyPr rtlCol="0" anchor="ctr"/>
              <a:lstStyle/>
              <a:p>
                <a:pPr>
                  <a:lnSpc>
                    <a:spcPct val="120000"/>
                  </a:lnSpc>
                  <a:spcAft>
                    <a:spcPts val="100"/>
                  </a:spcAft>
                </a:pPr>
                <a:endParaRPr lang="zh-CN" altLang="en-US"/>
              </a:p>
            </p:txBody>
          </p:sp>
        </p:grpSp>
      </p:grpSp>
      <p:grpSp>
        <p:nvGrpSpPr>
          <p:cNvPr id="5" name="组合 4">
            <a:extLst>
              <a:ext uri="{FF2B5EF4-FFF2-40B4-BE49-F238E27FC236}">
                <a16:creationId xmlns:a16="http://schemas.microsoft.com/office/drawing/2014/main" id="{EE82F646-1DBE-E45D-233C-3F6693ADC809}"/>
              </a:ext>
            </a:extLst>
          </p:cNvPr>
          <p:cNvGrpSpPr/>
          <p:nvPr/>
        </p:nvGrpSpPr>
        <p:grpSpPr>
          <a:xfrm>
            <a:off x="6505785" y="3006757"/>
            <a:ext cx="5234255" cy="426840"/>
            <a:chOff x="6505785" y="3006757"/>
            <a:chExt cx="5234255" cy="426840"/>
          </a:xfrm>
        </p:grpSpPr>
        <p:sp>
          <p:nvSpPr>
            <p:cNvPr id="17" name="文本框 16">
              <a:extLst>
                <a:ext uri="{FF2B5EF4-FFF2-40B4-BE49-F238E27FC236}">
                  <a16:creationId xmlns:a16="http://schemas.microsoft.com/office/drawing/2014/main" id="{00EBA11A-8481-434C-523F-6090A77A6B98}"/>
                </a:ext>
              </a:extLst>
            </p:cNvPr>
            <p:cNvSpPr txBox="1"/>
            <p:nvPr/>
          </p:nvSpPr>
          <p:spPr>
            <a:xfrm>
              <a:off x="6915181" y="3095043"/>
              <a:ext cx="4824859" cy="338554"/>
            </a:xfrm>
            <a:prstGeom prst="rect">
              <a:avLst/>
            </a:prstGeom>
            <a:noFill/>
          </p:spPr>
          <p:txBody>
            <a:bodyPr wrap="square">
              <a:spAutoFit/>
            </a:bodyPr>
            <a:lstStyle/>
            <a:p>
              <a:r>
                <a:rPr lang="zh-CN" altLang="en-US" sz="1600" b="1" dirty="0"/>
                <a:t>域是独立的部分，它们的</a:t>
              </a:r>
              <a:r>
                <a:rPr lang="zh-CN" altLang="en-US" sz="1600" b="1" dirty="0">
                  <a:solidFill>
                    <a:srgbClr val="FF0000"/>
                  </a:solidFill>
                </a:rPr>
                <a:t>状态数据是独立的</a:t>
              </a:r>
              <a:endParaRPr lang="zh-CN" altLang="en-US" sz="1600" dirty="0">
                <a:solidFill>
                  <a:srgbClr val="FF0000"/>
                </a:solidFill>
              </a:endParaRPr>
            </a:p>
          </p:txBody>
        </p:sp>
        <p:grpSp>
          <p:nvGrpSpPr>
            <p:cNvPr id="27" name="组合 26">
              <a:extLst>
                <a:ext uri="{FF2B5EF4-FFF2-40B4-BE49-F238E27FC236}">
                  <a16:creationId xmlns:a16="http://schemas.microsoft.com/office/drawing/2014/main" id="{AF9E315E-36A5-1367-0C7E-A75E0B4C5D38}"/>
                </a:ext>
              </a:extLst>
            </p:cNvPr>
            <p:cNvGrpSpPr/>
            <p:nvPr/>
          </p:nvGrpSpPr>
          <p:grpSpPr>
            <a:xfrm>
              <a:off x="6505785" y="3006757"/>
              <a:ext cx="351569" cy="360321"/>
              <a:chOff x="9038676" y="2453000"/>
              <a:chExt cx="473036" cy="525437"/>
            </a:xfrm>
            <a:solidFill>
              <a:schemeClr val="accent1"/>
            </a:solidFill>
          </p:grpSpPr>
          <p:sp>
            <p:nvSpPr>
              <p:cNvPr id="28" name="任意多边形: 形状 27">
                <a:extLst>
                  <a:ext uri="{FF2B5EF4-FFF2-40B4-BE49-F238E27FC236}">
                    <a16:creationId xmlns:a16="http://schemas.microsoft.com/office/drawing/2014/main" id="{FA7D9B57-080D-4781-DD0E-634746BBF5E6}"/>
                  </a:ext>
                </a:extLst>
              </p:cNvPr>
              <p:cNvSpPr/>
              <p:nvPr/>
            </p:nvSpPr>
            <p:spPr>
              <a:xfrm>
                <a:off x="9122895" y="2539687"/>
                <a:ext cx="303750" cy="438750"/>
              </a:xfrm>
              <a:custGeom>
                <a:avLst/>
                <a:gdLst>
                  <a:gd name="connsiteX0" fmla="*/ 166421 w 303750"/>
                  <a:gd name="connsiteY0" fmla="*/ 0 h 438750"/>
                  <a:gd name="connsiteX1" fmla="*/ 147167 w 303750"/>
                  <a:gd name="connsiteY1" fmla="*/ 0 h 438750"/>
                  <a:gd name="connsiteX2" fmla="*/ 0 w 303750"/>
                  <a:gd name="connsiteY2" fmla="*/ 157309 h 438750"/>
                  <a:gd name="connsiteX3" fmla="*/ 69221 w 303750"/>
                  <a:gd name="connsiteY3" fmla="*/ 287938 h 438750"/>
                  <a:gd name="connsiteX4" fmla="*/ 69221 w 303750"/>
                  <a:gd name="connsiteY4" fmla="*/ 333197 h 438750"/>
                  <a:gd name="connsiteX5" fmla="*/ 81793 w 303750"/>
                  <a:gd name="connsiteY5" fmla="*/ 356619 h 438750"/>
                  <a:gd name="connsiteX6" fmla="*/ 85050 w 303750"/>
                  <a:gd name="connsiteY6" fmla="*/ 362273 h 438750"/>
                  <a:gd name="connsiteX7" fmla="*/ 82502 w 303750"/>
                  <a:gd name="connsiteY7" fmla="*/ 368246 h 438750"/>
                  <a:gd name="connsiteX8" fmla="*/ 70673 w 303750"/>
                  <a:gd name="connsiteY8" fmla="*/ 381257 h 438750"/>
                  <a:gd name="connsiteX9" fmla="*/ 70673 w 303750"/>
                  <a:gd name="connsiteY9" fmla="*/ 410434 h 438750"/>
                  <a:gd name="connsiteX10" fmla="*/ 82502 w 303750"/>
                  <a:gd name="connsiteY10" fmla="*/ 422246 h 438750"/>
                  <a:gd name="connsiteX11" fmla="*/ 90416 w 303750"/>
                  <a:gd name="connsiteY11" fmla="*/ 422246 h 438750"/>
                  <a:gd name="connsiteX12" fmla="*/ 101351 w 303750"/>
                  <a:gd name="connsiteY12" fmla="*/ 427478 h 438750"/>
                  <a:gd name="connsiteX13" fmla="*/ 156802 w 303750"/>
                  <a:gd name="connsiteY13" fmla="*/ 450225 h 438750"/>
                  <a:gd name="connsiteX14" fmla="*/ 212237 w 303750"/>
                  <a:gd name="connsiteY14" fmla="*/ 427478 h 438750"/>
                  <a:gd name="connsiteX15" fmla="*/ 223172 w 303750"/>
                  <a:gd name="connsiteY15" fmla="*/ 422246 h 438750"/>
                  <a:gd name="connsiteX16" fmla="*/ 231086 w 303750"/>
                  <a:gd name="connsiteY16" fmla="*/ 422246 h 438750"/>
                  <a:gd name="connsiteX17" fmla="*/ 242916 w 303750"/>
                  <a:gd name="connsiteY17" fmla="*/ 410434 h 438750"/>
                  <a:gd name="connsiteX18" fmla="*/ 242916 w 303750"/>
                  <a:gd name="connsiteY18" fmla="*/ 381257 h 438750"/>
                  <a:gd name="connsiteX19" fmla="*/ 231086 w 303750"/>
                  <a:gd name="connsiteY19" fmla="*/ 368246 h 438750"/>
                  <a:gd name="connsiteX20" fmla="*/ 228555 w 303750"/>
                  <a:gd name="connsiteY20" fmla="*/ 362273 h 438750"/>
                  <a:gd name="connsiteX21" fmla="*/ 231812 w 303750"/>
                  <a:gd name="connsiteY21" fmla="*/ 356619 h 438750"/>
                  <a:gd name="connsiteX22" fmla="*/ 244367 w 303750"/>
                  <a:gd name="connsiteY22" fmla="*/ 333197 h 438750"/>
                  <a:gd name="connsiteX23" fmla="*/ 244367 w 303750"/>
                  <a:gd name="connsiteY23" fmla="*/ 287938 h 438750"/>
                  <a:gd name="connsiteX24" fmla="*/ 313588 w 303750"/>
                  <a:gd name="connsiteY24" fmla="*/ 157309 h 438750"/>
                  <a:gd name="connsiteX25" fmla="*/ 166421 w 303750"/>
                  <a:gd name="connsiteY25" fmla="*/ 0 h 438750"/>
                  <a:gd name="connsiteX26" fmla="*/ 211478 w 303750"/>
                  <a:gd name="connsiteY26" fmla="*/ 253699 h 438750"/>
                  <a:gd name="connsiteX27" fmla="*/ 202652 w 303750"/>
                  <a:gd name="connsiteY27" fmla="*/ 258272 h 438750"/>
                  <a:gd name="connsiteX28" fmla="*/ 202652 w 303750"/>
                  <a:gd name="connsiteY28" fmla="*/ 300274 h 438750"/>
                  <a:gd name="connsiteX29" fmla="*/ 190688 w 303750"/>
                  <a:gd name="connsiteY29" fmla="*/ 315107 h 438750"/>
                  <a:gd name="connsiteX30" fmla="*/ 172091 w 303750"/>
                  <a:gd name="connsiteY30" fmla="*/ 319022 h 438750"/>
                  <a:gd name="connsiteX31" fmla="*/ 141514 w 303750"/>
                  <a:gd name="connsiteY31" fmla="*/ 319022 h 438750"/>
                  <a:gd name="connsiteX32" fmla="*/ 122918 w 303750"/>
                  <a:gd name="connsiteY32" fmla="*/ 315107 h 438750"/>
                  <a:gd name="connsiteX33" fmla="*/ 110953 w 303750"/>
                  <a:gd name="connsiteY33" fmla="*/ 300274 h 438750"/>
                  <a:gd name="connsiteX34" fmla="*/ 110953 w 303750"/>
                  <a:gd name="connsiteY34" fmla="*/ 258255 h 438750"/>
                  <a:gd name="connsiteX35" fmla="*/ 102128 w 303750"/>
                  <a:gd name="connsiteY35" fmla="*/ 253682 h 438750"/>
                  <a:gd name="connsiteX36" fmla="*/ 48516 w 303750"/>
                  <a:gd name="connsiteY36" fmla="*/ 160161 h 438750"/>
                  <a:gd name="connsiteX37" fmla="*/ 156802 w 303750"/>
                  <a:gd name="connsiteY37" fmla="*/ 50676 h 438750"/>
                  <a:gd name="connsiteX38" fmla="*/ 265073 w 303750"/>
                  <a:gd name="connsiteY38" fmla="*/ 160161 h 438750"/>
                  <a:gd name="connsiteX39" fmla="*/ 211478 w 303750"/>
                  <a:gd name="connsiteY39" fmla="*/ 253699 h 43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03750" h="438750">
                    <a:moveTo>
                      <a:pt x="166421" y="0"/>
                    </a:moveTo>
                    <a:lnTo>
                      <a:pt x="147167" y="0"/>
                    </a:lnTo>
                    <a:cubicBezTo>
                      <a:pt x="65289" y="5181"/>
                      <a:pt x="0" y="73643"/>
                      <a:pt x="0" y="157309"/>
                    </a:cubicBezTo>
                    <a:cubicBezTo>
                      <a:pt x="0" y="214819"/>
                      <a:pt x="25380" y="260769"/>
                      <a:pt x="69221" y="287938"/>
                    </a:cubicBezTo>
                    <a:lnTo>
                      <a:pt x="69221" y="333197"/>
                    </a:lnTo>
                    <a:cubicBezTo>
                      <a:pt x="69221" y="346410"/>
                      <a:pt x="74132" y="351523"/>
                      <a:pt x="81793" y="356619"/>
                    </a:cubicBezTo>
                    <a:cubicBezTo>
                      <a:pt x="83700" y="357851"/>
                      <a:pt x="84915" y="359961"/>
                      <a:pt x="85050" y="362273"/>
                    </a:cubicBezTo>
                    <a:cubicBezTo>
                      <a:pt x="85185" y="364568"/>
                      <a:pt x="85404" y="367538"/>
                      <a:pt x="82502" y="368246"/>
                    </a:cubicBezTo>
                    <a:cubicBezTo>
                      <a:pt x="70639" y="368246"/>
                      <a:pt x="70673" y="381257"/>
                      <a:pt x="70673" y="381257"/>
                    </a:cubicBezTo>
                    <a:cubicBezTo>
                      <a:pt x="70673" y="386522"/>
                      <a:pt x="70673" y="410434"/>
                      <a:pt x="70673" y="410434"/>
                    </a:cubicBezTo>
                    <a:cubicBezTo>
                      <a:pt x="70673" y="416964"/>
                      <a:pt x="75954" y="422246"/>
                      <a:pt x="82502" y="422246"/>
                    </a:cubicBezTo>
                    <a:lnTo>
                      <a:pt x="90416" y="422246"/>
                    </a:lnTo>
                    <a:cubicBezTo>
                      <a:pt x="96744" y="422246"/>
                      <a:pt x="101351" y="427478"/>
                      <a:pt x="101351" y="427478"/>
                    </a:cubicBezTo>
                    <a:cubicBezTo>
                      <a:pt x="101351" y="427478"/>
                      <a:pt x="129178" y="450225"/>
                      <a:pt x="156802" y="450225"/>
                    </a:cubicBezTo>
                    <a:cubicBezTo>
                      <a:pt x="184815" y="450225"/>
                      <a:pt x="212237" y="427478"/>
                      <a:pt x="212237" y="427478"/>
                    </a:cubicBezTo>
                    <a:cubicBezTo>
                      <a:pt x="212237" y="427478"/>
                      <a:pt x="216844" y="422246"/>
                      <a:pt x="223172" y="422246"/>
                    </a:cubicBezTo>
                    <a:lnTo>
                      <a:pt x="231086" y="422246"/>
                    </a:lnTo>
                    <a:cubicBezTo>
                      <a:pt x="237651" y="422246"/>
                      <a:pt x="242916" y="416964"/>
                      <a:pt x="242916" y="410434"/>
                    </a:cubicBezTo>
                    <a:cubicBezTo>
                      <a:pt x="242916" y="410434"/>
                      <a:pt x="242916" y="386539"/>
                      <a:pt x="242916" y="381257"/>
                    </a:cubicBezTo>
                    <a:cubicBezTo>
                      <a:pt x="242916" y="381257"/>
                      <a:pt x="242949" y="368246"/>
                      <a:pt x="231086" y="368246"/>
                    </a:cubicBezTo>
                    <a:cubicBezTo>
                      <a:pt x="228184" y="367554"/>
                      <a:pt x="228420" y="364534"/>
                      <a:pt x="228555" y="362273"/>
                    </a:cubicBezTo>
                    <a:cubicBezTo>
                      <a:pt x="228724" y="359961"/>
                      <a:pt x="229905" y="357851"/>
                      <a:pt x="231812" y="356619"/>
                    </a:cubicBezTo>
                    <a:cubicBezTo>
                      <a:pt x="239456" y="351523"/>
                      <a:pt x="244367" y="346427"/>
                      <a:pt x="244367" y="333197"/>
                    </a:cubicBezTo>
                    <a:lnTo>
                      <a:pt x="244367" y="287938"/>
                    </a:lnTo>
                    <a:cubicBezTo>
                      <a:pt x="288208" y="260786"/>
                      <a:pt x="313588" y="214819"/>
                      <a:pt x="313588" y="157309"/>
                    </a:cubicBezTo>
                    <a:cubicBezTo>
                      <a:pt x="313588" y="73643"/>
                      <a:pt x="248333" y="5164"/>
                      <a:pt x="166421" y="0"/>
                    </a:cubicBezTo>
                    <a:close/>
                    <a:moveTo>
                      <a:pt x="211478" y="253699"/>
                    </a:moveTo>
                    <a:lnTo>
                      <a:pt x="202652" y="258272"/>
                    </a:lnTo>
                    <a:lnTo>
                      <a:pt x="202652" y="300274"/>
                    </a:lnTo>
                    <a:cubicBezTo>
                      <a:pt x="202652" y="307463"/>
                      <a:pt x="197674" y="313588"/>
                      <a:pt x="190688" y="315107"/>
                    </a:cubicBezTo>
                    <a:lnTo>
                      <a:pt x="172091" y="319022"/>
                    </a:lnTo>
                    <a:cubicBezTo>
                      <a:pt x="168953" y="319714"/>
                      <a:pt x="153968" y="322194"/>
                      <a:pt x="141514" y="319022"/>
                    </a:cubicBezTo>
                    <a:lnTo>
                      <a:pt x="122918" y="315107"/>
                    </a:lnTo>
                    <a:cubicBezTo>
                      <a:pt x="115931" y="313588"/>
                      <a:pt x="110953" y="307463"/>
                      <a:pt x="110953" y="300274"/>
                    </a:cubicBezTo>
                    <a:lnTo>
                      <a:pt x="110953" y="258255"/>
                    </a:lnTo>
                    <a:lnTo>
                      <a:pt x="102128" y="253682"/>
                    </a:lnTo>
                    <a:cubicBezTo>
                      <a:pt x="57814" y="230901"/>
                      <a:pt x="48516" y="190215"/>
                      <a:pt x="48516" y="160161"/>
                    </a:cubicBezTo>
                    <a:cubicBezTo>
                      <a:pt x="48516" y="99900"/>
                      <a:pt x="97031" y="50878"/>
                      <a:pt x="156802" y="50676"/>
                    </a:cubicBezTo>
                    <a:cubicBezTo>
                      <a:pt x="216557" y="50878"/>
                      <a:pt x="265073" y="99900"/>
                      <a:pt x="265073" y="160161"/>
                    </a:cubicBezTo>
                    <a:cubicBezTo>
                      <a:pt x="265073" y="190232"/>
                      <a:pt x="255774" y="230918"/>
                      <a:pt x="211478" y="253699"/>
                    </a:cubicBezTo>
                    <a:close/>
                  </a:path>
                </a:pathLst>
              </a:custGeom>
              <a:grpFill/>
              <a:ln w="16669" cap="flat">
                <a:noFill/>
                <a:prstDash val="solid"/>
                <a:miter/>
              </a:ln>
            </p:spPr>
            <p:txBody>
              <a:bodyPr rtlCol="0" anchor="ctr"/>
              <a:lstStyle/>
              <a:p>
                <a:pPr algn="ctr">
                  <a:lnSpc>
                    <a:spcPct val="120000"/>
                  </a:lnSpc>
                  <a:spcAft>
                    <a:spcPts val="100"/>
                  </a:spcAft>
                </a:pPr>
                <a:endParaRPr lang="zh-CN" altLang="en-US"/>
              </a:p>
            </p:txBody>
          </p:sp>
          <p:sp>
            <p:nvSpPr>
              <p:cNvPr id="29" name="任意多边形: 形状 28">
                <a:extLst>
                  <a:ext uri="{FF2B5EF4-FFF2-40B4-BE49-F238E27FC236}">
                    <a16:creationId xmlns:a16="http://schemas.microsoft.com/office/drawing/2014/main" id="{D490011E-902B-C969-8480-E55441DE7EEA}"/>
                  </a:ext>
                </a:extLst>
              </p:cNvPr>
              <p:cNvSpPr/>
              <p:nvPr/>
            </p:nvSpPr>
            <p:spPr>
              <a:xfrm>
                <a:off x="9420525" y="2536256"/>
                <a:ext cx="50625" cy="50625"/>
              </a:xfrm>
              <a:custGeom>
                <a:avLst/>
                <a:gdLst>
                  <a:gd name="connsiteX0" fmla="*/ 57809 w 50625"/>
                  <a:gd name="connsiteY0" fmla="*/ 21352 h 50625"/>
                  <a:gd name="connsiteX1" fmla="*/ 54839 w 50625"/>
                  <a:gd name="connsiteY1" fmla="*/ 10468 h 50625"/>
                  <a:gd name="connsiteX2" fmla="*/ 50417 w 50625"/>
                  <a:gd name="connsiteY2" fmla="*/ 5051 h 50625"/>
                  <a:gd name="connsiteX3" fmla="*/ 40309 w 50625"/>
                  <a:gd name="connsiteY3" fmla="*/ 22 h 50625"/>
                  <a:gd name="connsiteX4" fmla="*/ 29746 w 50625"/>
                  <a:gd name="connsiteY4" fmla="*/ 3903 h 50625"/>
                  <a:gd name="connsiteX5" fmla="*/ 4349 w 50625"/>
                  <a:gd name="connsiteY5" fmla="*/ 28052 h 50625"/>
                  <a:gd name="connsiteX6" fmla="*/ 3218 w 50625"/>
                  <a:gd name="connsiteY6" fmla="*/ 47340 h 50625"/>
                  <a:gd name="connsiteX7" fmla="*/ 4096 w 50625"/>
                  <a:gd name="connsiteY7" fmla="*/ 48369 h 50625"/>
                  <a:gd name="connsiteX8" fmla="*/ 23215 w 50625"/>
                  <a:gd name="connsiteY8" fmla="*/ 51035 h 50625"/>
                  <a:gd name="connsiteX9" fmla="*/ 51886 w 50625"/>
                  <a:gd name="connsiteY9" fmla="*/ 30920 h 50625"/>
                  <a:gd name="connsiteX10" fmla="*/ 57809 w 50625"/>
                  <a:gd name="connsiteY10" fmla="*/ 21352 h 50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625" h="50625">
                    <a:moveTo>
                      <a:pt x="57809" y="21352"/>
                    </a:moveTo>
                    <a:cubicBezTo>
                      <a:pt x="58399" y="17488"/>
                      <a:pt x="57319" y="13556"/>
                      <a:pt x="54839" y="10468"/>
                    </a:cubicBezTo>
                    <a:cubicBezTo>
                      <a:pt x="53387" y="8645"/>
                      <a:pt x="51903" y="6857"/>
                      <a:pt x="50417" y="5051"/>
                    </a:cubicBezTo>
                    <a:cubicBezTo>
                      <a:pt x="47886" y="2064"/>
                      <a:pt x="44258" y="242"/>
                      <a:pt x="40309" y="22"/>
                    </a:cubicBezTo>
                    <a:cubicBezTo>
                      <a:pt x="36445" y="-197"/>
                      <a:pt x="32581" y="1220"/>
                      <a:pt x="29746" y="3903"/>
                    </a:cubicBezTo>
                    <a:lnTo>
                      <a:pt x="4349" y="28052"/>
                    </a:lnTo>
                    <a:cubicBezTo>
                      <a:pt x="-984" y="33198"/>
                      <a:pt x="-1473" y="41619"/>
                      <a:pt x="3218" y="47340"/>
                    </a:cubicBezTo>
                    <a:cubicBezTo>
                      <a:pt x="3539" y="47677"/>
                      <a:pt x="3775" y="48015"/>
                      <a:pt x="4096" y="48369"/>
                    </a:cubicBezTo>
                    <a:cubicBezTo>
                      <a:pt x="8753" y="54140"/>
                      <a:pt x="17106" y="55322"/>
                      <a:pt x="23215" y="51035"/>
                    </a:cubicBezTo>
                    <a:lnTo>
                      <a:pt x="51886" y="30920"/>
                    </a:lnTo>
                    <a:cubicBezTo>
                      <a:pt x="55075" y="28676"/>
                      <a:pt x="57218" y="25217"/>
                      <a:pt x="57809" y="21352"/>
                    </a:cubicBezTo>
                    <a:close/>
                  </a:path>
                </a:pathLst>
              </a:custGeom>
              <a:grpFill/>
              <a:ln w="16669" cap="flat">
                <a:noFill/>
                <a:prstDash val="solid"/>
                <a:miter/>
              </a:ln>
            </p:spPr>
            <p:txBody>
              <a:bodyPr rtlCol="0" anchor="ctr"/>
              <a:lstStyle/>
              <a:p>
                <a:pPr algn="ctr">
                  <a:lnSpc>
                    <a:spcPct val="120000"/>
                  </a:lnSpc>
                  <a:spcAft>
                    <a:spcPts val="100"/>
                  </a:spcAft>
                </a:pPr>
                <a:endParaRPr lang="zh-CN" altLang="en-US"/>
              </a:p>
            </p:txBody>
          </p:sp>
          <p:sp>
            <p:nvSpPr>
              <p:cNvPr id="30" name="任意多边形: 形状 29">
                <a:extLst>
                  <a:ext uri="{FF2B5EF4-FFF2-40B4-BE49-F238E27FC236}">
                    <a16:creationId xmlns:a16="http://schemas.microsoft.com/office/drawing/2014/main" id="{419CCEAC-8BAA-5D4F-85BA-39A9AFC29506}"/>
                  </a:ext>
                </a:extLst>
              </p:cNvPr>
              <p:cNvSpPr/>
              <p:nvPr/>
            </p:nvSpPr>
            <p:spPr>
              <a:xfrm>
                <a:off x="9260846" y="2453000"/>
                <a:ext cx="33750" cy="50625"/>
              </a:xfrm>
              <a:custGeom>
                <a:avLst/>
                <a:gdLst>
                  <a:gd name="connsiteX0" fmla="*/ 17383 w 33750"/>
                  <a:gd name="connsiteY0" fmla="*/ 63332 h 50625"/>
                  <a:gd name="connsiteX1" fmla="*/ 18666 w 33750"/>
                  <a:gd name="connsiteY1" fmla="*/ 63315 h 50625"/>
                  <a:gd name="connsiteX2" fmla="*/ 32706 w 33750"/>
                  <a:gd name="connsiteY2" fmla="*/ 50051 h 50625"/>
                  <a:gd name="connsiteX3" fmla="*/ 34950 w 33750"/>
                  <a:gd name="connsiteY3" fmla="*/ 15086 h 50625"/>
                  <a:gd name="connsiteX4" fmla="*/ 31136 w 33750"/>
                  <a:gd name="connsiteY4" fmla="*/ 4506 h 50625"/>
                  <a:gd name="connsiteX5" fmla="*/ 20859 w 33750"/>
                  <a:gd name="connsiteY5" fmla="*/ 0 h 50625"/>
                  <a:gd name="connsiteX6" fmla="*/ 13823 w 33750"/>
                  <a:gd name="connsiteY6" fmla="*/ 68 h 50625"/>
                  <a:gd name="connsiteX7" fmla="*/ 3613 w 33750"/>
                  <a:gd name="connsiteY7" fmla="*/ 4793 h 50625"/>
                  <a:gd name="connsiteX8" fmla="*/ 53 w 33750"/>
                  <a:gd name="connsiteY8" fmla="*/ 15474 h 50625"/>
                  <a:gd name="connsiteX9" fmla="*/ 3073 w 33750"/>
                  <a:gd name="connsiteY9" fmla="*/ 50389 h 50625"/>
                  <a:gd name="connsiteX10" fmla="*/ 17383 w 33750"/>
                  <a:gd name="connsiteY10" fmla="*/ 63332 h 50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750" h="50625">
                    <a:moveTo>
                      <a:pt x="17383" y="63332"/>
                    </a:moveTo>
                    <a:cubicBezTo>
                      <a:pt x="17805" y="63315"/>
                      <a:pt x="18244" y="63315"/>
                      <a:pt x="18666" y="63315"/>
                    </a:cubicBezTo>
                    <a:cubicBezTo>
                      <a:pt x="26091" y="63264"/>
                      <a:pt x="32233" y="57476"/>
                      <a:pt x="32706" y="50051"/>
                    </a:cubicBezTo>
                    <a:lnTo>
                      <a:pt x="34950" y="15086"/>
                    </a:lnTo>
                    <a:cubicBezTo>
                      <a:pt x="35203" y="11188"/>
                      <a:pt x="33853" y="7358"/>
                      <a:pt x="31136" y="4506"/>
                    </a:cubicBezTo>
                    <a:cubicBezTo>
                      <a:pt x="28504" y="1637"/>
                      <a:pt x="24741" y="17"/>
                      <a:pt x="20859" y="0"/>
                    </a:cubicBezTo>
                    <a:cubicBezTo>
                      <a:pt x="18497" y="0"/>
                      <a:pt x="16168" y="17"/>
                      <a:pt x="13823" y="68"/>
                    </a:cubicBezTo>
                    <a:cubicBezTo>
                      <a:pt x="9924" y="169"/>
                      <a:pt x="6212" y="1873"/>
                      <a:pt x="3613" y="4793"/>
                    </a:cubicBezTo>
                    <a:cubicBezTo>
                      <a:pt x="1014" y="7712"/>
                      <a:pt x="-285" y="11593"/>
                      <a:pt x="53" y="15474"/>
                    </a:cubicBezTo>
                    <a:lnTo>
                      <a:pt x="3073" y="50389"/>
                    </a:lnTo>
                    <a:cubicBezTo>
                      <a:pt x="3714" y="57780"/>
                      <a:pt x="9958" y="63433"/>
                      <a:pt x="17383" y="63332"/>
                    </a:cubicBezTo>
                    <a:close/>
                  </a:path>
                </a:pathLst>
              </a:custGeom>
              <a:grpFill/>
              <a:ln w="16669" cap="flat">
                <a:noFill/>
                <a:prstDash val="solid"/>
                <a:miter/>
              </a:ln>
            </p:spPr>
            <p:txBody>
              <a:bodyPr rtlCol="0" anchor="ctr"/>
              <a:lstStyle/>
              <a:p>
                <a:pPr algn="ctr">
                  <a:lnSpc>
                    <a:spcPct val="120000"/>
                  </a:lnSpc>
                  <a:spcAft>
                    <a:spcPts val="100"/>
                  </a:spcAft>
                </a:pPr>
                <a:endParaRPr lang="zh-CN" altLang="en-US"/>
              </a:p>
            </p:txBody>
          </p:sp>
          <p:sp>
            <p:nvSpPr>
              <p:cNvPr id="31" name="任意多边形: 形状 30">
                <a:extLst>
                  <a:ext uri="{FF2B5EF4-FFF2-40B4-BE49-F238E27FC236}">
                    <a16:creationId xmlns:a16="http://schemas.microsoft.com/office/drawing/2014/main" id="{17DA4605-695D-AC4A-12D8-B2A977D14E09}"/>
                  </a:ext>
                </a:extLst>
              </p:cNvPr>
              <p:cNvSpPr/>
              <p:nvPr/>
            </p:nvSpPr>
            <p:spPr>
              <a:xfrm>
                <a:off x="9038676" y="2732680"/>
                <a:ext cx="50625" cy="33750"/>
              </a:xfrm>
              <a:custGeom>
                <a:avLst/>
                <a:gdLst>
                  <a:gd name="connsiteX0" fmla="*/ 62585 w 50625"/>
                  <a:gd name="connsiteY0" fmla="*/ 10890 h 33750"/>
                  <a:gd name="connsiteX1" fmla="*/ 46537 w 50625"/>
                  <a:gd name="connsiteY1" fmla="*/ 175 h 33750"/>
                  <a:gd name="connsiteX2" fmla="*/ 11927 w 50625"/>
                  <a:gd name="connsiteY2" fmla="*/ 5862 h 33750"/>
                  <a:gd name="connsiteX3" fmla="*/ 2443 w 50625"/>
                  <a:gd name="connsiteY3" fmla="*/ 11903 h 33750"/>
                  <a:gd name="connsiteX4" fmla="*/ 334 w 50625"/>
                  <a:gd name="connsiteY4" fmla="*/ 22939 h 33750"/>
                  <a:gd name="connsiteX5" fmla="*/ 1987 w 50625"/>
                  <a:gd name="connsiteY5" fmla="*/ 29740 h 33750"/>
                  <a:gd name="connsiteX6" fmla="*/ 8855 w 50625"/>
                  <a:gd name="connsiteY6" fmla="*/ 38599 h 33750"/>
                  <a:gd name="connsiteX7" fmla="*/ 20060 w 50625"/>
                  <a:gd name="connsiteY7" fmla="*/ 39645 h 33750"/>
                  <a:gd name="connsiteX8" fmla="*/ 53439 w 50625"/>
                  <a:gd name="connsiteY8" fmla="*/ 28930 h 33750"/>
                  <a:gd name="connsiteX9" fmla="*/ 62889 w 50625"/>
                  <a:gd name="connsiteY9" fmla="*/ 12089 h 33750"/>
                  <a:gd name="connsiteX10" fmla="*/ 62585 w 50625"/>
                  <a:gd name="connsiteY10" fmla="*/ 10890 h 33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625" h="33750">
                    <a:moveTo>
                      <a:pt x="62585" y="10890"/>
                    </a:moveTo>
                    <a:cubicBezTo>
                      <a:pt x="60881" y="3634"/>
                      <a:pt x="53878" y="-973"/>
                      <a:pt x="46537" y="175"/>
                    </a:cubicBezTo>
                    <a:lnTo>
                      <a:pt x="11927" y="5862"/>
                    </a:lnTo>
                    <a:cubicBezTo>
                      <a:pt x="8062" y="6486"/>
                      <a:pt x="4637" y="8663"/>
                      <a:pt x="2443" y="11903"/>
                    </a:cubicBezTo>
                    <a:cubicBezTo>
                      <a:pt x="266" y="15109"/>
                      <a:pt x="-510" y="19142"/>
                      <a:pt x="334" y="22939"/>
                    </a:cubicBezTo>
                    <a:cubicBezTo>
                      <a:pt x="840" y="25217"/>
                      <a:pt x="1397" y="27512"/>
                      <a:pt x="1987" y="29740"/>
                    </a:cubicBezTo>
                    <a:cubicBezTo>
                      <a:pt x="2949" y="33554"/>
                      <a:pt x="5430" y="36760"/>
                      <a:pt x="8855" y="38599"/>
                    </a:cubicBezTo>
                    <a:cubicBezTo>
                      <a:pt x="12281" y="40472"/>
                      <a:pt x="16331" y="40945"/>
                      <a:pt x="20060" y="39645"/>
                    </a:cubicBezTo>
                    <a:lnTo>
                      <a:pt x="53439" y="28930"/>
                    </a:lnTo>
                    <a:cubicBezTo>
                      <a:pt x="60493" y="26635"/>
                      <a:pt x="64644" y="19311"/>
                      <a:pt x="62889" y="12089"/>
                    </a:cubicBezTo>
                    <a:cubicBezTo>
                      <a:pt x="62788" y="11768"/>
                      <a:pt x="62687" y="11312"/>
                      <a:pt x="62585" y="10890"/>
                    </a:cubicBezTo>
                    <a:close/>
                  </a:path>
                </a:pathLst>
              </a:custGeom>
              <a:grpFill/>
              <a:ln w="16669" cap="flat">
                <a:noFill/>
                <a:prstDash val="solid"/>
                <a:miter/>
              </a:ln>
            </p:spPr>
            <p:txBody>
              <a:bodyPr rtlCol="0" anchor="ctr"/>
              <a:lstStyle/>
              <a:p>
                <a:pPr algn="ctr">
                  <a:lnSpc>
                    <a:spcPct val="120000"/>
                  </a:lnSpc>
                  <a:spcAft>
                    <a:spcPts val="100"/>
                  </a:spcAft>
                </a:pPr>
                <a:endParaRPr lang="zh-CN" altLang="en-US"/>
              </a:p>
            </p:txBody>
          </p:sp>
          <p:sp>
            <p:nvSpPr>
              <p:cNvPr id="32" name="任意多边形: 形状 31">
                <a:extLst>
                  <a:ext uri="{FF2B5EF4-FFF2-40B4-BE49-F238E27FC236}">
                    <a16:creationId xmlns:a16="http://schemas.microsoft.com/office/drawing/2014/main" id="{EB465571-27C4-F8F3-ED53-7113D36E4D64}"/>
                  </a:ext>
                </a:extLst>
              </p:cNvPr>
              <p:cNvSpPr/>
              <p:nvPr/>
            </p:nvSpPr>
            <p:spPr>
              <a:xfrm>
                <a:off x="9080336" y="2540605"/>
                <a:ext cx="50625" cy="50625"/>
              </a:xfrm>
              <a:custGeom>
                <a:avLst/>
                <a:gdLst>
                  <a:gd name="connsiteX0" fmla="*/ 54540 w 50625"/>
                  <a:gd name="connsiteY0" fmla="*/ 47529 h 50625"/>
                  <a:gd name="connsiteX1" fmla="*/ 55367 w 50625"/>
                  <a:gd name="connsiteY1" fmla="*/ 46483 h 50625"/>
                  <a:gd name="connsiteX2" fmla="*/ 53730 w 50625"/>
                  <a:gd name="connsiteY2" fmla="*/ 27229 h 50625"/>
                  <a:gd name="connsiteX3" fmla="*/ 27793 w 50625"/>
                  <a:gd name="connsiteY3" fmla="*/ 3688 h 50625"/>
                  <a:gd name="connsiteX4" fmla="*/ 17145 w 50625"/>
                  <a:gd name="connsiteY4" fmla="*/ 43 h 50625"/>
                  <a:gd name="connsiteX5" fmla="*/ 7206 w 50625"/>
                  <a:gd name="connsiteY5" fmla="*/ 5291 h 50625"/>
                  <a:gd name="connsiteX6" fmla="*/ 2869 w 50625"/>
                  <a:gd name="connsiteY6" fmla="*/ 10843 h 50625"/>
                  <a:gd name="connsiteX7" fmla="*/ 202 w 50625"/>
                  <a:gd name="connsiteY7" fmla="*/ 21778 h 50625"/>
                  <a:gd name="connsiteX8" fmla="*/ 6311 w 50625"/>
                  <a:gd name="connsiteY8" fmla="*/ 31211 h 50625"/>
                  <a:gd name="connsiteX9" fmla="*/ 35488 w 50625"/>
                  <a:gd name="connsiteY9" fmla="*/ 50634 h 50625"/>
                  <a:gd name="connsiteX10" fmla="*/ 54540 w 50625"/>
                  <a:gd name="connsiteY10" fmla="*/ 47529 h 50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625" h="50625">
                    <a:moveTo>
                      <a:pt x="54540" y="47529"/>
                    </a:moveTo>
                    <a:cubicBezTo>
                      <a:pt x="54827" y="47175"/>
                      <a:pt x="55080" y="46820"/>
                      <a:pt x="55367" y="46483"/>
                    </a:cubicBezTo>
                    <a:cubicBezTo>
                      <a:pt x="59957" y="40610"/>
                      <a:pt x="59231" y="32224"/>
                      <a:pt x="53730" y="27229"/>
                    </a:cubicBezTo>
                    <a:lnTo>
                      <a:pt x="27793" y="3688"/>
                    </a:lnTo>
                    <a:cubicBezTo>
                      <a:pt x="24891" y="1055"/>
                      <a:pt x="21043" y="-261"/>
                      <a:pt x="17145" y="43"/>
                    </a:cubicBezTo>
                    <a:cubicBezTo>
                      <a:pt x="13264" y="364"/>
                      <a:pt x="9652" y="2254"/>
                      <a:pt x="7206" y="5291"/>
                    </a:cubicBezTo>
                    <a:cubicBezTo>
                      <a:pt x="5721" y="7130"/>
                      <a:pt x="4286" y="8970"/>
                      <a:pt x="2869" y="10843"/>
                    </a:cubicBezTo>
                    <a:cubicBezTo>
                      <a:pt x="506" y="13982"/>
                      <a:pt x="-456" y="17914"/>
                      <a:pt x="202" y="21778"/>
                    </a:cubicBezTo>
                    <a:cubicBezTo>
                      <a:pt x="861" y="25625"/>
                      <a:pt x="3071" y="29017"/>
                      <a:pt x="6311" y="31211"/>
                    </a:cubicBezTo>
                    <a:lnTo>
                      <a:pt x="35488" y="50634"/>
                    </a:lnTo>
                    <a:cubicBezTo>
                      <a:pt x="41664" y="54752"/>
                      <a:pt x="50001" y="53385"/>
                      <a:pt x="54540" y="47529"/>
                    </a:cubicBezTo>
                    <a:close/>
                  </a:path>
                </a:pathLst>
              </a:custGeom>
              <a:grpFill/>
              <a:ln w="16669" cap="flat">
                <a:noFill/>
                <a:prstDash val="solid"/>
                <a:miter/>
              </a:ln>
            </p:spPr>
            <p:txBody>
              <a:bodyPr rtlCol="0" anchor="ctr"/>
              <a:lstStyle/>
              <a:p>
                <a:pPr algn="ctr">
                  <a:lnSpc>
                    <a:spcPct val="120000"/>
                  </a:lnSpc>
                  <a:spcAft>
                    <a:spcPts val="100"/>
                  </a:spcAft>
                </a:pPr>
                <a:endParaRPr lang="zh-CN" altLang="en-US"/>
              </a:p>
            </p:txBody>
          </p:sp>
          <p:sp>
            <p:nvSpPr>
              <p:cNvPr id="33" name="任意多边形: 形状 32">
                <a:extLst>
                  <a:ext uri="{FF2B5EF4-FFF2-40B4-BE49-F238E27FC236}">
                    <a16:creationId xmlns:a16="http://schemas.microsoft.com/office/drawing/2014/main" id="{A0068B15-BC54-FFE3-DB17-1CA191FACCE7}"/>
                  </a:ext>
                </a:extLst>
              </p:cNvPr>
              <p:cNvSpPr/>
              <p:nvPr/>
            </p:nvSpPr>
            <p:spPr>
              <a:xfrm>
                <a:off x="9461087" y="2728751"/>
                <a:ext cx="50625" cy="33750"/>
              </a:xfrm>
              <a:custGeom>
                <a:avLst/>
                <a:gdLst>
                  <a:gd name="connsiteX0" fmla="*/ 60817 w 50625"/>
                  <a:gd name="connsiteY0" fmla="*/ 10904 h 33750"/>
                  <a:gd name="connsiteX1" fmla="*/ 51216 w 50625"/>
                  <a:gd name="connsiteY1" fmla="*/ 5049 h 33750"/>
                  <a:gd name="connsiteX2" fmla="*/ 16554 w 50625"/>
                  <a:gd name="connsiteY2" fmla="*/ 138 h 33750"/>
                  <a:gd name="connsiteX3" fmla="*/ 726 w 50625"/>
                  <a:gd name="connsiteY3" fmla="*/ 11191 h 33750"/>
                  <a:gd name="connsiteX4" fmla="*/ 371 w 50625"/>
                  <a:gd name="connsiteY4" fmla="*/ 12508 h 33750"/>
                  <a:gd name="connsiteX5" fmla="*/ 10142 w 50625"/>
                  <a:gd name="connsiteY5" fmla="*/ 29079 h 33750"/>
                  <a:gd name="connsiteX6" fmla="*/ 43689 w 50625"/>
                  <a:gd name="connsiteY6" fmla="*/ 39052 h 33750"/>
                  <a:gd name="connsiteX7" fmla="*/ 54861 w 50625"/>
                  <a:gd name="connsiteY7" fmla="*/ 37786 h 33750"/>
                  <a:gd name="connsiteX8" fmla="*/ 61543 w 50625"/>
                  <a:gd name="connsiteY8" fmla="*/ 28724 h 33750"/>
                  <a:gd name="connsiteX9" fmla="*/ 63028 w 50625"/>
                  <a:gd name="connsiteY9" fmla="*/ 21907 h 33750"/>
                  <a:gd name="connsiteX10" fmla="*/ 60817 w 50625"/>
                  <a:gd name="connsiteY10" fmla="*/ 10904 h 33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625" h="33750">
                    <a:moveTo>
                      <a:pt x="60817" y="10904"/>
                    </a:moveTo>
                    <a:cubicBezTo>
                      <a:pt x="58539" y="7732"/>
                      <a:pt x="55080" y="5606"/>
                      <a:pt x="51216" y="5049"/>
                    </a:cubicBezTo>
                    <a:lnTo>
                      <a:pt x="16554" y="138"/>
                    </a:lnTo>
                    <a:cubicBezTo>
                      <a:pt x="9197" y="-891"/>
                      <a:pt x="2278" y="3935"/>
                      <a:pt x="726" y="11191"/>
                    </a:cubicBezTo>
                    <a:cubicBezTo>
                      <a:pt x="557" y="11563"/>
                      <a:pt x="472" y="12103"/>
                      <a:pt x="371" y="12508"/>
                    </a:cubicBezTo>
                    <a:cubicBezTo>
                      <a:pt x="-1333" y="19764"/>
                      <a:pt x="2987" y="26936"/>
                      <a:pt x="10142" y="29079"/>
                    </a:cubicBezTo>
                    <a:lnTo>
                      <a:pt x="43689" y="39052"/>
                    </a:lnTo>
                    <a:cubicBezTo>
                      <a:pt x="47503" y="40149"/>
                      <a:pt x="51502" y="39676"/>
                      <a:pt x="54861" y="37786"/>
                    </a:cubicBezTo>
                    <a:cubicBezTo>
                      <a:pt x="58219" y="35812"/>
                      <a:pt x="60666" y="32521"/>
                      <a:pt x="61543" y="28724"/>
                    </a:cubicBezTo>
                    <a:cubicBezTo>
                      <a:pt x="62066" y="26379"/>
                      <a:pt x="62572" y="24151"/>
                      <a:pt x="63028" y="21907"/>
                    </a:cubicBezTo>
                    <a:cubicBezTo>
                      <a:pt x="63906" y="18059"/>
                      <a:pt x="63062" y="14094"/>
                      <a:pt x="60817" y="10904"/>
                    </a:cubicBezTo>
                    <a:close/>
                  </a:path>
                </a:pathLst>
              </a:custGeom>
              <a:grpFill/>
              <a:ln w="16669" cap="flat">
                <a:noFill/>
                <a:prstDash val="solid"/>
                <a:miter/>
              </a:ln>
            </p:spPr>
            <p:txBody>
              <a:bodyPr rtlCol="0" anchor="ctr"/>
              <a:lstStyle/>
              <a:p>
                <a:pPr algn="ctr">
                  <a:lnSpc>
                    <a:spcPct val="120000"/>
                  </a:lnSpc>
                  <a:spcAft>
                    <a:spcPts val="100"/>
                  </a:spcAft>
                </a:pPr>
                <a:endParaRPr lang="zh-CN" altLang="en-US"/>
              </a:p>
            </p:txBody>
          </p:sp>
        </p:grpSp>
      </p:grpSp>
      <p:grpSp>
        <p:nvGrpSpPr>
          <p:cNvPr id="6" name="组合 5">
            <a:extLst>
              <a:ext uri="{FF2B5EF4-FFF2-40B4-BE49-F238E27FC236}">
                <a16:creationId xmlns:a16="http://schemas.microsoft.com/office/drawing/2014/main" id="{27CEFB80-A287-7777-7947-4F787004D977}"/>
              </a:ext>
            </a:extLst>
          </p:cNvPr>
          <p:cNvGrpSpPr/>
          <p:nvPr/>
        </p:nvGrpSpPr>
        <p:grpSpPr>
          <a:xfrm>
            <a:off x="6505785" y="3479457"/>
            <a:ext cx="5234255" cy="364419"/>
            <a:chOff x="6505785" y="3479457"/>
            <a:chExt cx="5234255" cy="364419"/>
          </a:xfrm>
        </p:grpSpPr>
        <p:grpSp>
          <p:nvGrpSpPr>
            <p:cNvPr id="34" name="组合 33">
              <a:extLst>
                <a:ext uri="{FF2B5EF4-FFF2-40B4-BE49-F238E27FC236}">
                  <a16:creationId xmlns:a16="http://schemas.microsoft.com/office/drawing/2014/main" id="{D0987BE9-453C-2AC7-0733-D89EEC9E7C81}"/>
                </a:ext>
              </a:extLst>
            </p:cNvPr>
            <p:cNvGrpSpPr/>
            <p:nvPr/>
          </p:nvGrpSpPr>
          <p:grpSpPr>
            <a:xfrm>
              <a:off x="6505785" y="3479457"/>
              <a:ext cx="351569" cy="360321"/>
              <a:chOff x="9038676" y="2453000"/>
              <a:chExt cx="473036" cy="525437"/>
            </a:xfrm>
            <a:solidFill>
              <a:schemeClr val="accent1"/>
            </a:solidFill>
          </p:grpSpPr>
          <p:sp>
            <p:nvSpPr>
              <p:cNvPr id="35" name="任意多边形: 形状 34">
                <a:extLst>
                  <a:ext uri="{FF2B5EF4-FFF2-40B4-BE49-F238E27FC236}">
                    <a16:creationId xmlns:a16="http://schemas.microsoft.com/office/drawing/2014/main" id="{32F1A115-50F1-0759-5EDC-9FF7C38154E7}"/>
                  </a:ext>
                </a:extLst>
              </p:cNvPr>
              <p:cNvSpPr/>
              <p:nvPr/>
            </p:nvSpPr>
            <p:spPr>
              <a:xfrm>
                <a:off x="9122895" y="2539687"/>
                <a:ext cx="303750" cy="438750"/>
              </a:xfrm>
              <a:custGeom>
                <a:avLst/>
                <a:gdLst>
                  <a:gd name="connsiteX0" fmla="*/ 166421 w 303750"/>
                  <a:gd name="connsiteY0" fmla="*/ 0 h 438750"/>
                  <a:gd name="connsiteX1" fmla="*/ 147167 w 303750"/>
                  <a:gd name="connsiteY1" fmla="*/ 0 h 438750"/>
                  <a:gd name="connsiteX2" fmla="*/ 0 w 303750"/>
                  <a:gd name="connsiteY2" fmla="*/ 157309 h 438750"/>
                  <a:gd name="connsiteX3" fmla="*/ 69221 w 303750"/>
                  <a:gd name="connsiteY3" fmla="*/ 287938 h 438750"/>
                  <a:gd name="connsiteX4" fmla="*/ 69221 w 303750"/>
                  <a:gd name="connsiteY4" fmla="*/ 333197 h 438750"/>
                  <a:gd name="connsiteX5" fmla="*/ 81793 w 303750"/>
                  <a:gd name="connsiteY5" fmla="*/ 356619 h 438750"/>
                  <a:gd name="connsiteX6" fmla="*/ 85050 w 303750"/>
                  <a:gd name="connsiteY6" fmla="*/ 362273 h 438750"/>
                  <a:gd name="connsiteX7" fmla="*/ 82502 w 303750"/>
                  <a:gd name="connsiteY7" fmla="*/ 368246 h 438750"/>
                  <a:gd name="connsiteX8" fmla="*/ 70673 w 303750"/>
                  <a:gd name="connsiteY8" fmla="*/ 381257 h 438750"/>
                  <a:gd name="connsiteX9" fmla="*/ 70673 w 303750"/>
                  <a:gd name="connsiteY9" fmla="*/ 410434 h 438750"/>
                  <a:gd name="connsiteX10" fmla="*/ 82502 w 303750"/>
                  <a:gd name="connsiteY10" fmla="*/ 422246 h 438750"/>
                  <a:gd name="connsiteX11" fmla="*/ 90416 w 303750"/>
                  <a:gd name="connsiteY11" fmla="*/ 422246 h 438750"/>
                  <a:gd name="connsiteX12" fmla="*/ 101351 w 303750"/>
                  <a:gd name="connsiteY12" fmla="*/ 427478 h 438750"/>
                  <a:gd name="connsiteX13" fmla="*/ 156802 w 303750"/>
                  <a:gd name="connsiteY13" fmla="*/ 450225 h 438750"/>
                  <a:gd name="connsiteX14" fmla="*/ 212237 w 303750"/>
                  <a:gd name="connsiteY14" fmla="*/ 427478 h 438750"/>
                  <a:gd name="connsiteX15" fmla="*/ 223172 w 303750"/>
                  <a:gd name="connsiteY15" fmla="*/ 422246 h 438750"/>
                  <a:gd name="connsiteX16" fmla="*/ 231086 w 303750"/>
                  <a:gd name="connsiteY16" fmla="*/ 422246 h 438750"/>
                  <a:gd name="connsiteX17" fmla="*/ 242916 w 303750"/>
                  <a:gd name="connsiteY17" fmla="*/ 410434 h 438750"/>
                  <a:gd name="connsiteX18" fmla="*/ 242916 w 303750"/>
                  <a:gd name="connsiteY18" fmla="*/ 381257 h 438750"/>
                  <a:gd name="connsiteX19" fmla="*/ 231086 w 303750"/>
                  <a:gd name="connsiteY19" fmla="*/ 368246 h 438750"/>
                  <a:gd name="connsiteX20" fmla="*/ 228555 w 303750"/>
                  <a:gd name="connsiteY20" fmla="*/ 362273 h 438750"/>
                  <a:gd name="connsiteX21" fmla="*/ 231812 w 303750"/>
                  <a:gd name="connsiteY21" fmla="*/ 356619 h 438750"/>
                  <a:gd name="connsiteX22" fmla="*/ 244367 w 303750"/>
                  <a:gd name="connsiteY22" fmla="*/ 333197 h 438750"/>
                  <a:gd name="connsiteX23" fmla="*/ 244367 w 303750"/>
                  <a:gd name="connsiteY23" fmla="*/ 287938 h 438750"/>
                  <a:gd name="connsiteX24" fmla="*/ 313588 w 303750"/>
                  <a:gd name="connsiteY24" fmla="*/ 157309 h 438750"/>
                  <a:gd name="connsiteX25" fmla="*/ 166421 w 303750"/>
                  <a:gd name="connsiteY25" fmla="*/ 0 h 438750"/>
                  <a:gd name="connsiteX26" fmla="*/ 211478 w 303750"/>
                  <a:gd name="connsiteY26" fmla="*/ 253699 h 438750"/>
                  <a:gd name="connsiteX27" fmla="*/ 202652 w 303750"/>
                  <a:gd name="connsiteY27" fmla="*/ 258272 h 438750"/>
                  <a:gd name="connsiteX28" fmla="*/ 202652 w 303750"/>
                  <a:gd name="connsiteY28" fmla="*/ 300274 h 438750"/>
                  <a:gd name="connsiteX29" fmla="*/ 190688 w 303750"/>
                  <a:gd name="connsiteY29" fmla="*/ 315107 h 438750"/>
                  <a:gd name="connsiteX30" fmla="*/ 172091 w 303750"/>
                  <a:gd name="connsiteY30" fmla="*/ 319022 h 438750"/>
                  <a:gd name="connsiteX31" fmla="*/ 141514 w 303750"/>
                  <a:gd name="connsiteY31" fmla="*/ 319022 h 438750"/>
                  <a:gd name="connsiteX32" fmla="*/ 122918 w 303750"/>
                  <a:gd name="connsiteY32" fmla="*/ 315107 h 438750"/>
                  <a:gd name="connsiteX33" fmla="*/ 110953 w 303750"/>
                  <a:gd name="connsiteY33" fmla="*/ 300274 h 438750"/>
                  <a:gd name="connsiteX34" fmla="*/ 110953 w 303750"/>
                  <a:gd name="connsiteY34" fmla="*/ 258255 h 438750"/>
                  <a:gd name="connsiteX35" fmla="*/ 102128 w 303750"/>
                  <a:gd name="connsiteY35" fmla="*/ 253682 h 438750"/>
                  <a:gd name="connsiteX36" fmla="*/ 48516 w 303750"/>
                  <a:gd name="connsiteY36" fmla="*/ 160161 h 438750"/>
                  <a:gd name="connsiteX37" fmla="*/ 156802 w 303750"/>
                  <a:gd name="connsiteY37" fmla="*/ 50676 h 438750"/>
                  <a:gd name="connsiteX38" fmla="*/ 265073 w 303750"/>
                  <a:gd name="connsiteY38" fmla="*/ 160161 h 438750"/>
                  <a:gd name="connsiteX39" fmla="*/ 211478 w 303750"/>
                  <a:gd name="connsiteY39" fmla="*/ 253699 h 43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03750" h="438750">
                    <a:moveTo>
                      <a:pt x="166421" y="0"/>
                    </a:moveTo>
                    <a:lnTo>
                      <a:pt x="147167" y="0"/>
                    </a:lnTo>
                    <a:cubicBezTo>
                      <a:pt x="65289" y="5181"/>
                      <a:pt x="0" y="73643"/>
                      <a:pt x="0" y="157309"/>
                    </a:cubicBezTo>
                    <a:cubicBezTo>
                      <a:pt x="0" y="214819"/>
                      <a:pt x="25380" y="260769"/>
                      <a:pt x="69221" y="287938"/>
                    </a:cubicBezTo>
                    <a:lnTo>
                      <a:pt x="69221" y="333197"/>
                    </a:lnTo>
                    <a:cubicBezTo>
                      <a:pt x="69221" y="346410"/>
                      <a:pt x="74132" y="351523"/>
                      <a:pt x="81793" y="356619"/>
                    </a:cubicBezTo>
                    <a:cubicBezTo>
                      <a:pt x="83700" y="357851"/>
                      <a:pt x="84915" y="359961"/>
                      <a:pt x="85050" y="362273"/>
                    </a:cubicBezTo>
                    <a:cubicBezTo>
                      <a:pt x="85185" y="364568"/>
                      <a:pt x="85404" y="367538"/>
                      <a:pt x="82502" y="368246"/>
                    </a:cubicBezTo>
                    <a:cubicBezTo>
                      <a:pt x="70639" y="368246"/>
                      <a:pt x="70673" y="381257"/>
                      <a:pt x="70673" y="381257"/>
                    </a:cubicBezTo>
                    <a:cubicBezTo>
                      <a:pt x="70673" y="386522"/>
                      <a:pt x="70673" y="410434"/>
                      <a:pt x="70673" y="410434"/>
                    </a:cubicBezTo>
                    <a:cubicBezTo>
                      <a:pt x="70673" y="416964"/>
                      <a:pt x="75954" y="422246"/>
                      <a:pt x="82502" y="422246"/>
                    </a:cubicBezTo>
                    <a:lnTo>
                      <a:pt x="90416" y="422246"/>
                    </a:lnTo>
                    <a:cubicBezTo>
                      <a:pt x="96744" y="422246"/>
                      <a:pt x="101351" y="427478"/>
                      <a:pt x="101351" y="427478"/>
                    </a:cubicBezTo>
                    <a:cubicBezTo>
                      <a:pt x="101351" y="427478"/>
                      <a:pt x="129178" y="450225"/>
                      <a:pt x="156802" y="450225"/>
                    </a:cubicBezTo>
                    <a:cubicBezTo>
                      <a:pt x="184815" y="450225"/>
                      <a:pt x="212237" y="427478"/>
                      <a:pt x="212237" y="427478"/>
                    </a:cubicBezTo>
                    <a:cubicBezTo>
                      <a:pt x="212237" y="427478"/>
                      <a:pt x="216844" y="422246"/>
                      <a:pt x="223172" y="422246"/>
                    </a:cubicBezTo>
                    <a:lnTo>
                      <a:pt x="231086" y="422246"/>
                    </a:lnTo>
                    <a:cubicBezTo>
                      <a:pt x="237651" y="422246"/>
                      <a:pt x="242916" y="416964"/>
                      <a:pt x="242916" y="410434"/>
                    </a:cubicBezTo>
                    <a:cubicBezTo>
                      <a:pt x="242916" y="410434"/>
                      <a:pt x="242916" y="386539"/>
                      <a:pt x="242916" y="381257"/>
                    </a:cubicBezTo>
                    <a:cubicBezTo>
                      <a:pt x="242916" y="381257"/>
                      <a:pt x="242949" y="368246"/>
                      <a:pt x="231086" y="368246"/>
                    </a:cubicBezTo>
                    <a:cubicBezTo>
                      <a:pt x="228184" y="367554"/>
                      <a:pt x="228420" y="364534"/>
                      <a:pt x="228555" y="362273"/>
                    </a:cubicBezTo>
                    <a:cubicBezTo>
                      <a:pt x="228724" y="359961"/>
                      <a:pt x="229905" y="357851"/>
                      <a:pt x="231812" y="356619"/>
                    </a:cubicBezTo>
                    <a:cubicBezTo>
                      <a:pt x="239456" y="351523"/>
                      <a:pt x="244367" y="346427"/>
                      <a:pt x="244367" y="333197"/>
                    </a:cubicBezTo>
                    <a:lnTo>
                      <a:pt x="244367" y="287938"/>
                    </a:lnTo>
                    <a:cubicBezTo>
                      <a:pt x="288208" y="260786"/>
                      <a:pt x="313588" y="214819"/>
                      <a:pt x="313588" y="157309"/>
                    </a:cubicBezTo>
                    <a:cubicBezTo>
                      <a:pt x="313588" y="73643"/>
                      <a:pt x="248333" y="5164"/>
                      <a:pt x="166421" y="0"/>
                    </a:cubicBezTo>
                    <a:close/>
                    <a:moveTo>
                      <a:pt x="211478" y="253699"/>
                    </a:moveTo>
                    <a:lnTo>
                      <a:pt x="202652" y="258272"/>
                    </a:lnTo>
                    <a:lnTo>
                      <a:pt x="202652" y="300274"/>
                    </a:lnTo>
                    <a:cubicBezTo>
                      <a:pt x="202652" y="307463"/>
                      <a:pt x="197674" y="313588"/>
                      <a:pt x="190688" y="315107"/>
                    </a:cubicBezTo>
                    <a:lnTo>
                      <a:pt x="172091" y="319022"/>
                    </a:lnTo>
                    <a:cubicBezTo>
                      <a:pt x="168953" y="319714"/>
                      <a:pt x="153968" y="322194"/>
                      <a:pt x="141514" y="319022"/>
                    </a:cubicBezTo>
                    <a:lnTo>
                      <a:pt x="122918" y="315107"/>
                    </a:lnTo>
                    <a:cubicBezTo>
                      <a:pt x="115931" y="313588"/>
                      <a:pt x="110953" y="307463"/>
                      <a:pt x="110953" y="300274"/>
                    </a:cubicBezTo>
                    <a:lnTo>
                      <a:pt x="110953" y="258255"/>
                    </a:lnTo>
                    <a:lnTo>
                      <a:pt x="102128" y="253682"/>
                    </a:lnTo>
                    <a:cubicBezTo>
                      <a:pt x="57814" y="230901"/>
                      <a:pt x="48516" y="190215"/>
                      <a:pt x="48516" y="160161"/>
                    </a:cubicBezTo>
                    <a:cubicBezTo>
                      <a:pt x="48516" y="99900"/>
                      <a:pt x="97031" y="50878"/>
                      <a:pt x="156802" y="50676"/>
                    </a:cubicBezTo>
                    <a:cubicBezTo>
                      <a:pt x="216557" y="50878"/>
                      <a:pt x="265073" y="99900"/>
                      <a:pt x="265073" y="160161"/>
                    </a:cubicBezTo>
                    <a:cubicBezTo>
                      <a:pt x="265073" y="190232"/>
                      <a:pt x="255774" y="230918"/>
                      <a:pt x="211478" y="253699"/>
                    </a:cubicBezTo>
                    <a:close/>
                  </a:path>
                </a:pathLst>
              </a:custGeom>
              <a:grpFill/>
              <a:ln w="16669" cap="flat">
                <a:noFill/>
                <a:prstDash val="solid"/>
                <a:miter/>
              </a:ln>
            </p:spPr>
            <p:txBody>
              <a:bodyPr rtlCol="0" anchor="ctr"/>
              <a:lstStyle/>
              <a:p>
                <a:pPr algn="ctr">
                  <a:lnSpc>
                    <a:spcPct val="120000"/>
                  </a:lnSpc>
                  <a:spcAft>
                    <a:spcPts val="100"/>
                  </a:spcAft>
                </a:pPr>
                <a:endParaRPr lang="zh-CN" altLang="en-US" dirty="0"/>
              </a:p>
            </p:txBody>
          </p:sp>
          <p:sp>
            <p:nvSpPr>
              <p:cNvPr id="36" name="任意多边形: 形状 35">
                <a:extLst>
                  <a:ext uri="{FF2B5EF4-FFF2-40B4-BE49-F238E27FC236}">
                    <a16:creationId xmlns:a16="http://schemas.microsoft.com/office/drawing/2014/main" id="{761A3DE7-B4CB-E6BC-BAE6-E5D248CF2448}"/>
                  </a:ext>
                </a:extLst>
              </p:cNvPr>
              <p:cNvSpPr/>
              <p:nvPr/>
            </p:nvSpPr>
            <p:spPr>
              <a:xfrm>
                <a:off x="9420525" y="2536256"/>
                <a:ext cx="50625" cy="50625"/>
              </a:xfrm>
              <a:custGeom>
                <a:avLst/>
                <a:gdLst>
                  <a:gd name="connsiteX0" fmla="*/ 57809 w 50625"/>
                  <a:gd name="connsiteY0" fmla="*/ 21352 h 50625"/>
                  <a:gd name="connsiteX1" fmla="*/ 54839 w 50625"/>
                  <a:gd name="connsiteY1" fmla="*/ 10468 h 50625"/>
                  <a:gd name="connsiteX2" fmla="*/ 50417 w 50625"/>
                  <a:gd name="connsiteY2" fmla="*/ 5051 h 50625"/>
                  <a:gd name="connsiteX3" fmla="*/ 40309 w 50625"/>
                  <a:gd name="connsiteY3" fmla="*/ 22 h 50625"/>
                  <a:gd name="connsiteX4" fmla="*/ 29746 w 50625"/>
                  <a:gd name="connsiteY4" fmla="*/ 3903 h 50625"/>
                  <a:gd name="connsiteX5" fmla="*/ 4349 w 50625"/>
                  <a:gd name="connsiteY5" fmla="*/ 28052 h 50625"/>
                  <a:gd name="connsiteX6" fmla="*/ 3218 w 50625"/>
                  <a:gd name="connsiteY6" fmla="*/ 47340 h 50625"/>
                  <a:gd name="connsiteX7" fmla="*/ 4096 w 50625"/>
                  <a:gd name="connsiteY7" fmla="*/ 48369 h 50625"/>
                  <a:gd name="connsiteX8" fmla="*/ 23215 w 50625"/>
                  <a:gd name="connsiteY8" fmla="*/ 51035 h 50625"/>
                  <a:gd name="connsiteX9" fmla="*/ 51886 w 50625"/>
                  <a:gd name="connsiteY9" fmla="*/ 30920 h 50625"/>
                  <a:gd name="connsiteX10" fmla="*/ 57809 w 50625"/>
                  <a:gd name="connsiteY10" fmla="*/ 21352 h 50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625" h="50625">
                    <a:moveTo>
                      <a:pt x="57809" y="21352"/>
                    </a:moveTo>
                    <a:cubicBezTo>
                      <a:pt x="58399" y="17488"/>
                      <a:pt x="57319" y="13556"/>
                      <a:pt x="54839" y="10468"/>
                    </a:cubicBezTo>
                    <a:cubicBezTo>
                      <a:pt x="53387" y="8645"/>
                      <a:pt x="51903" y="6857"/>
                      <a:pt x="50417" y="5051"/>
                    </a:cubicBezTo>
                    <a:cubicBezTo>
                      <a:pt x="47886" y="2064"/>
                      <a:pt x="44258" y="242"/>
                      <a:pt x="40309" y="22"/>
                    </a:cubicBezTo>
                    <a:cubicBezTo>
                      <a:pt x="36445" y="-197"/>
                      <a:pt x="32581" y="1220"/>
                      <a:pt x="29746" y="3903"/>
                    </a:cubicBezTo>
                    <a:lnTo>
                      <a:pt x="4349" y="28052"/>
                    </a:lnTo>
                    <a:cubicBezTo>
                      <a:pt x="-984" y="33198"/>
                      <a:pt x="-1473" y="41619"/>
                      <a:pt x="3218" y="47340"/>
                    </a:cubicBezTo>
                    <a:cubicBezTo>
                      <a:pt x="3539" y="47677"/>
                      <a:pt x="3775" y="48015"/>
                      <a:pt x="4096" y="48369"/>
                    </a:cubicBezTo>
                    <a:cubicBezTo>
                      <a:pt x="8753" y="54140"/>
                      <a:pt x="17106" y="55322"/>
                      <a:pt x="23215" y="51035"/>
                    </a:cubicBezTo>
                    <a:lnTo>
                      <a:pt x="51886" y="30920"/>
                    </a:lnTo>
                    <a:cubicBezTo>
                      <a:pt x="55075" y="28676"/>
                      <a:pt x="57218" y="25217"/>
                      <a:pt x="57809" y="21352"/>
                    </a:cubicBezTo>
                    <a:close/>
                  </a:path>
                </a:pathLst>
              </a:custGeom>
              <a:grpFill/>
              <a:ln w="16669" cap="flat">
                <a:noFill/>
                <a:prstDash val="solid"/>
                <a:miter/>
              </a:ln>
            </p:spPr>
            <p:txBody>
              <a:bodyPr rtlCol="0" anchor="ctr"/>
              <a:lstStyle/>
              <a:p>
                <a:pPr algn="ctr">
                  <a:lnSpc>
                    <a:spcPct val="120000"/>
                  </a:lnSpc>
                  <a:spcAft>
                    <a:spcPts val="100"/>
                  </a:spcAft>
                </a:pPr>
                <a:endParaRPr lang="zh-CN" altLang="en-US"/>
              </a:p>
            </p:txBody>
          </p:sp>
          <p:sp>
            <p:nvSpPr>
              <p:cNvPr id="37" name="任意多边形: 形状 36">
                <a:extLst>
                  <a:ext uri="{FF2B5EF4-FFF2-40B4-BE49-F238E27FC236}">
                    <a16:creationId xmlns:a16="http://schemas.microsoft.com/office/drawing/2014/main" id="{AAF42CB4-FD29-AAB6-4E81-ACC6941DEF2D}"/>
                  </a:ext>
                </a:extLst>
              </p:cNvPr>
              <p:cNvSpPr/>
              <p:nvPr/>
            </p:nvSpPr>
            <p:spPr>
              <a:xfrm>
                <a:off x="9260846" y="2453000"/>
                <a:ext cx="33750" cy="50625"/>
              </a:xfrm>
              <a:custGeom>
                <a:avLst/>
                <a:gdLst>
                  <a:gd name="connsiteX0" fmla="*/ 17383 w 33750"/>
                  <a:gd name="connsiteY0" fmla="*/ 63332 h 50625"/>
                  <a:gd name="connsiteX1" fmla="*/ 18666 w 33750"/>
                  <a:gd name="connsiteY1" fmla="*/ 63315 h 50625"/>
                  <a:gd name="connsiteX2" fmla="*/ 32706 w 33750"/>
                  <a:gd name="connsiteY2" fmla="*/ 50051 h 50625"/>
                  <a:gd name="connsiteX3" fmla="*/ 34950 w 33750"/>
                  <a:gd name="connsiteY3" fmla="*/ 15086 h 50625"/>
                  <a:gd name="connsiteX4" fmla="*/ 31136 w 33750"/>
                  <a:gd name="connsiteY4" fmla="*/ 4506 h 50625"/>
                  <a:gd name="connsiteX5" fmla="*/ 20859 w 33750"/>
                  <a:gd name="connsiteY5" fmla="*/ 0 h 50625"/>
                  <a:gd name="connsiteX6" fmla="*/ 13823 w 33750"/>
                  <a:gd name="connsiteY6" fmla="*/ 68 h 50625"/>
                  <a:gd name="connsiteX7" fmla="*/ 3613 w 33750"/>
                  <a:gd name="connsiteY7" fmla="*/ 4793 h 50625"/>
                  <a:gd name="connsiteX8" fmla="*/ 53 w 33750"/>
                  <a:gd name="connsiteY8" fmla="*/ 15474 h 50625"/>
                  <a:gd name="connsiteX9" fmla="*/ 3073 w 33750"/>
                  <a:gd name="connsiteY9" fmla="*/ 50389 h 50625"/>
                  <a:gd name="connsiteX10" fmla="*/ 17383 w 33750"/>
                  <a:gd name="connsiteY10" fmla="*/ 63332 h 50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750" h="50625">
                    <a:moveTo>
                      <a:pt x="17383" y="63332"/>
                    </a:moveTo>
                    <a:cubicBezTo>
                      <a:pt x="17805" y="63315"/>
                      <a:pt x="18244" y="63315"/>
                      <a:pt x="18666" y="63315"/>
                    </a:cubicBezTo>
                    <a:cubicBezTo>
                      <a:pt x="26091" y="63264"/>
                      <a:pt x="32233" y="57476"/>
                      <a:pt x="32706" y="50051"/>
                    </a:cubicBezTo>
                    <a:lnTo>
                      <a:pt x="34950" y="15086"/>
                    </a:lnTo>
                    <a:cubicBezTo>
                      <a:pt x="35203" y="11188"/>
                      <a:pt x="33853" y="7358"/>
                      <a:pt x="31136" y="4506"/>
                    </a:cubicBezTo>
                    <a:cubicBezTo>
                      <a:pt x="28504" y="1637"/>
                      <a:pt x="24741" y="17"/>
                      <a:pt x="20859" y="0"/>
                    </a:cubicBezTo>
                    <a:cubicBezTo>
                      <a:pt x="18497" y="0"/>
                      <a:pt x="16168" y="17"/>
                      <a:pt x="13823" y="68"/>
                    </a:cubicBezTo>
                    <a:cubicBezTo>
                      <a:pt x="9924" y="169"/>
                      <a:pt x="6212" y="1873"/>
                      <a:pt x="3613" y="4793"/>
                    </a:cubicBezTo>
                    <a:cubicBezTo>
                      <a:pt x="1014" y="7712"/>
                      <a:pt x="-285" y="11593"/>
                      <a:pt x="53" y="15474"/>
                    </a:cubicBezTo>
                    <a:lnTo>
                      <a:pt x="3073" y="50389"/>
                    </a:lnTo>
                    <a:cubicBezTo>
                      <a:pt x="3714" y="57780"/>
                      <a:pt x="9958" y="63433"/>
                      <a:pt x="17383" y="63332"/>
                    </a:cubicBezTo>
                    <a:close/>
                  </a:path>
                </a:pathLst>
              </a:custGeom>
              <a:grpFill/>
              <a:ln w="16669" cap="flat">
                <a:noFill/>
                <a:prstDash val="solid"/>
                <a:miter/>
              </a:ln>
            </p:spPr>
            <p:txBody>
              <a:bodyPr rtlCol="0" anchor="ctr"/>
              <a:lstStyle/>
              <a:p>
                <a:pPr algn="ctr">
                  <a:lnSpc>
                    <a:spcPct val="120000"/>
                  </a:lnSpc>
                  <a:spcAft>
                    <a:spcPts val="100"/>
                  </a:spcAft>
                </a:pPr>
                <a:endParaRPr lang="zh-CN" altLang="en-US"/>
              </a:p>
            </p:txBody>
          </p:sp>
          <p:sp>
            <p:nvSpPr>
              <p:cNvPr id="38" name="任意多边形: 形状 37">
                <a:extLst>
                  <a:ext uri="{FF2B5EF4-FFF2-40B4-BE49-F238E27FC236}">
                    <a16:creationId xmlns:a16="http://schemas.microsoft.com/office/drawing/2014/main" id="{F14112A7-56F5-B0AC-3FDD-02C242AE9AE1}"/>
                  </a:ext>
                </a:extLst>
              </p:cNvPr>
              <p:cNvSpPr/>
              <p:nvPr/>
            </p:nvSpPr>
            <p:spPr>
              <a:xfrm>
                <a:off x="9038676" y="2732680"/>
                <a:ext cx="50625" cy="33750"/>
              </a:xfrm>
              <a:custGeom>
                <a:avLst/>
                <a:gdLst>
                  <a:gd name="connsiteX0" fmla="*/ 62585 w 50625"/>
                  <a:gd name="connsiteY0" fmla="*/ 10890 h 33750"/>
                  <a:gd name="connsiteX1" fmla="*/ 46537 w 50625"/>
                  <a:gd name="connsiteY1" fmla="*/ 175 h 33750"/>
                  <a:gd name="connsiteX2" fmla="*/ 11927 w 50625"/>
                  <a:gd name="connsiteY2" fmla="*/ 5862 h 33750"/>
                  <a:gd name="connsiteX3" fmla="*/ 2443 w 50625"/>
                  <a:gd name="connsiteY3" fmla="*/ 11903 h 33750"/>
                  <a:gd name="connsiteX4" fmla="*/ 334 w 50625"/>
                  <a:gd name="connsiteY4" fmla="*/ 22939 h 33750"/>
                  <a:gd name="connsiteX5" fmla="*/ 1987 w 50625"/>
                  <a:gd name="connsiteY5" fmla="*/ 29740 h 33750"/>
                  <a:gd name="connsiteX6" fmla="*/ 8855 w 50625"/>
                  <a:gd name="connsiteY6" fmla="*/ 38599 h 33750"/>
                  <a:gd name="connsiteX7" fmla="*/ 20060 w 50625"/>
                  <a:gd name="connsiteY7" fmla="*/ 39645 h 33750"/>
                  <a:gd name="connsiteX8" fmla="*/ 53439 w 50625"/>
                  <a:gd name="connsiteY8" fmla="*/ 28930 h 33750"/>
                  <a:gd name="connsiteX9" fmla="*/ 62889 w 50625"/>
                  <a:gd name="connsiteY9" fmla="*/ 12089 h 33750"/>
                  <a:gd name="connsiteX10" fmla="*/ 62585 w 50625"/>
                  <a:gd name="connsiteY10" fmla="*/ 10890 h 33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625" h="33750">
                    <a:moveTo>
                      <a:pt x="62585" y="10890"/>
                    </a:moveTo>
                    <a:cubicBezTo>
                      <a:pt x="60881" y="3634"/>
                      <a:pt x="53878" y="-973"/>
                      <a:pt x="46537" y="175"/>
                    </a:cubicBezTo>
                    <a:lnTo>
                      <a:pt x="11927" y="5862"/>
                    </a:lnTo>
                    <a:cubicBezTo>
                      <a:pt x="8062" y="6486"/>
                      <a:pt x="4637" y="8663"/>
                      <a:pt x="2443" y="11903"/>
                    </a:cubicBezTo>
                    <a:cubicBezTo>
                      <a:pt x="266" y="15109"/>
                      <a:pt x="-510" y="19142"/>
                      <a:pt x="334" y="22939"/>
                    </a:cubicBezTo>
                    <a:cubicBezTo>
                      <a:pt x="840" y="25217"/>
                      <a:pt x="1397" y="27512"/>
                      <a:pt x="1987" y="29740"/>
                    </a:cubicBezTo>
                    <a:cubicBezTo>
                      <a:pt x="2949" y="33554"/>
                      <a:pt x="5430" y="36760"/>
                      <a:pt x="8855" y="38599"/>
                    </a:cubicBezTo>
                    <a:cubicBezTo>
                      <a:pt x="12281" y="40472"/>
                      <a:pt x="16331" y="40945"/>
                      <a:pt x="20060" y="39645"/>
                    </a:cubicBezTo>
                    <a:lnTo>
                      <a:pt x="53439" y="28930"/>
                    </a:lnTo>
                    <a:cubicBezTo>
                      <a:pt x="60493" y="26635"/>
                      <a:pt x="64644" y="19311"/>
                      <a:pt x="62889" y="12089"/>
                    </a:cubicBezTo>
                    <a:cubicBezTo>
                      <a:pt x="62788" y="11768"/>
                      <a:pt x="62687" y="11312"/>
                      <a:pt x="62585" y="10890"/>
                    </a:cubicBezTo>
                    <a:close/>
                  </a:path>
                </a:pathLst>
              </a:custGeom>
              <a:grpFill/>
              <a:ln w="16669" cap="flat">
                <a:noFill/>
                <a:prstDash val="solid"/>
                <a:miter/>
              </a:ln>
            </p:spPr>
            <p:txBody>
              <a:bodyPr rtlCol="0" anchor="ctr"/>
              <a:lstStyle/>
              <a:p>
                <a:pPr algn="ctr">
                  <a:lnSpc>
                    <a:spcPct val="120000"/>
                  </a:lnSpc>
                  <a:spcAft>
                    <a:spcPts val="100"/>
                  </a:spcAft>
                </a:pPr>
                <a:endParaRPr lang="zh-CN" altLang="en-US"/>
              </a:p>
            </p:txBody>
          </p:sp>
          <p:sp>
            <p:nvSpPr>
              <p:cNvPr id="39" name="任意多边形: 形状 38">
                <a:extLst>
                  <a:ext uri="{FF2B5EF4-FFF2-40B4-BE49-F238E27FC236}">
                    <a16:creationId xmlns:a16="http://schemas.microsoft.com/office/drawing/2014/main" id="{319F01D5-6C95-C62F-E8F8-C805A05D5B4F}"/>
                  </a:ext>
                </a:extLst>
              </p:cNvPr>
              <p:cNvSpPr/>
              <p:nvPr/>
            </p:nvSpPr>
            <p:spPr>
              <a:xfrm>
                <a:off x="9080336" y="2540605"/>
                <a:ext cx="50625" cy="50625"/>
              </a:xfrm>
              <a:custGeom>
                <a:avLst/>
                <a:gdLst>
                  <a:gd name="connsiteX0" fmla="*/ 54540 w 50625"/>
                  <a:gd name="connsiteY0" fmla="*/ 47529 h 50625"/>
                  <a:gd name="connsiteX1" fmla="*/ 55367 w 50625"/>
                  <a:gd name="connsiteY1" fmla="*/ 46483 h 50625"/>
                  <a:gd name="connsiteX2" fmla="*/ 53730 w 50625"/>
                  <a:gd name="connsiteY2" fmla="*/ 27229 h 50625"/>
                  <a:gd name="connsiteX3" fmla="*/ 27793 w 50625"/>
                  <a:gd name="connsiteY3" fmla="*/ 3688 h 50625"/>
                  <a:gd name="connsiteX4" fmla="*/ 17145 w 50625"/>
                  <a:gd name="connsiteY4" fmla="*/ 43 h 50625"/>
                  <a:gd name="connsiteX5" fmla="*/ 7206 w 50625"/>
                  <a:gd name="connsiteY5" fmla="*/ 5291 h 50625"/>
                  <a:gd name="connsiteX6" fmla="*/ 2869 w 50625"/>
                  <a:gd name="connsiteY6" fmla="*/ 10843 h 50625"/>
                  <a:gd name="connsiteX7" fmla="*/ 202 w 50625"/>
                  <a:gd name="connsiteY7" fmla="*/ 21778 h 50625"/>
                  <a:gd name="connsiteX8" fmla="*/ 6311 w 50625"/>
                  <a:gd name="connsiteY8" fmla="*/ 31211 h 50625"/>
                  <a:gd name="connsiteX9" fmla="*/ 35488 w 50625"/>
                  <a:gd name="connsiteY9" fmla="*/ 50634 h 50625"/>
                  <a:gd name="connsiteX10" fmla="*/ 54540 w 50625"/>
                  <a:gd name="connsiteY10" fmla="*/ 47529 h 50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625" h="50625">
                    <a:moveTo>
                      <a:pt x="54540" y="47529"/>
                    </a:moveTo>
                    <a:cubicBezTo>
                      <a:pt x="54827" y="47175"/>
                      <a:pt x="55080" y="46820"/>
                      <a:pt x="55367" y="46483"/>
                    </a:cubicBezTo>
                    <a:cubicBezTo>
                      <a:pt x="59957" y="40610"/>
                      <a:pt x="59231" y="32224"/>
                      <a:pt x="53730" y="27229"/>
                    </a:cubicBezTo>
                    <a:lnTo>
                      <a:pt x="27793" y="3688"/>
                    </a:lnTo>
                    <a:cubicBezTo>
                      <a:pt x="24891" y="1055"/>
                      <a:pt x="21043" y="-261"/>
                      <a:pt x="17145" y="43"/>
                    </a:cubicBezTo>
                    <a:cubicBezTo>
                      <a:pt x="13264" y="364"/>
                      <a:pt x="9652" y="2254"/>
                      <a:pt x="7206" y="5291"/>
                    </a:cubicBezTo>
                    <a:cubicBezTo>
                      <a:pt x="5721" y="7130"/>
                      <a:pt x="4286" y="8970"/>
                      <a:pt x="2869" y="10843"/>
                    </a:cubicBezTo>
                    <a:cubicBezTo>
                      <a:pt x="506" y="13982"/>
                      <a:pt x="-456" y="17914"/>
                      <a:pt x="202" y="21778"/>
                    </a:cubicBezTo>
                    <a:cubicBezTo>
                      <a:pt x="861" y="25625"/>
                      <a:pt x="3071" y="29017"/>
                      <a:pt x="6311" y="31211"/>
                    </a:cubicBezTo>
                    <a:lnTo>
                      <a:pt x="35488" y="50634"/>
                    </a:lnTo>
                    <a:cubicBezTo>
                      <a:pt x="41664" y="54752"/>
                      <a:pt x="50001" y="53385"/>
                      <a:pt x="54540" y="47529"/>
                    </a:cubicBezTo>
                    <a:close/>
                  </a:path>
                </a:pathLst>
              </a:custGeom>
              <a:grpFill/>
              <a:ln w="16669" cap="flat">
                <a:noFill/>
                <a:prstDash val="solid"/>
                <a:miter/>
              </a:ln>
            </p:spPr>
            <p:txBody>
              <a:bodyPr rtlCol="0" anchor="ctr"/>
              <a:lstStyle/>
              <a:p>
                <a:pPr algn="ctr">
                  <a:lnSpc>
                    <a:spcPct val="120000"/>
                  </a:lnSpc>
                  <a:spcAft>
                    <a:spcPts val="100"/>
                  </a:spcAft>
                </a:pPr>
                <a:endParaRPr lang="zh-CN" altLang="en-US"/>
              </a:p>
            </p:txBody>
          </p:sp>
          <p:sp>
            <p:nvSpPr>
              <p:cNvPr id="40" name="任意多边形: 形状 39">
                <a:extLst>
                  <a:ext uri="{FF2B5EF4-FFF2-40B4-BE49-F238E27FC236}">
                    <a16:creationId xmlns:a16="http://schemas.microsoft.com/office/drawing/2014/main" id="{F6ECCA4A-5473-BB58-D6E6-AE2C0114E73B}"/>
                  </a:ext>
                </a:extLst>
              </p:cNvPr>
              <p:cNvSpPr/>
              <p:nvPr/>
            </p:nvSpPr>
            <p:spPr>
              <a:xfrm>
                <a:off x="9461087" y="2728751"/>
                <a:ext cx="50625" cy="33750"/>
              </a:xfrm>
              <a:custGeom>
                <a:avLst/>
                <a:gdLst>
                  <a:gd name="connsiteX0" fmla="*/ 60817 w 50625"/>
                  <a:gd name="connsiteY0" fmla="*/ 10904 h 33750"/>
                  <a:gd name="connsiteX1" fmla="*/ 51216 w 50625"/>
                  <a:gd name="connsiteY1" fmla="*/ 5049 h 33750"/>
                  <a:gd name="connsiteX2" fmla="*/ 16554 w 50625"/>
                  <a:gd name="connsiteY2" fmla="*/ 138 h 33750"/>
                  <a:gd name="connsiteX3" fmla="*/ 726 w 50625"/>
                  <a:gd name="connsiteY3" fmla="*/ 11191 h 33750"/>
                  <a:gd name="connsiteX4" fmla="*/ 371 w 50625"/>
                  <a:gd name="connsiteY4" fmla="*/ 12508 h 33750"/>
                  <a:gd name="connsiteX5" fmla="*/ 10142 w 50625"/>
                  <a:gd name="connsiteY5" fmla="*/ 29079 h 33750"/>
                  <a:gd name="connsiteX6" fmla="*/ 43689 w 50625"/>
                  <a:gd name="connsiteY6" fmla="*/ 39052 h 33750"/>
                  <a:gd name="connsiteX7" fmla="*/ 54861 w 50625"/>
                  <a:gd name="connsiteY7" fmla="*/ 37786 h 33750"/>
                  <a:gd name="connsiteX8" fmla="*/ 61543 w 50625"/>
                  <a:gd name="connsiteY8" fmla="*/ 28724 h 33750"/>
                  <a:gd name="connsiteX9" fmla="*/ 63028 w 50625"/>
                  <a:gd name="connsiteY9" fmla="*/ 21907 h 33750"/>
                  <a:gd name="connsiteX10" fmla="*/ 60817 w 50625"/>
                  <a:gd name="connsiteY10" fmla="*/ 10904 h 33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625" h="33750">
                    <a:moveTo>
                      <a:pt x="60817" y="10904"/>
                    </a:moveTo>
                    <a:cubicBezTo>
                      <a:pt x="58539" y="7732"/>
                      <a:pt x="55080" y="5606"/>
                      <a:pt x="51216" y="5049"/>
                    </a:cubicBezTo>
                    <a:lnTo>
                      <a:pt x="16554" y="138"/>
                    </a:lnTo>
                    <a:cubicBezTo>
                      <a:pt x="9197" y="-891"/>
                      <a:pt x="2278" y="3935"/>
                      <a:pt x="726" y="11191"/>
                    </a:cubicBezTo>
                    <a:cubicBezTo>
                      <a:pt x="557" y="11563"/>
                      <a:pt x="472" y="12103"/>
                      <a:pt x="371" y="12508"/>
                    </a:cubicBezTo>
                    <a:cubicBezTo>
                      <a:pt x="-1333" y="19764"/>
                      <a:pt x="2987" y="26936"/>
                      <a:pt x="10142" y="29079"/>
                    </a:cubicBezTo>
                    <a:lnTo>
                      <a:pt x="43689" y="39052"/>
                    </a:lnTo>
                    <a:cubicBezTo>
                      <a:pt x="47503" y="40149"/>
                      <a:pt x="51502" y="39676"/>
                      <a:pt x="54861" y="37786"/>
                    </a:cubicBezTo>
                    <a:cubicBezTo>
                      <a:pt x="58219" y="35812"/>
                      <a:pt x="60666" y="32521"/>
                      <a:pt x="61543" y="28724"/>
                    </a:cubicBezTo>
                    <a:cubicBezTo>
                      <a:pt x="62066" y="26379"/>
                      <a:pt x="62572" y="24151"/>
                      <a:pt x="63028" y="21907"/>
                    </a:cubicBezTo>
                    <a:cubicBezTo>
                      <a:pt x="63906" y="18059"/>
                      <a:pt x="63062" y="14094"/>
                      <a:pt x="60817" y="10904"/>
                    </a:cubicBezTo>
                    <a:close/>
                  </a:path>
                </a:pathLst>
              </a:custGeom>
              <a:grpFill/>
              <a:ln w="16669" cap="flat">
                <a:noFill/>
                <a:prstDash val="solid"/>
                <a:miter/>
              </a:ln>
            </p:spPr>
            <p:txBody>
              <a:bodyPr rtlCol="0" anchor="ctr"/>
              <a:lstStyle/>
              <a:p>
                <a:pPr algn="ctr">
                  <a:lnSpc>
                    <a:spcPct val="120000"/>
                  </a:lnSpc>
                  <a:spcAft>
                    <a:spcPts val="100"/>
                  </a:spcAft>
                </a:pPr>
                <a:endParaRPr lang="zh-CN" altLang="en-US"/>
              </a:p>
            </p:txBody>
          </p:sp>
        </p:grpSp>
        <p:sp>
          <p:nvSpPr>
            <p:cNvPr id="41" name="文本框 40">
              <a:extLst>
                <a:ext uri="{FF2B5EF4-FFF2-40B4-BE49-F238E27FC236}">
                  <a16:creationId xmlns:a16="http://schemas.microsoft.com/office/drawing/2014/main" id="{EFDE515D-A536-E02F-A0B0-B2A3744AE708}"/>
                </a:ext>
              </a:extLst>
            </p:cNvPr>
            <p:cNvSpPr txBox="1"/>
            <p:nvPr/>
          </p:nvSpPr>
          <p:spPr>
            <a:xfrm>
              <a:off x="6915181" y="3505322"/>
              <a:ext cx="4824859" cy="338554"/>
            </a:xfrm>
            <a:prstGeom prst="rect">
              <a:avLst/>
            </a:prstGeom>
            <a:noFill/>
          </p:spPr>
          <p:txBody>
            <a:bodyPr wrap="square">
              <a:spAutoFit/>
            </a:bodyPr>
            <a:lstStyle/>
            <a:p>
              <a:r>
                <a:rPr lang="zh-CN" altLang="en-US" sz="1600" b="1" dirty="0"/>
                <a:t>状态数据仅占据域数据的一</a:t>
              </a:r>
              <a:r>
                <a:rPr lang="zh-CN" altLang="en-US" sz="1600" b="1" dirty="0">
                  <a:solidFill>
                    <a:srgbClr val="FF0000"/>
                  </a:solidFill>
                </a:rPr>
                <a:t>小部分</a:t>
              </a:r>
              <a:r>
                <a:rPr lang="en-US" altLang="zh-CN" sz="1600" b="1" dirty="0"/>
                <a:t>(</a:t>
              </a:r>
              <a:r>
                <a:rPr lang="zh-CN" altLang="en-US" sz="1600" b="1" dirty="0"/>
                <a:t>全局变量、堆</a:t>
              </a:r>
              <a:r>
                <a:rPr lang="en-US" altLang="zh-CN" sz="1600" b="1" dirty="0"/>
                <a:t>)</a:t>
              </a:r>
              <a:endParaRPr lang="zh-CN" altLang="en-US" sz="1600" dirty="0"/>
            </a:p>
          </p:txBody>
        </p:sp>
      </p:grpSp>
      <p:sp>
        <p:nvSpPr>
          <p:cNvPr id="44" name="矩形 43">
            <a:extLst>
              <a:ext uri="{FF2B5EF4-FFF2-40B4-BE49-F238E27FC236}">
                <a16:creationId xmlns:a16="http://schemas.microsoft.com/office/drawing/2014/main" id="{78D7162F-EF52-149E-ED85-5700387C0FDE}"/>
              </a:ext>
            </a:extLst>
          </p:cNvPr>
          <p:cNvSpPr/>
          <p:nvPr/>
        </p:nvSpPr>
        <p:spPr>
          <a:xfrm>
            <a:off x="9505616" y="4423470"/>
            <a:ext cx="607248" cy="16801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t>有状态域</a:t>
            </a:r>
          </a:p>
        </p:txBody>
      </p:sp>
      <p:sp>
        <p:nvSpPr>
          <p:cNvPr id="47" name="矩形 46">
            <a:extLst>
              <a:ext uri="{FF2B5EF4-FFF2-40B4-BE49-F238E27FC236}">
                <a16:creationId xmlns:a16="http://schemas.microsoft.com/office/drawing/2014/main" id="{DD162581-E779-EED3-EB25-42223BD182C2}"/>
              </a:ext>
            </a:extLst>
          </p:cNvPr>
          <p:cNvSpPr/>
          <p:nvPr/>
        </p:nvSpPr>
        <p:spPr>
          <a:xfrm>
            <a:off x="11132792" y="4423471"/>
            <a:ext cx="607248" cy="16801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t>无状态域</a:t>
            </a:r>
          </a:p>
        </p:txBody>
      </p:sp>
      <p:sp>
        <p:nvSpPr>
          <p:cNvPr id="51" name="加号 50">
            <a:extLst>
              <a:ext uri="{FF2B5EF4-FFF2-40B4-BE49-F238E27FC236}">
                <a16:creationId xmlns:a16="http://schemas.microsoft.com/office/drawing/2014/main" id="{9FAADA84-8226-AB44-389B-7BD921E80C7C}"/>
              </a:ext>
            </a:extLst>
          </p:cNvPr>
          <p:cNvSpPr/>
          <p:nvPr/>
        </p:nvSpPr>
        <p:spPr>
          <a:xfrm>
            <a:off x="10232497" y="4813891"/>
            <a:ext cx="731925" cy="669110"/>
          </a:xfrm>
          <a:prstGeom prst="mathPlus">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2" name="组合 51">
            <a:extLst>
              <a:ext uri="{FF2B5EF4-FFF2-40B4-BE49-F238E27FC236}">
                <a16:creationId xmlns:a16="http://schemas.microsoft.com/office/drawing/2014/main" id="{79238490-2162-0590-AC1E-93021C4E4ECC}"/>
              </a:ext>
            </a:extLst>
          </p:cNvPr>
          <p:cNvGrpSpPr/>
          <p:nvPr/>
        </p:nvGrpSpPr>
        <p:grpSpPr>
          <a:xfrm rot="5400000">
            <a:off x="8954924" y="3902180"/>
            <a:ext cx="278665" cy="597268"/>
            <a:chOff x="925326" y="3986924"/>
            <a:chExt cx="1445172" cy="1117600"/>
          </a:xfrm>
        </p:grpSpPr>
        <p:sp>
          <p:nvSpPr>
            <p:cNvPr id="53" name="等腰三角形 52">
              <a:extLst>
                <a:ext uri="{FF2B5EF4-FFF2-40B4-BE49-F238E27FC236}">
                  <a16:creationId xmlns:a16="http://schemas.microsoft.com/office/drawing/2014/main" id="{73EB1FE4-75BE-A34F-DDBB-104EE5748A86}"/>
                </a:ext>
              </a:extLst>
            </p:cNvPr>
            <p:cNvSpPr/>
            <p:nvPr/>
          </p:nvSpPr>
          <p:spPr>
            <a:xfrm rot="5400000">
              <a:off x="1329974" y="4064000"/>
              <a:ext cx="1117600" cy="963448"/>
            </a:xfrm>
            <a:prstGeom prst="triangle">
              <a:avLst/>
            </a:prstGeom>
            <a:gradFill>
              <a:gsLst>
                <a:gs pos="100000">
                  <a:schemeClr val="bg1"/>
                </a:gs>
                <a:gs pos="1000">
                  <a:srgbClr val="C00000"/>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等腰三角形 53">
              <a:extLst>
                <a:ext uri="{FF2B5EF4-FFF2-40B4-BE49-F238E27FC236}">
                  <a16:creationId xmlns:a16="http://schemas.microsoft.com/office/drawing/2014/main" id="{6D9E247A-2E1F-99AB-4F88-69D575332BB0}"/>
                </a:ext>
              </a:extLst>
            </p:cNvPr>
            <p:cNvSpPr/>
            <p:nvPr/>
          </p:nvSpPr>
          <p:spPr>
            <a:xfrm rot="5400000">
              <a:off x="848250" y="4064000"/>
              <a:ext cx="1117600" cy="963447"/>
            </a:xfrm>
            <a:prstGeom prst="triangle">
              <a:avLst/>
            </a:prstGeom>
            <a:gradFill>
              <a:gsLst>
                <a:gs pos="100000">
                  <a:schemeClr val="bg1"/>
                </a:gs>
                <a:gs pos="1000">
                  <a:srgbClr val="C00000"/>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5" name="组合 44">
            <a:extLst>
              <a:ext uri="{FF2B5EF4-FFF2-40B4-BE49-F238E27FC236}">
                <a16:creationId xmlns:a16="http://schemas.microsoft.com/office/drawing/2014/main" id="{1E8FA876-58CA-A6CC-3BDB-D6B2D4614C75}"/>
              </a:ext>
            </a:extLst>
          </p:cNvPr>
          <p:cNvGrpSpPr/>
          <p:nvPr/>
        </p:nvGrpSpPr>
        <p:grpSpPr>
          <a:xfrm>
            <a:off x="6465326" y="4440811"/>
            <a:ext cx="2927563" cy="1662836"/>
            <a:chOff x="6465326" y="4440811"/>
            <a:chExt cx="2927563" cy="1662836"/>
          </a:xfrm>
        </p:grpSpPr>
        <p:sp>
          <p:nvSpPr>
            <p:cNvPr id="42" name="矩形: 剪去单角 41">
              <a:extLst>
                <a:ext uri="{FF2B5EF4-FFF2-40B4-BE49-F238E27FC236}">
                  <a16:creationId xmlns:a16="http://schemas.microsoft.com/office/drawing/2014/main" id="{786106F2-FD44-0C5D-6A04-8CAC00B9E3CE}"/>
                </a:ext>
              </a:extLst>
            </p:cNvPr>
            <p:cNvSpPr/>
            <p:nvPr/>
          </p:nvSpPr>
          <p:spPr>
            <a:xfrm flipH="1">
              <a:off x="6465326" y="4440811"/>
              <a:ext cx="2927563" cy="1662836"/>
            </a:xfrm>
            <a:custGeom>
              <a:avLst/>
              <a:gdLst>
                <a:gd name="csX0" fmla="*/ 0 w 2927563"/>
                <a:gd name="csY0" fmla="*/ 0 h 1662836"/>
                <a:gd name="csX1" fmla="*/ 689109 w 2927563"/>
                <a:gd name="csY1" fmla="*/ 0 h 1662836"/>
                <a:gd name="csX2" fmla="*/ 1272201 w 2927563"/>
                <a:gd name="csY2" fmla="*/ 0 h 1662836"/>
                <a:gd name="csX3" fmla="*/ 1881797 w 2927563"/>
                <a:gd name="csY3" fmla="*/ 0 h 1662836"/>
                <a:gd name="csX4" fmla="*/ 2650418 w 2927563"/>
                <a:gd name="csY4" fmla="*/ 0 h 1662836"/>
                <a:gd name="csX5" fmla="*/ 2927563 w 2927563"/>
                <a:gd name="csY5" fmla="*/ 277145 h 1662836"/>
                <a:gd name="csX6" fmla="*/ 2927563 w 2927563"/>
                <a:gd name="csY6" fmla="*/ 969991 h 1662836"/>
                <a:gd name="csX7" fmla="*/ 2927563 w 2927563"/>
                <a:gd name="csY7" fmla="*/ 1662836 h 1662836"/>
                <a:gd name="csX8" fmla="*/ 2342050 w 2927563"/>
                <a:gd name="csY8" fmla="*/ 1662836 h 1662836"/>
                <a:gd name="csX9" fmla="*/ 1815089 w 2927563"/>
                <a:gd name="csY9" fmla="*/ 1662836 h 1662836"/>
                <a:gd name="csX10" fmla="*/ 1200301 w 2927563"/>
                <a:gd name="csY10" fmla="*/ 1662836 h 1662836"/>
                <a:gd name="csX11" fmla="*/ 673339 w 2927563"/>
                <a:gd name="csY11" fmla="*/ 1662836 h 1662836"/>
                <a:gd name="csX12" fmla="*/ 0 w 2927563"/>
                <a:gd name="csY12" fmla="*/ 1662836 h 1662836"/>
                <a:gd name="csX13" fmla="*/ 0 w 2927563"/>
                <a:gd name="csY13" fmla="*/ 1158442 h 1662836"/>
                <a:gd name="csX14" fmla="*/ 0 w 2927563"/>
                <a:gd name="csY14" fmla="*/ 637420 h 1662836"/>
                <a:gd name="csX15" fmla="*/ 0 w 2927563"/>
                <a:gd name="csY15" fmla="*/ 0 h 16628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927563" h="1662836" fill="none" extrusionOk="0">
                  <a:moveTo>
                    <a:pt x="0" y="0"/>
                  </a:moveTo>
                  <a:cubicBezTo>
                    <a:pt x="203523" y="-11327"/>
                    <a:pt x="375851" y="-5363"/>
                    <a:pt x="689109" y="0"/>
                  </a:cubicBezTo>
                  <a:cubicBezTo>
                    <a:pt x="1002367" y="5363"/>
                    <a:pt x="1146767" y="-6704"/>
                    <a:pt x="1272201" y="0"/>
                  </a:cubicBezTo>
                  <a:cubicBezTo>
                    <a:pt x="1397635" y="6704"/>
                    <a:pt x="1663181" y="-25941"/>
                    <a:pt x="1881797" y="0"/>
                  </a:cubicBezTo>
                  <a:cubicBezTo>
                    <a:pt x="2100413" y="25941"/>
                    <a:pt x="2274246" y="-15942"/>
                    <a:pt x="2650418" y="0"/>
                  </a:cubicBezTo>
                  <a:cubicBezTo>
                    <a:pt x="2746438" y="97980"/>
                    <a:pt x="2795722" y="138771"/>
                    <a:pt x="2927563" y="277145"/>
                  </a:cubicBezTo>
                  <a:cubicBezTo>
                    <a:pt x="2959740" y="609116"/>
                    <a:pt x="2927191" y="695813"/>
                    <a:pt x="2927563" y="969991"/>
                  </a:cubicBezTo>
                  <a:cubicBezTo>
                    <a:pt x="2927935" y="1244169"/>
                    <a:pt x="2944333" y="1331219"/>
                    <a:pt x="2927563" y="1662836"/>
                  </a:cubicBezTo>
                  <a:cubicBezTo>
                    <a:pt x="2802348" y="1644477"/>
                    <a:pt x="2464708" y="1655721"/>
                    <a:pt x="2342050" y="1662836"/>
                  </a:cubicBezTo>
                  <a:cubicBezTo>
                    <a:pt x="2219392" y="1669951"/>
                    <a:pt x="1950635" y="1671319"/>
                    <a:pt x="1815089" y="1662836"/>
                  </a:cubicBezTo>
                  <a:cubicBezTo>
                    <a:pt x="1679543" y="1654353"/>
                    <a:pt x="1333632" y="1645028"/>
                    <a:pt x="1200301" y="1662836"/>
                  </a:cubicBezTo>
                  <a:cubicBezTo>
                    <a:pt x="1066970" y="1680644"/>
                    <a:pt x="861187" y="1663494"/>
                    <a:pt x="673339" y="1662836"/>
                  </a:cubicBezTo>
                  <a:cubicBezTo>
                    <a:pt x="485491" y="1662178"/>
                    <a:pt x="174147" y="1686175"/>
                    <a:pt x="0" y="1662836"/>
                  </a:cubicBezTo>
                  <a:cubicBezTo>
                    <a:pt x="4175" y="1419639"/>
                    <a:pt x="14638" y="1333350"/>
                    <a:pt x="0" y="1158442"/>
                  </a:cubicBezTo>
                  <a:cubicBezTo>
                    <a:pt x="-14638" y="983534"/>
                    <a:pt x="12800" y="791150"/>
                    <a:pt x="0" y="637420"/>
                  </a:cubicBezTo>
                  <a:cubicBezTo>
                    <a:pt x="-12800" y="483690"/>
                    <a:pt x="-11492" y="245408"/>
                    <a:pt x="0" y="0"/>
                  </a:cubicBezTo>
                  <a:close/>
                </a:path>
                <a:path w="2927563" h="1662836" stroke="0" extrusionOk="0">
                  <a:moveTo>
                    <a:pt x="0" y="0"/>
                  </a:moveTo>
                  <a:cubicBezTo>
                    <a:pt x="222787" y="-31508"/>
                    <a:pt x="417182" y="-7548"/>
                    <a:pt x="636100" y="0"/>
                  </a:cubicBezTo>
                  <a:cubicBezTo>
                    <a:pt x="855018" y="7548"/>
                    <a:pt x="947666" y="21985"/>
                    <a:pt x="1219192" y="0"/>
                  </a:cubicBezTo>
                  <a:cubicBezTo>
                    <a:pt x="1490718" y="-21985"/>
                    <a:pt x="1589062" y="-14993"/>
                    <a:pt x="1934805" y="0"/>
                  </a:cubicBezTo>
                  <a:cubicBezTo>
                    <a:pt x="2280548" y="14993"/>
                    <a:pt x="2377686" y="-8601"/>
                    <a:pt x="2650418" y="0"/>
                  </a:cubicBezTo>
                  <a:cubicBezTo>
                    <a:pt x="2737031" y="89020"/>
                    <a:pt x="2809507" y="167842"/>
                    <a:pt x="2927563" y="277145"/>
                  </a:cubicBezTo>
                  <a:cubicBezTo>
                    <a:pt x="2918346" y="540074"/>
                    <a:pt x="2922839" y="671021"/>
                    <a:pt x="2927563" y="942277"/>
                  </a:cubicBezTo>
                  <a:cubicBezTo>
                    <a:pt x="2932287" y="1213533"/>
                    <a:pt x="2908708" y="1399771"/>
                    <a:pt x="2927563" y="1662836"/>
                  </a:cubicBezTo>
                  <a:cubicBezTo>
                    <a:pt x="2791809" y="1634206"/>
                    <a:pt x="2582886" y="1644732"/>
                    <a:pt x="2283499" y="1662836"/>
                  </a:cubicBezTo>
                  <a:cubicBezTo>
                    <a:pt x="1984112" y="1680940"/>
                    <a:pt x="1876562" y="1648026"/>
                    <a:pt x="1639435" y="1662836"/>
                  </a:cubicBezTo>
                  <a:cubicBezTo>
                    <a:pt x="1402308" y="1677646"/>
                    <a:pt x="1213293" y="1644646"/>
                    <a:pt x="1083198" y="1662836"/>
                  </a:cubicBezTo>
                  <a:cubicBezTo>
                    <a:pt x="953103" y="1681026"/>
                    <a:pt x="688768" y="1667821"/>
                    <a:pt x="526961" y="1662836"/>
                  </a:cubicBezTo>
                  <a:cubicBezTo>
                    <a:pt x="365154" y="1657851"/>
                    <a:pt x="254376" y="1683800"/>
                    <a:pt x="0" y="1662836"/>
                  </a:cubicBezTo>
                  <a:cubicBezTo>
                    <a:pt x="11242" y="1401603"/>
                    <a:pt x="11475" y="1307714"/>
                    <a:pt x="0" y="1125186"/>
                  </a:cubicBezTo>
                  <a:cubicBezTo>
                    <a:pt x="-11475" y="942658"/>
                    <a:pt x="-7058" y="772894"/>
                    <a:pt x="0" y="570907"/>
                  </a:cubicBezTo>
                  <a:cubicBezTo>
                    <a:pt x="7058" y="368920"/>
                    <a:pt x="13085" y="152218"/>
                    <a:pt x="0" y="0"/>
                  </a:cubicBezTo>
                  <a:close/>
                </a:path>
              </a:pathLst>
            </a:custGeom>
            <a:solidFill>
              <a:schemeClr val="accent1">
                <a:alpha val="20000"/>
              </a:schemeClr>
            </a:solidFill>
            <a:ln>
              <a:gradFill flip="none" rotWithShape="1">
                <a:gsLst>
                  <a:gs pos="0">
                    <a:schemeClr val="tx2"/>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xtLst>
                <a:ext uri="{C807C97D-BFC1-408E-A445-0C87EB9F89A2}">
                  <ask:lineSketchStyleProps xmlns:ask="http://schemas.microsoft.com/office/drawing/2018/sketchyshapes" sd="1219033472">
                    <a:prstGeom prst="snip1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endParaRPr lang="zh-CN" altLang="en-US" dirty="0"/>
            </a:p>
          </p:txBody>
        </p:sp>
        <p:sp>
          <p:nvSpPr>
            <p:cNvPr id="55" name="文本框 54">
              <a:extLst>
                <a:ext uri="{FF2B5EF4-FFF2-40B4-BE49-F238E27FC236}">
                  <a16:creationId xmlns:a16="http://schemas.microsoft.com/office/drawing/2014/main" id="{7F195C7C-A026-B2E1-2337-2272BC637798}"/>
                </a:ext>
              </a:extLst>
            </p:cNvPr>
            <p:cNvSpPr txBox="1"/>
            <p:nvPr/>
          </p:nvSpPr>
          <p:spPr>
            <a:xfrm>
              <a:off x="6549875" y="4760586"/>
              <a:ext cx="2768868" cy="1077218"/>
            </a:xfrm>
            <a:prstGeom prst="rect">
              <a:avLst/>
            </a:prstGeom>
            <a:noFill/>
          </p:spPr>
          <p:txBody>
            <a:bodyPr wrap="square" rtlCol="0">
              <a:spAutoFit/>
            </a:bodyPr>
            <a:lstStyle/>
            <a:p>
              <a:pPr marL="285750" indent="-285750">
                <a:buFont typeface="Wingdings" panose="05000000000000000000" pitchFamily="2" charset="2"/>
                <a:buChar char="Ø"/>
              </a:pPr>
              <a:r>
                <a:rPr lang="zh-CN" altLang="en-US" sz="1600" dirty="0"/>
                <a:t>区分域内的状态数据和非状态数据</a:t>
              </a:r>
              <a:endParaRPr lang="en-US" altLang="zh-CN" sz="1600" dirty="0"/>
            </a:p>
            <a:p>
              <a:pPr marL="285750" indent="-285750">
                <a:buFont typeface="Wingdings" panose="05000000000000000000" pitchFamily="2" charset="2"/>
                <a:buChar char="Ø"/>
              </a:pPr>
              <a:r>
                <a:rPr lang="zh-CN" altLang="en-US" sz="1600" dirty="0"/>
                <a:t>使用自定义堆存储和索引状态数据</a:t>
              </a:r>
            </a:p>
          </p:txBody>
        </p:sp>
      </p:grpSp>
      <p:sp>
        <p:nvSpPr>
          <p:cNvPr id="18" name="箭头: 下弧形 17">
            <a:extLst>
              <a:ext uri="{FF2B5EF4-FFF2-40B4-BE49-F238E27FC236}">
                <a16:creationId xmlns:a16="http://schemas.microsoft.com/office/drawing/2014/main" id="{8E2E8BE5-D467-C990-8063-44938F8D090B}"/>
              </a:ext>
            </a:extLst>
          </p:cNvPr>
          <p:cNvSpPr/>
          <p:nvPr/>
        </p:nvSpPr>
        <p:spPr>
          <a:xfrm rot="11395032" flipV="1">
            <a:off x="3424816" y="4461671"/>
            <a:ext cx="3086432" cy="641263"/>
          </a:xfrm>
          <a:prstGeom prst="curvedUpArrow">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1358207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500"/>
                                        <p:tgtEl>
                                          <p:spTgt spid="4"/>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500"/>
                                        <p:tgtEl>
                                          <p:spTgt spid="5"/>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up)">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52"/>
                                        </p:tgtEl>
                                        <p:attrNameLst>
                                          <p:attrName>style.visibility</p:attrName>
                                        </p:attrNameLst>
                                      </p:cBhvr>
                                      <p:to>
                                        <p:strVal val="visible"/>
                                      </p:to>
                                    </p:set>
                                    <p:animEffect transition="in" filter="wipe(up)">
                                      <p:cBhvr>
                                        <p:cTn id="24" dur="500"/>
                                        <p:tgtEl>
                                          <p:spTgt spid="52"/>
                                        </p:tgtEl>
                                      </p:cBhvr>
                                    </p:animEffect>
                                  </p:childTnLst>
                                </p:cTn>
                              </p:par>
                            </p:childTnLst>
                          </p:cTn>
                        </p:par>
                        <p:par>
                          <p:cTn id="25" fill="hold">
                            <p:stCondLst>
                              <p:cond delay="500"/>
                            </p:stCondLst>
                            <p:childTnLst>
                              <p:par>
                                <p:cTn id="26" presetID="22" presetClass="entr" presetSubtype="2" fill="hold" grpId="0" nodeType="afterEffect">
                                  <p:stCondLst>
                                    <p:cond delay="0"/>
                                  </p:stCondLst>
                                  <p:childTnLst>
                                    <p:set>
                                      <p:cBhvr>
                                        <p:cTn id="27" dur="1" fill="hold">
                                          <p:stCondLst>
                                            <p:cond delay="0"/>
                                          </p:stCondLst>
                                        </p:cTn>
                                        <p:tgtEl>
                                          <p:spTgt spid="47"/>
                                        </p:tgtEl>
                                        <p:attrNameLst>
                                          <p:attrName>style.visibility</p:attrName>
                                        </p:attrNameLst>
                                      </p:cBhvr>
                                      <p:to>
                                        <p:strVal val="visible"/>
                                      </p:to>
                                    </p:set>
                                    <p:animEffect transition="in" filter="wipe(right)">
                                      <p:cBhvr>
                                        <p:cTn id="28" dur="500"/>
                                        <p:tgtEl>
                                          <p:spTgt spid="47"/>
                                        </p:tgtEl>
                                      </p:cBhvr>
                                    </p:animEffect>
                                  </p:childTnLst>
                                </p:cTn>
                              </p:par>
                            </p:childTnLst>
                          </p:cTn>
                        </p:par>
                        <p:par>
                          <p:cTn id="29" fill="hold">
                            <p:stCondLst>
                              <p:cond delay="1000"/>
                            </p:stCondLst>
                            <p:childTnLst>
                              <p:par>
                                <p:cTn id="30" presetID="22" presetClass="entr" presetSubtype="2" fill="hold" grpId="0" nodeType="afterEffect">
                                  <p:stCondLst>
                                    <p:cond delay="0"/>
                                  </p:stCondLst>
                                  <p:childTnLst>
                                    <p:set>
                                      <p:cBhvr>
                                        <p:cTn id="31" dur="1" fill="hold">
                                          <p:stCondLst>
                                            <p:cond delay="0"/>
                                          </p:stCondLst>
                                        </p:cTn>
                                        <p:tgtEl>
                                          <p:spTgt spid="51"/>
                                        </p:tgtEl>
                                        <p:attrNameLst>
                                          <p:attrName>style.visibility</p:attrName>
                                        </p:attrNameLst>
                                      </p:cBhvr>
                                      <p:to>
                                        <p:strVal val="visible"/>
                                      </p:to>
                                    </p:set>
                                    <p:animEffect transition="in" filter="wipe(right)">
                                      <p:cBhvr>
                                        <p:cTn id="32" dur="500"/>
                                        <p:tgtEl>
                                          <p:spTgt spid="51"/>
                                        </p:tgtEl>
                                      </p:cBhvr>
                                    </p:animEffect>
                                  </p:childTnLst>
                                </p:cTn>
                              </p:par>
                            </p:childTnLst>
                          </p:cTn>
                        </p:par>
                        <p:par>
                          <p:cTn id="33" fill="hold">
                            <p:stCondLst>
                              <p:cond delay="1500"/>
                            </p:stCondLst>
                            <p:childTnLst>
                              <p:par>
                                <p:cTn id="34" presetID="22" presetClass="entr" presetSubtype="2" fill="hold" grpId="0" nodeType="afterEffect">
                                  <p:stCondLst>
                                    <p:cond delay="0"/>
                                  </p:stCondLst>
                                  <p:childTnLst>
                                    <p:set>
                                      <p:cBhvr>
                                        <p:cTn id="35" dur="1" fill="hold">
                                          <p:stCondLst>
                                            <p:cond delay="0"/>
                                          </p:stCondLst>
                                        </p:cTn>
                                        <p:tgtEl>
                                          <p:spTgt spid="44"/>
                                        </p:tgtEl>
                                        <p:attrNameLst>
                                          <p:attrName>style.visibility</p:attrName>
                                        </p:attrNameLst>
                                      </p:cBhvr>
                                      <p:to>
                                        <p:strVal val="visible"/>
                                      </p:to>
                                    </p:set>
                                    <p:animEffect transition="in" filter="wipe(right)">
                                      <p:cBhvr>
                                        <p:cTn id="36" dur="500"/>
                                        <p:tgtEl>
                                          <p:spTgt spid="44"/>
                                        </p:tgtEl>
                                      </p:cBhvr>
                                    </p:animEffect>
                                  </p:childTnLst>
                                </p:cTn>
                              </p:par>
                            </p:childTnLst>
                          </p:cTn>
                        </p:par>
                        <p:par>
                          <p:cTn id="37" fill="hold">
                            <p:stCondLst>
                              <p:cond delay="2000"/>
                            </p:stCondLst>
                            <p:childTnLst>
                              <p:par>
                                <p:cTn id="38" presetID="22" presetClass="entr" presetSubtype="2" fill="hold" nodeType="afterEffect">
                                  <p:stCondLst>
                                    <p:cond delay="0"/>
                                  </p:stCondLst>
                                  <p:childTnLst>
                                    <p:set>
                                      <p:cBhvr>
                                        <p:cTn id="39" dur="1" fill="hold">
                                          <p:stCondLst>
                                            <p:cond delay="0"/>
                                          </p:stCondLst>
                                        </p:cTn>
                                        <p:tgtEl>
                                          <p:spTgt spid="45"/>
                                        </p:tgtEl>
                                        <p:attrNameLst>
                                          <p:attrName>style.visibility</p:attrName>
                                        </p:attrNameLst>
                                      </p:cBhvr>
                                      <p:to>
                                        <p:strVal val="visible"/>
                                      </p:to>
                                    </p:set>
                                    <p:animEffect transition="in" filter="wipe(right)">
                                      <p:cBhvr>
                                        <p:cTn id="40" dur="500"/>
                                        <p:tgtEl>
                                          <p:spTgt spid="45"/>
                                        </p:tgtEl>
                                      </p:cBhvr>
                                    </p:animEffect>
                                  </p:childTnLst>
                                </p:cTn>
                              </p:par>
                            </p:childTnLst>
                          </p:cTn>
                        </p:par>
                        <p:par>
                          <p:cTn id="41" fill="hold">
                            <p:stCondLst>
                              <p:cond delay="2500"/>
                            </p:stCondLst>
                            <p:childTnLst>
                              <p:par>
                                <p:cTn id="42" presetID="1" presetClass="entr" presetSubtype="0" fill="hold" grpId="0" nodeType="afterEffect">
                                  <p:stCondLst>
                                    <p:cond delay="0"/>
                                  </p:stCondLst>
                                  <p:childTnLst>
                                    <p:set>
                                      <p:cBhvr>
                                        <p:cTn id="43" dur="1" fill="hold">
                                          <p:stCondLst>
                                            <p:cond delay="0"/>
                                          </p:stCondLst>
                                        </p:cTn>
                                        <p:tgtEl>
                                          <p:spTgt spid="18"/>
                                        </p:tgtEl>
                                        <p:attrNameLst>
                                          <p:attrName>style.visibility</p:attrName>
                                        </p:attrNameLst>
                                      </p:cBhvr>
                                      <p:to>
                                        <p:strVal val="visible"/>
                                      </p:to>
                                    </p:set>
                                  </p:childTnLst>
                                </p:cTn>
                              </p:par>
                            </p:childTnLst>
                          </p:cTn>
                        </p:par>
                        <p:par>
                          <p:cTn id="44" fill="hold">
                            <p:stCondLst>
                              <p:cond delay="2500"/>
                            </p:stCondLst>
                            <p:childTnLst>
                              <p:par>
                                <p:cTn id="45" presetID="22" presetClass="entr" presetSubtype="4" fill="hold" nodeType="after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wipe(down)">
                                      <p:cBhvr>
                                        <p:cTn id="47" dur="500"/>
                                        <p:tgtEl>
                                          <p:spTgt spid="10"/>
                                        </p:tgtEl>
                                      </p:cBhvr>
                                    </p:animEffect>
                                  </p:childTnLst>
                                </p:cTn>
                              </p:par>
                              <p:par>
                                <p:cTn id="48" presetID="22" presetClass="entr" presetSubtype="4" fill="hold" nodeType="withEffect">
                                  <p:stCondLst>
                                    <p:cond delay="0"/>
                                  </p:stCondLst>
                                  <p:childTnLst>
                                    <p:set>
                                      <p:cBhvr>
                                        <p:cTn id="49" dur="1" fill="hold">
                                          <p:stCondLst>
                                            <p:cond delay="0"/>
                                          </p:stCondLst>
                                        </p:cTn>
                                        <p:tgtEl>
                                          <p:spTgt spid="7"/>
                                        </p:tgtEl>
                                        <p:attrNameLst>
                                          <p:attrName>style.visibility</p:attrName>
                                        </p:attrNameLst>
                                      </p:cBhvr>
                                      <p:to>
                                        <p:strVal val="visible"/>
                                      </p:to>
                                    </p:set>
                                    <p:animEffect transition="in" filter="wipe(down)">
                                      <p:cBhvr>
                                        <p:cTn id="5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7" grpId="0" animBg="1"/>
      <p:bldP spid="51" grpId="0" animBg="1"/>
      <p:bldP spid="1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23436-40F0-AE50-8BD1-9FB443B575B5}"/>
            </a:ext>
          </a:extLst>
        </p:cNvPr>
        <p:cNvGrpSpPr/>
        <p:nvPr/>
      </p:nvGrpSpPr>
      <p:grpSpPr>
        <a:xfrm>
          <a:off x="0" y="0"/>
          <a:ext cx="0" cy="0"/>
          <a:chOff x="0" y="0"/>
          <a:chExt cx="0" cy="0"/>
        </a:xfrm>
      </p:grpSpPr>
      <p:sp>
        <p:nvSpPr>
          <p:cNvPr id="9" name="标题 8">
            <a:extLst>
              <a:ext uri="{FF2B5EF4-FFF2-40B4-BE49-F238E27FC236}">
                <a16:creationId xmlns:a16="http://schemas.microsoft.com/office/drawing/2014/main" id="{3E33BB6D-06DB-16CA-B0E3-28737CDA93F9}"/>
              </a:ext>
            </a:extLst>
          </p:cNvPr>
          <p:cNvSpPr>
            <a:spLocks noGrp="1"/>
          </p:cNvSpPr>
          <p:nvPr>
            <p:ph type="title"/>
          </p:nvPr>
        </p:nvSpPr>
        <p:spPr>
          <a:xfrm>
            <a:off x="1173494" y="249067"/>
            <a:ext cx="8048203" cy="480131"/>
          </a:xfrm>
        </p:spPr>
        <p:txBody>
          <a:bodyPr/>
          <a:lstStyle/>
          <a:p>
            <a:r>
              <a:rPr lang="zh-CN" altLang="en-US" spc="300" dirty="0">
                <a:latin typeface="+mj-ea"/>
              </a:rPr>
              <a:t>设计和实现</a:t>
            </a:r>
          </a:p>
        </p:txBody>
      </p:sp>
      <p:grpSp>
        <p:nvGrpSpPr>
          <p:cNvPr id="3" name="组合 2">
            <a:extLst>
              <a:ext uri="{FF2B5EF4-FFF2-40B4-BE49-F238E27FC236}">
                <a16:creationId xmlns:a16="http://schemas.microsoft.com/office/drawing/2014/main" id="{25B2B39E-1BF3-2F48-6511-A7E560D507F5}"/>
              </a:ext>
            </a:extLst>
          </p:cNvPr>
          <p:cNvGrpSpPr/>
          <p:nvPr/>
        </p:nvGrpSpPr>
        <p:grpSpPr>
          <a:xfrm>
            <a:off x="513505" y="1009577"/>
            <a:ext cx="11294618" cy="894761"/>
            <a:chOff x="513505" y="1009577"/>
            <a:chExt cx="11294618" cy="894761"/>
          </a:xfrm>
        </p:grpSpPr>
        <p:sp>
          <p:nvSpPr>
            <p:cNvPr id="2" name="矩形 1">
              <a:extLst>
                <a:ext uri="{FF2B5EF4-FFF2-40B4-BE49-F238E27FC236}">
                  <a16:creationId xmlns:a16="http://schemas.microsoft.com/office/drawing/2014/main" id="{0143AA6C-D1F7-D8D0-6E9C-9E262C3C3F53}"/>
                </a:ext>
              </a:extLst>
            </p:cNvPr>
            <p:cNvSpPr/>
            <p:nvPr/>
          </p:nvSpPr>
          <p:spPr>
            <a:xfrm>
              <a:off x="513505" y="1009577"/>
              <a:ext cx="1052662" cy="894761"/>
            </a:xfrm>
            <a:prstGeom prst="rect">
              <a:avLst/>
            </a:prstGeom>
            <a:solidFill>
              <a:schemeClr val="accent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 name="矩形 3">
              <a:extLst>
                <a:ext uri="{FF2B5EF4-FFF2-40B4-BE49-F238E27FC236}">
                  <a16:creationId xmlns:a16="http://schemas.microsoft.com/office/drawing/2014/main" id="{0B5CCEC1-4BC7-ADDB-C8BA-6DA18A654BF6}"/>
                </a:ext>
              </a:extLst>
            </p:cNvPr>
            <p:cNvSpPr/>
            <p:nvPr/>
          </p:nvSpPr>
          <p:spPr>
            <a:xfrm>
              <a:off x="1552039" y="1018513"/>
              <a:ext cx="10256084" cy="866467"/>
            </a:xfrm>
            <a:prstGeom prst="rect">
              <a:avLst/>
            </a:prstGeom>
            <a:noFill/>
            <a:ln w="222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5" name="文本框 9">
              <a:extLst>
                <a:ext uri="{FF2B5EF4-FFF2-40B4-BE49-F238E27FC236}">
                  <a16:creationId xmlns:a16="http://schemas.microsoft.com/office/drawing/2014/main" id="{4BC26BA0-461A-BC18-6F0B-5B0547FC5DB2}"/>
                </a:ext>
              </a:extLst>
            </p:cNvPr>
            <p:cNvSpPr txBox="1"/>
            <p:nvPr/>
          </p:nvSpPr>
          <p:spPr>
            <a:xfrm>
              <a:off x="671686" y="1107482"/>
              <a:ext cx="880353" cy="70788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solidFill>
                    <a:schemeClr val="bg1"/>
                  </a:solidFill>
                </a:rPr>
                <a:t>核 心问 题</a:t>
              </a:r>
            </a:p>
          </p:txBody>
        </p:sp>
        <p:sp>
          <p:nvSpPr>
            <p:cNvPr id="6" name="文本框 10">
              <a:extLst>
                <a:ext uri="{FF2B5EF4-FFF2-40B4-BE49-F238E27FC236}">
                  <a16:creationId xmlns:a16="http://schemas.microsoft.com/office/drawing/2014/main" id="{5B4F300B-4769-7192-804F-329D756F2B83}"/>
                </a:ext>
              </a:extLst>
            </p:cNvPr>
            <p:cNvSpPr txBox="1"/>
            <p:nvPr/>
          </p:nvSpPr>
          <p:spPr>
            <a:xfrm>
              <a:off x="1579436" y="1009577"/>
              <a:ext cx="9940878" cy="78752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600" b="1" dirty="0"/>
                <a:t>模块的热更新需要维护状态数据的一致性，即在更新前后同步数据，而较大的服务暂停时间会影响系统提供的服务，如何实现高效的状态同步？</a:t>
              </a:r>
            </a:p>
          </p:txBody>
        </p:sp>
      </p:grpSp>
      <p:grpSp>
        <p:nvGrpSpPr>
          <p:cNvPr id="10" name="组合 9">
            <a:extLst>
              <a:ext uri="{FF2B5EF4-FFF2-40B4-BE49-F238E27FC236}">
                <a16:creationId xmlns:a16="http://schemas.microsoft.com/office/drawing/2014/main" id="{871D2440-2E5A-F520-4DF9-5F8BB3B16327}"/>
              </a:ext>
            </a:extLst>
          </p:cNvPr>
          <p:cNvGrpSpPr/>
          <p:nvPr/>
        </p:nvGrpSpPr>
        <p:grpSpPr>
          <a:xfrm>
            <a:off x="5768748" y="2077479"/>
            <a:ext cx="6039375" cy="4079907"/>
            <a:chOff x="5768748" y="2032578"/>
            <a:chExt cx="6039375" cy="4079907"/>
          </a:xfrm>
        </p:grpSpPr>
        <p:pic>
          <p:nvPicPr>
            <p:cNvPr id="7" name="图片 6" descr="图示&#10;&#10;AI 生成的内容可能不正确。">
              <a:extLst>
                <a:ext uri="{FF2B5EF4-FFF2-40B4-BE49-F238E27FC236}">
                  <a16:creationId xmlns:a16="http://schemas.microsoft.com/office/drawing/2014/main" id="{AAB79F27-7F15-347A-ED8F-1CD3AB84A927}"/>
                </a:ext>
              </a:extLst>
            </p:cNvPr>
            <p:cNvPicPr>
              <a:picLocks noChangeAspect="1"/>
            </p:cNvPicPr>
            <p:nvPr/>
          </p:nvPicPr>
          <p:blipFill>
            <a:blip r:embed="rId3"/>
            <a:stretch>
              <a:fillRect/>
            </a:stretch>
          </p:blipFill>
          <p:spPr>
            <a:xfrm>
              <a:off x="5891787" y="3026124"/>
              <a:ext cx="5916336" cy="2522943"/>
            </a:xfrm>
            <a:prstGeom prst="rect">
              <a:avLst/>
            </a:prstGeom>
          </p:spPr>
        </p:pic>
        <p:grpSp>
          <p:nvGrpSpPr>
            <p:cNvPr id="17" name="组合 16">
              <a:extLst>
                <a:ext uri="{FF2B5EF4-FFF2-40B4-BE49-F238E27FC236}">
                  <a16:creationId xmlns:a16="http://schemas.microsoft.com/office/drawing/2014/main" id="{138E9B15-778B-288C-6511-7D7A39F395A8}"/>
                </a:ext>
              </a:extLst>
            </p:cNvPr>
            <p:cNvGrpSpPr/>
            <p:nvPr/>
          </p:nvGrpSpPr>
          <p:grpSpPr>
            <a:xfrm>
              <a:off x="5768748" y="2032578"/>
              <a:ext cx="6039375" cy="4079907"/>
              <a:chOff x="193945" y="1912001"/>
              <a:chExt cx="5516843" cy="5813170"/>
            </a:xfrm>
          </p:grpSpPr>
          <p:sp>
            <p:nvSpPr>
              <p:cNvPr id="18" name="矩形 17">
                <a:extLst>
                  <a:ext uri="{FF2B5EF4-FFF2-40B4-BE49-F238E27FC236}">
                    <a16:creationId xmlns:a16="http://schemas.microsoft.com/office/drawing/2014/main" id="{248FE6C8-F067-FCE6-74B0-D6A53FFE0609}"/>
                  </a:ext>
                </a:extLst>
              </p:cNvPr>
              <p:cNvSpPr/>
              <p:nvPr/>
            </p:nvSpPr>
            <p:spPr>
              <a:xfrm>
                <a:off x="193945" y="1931941"/>
                <a:ext cx="5516843" cy="5793230"/>
              </a:xfrm>
              <a:prstGeom prst="rect">
                <a:avLst/>
              </a:prstGeom>
              <a:noFill/>
              <a:ln w="25400">
                <a:solidFill>
                  <a:schemeClr val="tx2">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AB6A607B-4FE7-44B9-27CD-1FFF232F92BA}"/>
                  </a:ext>
                </a:extLst>
              </p:cNvPr>
              <p:cNvSpPr/>
              <p:nvPr/>
            </p:nvSpPr>
            <p:spPr>
              <a:xfrm>
                <a:off x="200836" y="1931940"/>
                <a:ext cx="5304499" cy="517162"/>
              </a:xfrm>
              <a:prstGeom prst="rect">
                <a:avLst/>
              </a:prstGeom>
              <a:gradFill flip="none" rotWithShape="1">
                <a:gsLst>
                  <a:gs pos="58000">
                    <a:schemeClr val="tx2"/>
                  </a:gs>
                  <a:gs pos="100000">
                    <a:schemeClr val="bg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文本框 19">
                <a:extLst>
                  <a:ext uri="{FF2B5EF4-FFF2-40B4-BE49-F238E27FC236}">
                    <a16:creationId xmlns:a16="http://schemas.microsoft.com/office/drawing/2014/main" id="{2FEF1EE6-BAE9-6F80-058B-C052F09171EC}"/>
                  </a:ext>
                </a:extLst>
              </p:cNvPr>
              <p:cNvSpPr txBox="1"/>
              <p:nvPr/>
            </p:nvSpPr>
            <p:spPr>
              <a:xfrm>
                <a:off x="1051146" y="1912001"/>
                <a:ext cx="4392118" cy="570088"/>
              </a:xfrm>
              <a:prstGeom prst="rect">
                <a:avLst/>
              </a:prstGeom>
              <a:noFill/>
            </p:spPr>
            <p:txBody>
              <a:bodyPr wrap="square" rtlCol="0">
                <a:spAutoFit/>
              </a:bodyPr>
              <a:lstStyle/>
              <a:p>
                <a:r>
                  <a:rPr lang="zh-CN" altLang="en-US" sz="2000" b="1" dirty="0">
                    <a:solidFill>
                      <a:schemeClr val="bg1"/>
                    </a:solidFill>
                  </a:rPr>
                  <a:t>无状态域的状态同步</a:t>
                </a:r>
                <a:r>
                  <a:rPr lang="en-US" altLang="zh-CN" sz="2000" b="1" dirty="0">
                    <a:solidFill>
                      <a:schemeClr val="bg1"/>
                    </a:solidFill>
                  </a:rPr>
                  <a:t>(RCU)</a:t>
                </a:r>
                <a:endParaRPr lang="zh-CN" altLang="en-US" sz="2000" b="1" dirty="0">
                  <a:solidFill>
                    <a:schemeClr val="bg1"/>
                  </a:solidFill>
                </a:endParaRPr>
              </a:p>
            </p:txBody>
          </p:sp>
          <p:sp>
            <p:nvSpPr>
              <p:cNvPr id="21" name="箭头: V 形 20">
                <a:extLst>
                  <a:ext uri="{FF2B5EF4-FFF2-40B4-BE49-F238E27FC236}">
                    <a16:creationId xmlns:a16="http://schemas.microsoft.com/office/drawing/2014/main" id="{47F8B663-3B6C-DE4D-5B80-6415588DDAB8}"/>
                  </a:ext>
                </a:extLst>
              </p:cNvPr>
              <p:cNvSpPr/>
              <p:nvPr/>
            </p:nvSpPr>
            <p:spPr>
              <a:xfrm>
                <a:off x="706373" y="2025628"/>
                <a:ext cx="344773" cy="329784"/>
              </a:xfrm>
              <a:prstGeom prst="chevron">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2" name="任意多边形: 形状 21">
                <a:extLst>
                  <a:ext uri="{FF2B5EF4-FFF2-40B4-BE49-F238E27FC236}">
                    <a16:creationId xmlns:a16="http://schemas.microsoft.com/office/drawing/2014/main" id="{75348AC2-B8CB-25EF-1344-1FE086F0D205}"/>
                  </a:ext>
                </a:extLst>
              </p:cNvPr>
              <p:cNvSpPr/>
              <p:nvPr/>
            </p:nvSpPr>
            <p:spPr>
              <a:xfrm rot="5400000">
                <a:off x="328310" y="1934921"/>
                <a:ext cx="344773" cy="511199"/>
              </a:xfrm>
              <a:custGeom>
                <a:avLst/>
                <a:gdLst>
                  <a:gd name="connsiteX0" fmla="*/ 0 w 344773"/>
                  <a:gd name="connsiteY0" fmla="*/ 182611 h 511199"/>
                  <a:gd name="connsiteX1" fmla="*/ 172387 w 344773"/>
                  <a:gd name="connsiteY1" fmla="*/ 0 h 511199"/>
                  <a:gd name="connsiteX2" fmla="*/ 344773 w 344773"/>
                  <a:gd name="connsiteY2" fmla="*/ 182611 h 511199"/>
                  <a:gd name="connsiteX3" fmla="*/ 337279 w 344773"/>
                  <a:gd name="connsiteY3" fmla="*/ 182611 h 511199"/>
                  <a:gd name="connsiteX4" fmla="*/ 337279 w 344773"/>
                  <a:gd name="connsiteY4" fmla="*/ 511199 h 511199"/>
                  <a:gd name="connsiteX5" fmla="*/ 7495 w 344773"/>
                  <a:gd name="connsiteY5" fmla="*/ 511199 h 511199"/>
                  <a:gd name="connsiteX6" fmla="*/ 7495 w 344773"/>
                  <a:gd name="connsiteY6" fmla="*/ 182611 h 511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4773" h="511199">
                    <a:moveTo>
                      <a:pt x="0" y="182611"/>
                    </a:moveTo>
                    <a:lnTo>
                      <a:pt x="172387" y="0"/>
                    </a:lnTo>
                    <a:lnTo>
                      <a:pt x="344773" y="182611"/>
                    </a:lnTo>
                    <a:lnTo>
                      <a:pt x="337279" y="182611"/>
                    </a:lnTo>
                    <a:lnTo>
                      <a:pt x="337279" y="511199"/>
                    </a:lnTo>
                    <a:lnTo>
                      <a:pt x="7495" y="511199"/>
                    </a:lnTo>
                    <a:lnTo>
                      <a:pt x="7495" y="182611"/>
                    </a:lnTo>
                    <a:close/>
                  </a:path>
                </a:pathLst>
              </a:custGeom>
              <a:gradFill flip="none" rotWithShape="1">
                <a:gsLst>
                  <a:gs pos="3000">
                    <a:schemeClr val="tx2"/>
                  </a:gs>
                  <a:gs pos="100000">
                    <a:schemeClr val="bg1"/>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grpSp>
        <p:nvGrpSpPr>
          <p:cNvPr id="8" name="组合 7">
            <a:extLst>
              <a:ext uri="{FF2B5EF4-FFF2-40B4-BE49-F238E27FC236}">
                <a16:creationId xmlns:a16="http://schemas.microsoft.com/office/drawing/2014/main" id="{3D4D4820-3DD8-7A1E-4B7B-7B4C96B50D96}"/>
              </a:ext>
            </a:extLst>
          </p:cNvPr>
          <p:cNvGrpSpPr/>
          <p:nvPr/>
        </p:nvGrpSpPr>
        <p:grpSpPr>
          <a:xfrm>
            <a:off x="523357" y="2091062"/>
            <a:ext cx="4693498" cy="3958047"/>
            <a:chOff x="523357" y="2091062"/>
            <a:chExt cx="4693498" cy="3958047"/>
          </a:xfrm>
        </p:grpSpPr>
        <p:sp>
          <p:nvSpPr>
            <p:cNvPr id="23" name="矩形 22">
              <a:extLst>
                <a:ext uri="{FF2B5EF4-FFF2-40B4-BE49-F238E27FC236}">
                  <a16:creationId xmlns:a16="http://schemas.microsoft.com/office/drawing/2014/main" id="{83D73233-D752-1037-8D3C-485F505993F1}"/>
                </a:ext>
              </a:extLst>
            </p:cNvPr>
            <p:cNvSpPr/>
            <p:nvPr/>
          </p:nvSpPr>
          <p:spPr>
            <a:xfrm>
              <a:off x="534378" y="2314863"/>
              <a:ext cx="4682477" cy="3734246"/>
            </a:xfrm>
            <a:prstGeom prst="rect">
              <a:avLst/>
            </a:prstGeom>
            <a:no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圆角 33">
              <a:extLst>
                <a:ext uri="{FF2B5EF4-FFF2-40B4-BE49-F238E27FC236}">
                  <a16:creationId xmlns:a16="http://schemas.microsoft.com/office/drawing/2014/main" id="{EF2BAF03-3940-CBB9-AFEA-2817134EE908}"/>
                </a:ext>
              </a:extLst>
            </p:cNvPr>
            <p:cNvSpPr/>
            <p:nvPr/>
          </p:nvSpPr>
          <p:spPr>
            <a:xfrm>
              <a:off x="523357" y="2091062"/>
              <a:ext cx="1576074" cy="431188"/>
            </a:xfrm>
            <a:prstGeom prst="roundRect">
              <a:avLst/>
            </a:prstGeom>
            <a:solidFill>
              <a:schemeClr val="tx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t>RCU</a:t>
              </a:r>
              <a:endParaRPr lang="zh-CN" altLang="en-US" b="1" dirty="0"/>
            </a:p>
          </p:txBody>
        </p:sp>
      </p:grpSp>
      <p:sp>
        <p:nvSpPr>
          <p:cNvPr id="12" name="文本框 11">
            <a:extLst>
              <a:ext uri="{FF2B5EF4-FFF2-40B4-BE49-F238E27FC236}">
                <a16:creationId xmlns:a16="http://schemas.microsoft.com/office/drawing/2014/main" id="{720BEFB1-5F40-FCCE-9DFD-5D8AAB498356}"/>
              </a:ext>
            </a:extLst>
          </p:cNvPr>
          <p:cNvSpPr txBox="1"/>
          <p:nvPr/>
        </p:nvSpPr>
        <p:spPr>
          <a:xfrm>
            <a:off x="534378" y="3266642"/>
            <a:ext cx="4151385" cy="338554"/>
          </a:xfrm>
          <a:prstGeom prst="rect">
            <a:avLst/>
          </a:prstGeom>
          <a:noFill/>
        </p:spPr>
        <p:txBody>
          <a:bodyPr wrap="square">
            <a:spAutoFit/>
          </a:bodyPr>
          <a:lstStyle/>
          <a:p>
            <a:pPr marL="285750" indent="-285750">
              <a:buFont typeface="Wingdings" panose="05000000000000000000" pitchFamily="2" charset="2"/>
              <a:buChar char="Ø"/>
            </a:pPr>
            <a:r>
              <a:rPr lang="zh-CN" altLang="en-US" sz="1600" dirty="0"/>
              <a:t>加载新域，新的任务使用新域的服务</a:t>
            </a:r>
            <a:endParaRPr lang="en-US" altLang="zh-CN" sz="1600" dirty="0"/>
          </a:p>
        </p:txBody>
      </p:sp>
      <p:sp>
        <p:nvSpPr>
          <p:cNvPr id="14" name="文本框 13">
            <a:extLst>
              <a:ext uri="{FF2B5EF4-FFF2-40B4-BE49-F238E27FC236}">
                <a16:creationId xmlns:a16="http://schemas.microsoft.com/office/drawing/2014/main" id="{1ADC3C26-41A8-DBE1-1A22-95B51C2F6E34}"/>
              </a:ext>
            </a:extLst>
          </p:cNvPr>
          <p:cNvSpPr txBox="1"/>
          <p:nvPr/>
        </p:nvSpPr>
        <p:spPr>
          <a:xfrm>
            <a:off x="538873" y="2813230"/>
            <a:ext cx="3822613" cy="338554"/>
          </a:xfrm>
          <a:prstGeom prst="rect">
            <a:avLst/>
          </a:prstGeom>
          <a:noFill/>
        </p:spPr>
        <p:txBody>
          <a:bodyPr wrap="square">
            <a:spAutoFit/>
          </a:bodyPr>
          <a:lstStyle/>
          <a:p>
            <a:pPr marL="285750" indent="-285750">
              <a:buFont typeface="Wingdings" panose="05000000000000000000" pitchFamily="2" charset="2"/>
              <a:buChar char="Ø"/>
            </a:pPr>
            <a:r>
              <a:rPr lang="zh-CN" altLang="en-US" sz="1600" dirty="0"/>
              <a:t>旧域继续向外提供服务</a:t>
            </a:r>
            <a:endParaRPr lang="en-US" altLang="zh-CN" sz="1600" dirty="0"/>
          </a:p>
        </p:txBody>
      </p:sp>
      <p:sp>
        <p:nvSpPr>
          <p:cNvPr id="16" name="文本框 15">
            <a:extLst>
              <a:ext uri="{FF2B5EF4-FFF2-40B4-BE49-F238E27FC236}">
                <a16:creationId xmlns:a16="http://schemas.microsoft.com/office/drawing/2014/main" id="{D82A5A19-27C0-F8B3-A351-E2682820D2B3}"/>
              </a:ext>
            </a:extLst>
          </p:cNvPr>
          <p:cNvSpPr txBox="1"/>
          <p:nvPr/>
        </p:nvSpPr>
        <p:spPr>
          <a:xfrm>
            <a:off x="513505" y="3765009"/>
            <a:ext cx="4582477" cy="338554"/>
          </a:xfrm>
          <a:prstGeom prst="rect">
            <a:avLst/>
          </a:prstGeom>
          <a:noFill/>
        </p:spPr>
        <p:txBody>
          <a:bodyPr wrap="square">
            <a:spAutoFit/>
          </a:bodyPr>
          <a:lstStyle/>
          <a:p>
            <a:pPr marL="285750" indent="-285750">
              <a:buFont typeface="Wingdings" panose="05000000000000000000" pitchFamily="2" charset="2"/>
              <a:buChar char="Ø"/>
            </a:pPr>
            <a:r>
              <a:rPr lang="zh-CN" altLang="en-US" sz="1600" dirty="0"/>
              <a:t>等待旧域中活动的任务全部离开后，卸载旧域</a:t>
            </a:r>
            <a:endParaRPr lang="en-US" altLang="zh-CN" sz="1600" dirty="0"/>
          </a:p>
        </p:txBody>
      </p:sp>
      <mc:AlternateContent xmlns:mc="http://schemas.openxmlformats.org/markup-compatibility/2006" xmlns:p14="http://schemas.microsoft.com/office/powerpoint/2010/main">
        <mc:Choice Requires="p14">
          <p:contentPart p14:bwMode="auto" r:id="rId4">
            <p14:nvContentPartPr>
              <p14:cNvPr id="24" name="墨迹 23">
                <a:extLst>
                  <a:ext uri="{FF2B5EF4-FFF2-40B4-BE49-F238E27FC236}">
                    <a16:creationId xmlns:a16="http://schemas.microsoft.com/office/drawing/2014/main" id="{D30B94A3-657C-3EBD-314B-F0424E5FF19D}"/>
                  </a:ext>
                </a:extLst>
              </p14:cNvPr>
              <p14:cNvContentPartPr/>
              <p14:nvPr/>
            </p14:nvContentPartPr>
            <p14:xfrm>
              <a:off x="9040785" y="3418912"/>
              <a:ext cx="1749600" cy="1482840"/>
            </p14:xfrm>
          </p:contentPart>
        </mc:Choice>
        <mc:Fallback xmlns="">
          <p:pic>
            <p:nvPicPr>
              <p:cNvPr id="24" name="墨迹 23">
                <a:extLst>
                  <a:ext uri="{FF2B5EF4-FFF2-40B4-BE49-F238E27FC236}">
                    <a16:creationId xmlns:a16="http://schemas.microsoft.com/office/drawing/2014/main" id="{D30B94A3-657C-3EBD-314B-F0424E5FF19D}"/>
                  </a:ext>
                </a:extLst>
              </p:cNvPr>
              <p:cNvPicPr/>
              <p:nvPr/>
            </p:nvPicPr>
            <p:blipFill>
              <a:blip r:embed="rId5"/>
              <a:stretch>
                <a:fillRect/>
              </a:stretch>
            </p:blipFill>
            <p:spPr>
              <a:xfrm>
                <a:off x="9031425" y="3409552"/>
                <a:ext cx="1768320" cy="1501560"/>
              </a:xfrm>
              <a:prstGeom prst="rect">
                <a:avLst/>
              </a:prstGeom>
            </p:spPr>
          </p:pic>
        </mc:Fallback>
      </mc:AlternateContent>
    </p:spTree>
    <p:extLst>
      <p:ext uri="{BB962C8B-B14F-4D97-AF65-F5344CB8AC3E}">
        <p14:creationId xmlns:p14="http://schemas.microsoft.com/office/powerpoint/2010/main" val="207132582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up)">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up)">
                                      <p:cBhvr>
                                        <p:cTn id="27" dur="500"/>
                                        <p:tgtEl>
                                          <p:spTgt spid="16"/>
                                        </p:tgtEl>
                                      </p:cBhvr>
                                    </p:animEffect>
                                  </p:childTnLst>
                                </p:cTn>
                              </p:par>
                            </p:childTnLst>
                          </p:cTn>
                        </p:par>
                        <p:par>
                          <p:cTn id="28" fill="hold">
                            <p:stCondLst>
                              <p:cond delay="500"/>
                            </p:stCondLst>
                            <p:childTnLst>
                              <p:par>
                                <p:cTn id="29" presetID="63" presetClass="entr" presetSubtype="0" fill="hold" nodeType="afterEffect">
                                  <p:stCondLst>
                                    <p:cond delay="0"/>
                                  </p:stCondLst>
                                  <p:childTnLst>
                                    <p:set>
                                      <p:cBhvr>
                                        <p:cTn id="30" dur="1" fill="hold">
                                          <p:stCondLst>
                                            <p:cond delay="0"/>
                                          </p:stCondLst>
                                        </p:cTn>
                                        <p:tgtEl>
                                          <p:spTgt spid="24"/>
                                        </p:tgtEl>
                                        <p:attrNameLst>
                                          <p:attrName>style.visibility</p:attrName>
                                        </p:attrNameLst>
                                      </p:cBhvr>
                                      <p:to>
                                        <p:strVal val="visible"/>
                                      </p:to>
                                    </p:set>
                                    <p:anim calcmode="lin" valueType="num">
                                      <p:cBhvr>
                                        <p:cTn id="31" dur="2000" fill="hold"/>
                                        <p:tgtEl>
                                          <p:spTgt spid="24"/>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5F812-0DF5-466F-9845-4EAF143F4026}"/>
            </a:ext>
          </a:extLst>
        </p:cNvPr>
        <p:cNvGrpSpPr/>
        <p:nvPr/>
      </p:nvGrpSpPr>
      <p:grpSpPr>
        <a:xfrm>
          <a:off x="0" y="0"/>
          <a:ext cx="0" cy="0"/>
          <a:chOff x="0" y="0"/>
          <a:chExt cx="0" cy="0"/>
        </a:xfrm>
      </p:grpSpPr>
      <p:sp>
        <p:nvSpPr>
          <p:cNvPr id="9" name="标题 8">
            <a:extLst>
              <a:ext uri="{FF2B5EF4-FFF2-40B4-BE49-F238E27FC236}">
                <a16:creationId xmlns:a16="http://schemas.microsoft.com/office/drawing/2014/main" id="{9B67E1F1-AC52-C0BF-53F4-9FA3FD7C360F}"/>
              </a:ext>
            </a:extLst>
          </p:cNvPr>
          <p:cNvSpPr>
            <a:spLocks noGrp="1"/>
          </p:cNvSpPr>
          <p:nvPr>
            <p:ph type="title"/>
          </p:nvPr>
        </p:nvSpPr>
        <p:spPr>
          <a:xfrm>
            <a:off x="1173494" y="249067"/>
            <a:ext cx="8048203" cy="480131"/>
          </a:xfrm>
        </p:spPr>
        <p:txBody>
          <a:bodyPr/>
          <a:lstStyle/>
          <a:p>
            <a:r>
              <a:rPr lang="zh-CN" altLang="en-US" spc="300" dirty="0">
                <a:latin typeface="+mj-ea"/>
              </a:rPr>
              <a:t>设计和实现</a:t>
            </a:r>
          </a:p>
        </p:txBody>
      </p:sp>
      <p:grpSp>
        <p:nvGrpSpPr>
          <p:cNvPr id="5" name="组合 4">
            <a:extLst>
              <a:ext uri="{FF2B5EF4-FFF2-40B4-BE49-F238E27FC236}">
                <a16:creationId xmlns:a16="http://schemas.microsoft.com/office/drawing/2014/main" id="{AF063A9C-A9CA-ED90-4A21-CCC21989B5D4}"/>
              </a:ext>
            </a:extLst>
          </p:cNvPr>
          <p:cNvGrpSpPr/>
          <p:nvPr/>
        </p:nvGrpSpPr>
        <p:grpSpPr>
          <a:xfrm>
            <a:off x="5382367" y="1983197"/>
            <a:ext cx="6503079" cy="4065912"/>
            <a:chOff x="5382367" y="1983197"/>
            <a:chExt cx="6503079" cy="4065912"/>
          </a:xfrm>
        </p:grpSpPr>
        <p:pic>
          <p:nvPicPr>
            <p:cNvPr id="2" name="图片 1" descr="图形用户界面&#10;&#10;AI 生成的内容可能不正确。">
              <a:extLst>
                <a:ext uri="{FF2B5EF4-FFF2-40B4-BE49-F238E27FC236}">
                  <a16:creationId xmlns:a16="http://schemas.microsoft.com/office/drawing/2014/main" id="{FE2F8FB6-EB22-3025-AE93-A13B43F2BF02}"/>
                </a:ext>
              </a:extLst>
            </p:cNvPr>
            <p:cNvPicPr>
              <a:picLocks noChangeAspect="1"/>
            </p:cNvPicPr>
            <p:nvPr/>
          </p:nvPicPr>
          <p:blipFill>
            <a:blip r:embed="rId3"/>
            <a:stretch>
              <a:fillRect/>
            </a:stretch>
          </p:blipFill>
          <p:spPr>
            <a:xfrm>
              <a:off x="5382367" y="2979453"/>
              <a:ext cx="6503079" cy="2938024"/>
            </a:xfrm>
            <a:prstGeom prst="rect">
              <a:avLst/>
            </a:prstGeom>
          </p:spPr>
        </p:pic>
        <p:grpSp>
          <p:nvGrpSpPr>
            <p:cNvPr id="10" name="组合 9">
              <a:extLst>
                <a:ext uri="{FF2B5EF4-FFF2-40B4-BE49-F238E27FC236}">
                  <a16:creationId xmlns:a16="http://schemas.microsoft.com/office/drawing/2014/main" id="{36B208C4-EAD7-6BB1-030D-3E61454838FF}"/>
                </a:ext>
              </a:extLst>
            </p:cNvPr>
            <p:cNvGrpSpPr/>
            <p:nvPr/>
          </p:nvGrpSpPr>
          <p:grpSpPr>
            <a:xfrm>
              <a:off x="5382367" y="1983197"/>
              <a:ext cx="6425756" cy="4065912"/>
              <a:chOff x="193945" y="1841642"/>
              <a:chExt cx="5516843" cy="5793230"/>
            </a:xfrm>
          </p:grpSpPr>
          <p:sp>
            <p:nvSpPr>
              <p:cNvPr id="11" name="矩形 10">
                <a:extLst>
                  <a:ext uri="{FF2B5EF4-FFF2-40B4-BE49-F238E27FC236}">
                    <a16:creationId xmlns:a16="http://schemas.microsoft.com/office/drawing/2014/main" id="{87918D4E-E46B-A0BC-B60F-04E0E4405F29}"/>
                  </a:ext>
                </a:extLst>
              </p:cNvPr>
              <p:cNvSpPr/>
              <p:nvPr/>
            </p:nvSpPr>
            <p:spPr>
              <a:xfrm>
                <a:off x="193945" y="1841642"/>
                <a:ext cx="5516843" cy="5793230"/>
              </a:xfrm>
              <a:prstGeom prst="rect">
                <a:avLst/>
              </a:prstGeom>
              <a:noFill/>
              <a:ln w="25400">
                <a:solidFill>
                  <a:schemeClr val="tx2">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DEB9F534-863B-0BED-E175-2B2B7C4E0A28}"/>
                  </a:ext>
                </a:extLst>
              </p:cNvPr>
              <p:cNvSpPr/>
              <p:nvPr/>
            </p:nvSpPr>
            <p:spPr>
              <a:xfrm>
                <a:off x="200836" y="1931940"/>
                <a:ext cx="5304499" cy="517162"/>
              </a:xfrm>
              <a:prstGeom prst="rect">
                <a:avLst/>
              </a:prstGeom>
              <a:gradFill flip="none" rotWithShape="1">
                <a:gsLst>
                  <a:gs pos="58000">
                    <a:schemeClr val="tx2"/>
                  </a:gs>
                  <a:gs pos="100000">
                    <a:schemeClr val="bg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文本框 12">
                <a:extLst>
                  <a:ext uri="{FF2B5EF4-FFF2-40B4-BE49-F238E27FC236}">
                    <a16:creationId xmlns:a16="http://schemas.microsoft.com/office/drawing/2014/main" id="{36EBB12E-7B9D-A274-9DD2-A7085B747085}"/>
                  </a:ext>
                </a:extLst>
              </p:cNvPr>
              <p:cNvSpPr txBox="1"/>
              <p:nvPr/>
            </p:nvSpPr>
            <p:spPr>
              <a:xfrm>
                <a:off x="1051146" y="1912001"/>
                <a:ext cx="4392118" cy="570088"/>
              </a:xfrm>
              <a:prstGeom prst="rect">
                <a:avLst/>
              </a:prstGeom>
              <a:noFill/>
            </p:spPr>
            <p:txBody>
              <a:bodyPr wrap="square" rtlCol="0">
                <a:spAutoFit/>
              </a:bodyPr>
              <a:lstStyle/>
              <a:p>
                <a:r>
                  <a:rPr lang="zh-CN" altLang="en-US" sz="2000" b="1" dirty="0">
                    <a:solidFill>
                      <a:schemeClr val="bg1"/>
                    </a:solidFill>
                  </a:rPr>
                  <a:t>有状态域的状态同步</a:t>
                </a:r>
                <a:r>
                  <a:rPr lang="en-US" altLang="zh-CN" sz="2000" b="1" dirty="0">
                    <a:solidFill>
                      <a:schemeClr val="bg1"/>
                    </a:solidFill>
                  </a:rPr>
                  <a:t>(</a:t>
                </a:r>
                <a:r>
                  <a:rPr lang="zh-CN" altLang="en-US" sz="2000" b="1" dirty="0">
                    <a:solidFill>
                      <a:schemeClr val="bg1"/>
                    </a:solidFill>
                  </a:rPr>
                  <a:t>动态锁</a:t>
                </a:r>
                <a:r>
                  <a:rPr lang="en-US" altLang="zh-CN" sz="2000" b="1" dirty="0">
                    <a:solidFill>
                      <a:schemeClr val="bg1"/>
                    </a:solidFill>
                  </a:rPr>
                  <a:t>)</a:t>
                </a:r>
                <a:endParaRPr lang="zh-CN" altLang="en-US" sz="2000" b="1" dirty="0">
                  <a:solidFill>
                    <a:schemeClr val="bg1"/>
                  </a:solidFill>
                </a:endParaRPr>
              </a:p>
            </p:txBody>
          </p:sp>
          <p:sp>
            <p:nvSpPr>
              <p:cNvPr id="14" name="箭头: V 形 13">
                <a:extLst>
                  <a:ext uri="{FF2B5EF4-FFF2-40B4-BE49-F238E27FC236}">
                    <a16:creationId xmlns:a16="http://schemas.microsoft.com/office/drawing/2014/main" id="{E69295E9-0F08-2E87-3D83-E31E9023D231}"/>
                  </a:ext>
                </a:extLst>
              </p:cNvPr>
              <p:cNvSpPr/>
              <p:nvPr/>
            </p:nvSpPr>
            <p:spPr>
              <a:xfrm>
                <a:off x="706373" y="2025628"/>
                <a:ext cx="344773" cy="329784"/>
              </a:xfrm>
              <a:prstGeom prst="chevron">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任意多边形: 形状 14">
                <a:extLst>
                  <a:ext uri="{FF2B5EF4-FFF2-40B4-BE49-F238E27FC236}">
                    <a16:creationId xmlns:a16="http://schemas.microsoft.com/office/drawing/2014/main" id="{2B223F8F-E564-75FC-AD81-8EB672CA87F3}"/>
                  </a:ext>
                </a:extLst>
              </p:cNvPr>
              <p:cNvSpPr/>
              <p:nvPr/>
            </p:nvSpPr>
            <p:spPr>
              <a:xfrm rot="5400000">
                <a:off x="328310" y="1934921"/>
                <a:ext cx="344773" cy="511199"/>
              </a:xfrm>
              <a:custGeom>
                <a:avLst/>
                <a:gdLst>
                  <a:gd name="connsiteX0" fmla="*/ 0 w 344773"/>
                  <a:gd name="connsiteY0" fmla="*/ 182611 h 511199"/>
                  <a:gd name="connsiteX1" fmla="*/ 172387 w 344773"/>
                  <a:gd name="connsiteY1" fmla="*/ 0 h 511199"/>
                  <a:gd name="connsiteX2" fmla="*/ 344773 w 344773"/>
                  <a:gd name="connsiteY2" fmla="*/ 182611 h 511199"/>
                  <a:gd name="connsiteX3" fmla="*/ 337279 w 344773"/>
                  <a:gd name="connsiteY3" fmla="*/ 182611 h 511199"/>
                  <a:gd name="connsiteX4" fmla="*/ 337279 w 344773"/>
                  <a:gd name="connsiteY4" fmla="*/ 511199 h 511199"/>
                  <a:gd name="connsiteX5" fmla="*/ 7495 w 344773"/>
                  <a:gd name="connsiteY5" fmla="*/ 511199 h 511199"/>
                  <a:gd name="connsiteX6" fmla="*/ 7495 w 344773"/>
                  <a:gd name="connsiteY6" fmla="*/ 182611 h 511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4773" h="511199">
                    <a:moveTo>
                      <a:pt x="0" y="182611"/>
                    </a:moveTo>
                    <a:lnTo>
                      <a:pt x="172387" y="0"/>
                    </a:lnTo>
                    <a:lnTo>
                      <a:pt x="344773" y="182611"/>
                    </a:lnTo>
                    <a:lnTo>
                      <a:pt x="337279" y="182611"/>
                    </a:lnTo>
                    <a:lnTo>
                      <a:pt x="337279" y="511199"/>
                    </a:lnTo>
                    <a:lnTo>
                      <a:pt x="7495" y="511199"/>
                    </a:lnTo>
                    <a:lnTo>
                      <a:pt x="7495" y="182611"/>
                    </a:lnTo>
                    <a:close/>
                  </a:path>
                </a:pathLst>
              </a:custGeom>
              <a:gradFill flip="none" rotWithShape="1">
                <a:gsLst>
                  <a:gs pos="3000">
                    <a:schemeClr val="tx2"/>
                  </a:gs>
                  <a:gs pos="100000">
                    <a:schemeClr val="bg1"/>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grpSp>
        <p:nvGrpSpPr>
          <p:cNvPr id="3" name="组合 2">
            <a:extLst>
              <a:ext uri="{FF2B5EF4-FFF2-40B4-BE49-F238E27FC236}">
                <a16:creationId xmlns:a16="http://schemas.microsoft.com/office/drawing/2014/main" id="{DB0399F4-9618-70D9-4EAF-FB93A8F3F865}"/>
              </a:ext>
            </a:extLst>
          </p:cNvPr>
          <p:cNvGrpSpPr/>
          <p:nvPr/>
        </p:nvGrpSpPr>
        <p:grpSpPr>
          <a:xfrm>
            <a:off x="472887" y="1053656"/>
            <a:ext cx="11427148" cy="623969"/>
            <a:chOff x="472887" y="1053656"/>
            <a:chExt cx="11427148" cy="623969"/>
          </a:xfrm>
        </p:grpSpPr>
        <p:sp>
          <p:nvSpPr>
            <p:cNvPr id="16" name="文本框 15">
              <a:extLst>
                <a:ext uri="{FF2B5EF4-FFF2-40B4-BE49-F238E27FC236}">
                  <a16:creationId xmlns:a16="http://schemas.microsoft.com/office/drawing/2014/main" id="{EDEF3488-4069-5AA9-389D-DD337E59483C}"/>
                </a:ext>
              </a:extLst>
            </p:cNvPr>
            <p:cNvSpPr txBox="1"/>
            <p:nvPr/>
          </p:nvSpPr>
          <p:spPr>
            <a:xfrm>
              <a:off x="702659" y="1073252"/>
              <a:ext cx="11197376" cy="584775"/>
            </a:xfrm>
            <a:prstGeom prst="rect">
              <a:avLst/>
            </a:prstGeom>
            <a:noFill/>
          </p:spPr>
          <p:txBody>
            <a:bodyPr wrap="square">
              <a:spAutoFit/>
            </a:bodyPr>
            <a:lstStyle/>
            <a:p>
              <a:r>
                <a:rPr lang="zh-CN" altLang="en-US" sz="1600" b="1" dirty="0"/>
                <a:t>有状态域提供的服务依赖内部的状态数据，更新需要确保所有的任务已经离开旧域并阻止新的任务进入旧域中才能安全地重新初始化新域。</a:t>
              </a:r>
            </a:p>
          </p:txBody>
        </p:sp>
        <p:sp>
          <p:nvSpPr>
            <p:cNvPr id="17" name="矩形 16">
              <a:extLst>
                <a:ext uri="{FF2B5EF4-FFF2-40B4-BE49-F238E27FC236}">
                  <a16:creationId xmlns:a16="http://schemas.microsoft.com/office/drawing/2014/main" id="{FFB54859-DDE2-2D9F-C4C2-2C5D5E960D6B}"/>
                </a:ext>
              </a:extLst>
            </p:cNvPr>
            <p:cNvSpPr/>
            <p:nvPr/>
          </p:nvSpPr>
          <p:spPr>
            <a:xfrm>
              <a:off x="472887" y="1053656"/>
              <a:ext cx="11398098" cy="623969"/>
            </a:xfrm>
            <a:prstGeom prst="rect">
              <a:avLst/>
            </a:prstGeom>
            <a:no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18" name="菱形 17">
              <a:extLst>
                <a:ext uri="{FF2B5EF4-FFF2-40B4-BE49-F238E27FC236}">
                  <a16:creationId xmlns:a16="http://schemas.microsoft.com/office/drawing/2014/main" id="{61FABA49-39D3-77A0-4DDD-73731653ECC7}"/>
                </a:ext>
              </a:extLst>
            </p:cNvPr>
            <p:cNvSpPr/>
            <p:nvPr/>
          </p:nvSpPr>
          <p:spPr>
            <a:xfrm>
              <a:off x="517147" y="1119647"/>
              <a:ext cx="214562" cy="201542"/>
            </a:xfrm>
            <a:prstGeom prst="diamond">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grpSp>
      <p:grpSp>
        <p:nvGrpSpPr>
          <p:cNvPr id="4" name="组合 3">
            <a:extLst>
              <a:ext uri="{FF2B5EF4-FFF2-40B4-BE49-F238E27FC236}">
                <a16:creationId xmlns:a16="http://schemas.microsoft.com/office/drawing/2014/main" id="{BD2454E4-2525-B89F-AB50-6145BAF98445}"/>
              </a:ext>
            </a:extLst>
          </p:cNvPr>
          <p:cNvGrpSpPr/>
          <p:nvPr/>
        </p:nvGrpSpPr>
        <p:grpSpPr>
          <a:xfrm>
            <a:off x="523357" y="2091062"/>
            <a:ext cx="4693498" cy="3958047"/>
            <a:chOff x="523357" y="2091062"/>
            <a:chExt cx="4693498" cy="3958047"/>
          </a:xfrm>
        </p:grpSpPr>
        <p:sp>
          <p:nvSpPr>
            <p:cNvPr id="19" name="矩形 18">
              <a:extLst>
                <a:ext uri="{FF2B5EF4-FFF2-40B4-BE49-F238E27FC236}">
                  <a16:creationId xmlns:a16="http://schemas.microsoft.com/office/drawing/2014/main" id="{647A8148-0D28-EB2A-68B3-C919D7CA9FAD}"/>
                </a:ext>
              </a:extLst>
            </p:cNvPr>
            <p:cNvSpPr/>
            <p:nvPr/>
          </p:nvSpPr>
          <p:spPr>
            <a:xfrm>
              <a:off x="534378" y="2314863"/>
              <a:ext cx="4682477" cy="3734246"/>
            </a:xfrm>
            <a:prstGeom prst="rect">
              <a:avLst/>
            </a:prstGeom>
            <a:no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20">
              <a:extLst>
                <a:ext uri="{FF2B5EF4-FFF2-40B4-BE49-F238E27FC236}">
                  <a16:creationId xmlns:a16="http://schemas.microsoft.com/office/drawing/2014/main" id="{664AB2CB-F138-0470-772A-0C2F86E4598E}"/>
                </a:ext>
              </a:extLst>
            </p:cNvPr>
            <p:cNvSpPr/>
            <p:nvPr/>
          </p:nvSpPr>
          <p:spPr>
            <a:xfrm>
              <a:off x="523357" y="2091062"/>
              <a:ext cx="1576074" cy="431188"/>
            </a:xfrm>
            <a:prstGeom prst="roundRect">
              <a:avLst/>
            </a:prstGeom>
            <a:solidFill>
              <a:schemeClr val="tx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t>动态锁</a:t>
              </a:r>
            </a:p>
          </p:txBody>
        </p:sp>
      </p:grpSp>
      <p:sp>
        <p:nvSpPr>
          <p:cNvPr id="7" name="文本框 6">
            <a:extLst>
              <a:ext uri="{FF2B5EF4-FFF2-40B4-BE49-F238E27FC236}">
                <a16:creationId xmlns:a16="http://schemas.microsoft.com/office/drawing/2014/main" id="{355F9479-DFB7-5A6B-5E07-45953301BC72}"/>
              </a:ext>
            </a:extLst>
          </p:cNvPr>
          <p:cNvSpPr txBox="1"/>
          <p:nvPr/>
        </p:nvSpPr>
        <p:spPr>
          <a:xfrm>
            <a:off x="400508" y="2908672"/>
            <a:ext cx="4682477" cy="830997"/>
          </a:xfrm>
          <a:prstGeom prst="rect">
            <a:avLst/>
          </a:prstGeom>
          <a:noFill/>
        </p:spPr>
        <p:txBody>
          <a:bodyPr wrap="square">
            <a:spAutoFit/>
          </a:bodyPr>
          <a:lstStyle/>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1600" b="0" i="0" u="none" strike="noStrike" kern="1200" cap="none" spc="0" normalizeH="0" baseline="0" noProof="0" dirty="0">
                <a:ln>
                  <a:noFill/>
                </a:ln>
                <a:solidFill>
                  <a:prstClr val="black"/>
                </a:solidFill>
                <a:effectLst/>
                <a:uLnTx/>
                <a:uFillTx/>
                <a:latin typeface="微软雅黑"/>
                <a:ea typeface="微软雅黑"/>
                <a:cs typeface="+mn-cs"/>
              </a:rPr>
              <a:t>域调用走一条没有锁的代码（路径</a:t>
            </a:r>
            <a:r>
              <a:rPr kumimoji="0" lang="en-US" altLang="zh-CN" sz="1600" b="0" i="0" u="none" strike="noStrike" kern="1200" cap="none" spc="0" normalizeH="0" baseline="0" noProof="0" dirty="0">
                <a:ln>
                  <a:noFill/>
                </a:ln>
                <a:solidFill>
                  <a:prstClr val="black"/>
                </a:solidFill>
                <a:effectLst/>
                <a:uLnTx/>
                <a:uFillTx/>
                <a:latin typeface="微软雅黑"/>
                <a:ea typeface="微软雅黑"/>
                <a:cs typeface="+mn-cs"/>
              </a:rPr>
              <a:t>2</a:t>
            </a:r>
            <a:r>
              <a:rPr kumimoji="0" lang="zh-CN" altLang="en-US" sz="1600" b="0" i="0" u="none" strike="noStrike" kern="1200" cap="none" spc="0" normalizeH="0" baseline="0" noProof="0" dirty="0">
                <a:ln>
                  <a:noFill/>
                </a:ln>
                <a:solidFill>
                  <a:prstClr val="black"/>
                </a:solidFill>
                <a:effectLst/>
                <a:uLnTx/>
                <a:uFillTx/>
                <a:latin typeface="微软雅黑"/>
                <a:ea typeface="微软雅黑"/>
                <a:cs typeface="+mn-cs"/>
              </a:rPr>
              <a:t>）</a:t>
            </a:r>
            <a:endParaRPr kumimoji="0" lang="en-US" altLang="zh-CN" sz="1600" b="0" i="0" u="none" strike="noStrike" kern="1200" cap="none" spc="0" normalizeH="0" baseline="0" noProof="0" dirty="0">
              <a:ln>
                <a:noFill/>
              </a:ln>
              <a:solidFill>
                <a:prstClr val="black"/>
              </a:solidFill>
              <a:effectLst/>
              <a:uLnTx/>
              <a:uFillTx/>
              <a:latin typeface="微软雅黑"/>
              <a:ea typeface="微软雅黑"/>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1600" b="0" i="0" u="none" strike="noStrike" kern="1200" cap="none" spc="0" normalizeH="0" baseline="0" noProof="0" dirty="0">
                <a:ln>
                  <a:noFill/>
                </a:ln>
                <a:solidFill>
                  <a:prstClr val="black"/>
                </a:solidFill>
                <a:effectLst/>
                <a:uLnTx/>
                <a:uFillTx/>
                <a:latin typeface="微软雅黑"/>
                <a:ea typeface="微软雅黑"/>
                <a:cs typeface="+mn-cs"/>
              </a:rPr>
              <a:t>使用 </a:t>
            </a:r>
            <a:r>
              <a:rPr kumimoji="0" lang="en-US" altLang="zh-CN" sz="1600" b="0" i="0" u="none" strike="noStrike" kern="1200" cap="none" spc="0" normalizeH="0" baseline="0" noProof="0" dirty="0">
                <a:ln>
                  <a:noFill/>
                </a:ln>
                <a:solidFill>
                  <a:prstClr val="black"/>
                </a:solidFill>
                <a:effectLst/>
                <a:uLnTx/>
                <a:uFillTx/>
                <a:latin typeface="微软雅黑"/>
                <a:ea typeface="微软雅黑"/>
                <a:cs typeface="+mn-cs"/>
              </a:rPr>
              <a:t>per-CPU </a:t>
            </a:r>
            <a:r>
              <a:rPr kumimoji="0" lang="zh-CN" altLang="en-US" sz="1600" b="0" i="0" u="none" strike="noStrike" kern="1200" cap="none" spc="0" normalizeH="0" baseline="0" noProof="0" dirty="0">
                <a:ln>
                  <a:noFill/>
                </a:ln>
                <a:solidFill>
                  <a:prstClr val="black"/>
                </a:solidFill>
                <a:effectLst/>
                <a:uLnTx/>
                <a:uFillTx/>
                <a:latin typeface="微软雅黑"/>
                <a:ea typeface="微软雅黑"/>
                <a:cs typeface="+mn-cs"/>
              </a:rPr>
              <a:t>变量对任务的进入和离开进行计数</a:t>
            </a:r>
            <a:endParaRPr kumimoji="0" lang="en-US" altLang="zh-CN" sz="1600" b="0" i="0" u="none" strike="noStrike" kern="1200" cap="none" spc="0" normalizeH="0" baseline="0" noProof="0" dirty="0">
              <a:ln>
                <a:noFill/>
              </a:ln>
              <a:solidFill>
                <a:prstClr val="black"/>
              </a:solidFill>
              <a:effectLst/>
              <a:uLnTx/>
              <a:uFillTx/>
              <a:latin typeface="微软雅黑"/>
              <a:ea typeface="微软雅黑"/>
              <a:cs typeface="+mn-cs"/>
            </a:endParaRPr>
          </a:p>
        </p:txBody>
      </p:sp>
      <p:sp>
        <p:nvSpPr>
          <p:cNvPr id="22" name="文本框 21">
            <a:extLst>
              <a:ext uri="{FF2B5EF4-FFF2-40B4-BE49-F238E27FC236}">
                <a16:creationId xmlns:a16="http://schemas.microsoft.com/office/drawing/2014/main" id="{E231AA67-4DB7-1D7E-492F-1C7F913A77F1}"/>
              </a:ext>
            </a:extLst>
          </p:cNvPr>
          <p:cNvSpPr txBox="1"/>
          <p:nvPr/>
        </p:nvSpPr>
        <p:spPr>
          <a:xfrm>
            <a:off x="534378" y="2554324"/>
            <a:ext cx="1838417" cy="33855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1600" b="1" i="0" u="none" strike="noStrike" kern="1200" cap="none" spc="0" normalizeH="0" baseline="0" noProof="0" dirty="0">
                <a:ln>
                  <a:noFill/>
                </a:ln>
                <a:solidFill>
                  <a:prstClr val="black"/>
                </a:solidFill>
                <a:effectLst/>
                <a:uLnTx/>
                <a:uFillTx/>
                <a:latin typeface="微软雅黑"/>
                <a:ea typeface="微软雅黑"/>
                <a:cs typeface="+mn-cs"/>
              </a:rPr>
              <a:t>正常运行期间：</a:t>
            </a:r>
            <a:endParaRPr kumimoji="0" lang="en-US" altLang="zh-CN" sz="1600" b="1" i="0" u="none" strike="noStrike" kern="1200" cap="none" spc="0" normalizeH="0" baseline="0" noProof="0" dirty="0">
              <a:ln>
                <a:noFill/>
              </a:ln>
              <a:solidFill>
                <a:prstClr val="black"/>
              </a:solidFill>
              <a:effectLst/>
              <a:uLnTx/>
              <a:uFillTx/>
              <a:latin typeface="微软雅黑"/>
              <a:ea typeface="微软雅黑"/>
              <a:cs typeface="+mn-cs"/>
            </a:endParaRPr>
          </a:p>
        </p:txBody>
      </p:sp>
      <p:sp>
        <p:nvSpPr>
          <p:cNvPr id="24" name="文本框 23">
            <a:extLst>
              <a:ext uri="{FF2B5EF4-FFF2-40B4-BE49-F238E27FC236}">
                <a16:creationId xmlns:a16="http://schemas.microsoft.com/office/drawing/2014/main" id="{9FD81FDB-17E8-89EA-627A-62762F95419B}"/>
              </a:ext>
            </a:extLst>
          </p:cNvPr>
          <p:cNvSpPr txBox="1"/>
          <p:nvPr/>
        </p:nvSpPr>
        <p:spPr>
          <a:xfrm>
            <a:off x="534378" y="3922848"/>
            <a:ext cx="1838417" cy="33855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1600" b="1" i="0" u="none" strike="noStrike" kern="1200" cap="none" spc="0" normalizeH="0" baseline="0" noProof="0" dirty="0">
                <a:ln>
                  <a:noFill/>
                </a:ln>
                <a:solidFill>
                  <a:prstClr val="black"/>
                </a:solidFill>
                <a:effectLst/>
                <a:uLnTx/>
                <a:uFillTx/>
                <a:latin typeface="微软雅黑"/>
                <a:ea typeface="微软雅黑"/>
                <a:cs typeface="+mn-cs"/>
              </a:rPr>
              <a:t>域更新期间：</a:t>
            </a:r>
            <a:endParaRPr kumimoji="0" lang="en-US" altLang="zh-CN" sz="1600" b="1" i="0" u="none" strike="noStrike" kern="1200" cap="none" spc="0" normalizeH="0" baseline="0" noProof="0" dirty="0">
              <a:ln>
                <a:noFill/>
              </a:ln>
              <a:solidFill>
                <a:prstClr val="black"/>
              </a:solidFill>
              <a:effectLst/>
              <a:uLnTx/>
              <a:uFillTx/>
              <a:latin typeface="微软雅黑"/>
              <a:ea typeface="微软雅黑"/>
              <a:cs typeface="+mn-cs"/>
            </a:endParaRPr>
          </a:p>
        </p:txBody>
      </p:sp>
      <p:sp>
        <p:nvSpPr>
          <p:cNvPr id="28" name="文本框 27">
            <a:extLst>
              <a:ext uri="{FF2B5EF4-FFF2-40B4-BE49-F238E27FC236}">
                <a16:creationId xmlns:a16="http://schemas.microsoft.com/office/drawing/2014/main" id="{87B99115-C721-D77D-1580-30D3F9F534FD}"/>
              </a:ext>
            </a:extLst>
          </p:cNvPr>
          <p:cNvSpPr txBox="1"/>
          <p:nvPr/>
        </p:nvSpPr>
        <p:spPr>
          <a:xfrm>
            <a:off x="407957" y="4294102"/>
            <a:ext cx="4682477" cy="584775"/>
          </a:xfrm>
          <a:prstGeom prst="rect">
            <a:avLst/>
          </a:prstGeom>
          <a:noFill/>
        </p:spPr>
        <p:txBody>
          <a:bodyPr wrap="square">
            <a:spAutoFit/>
          </a:bodyPr>
          <a:lstStyle/>
          <a:p>
            <a:pPr marL="742950" marR="0" lvl="1" indent="-285750"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1600" b="0" i="0" u="none" strike="noStrike" kern="1200" cap="none" spc="0" normalizeH="0" baseline="0" noProof="0" dirty="0">
                <a:ln>
                  <a:noFill/>
                </a:ln>
                <a:solidFill>
                  <a:prstClr val="black"/>
                </a:solidFill>
                <a:effectLst/>
                <a:uLnTx/>
                <a:uFillTx/>
                <a:latin typeface="微软雅黑"/>
                <a:ea typeface="微软雅黑"/>
                <a:cs typeface="+mn-cs"/>
              </a:rPr>
              <a:t>更新任务将提前获取锁并使能全局标记（路径</a:t>
            </a:r>
            <a:r>
              <a:rPr kumimoji="0" lang="en-US" altLang="zh-CN" sz="1600" b="0" i="0" u="none" strike="noStrike" kern="1200" cap="none" spc="0" normalizeH="0" baseline="0" noProof="0" dirty="0">
                <a:ln>
                  <a:noFill/>
                </a:ln>
                <a:solidFill>
                  <a:prstClr val="black"/>
                </a:solidFill>
                <a:effectLst/>
                <a:uLnTx/>
                <a:uFillTx/>
                <a:latin typeface="微软雅黑"/>
                <a:ea typeface="微软雅黑"/>
                <a:cs typeface="+mn-cs"/>
              </a:rPr>
              <a:t>3</a:t>
            </a:r>
            <a:r>
              <a:rPr kumimoji="0" lang="zh-CN" altLang="en-US" sz="1600" b="0" i="0" u="none" strike="noStrike" kern="1200" cap="none" spc="0" normalizeH="0" baseline="0" noProof="0" dirty="0">
                <a:ln>
                  <a:noFill/>
                </a:ln>
                <a:solidFill>
                  <a:prstClr val="black"/>
                </a:solidFill>
                <a:effectLst/>
                <a:uLnTx/>
                <a:uFillTx/>
                <a:latin typeface="微软雅黑"/>
                <a:ea typeface="微软雅黑"/>
                <a:cs typeface="+mn-cs"/>
              </a:rPr>
              <a:t>）</a:t>
            </a:r>
            <a:endParaRPr kumimoji="0" lang="en-US" altLang="zh-CN" sz="1600" b="0" i="0" u="none" strike="noStrike" kern="1200" cap="none" spc="0" normalizeH="0" baseline="0" noProof="0" dirty="0">
              <a:ln>
                <a:noFill/>
              </a:ln>
              <a:solidFill>
                <a:prstClr val="black"/>
              </a:solidFill>
              <a:effectLst/>
              <a:uLnTx/>
              <a:uFillTx/>
              <a:latin typeface="微软雅黑"/>
              <a:ea typeface="微软雅黑"/>
              <a:cs typeface="+mn-cs"/>
            </a:endParaRPr>
          </a:p>
        </p:txBody>
      </p:sp>
      <p:sp>
        <p:nvSpPr>
          <p:cNvPr id="30" name="文本框 29">
            <a:extLst>
              <a:ext uri="{FF2B5EF4-FFF2-40B4-BE49-F238E27FC236}">
                <a16:creationId xmlns:a16="http://schemas.microsoft.com/office/drawing/2014/main" id="{2C167CC5-A004-D4DC-074B-00EA07D8DB3E}"/>
              </a:ext>
            </a:extLst>
          </p:cNvPr>
          <p:cNvSpPr txBox="1"/>
          <p:nvPr/>
        </p:nvSpPr>
        <p:spPr>
          <a:xfrm>
            <a:off x="407957" y="4842890"/>
            <a:ext cx="4743968" cy="584775"/>
          </a:xfrm>
          <a:prstGeom prst="rect">
            <a:avLst/>
          </a:prstGeom>
          <a:noFill/>
        </p:spPr>
        <p:txBody>
          <a:bodyPr wrap="square">
            <a:spAutoFit/>
          </a:bodyPr>
          <a:lstStyle/>
          <a:p>
            <a:pPr marL="742950" marR="0" lvl="1" indent="-285750"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1600" b="0" i="0" u="none" strike="noStrike" kern="1200" cap="none" spc="0" normalizeH="0" baseline="0" noProof="0" dirty="0">
                <a:ln>
                  <a:noFill/>
                </a:ln>
                <a:solidFill>
                  <a:prstClr val="black"/>
                </a:solidFill>
                <a:effectLst/>
                <a:uLnTx/>
                <a:uFillTx/>
                <a:latin typeface="微软雅黑"/>
                <a:ea typeface="微软雅黑"/>
                <a:cs typeface="+mn-cs"/>
              </a:rPr>
              <a:t>后续的访问者因为全局标记被使能而走有锁路径（路径</a:t>
            </a:r>
            <a:r>
              <a:rPr kumimoji="0" lang="en-US" altLang="zh-CN" sz="1600" b="0" i="0" u="none" strike="noStrike" kern="1200" cap="none" spc="0" normalizeH="0" baseline="0" noProof="0" dirty="0">
                <a:ln>
                  <a:noFill/>
                </a:ln>
                <a:solidFill>
                  <a:prstClr val="black"/>
                </a:solidFill>
                <a:effectLst/>
                <a:uLnTx/>
                <a:uFillTx/>
                <a:latin typeface="微软雅黑"/>
                <a:ea typeface="微软雅黑"/>
                <a:cs typeface="+mn-cs"/>
              </a:rPr>
              <a:t>1</a:t>
            </a:r>
            <a:r>
              <a:rPr kumimoji="0" lang="zh-CN" altLang="en-US" sz="1600" b="0" i="0" u="none" strike="noStrike" kern="1200" cap="none" spc="0" normalizeH="0" baseline="0" noProof="0" dirty="0">
                <a:ln>
                  <a:noFill/>
                </a:ln>
                <a:solidFill>
                  <a:prstClr val="black"/>
                </a:solidFill>
                <a:effectLst/>
                <a:uLnTx/>
                <a:uFillTx/>
                <a:latin typeface="微软雅黑"/>
                <a:ea typeface="微软雅黑"/>
                <a:cs typeface="+mn-cs"/>
              </a:rPr>
              <a:t>）</a:t>
            </a:r>
            <a:endParaRPr kumimoji="0" lang="en-US" altLang="zh-CN" sz="1600" b="0" i="0" u="none" strike="noStrike" kern="1200" cap="none" spc="0" normalizeH="0" baseline="0" noProof="0" dirty="0">
              <a:ln>
                <a:noFill/>
              </a:ln>
              <a:solidFill>
                <a:prstClr val="black"/>
              </a:solidFill>
              <a:effectLst/>
              <a:uLnTx/>
              <a:uFillTx/>
              <a:latin typeface="微软雅黑"/>
              <a:ea typeface="微软雅黑"/>
              <a:cs typeface="+mn-cs"/>
            </a:endParaRPr>
          </a:p>
        </p:txBody>
      </p:sp>
      <p:sp>
        <p:nvSpPr>
          <p:cNvPr id="34" name="文本框 33">
            <a:extLst>
              <a:ext uri="{FF2B5EF4-FFF2-40B4-BE49-F238E27FC236}">
                <a16:creationId xmlns:a16="http://schemas.microsoft.com/office/drawing/2014/main" id="{D94359D0-0B85-1A7D-1A3B-69A52F5109F8}"/>
              </a:ext>
            </a:extLst>
          </p:cNvPr>
          <p:cNvSpPr txBox="1"/>
          <p:nvPr/>
        </p:nvSpPr>
        <p:spPr>
          <a:xfrm>
            <a:off x="422871" y="5480128"/>
            <a:ext cx="4682477" cy="584775"/>
          </a:xfrm>
          <a:prstGeom prst="rect">
            <a:avLst/>
          </a:prstGeom>
          <a:noFill/>
        </p:spPr>
        <p:txBody>
          <a:bodyPr wrap="square">
            <a:spAutoFit/>
          </a:bodyPr>
          <a:lstStyle/>
          <a:p>
            <a:pPr marL="742950" marR="0" lvl="1" indent="-285750"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1600" b="0" i="0" u="none" strike="noStrike" kern="1200" cap="none" spc="0" normalizeH="0" baseline="0" noProof="0" dirty="0">
                <a:ln>
                  <a:noFill/>
                </a:ln>
                <a:solidFill>
                  <a:prstClr val="black"/>
                </a:solidFill>
                <a:effectLst/>
                <a:uLnTx/>
                <a:uFillTx/>
                <a:latin typeface="微软雅黑"/>
                <a:ea typeface="微软雅黑"/>
                <a:cs typeface="+mn-cs"/>
              </a:rPr>
              <a:t>更新者已经获得锁，它们需要等待升级结束才能获得锁</a:t>
            </a:r>
            <a:endParaRPr kumimoji="0" lang="en-US" altLang="zh-CN" sz="1600" b="0" i="0" u="none" strike="noStrike" kern="1200" cap="none" spc="0" normalizeH="0" baseline="0" noProof="0" dirty="0">
              <a:ln>
                <a:noFill/>
              </a:ln>
              <a:solidFill>
                <a:prstClr val="black"/>
              </a:solidFill>
              <a:effectLst/>
              <a:uLnTx/>
              <a:uFillTx/>
              <a:latin typeface="微软雅黑"/>
              <a:ea typeface="微软雅黑"/>
              <a:cs typeface="+mn-cs"/>
            </a:endParaRPr>
          </a:p>
        </p:txBody>
      </p:sp>
      <p:sp>
        <p:nvSpPr>
          <p:cNvPr id="35" name="矩形 34">
            <a:extLst>
              <a:ext uri="{FF2B5EF4-FFF2-40B4-BE49-F238E27FC236}">
                <a16:creationId xmlns:a16="http://schemas.microsoft.com/office/drawing/2014/main" id="{E72CEDD2-3ABD-CCB6-7686-D524C86987AA}"/>
              </a:ext>
            </a:extLst>
          </p:cNvPr>
          <p:cNvSpPr/>
          <p:nvPr/>
        </p:nvSpPr>
        <p:spPr>
          <a:xfrm>
            <a:off x="7498080" y="3637281"/>
            <a:ext cx="3159760" cy="548640"/>
          </a:xfrm>
          <a:custGeom>
            <a:avLst/>
            <a:gdLst>
              <a:gd name="csX0" fmla="*/ 0 w 3159760"/>
              <a:gd name="csY0" fmla="*/ 0 h 548640"/>
              <a:gd name="csX1" fmla="*/ 495029 w 3159760"/>
              <a:gd name="csY1" fmla="*/ 0 h 548640"/>
              <a:gd name="csX2" fmla="*/ 926863 w 3159760"/>
              <a:gd name="csY2" fmla="*/ 0 h 548640"/>
              <a:gd name="csX3" fmla="*/ 1516685 w 3159760"/>
              <a:gd name="csY3" fmla="*/ 0 h 548640"/>
              <a:gd name="csX4" fmla="*/ 2011714 w 3159760"/>
              <a:gd name="csY4" fmla="*/ 0 h 548640"/>
              <a:gd name="csX5" fmla="*/ 2506743 w 3159760"/>
              <a:gd name="csY5" fmla="*/ 0 h 548640"/>
              <a:gd name="csX6" fmla="*/ 3159760 w 3159760"/>
              <a:gd name="csY6" fmla="*/ 0 h 548640"/>
              <a:gd name="csX7" fmla="*/ 3159760 w 3159760"/>
              <a:gd name="csY7" fmla="*/ 548640 h 548640"/>
              <a:gd name="csX8" fmla="*/ 2633133 w 3159760"/>
              <a:gd name="csY8" fmla="*/ 548640 h 548640"/>
              <a:gd name="csX9" fmla="*/ 2201299 w 3159760"/>
              <a:gd name="csY9" fmla="*/ 548640 h 548640"/>
              <a:gd name="csX10" fmla="*/ 1674673 w 3159760"/>
              <a:gd name="csY10" fmla="*/ 548640 h 548640"/>
              <a:gd name="csX11" fmla="*/ 1148046 w 3159760"/>
              <a:gd name="csY11" fmla="*/ 548640 h 548640"/>
              <a:gd name="csX12" fmla="*/ 653017 w 3159760"/>
              <a:gd name="csY12" fmla="*/ 548640 h 548640"/>
              <a:gd name="csX13" fmla="*/ 0 w 3159760"/>
              <a:gd name="csY13" fmla="*/ 548640 h 548640"/>
              <a:gd name="csX14" fmla="*/ 0 w 3159760"/>
              <a:gd name="csY14" fmla="*/ 0 h 548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159760" h="548640" extrusionOk="0">
                <a:moveTo>
                  <a:pt x="0" y="0"/>
                </a:moveTo>
                <a:cubicBezTo>
                  <a:pt x="217661" y="-39851"/>
                  <a:pt x="283326" y="13676"/>
                  <a:pt x="495029" y="0"/>
                </a:cubicBezTo>
                <a:cubicBezTo>
                  <a:pt x="706732" y="-13676"/>
                  <a:pt x="752991" y="46783"/>
                  <a:pt x="926863" y="0"/>
                </a:cubicBezTo>
                <a:cubicBezTo>
                  <a:pt x="1100735" y="-46783"/>
                  <a:pt x="1340434" y="62953"/>
                  <a:pt x="1516685" y="0"/>
                </a:cubicBezTo>
                <a:cubicBezTo>
                  <a:pt x="1692936" y="-62953"/>
                  <a:pt x="1803931" y="56590"/>
                  <a:pt x="2011714" y="0"/>
                </a:cubicBezTo>
                <a:cubicBezTo>
                  <a:pt x="2219497" y="-56590"/>
                  <a:pt x="2335542" y="49540"/>
                  <a:pt x="2506743" y="0"/>
                </a:cubicBezTo>
                <a:cubicBezTo>
                  <a:pt x="2677944" y="-49540"/>
                  <a:pt x="2860250" y="27739"/>
                  <a:pt x="3159760" y="0"/>
                </a:cubicBezTo>
                <a:cubicBezTo>
                  <a:pt x="3176235" y="206674"/>
                  <a:pt x="3124268" y="311021"/>
                  <a:pt x="3159760" y="548640"/>
                </a:cubicBezTo>
                <a:cubicBezTo>
                  <a:pt x="2911169" y="601601"/>
                  <a:pt x="2859434" y="529174"/>
                  <a:pt x="2633133" y="548640"/>
                </a:cubicBezTo>
                <a:cubicBezTo>
                  <a:pt x="2406832" y="568106"/>
                  <a:pt x="2399929" y="514349"/>
                  <a:pt x="2201299" y="548640"/>
                </a:cubicBezTo>
                <a:cubicBezTo>
                  <a:pt x="2002669" y="582931"/>
                  <a:pt x="1835677" y="542296"/>
                  <a:pt x="1674673" y="548640"/>
                </a:cubicBezTo>
                <a:cubicBezTo>
                  <a:pt x="1513669" y="554984"/>
                  <a:pt x="1277525" y="531174"/>
                  <a:pt x="1148046" y="548640"/>
                </a:cubicBezTo>
                <a:cubicBezTo>
                  <a:pt x="1018567" y="566106"/>
                  <a:pt x="786589" y="533389"/>
                  <a:pt x="653017" y="548640"/>
                </a:cubicBezTo>
                <a:cubicBezTo>
                  <a:pt x="519445" y="563891"/>
                  <a:pt x="208775" y="473874"/>
                  <a:pt x="0" y="548640"/>
                </a:cubicBezTo>
                <a:cubicBezTo>
                  <a:pt x="-40577" y="276107"/>
                  <a:pt x="39194" y="190769"/>
                  <a:pt x="0" y="0"/>
                </a:cubicBezTo>
                <a:close/>
              </a:path>
            </a:pathLst>
          </a:custGeom>
          <a:noFill/>
          <a:ln w="25400">
            <a:solidFill>
              <a:srgbClr val="FF0000"/>
            </a:solidFill>
            <a:prstDash val="dash"/>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D4DE78B9-CEDC-6D37-CE43-D26628EF2588}"/>
              </a:ext>
            </a:extLst>
          </p:cNvPr>
          <p:cNvSpPr/>
          <p:nvPr/>
        </p:nvSpPr>
        <p:spPr>
          <a:xfrm>
            <a:off x="7107144" y="4481518"/>
            <a:ext cx="3824091" cy="548640"/>
          </a:xfrm>
          <a:custGeom>
            <a:avLst/>
            <a:gdLst>
              <a:gd name="csX0" fmla="*/ 0 w 3824091"/>
              <a:gd name="csY0" fmla="*/ 0 h 548640"/>
              <a:gd name="csX1" fmla="*/ 508058 w 3824091"/>
              <a:gd name="csY1" fmla="*/ 0 h 548640"/>
              <a:gd name="csX2" fmla="*/ 939634 w 3824091"/>
              <a:gd name="csY2" fmla="*/ 0 h 548640"/>
              <a:gd name="csX3" fmla="*/ 1562414 w 3824091"/>
              <a:gd name="csY3" fmla="*/ 0 h 548640"/>
              <a:gd name="csX4" fmla="*/ 2070472 w 3824091"/>
              <a:gd name="csY4" fmla="*/ 0 h 548640"/>
              <a:gd name="csX5" fmla="*/ 2578530 w 3824091"/>
              <a:gd name="csY5" fmla="*/ 0 h 548640"/>
              <a:gd name="csX6" fmla="*/ 3201310 w 3824091"/>
              <a:gd name="csY6" fmla="*/ 0 h 548640"/>
              <a:gd name="csX7" fmla="*/ 3824091 w 3824091"/>
              <a:gd name="csY7" fmla="*/ 0 h 548640"/>
              <a:gd name="csX8" fmla="*/ 3824091 w 3824091"/>
              <a:gd name="csY8" fmla="*/ 548640 h 548640"/>
              <a:gd name="csX9" fmla="*/ 3354274 w 3824091"/>
              <a:gd name="csY9" fmla="*/ 548640 h 548640"/>
              <a:gd name="csX10" fmla="*/ 2807975 w 3824091"/>
              <a:gd name="csY10" fmla="*/ 548640 h 548640"/>
              <a:gd name="csX11" fmla="*/ 2261677 w 3824091"/>
              <a:gd name="csY11" fmla="*/ 548640 h 548640"/>
              <a:gd name="csX12" fmla="*/ 1753619 w 3824091"/>
              <a:gd name="csY12" fmla="*/ 548640 h 548640"/>
              <a:gd name="csX13" fmla="*/ 1130838 w 3824091"/>
              <a:gd name="csY13" fmla="*/ 548640 h 548640"/>
              <a:gd name="csX14" fmla="*/ 508058 w 3824091"/>
              <a:gd name="csY14" fmla="*/ 548640 h 548640"/>
              <a:gd name="csX15" fmla="*/ 0 w 3824091"/>
              <a:gd name="csY15" fmla="*/ 548640 h 548640"/>
              <a:gd name="csX16" fmla="*/ 0 w 3824091"/>
              <a:gd name="csY16" fmla="*/ 0 h 548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824091" h="548640" extrusionOk="0">
                <a:moveTo>
                  <a:pt x="0" y="0"/>
                </a:moveTo>
                <a:cubicBezTo>
                  <a:pt x="153234" y="-6362"/>
                  <a:pt x="373888" y="56743"/>
                  <a:pt x="508058" y="0"/>
                </a:cubicBezTo>
                <a:cubicBezTo>
                  <a:pt x="642228" y="-56743"/>
                  <a:pt x="736105" y="22158"/>
                  <a:pt x="939634" y="0"/>
                </a:cubicBezTo>
                <a:cubicBezTo>
                  <a:pt x="1143163" y="-22158"/>
                  <a:pt x="1414104" y="37174"/>
                  <a:pt x="1562414" y="0"/>
                </a:cubicBezTo>
                <a:cubicBezTo>
                  <a:pt x="1710724" y="-37174"/>
                  <a:pt x="1870534" y="20595"/>
                  <a:pt x="2070472" y="0"/>
                </a:cubicBezTo>
                <a:cubicBezTo>
                  <a:pt x="2270410" y="-20595"/>
                  <a:pt x="2346323" y="44209"/>
                  <a:pt x="2578530" y="0"/>
                </a:cubicBezTo>
                <a:cubicBezTo>
                  <a:pt x="2810737" y="-44209"/>
                  <a:pt x="3013808" y="15878"/>
                  <a:pt x="3201310" y="0"/>
                </a:cubicBezTo>
                <a:cubicBezTo>
                  <a:pt x="3388812" y="-15878"/>
                  <a:pt x="3534000" y="60939"/>
                  <a:pt x="3824091" y="0"/>
                </a:cubicBezTo>
                <a:cubicBezTo>
                  <a:pt x="3875326" y="193837"/>
                  <a:pt x="3763647" y="281830"/>
                  <a:pt x="3824091" y="548640"/>
                </a:cubicBezTo>
                <a:cubicBezTo>
                  <a:pt x="3650897" y="560754"/>
                  <a:pt x="3449283" y="493744"/>
                  <a:pt x="3354274" y="548640"/>
                </a:cubicBezTo>
                <a:cubicBezTo>
                  <a:pt x="3259265" y="603536"/>
                  <a:pt x="2956221" y="492113"/>
                  <a:pt x="2807975" y="548640"/>
                </a:cubicBezTo>
                <a:cubicBezTo>
                  <a:pt x="2659729" y="605167"/>
                  <a:pt x="2472958" y="506272"/>
                  <a:pt x="2261677" y="548640"/>
                </a:cubicBezTo>
                <a:cubicBezTo>
                  <a:pt x="2050396" y="591008"/>
                  <a:pt x="1958356" y="493677"/>
                  <a:pt x="1753619" y="548640"/>
                </a:cubicBezTo>
                <a:cubicBezTo>
                  <a:pt x="1548882" y="603603"/>
                  <a:pt x="1348086" y="484713"/>
                  <a:pt x="1130838" y="548640"/>
                </a:cubicBezTo>
                <a:cubicBezTo>
                  <a:pt x="913590" y="612567"/>
                  <a:pt x="721334" y="547788"/>
                  <a:pt x="508058" y="548640"/>
                </a:cubicBezTo>
                <a:cubicBezTo>
                  <a:pt x="294782" y="549492"/>
                  <a:pt x="241754" y="546393"/>
                  <a:pt x="0" y="548640"/>
                </a:cubicBezTo>
                <a:cubicBezTo>
                  <a:pt x="-47795" y="427182"/>
                  <a:pt x="12465" y="266223"/>
                  <a:pt x="0" y="0"/>
                </a:cubicBezTo>
                <a:close/>
              </a:path>
            </a:pathLst>
          </a:custGeom>
          <a:noFill/>
          <a:ln w="25400">
            <a:solidFill>
              <a:srgbClr val="FF0000"/>
            </a:solidFill>
            <a:prstDash val="dash"/>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B4851400-75E8-637E-99CA-30731D2C53D3}"/>
              </a:ext>
            </a:extLst>
          </p:cNvPr>
          <p:cNvSpPr/>
          <p:nvPr/>
        </p:nvSpPr>
        <p:spPr>
          <a:xfrm>
            <a:off x="7536742" y="3191029"/>
            <a:ext cx="3159760" cy="548640"/>
          </a:xfrm>
          <a:custGeom>
            <a:avLst/>
            <a:gdLst>
              <a:gd name="csX0" fmla="*/ 0 w 3159760"/>
              <a:gd name="csY0" fmla="*/ 0 h 548640"/>
              <a:gd name="csX1" fmla="*/ 495029 w 3159760"/>
              <a:gd name="csY1" fmla="*/ 0 h 548640"/>
              <a:gd name="csX2" fmla="*/ 926863 w 3159760"/>
              <a:gd name="csY2" fmla="*/ 0 h 548640"/>
              <a:gd name="csX3" fmla="*/ 1516685 w 3159760"/>
              <a:gd name="csY3" fmla="*/ 0 h 548640"/>
              <a:gd name="csX4" fmla="*/ 2011714 w 3159760"/>
              <a:gd name="csY4" fmla="*/ 0 h 548640"/>
              <a:gd name="csX5" fmla="*/ 2506743 w 3159760"/>
              <a:gd name="csY5" fmla="*/ 0 h 548640"/>
              <a:gd name="csX6" fmla="*/ 3159760 w 3159760"/>
              <a:gd name="csY6" fmla="*/ 0 h 548640"/>
              <a:gd name="csX7" fmla="*/ 3159760 w 3159760"/>
              <a:gd name="csY7" fmla="*/ 548640 h 548640"/>
              <a:gd name="csX8" fmla="*/ 2633133 w 3159760"/>
              <a:gd name="csY8" fmla="*/ 548640 h 548640"/>
              <a:gd name="csX9" fmla="*/ 2201299 w 3159760"/>
              <a:gd name="csY9" fmla="*/ 548640 h 548640"/>
              <a:gd name="csX10" fmla="*/ 1674673 w 3159760"/>
              <a:gd name="csY10" fmla="*/ 548640 h 548640"/>
              <a:gd name="csX11" fmla="*/ 1148046 w 3159760"/>
              <a:gd name="csY11" fmla="*/ 548640 h 548640"/>
              <a:gd name="csX12" fmla="*/ 653017 w 3159760"/>
              <a:gd name="csY12" fmla="*/ 548640 h 548640"/>
              <a:gd name="csX13" fmla="*/ 0 w 3159760"/>
              <a:gd name="csY13" fmla="*/ 548640 h 548640"/>
              <a:gd name="csX14" fmla="*/ 0 w 3159760"/>
              <a:gd name="csY14" fmla="*/ 0 h 548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159760" h="548640" extrusionOk="0">
                <a:moveTo>
                  <a:pt x="0" y="0"/>
                </a:moveTo>
                <a:cubicBezTo>
                  <a:pt x="217661" y="-39851"/>
                  <a:pt x="283326" y="13676"/>
                  <a:pt x="495029" y="0"/>
                </a:cubicBezTo>
                <a:cubicBezTo>
                  <a:pt x="706732" y="-13676"/>
                  <a:pt x="752991" y="46783"/>
                  <a:pt x="926863" y="0"/>
                </a:cubicBezTo>
                <a:cubicBezTo>
                  <a:pt x="1100735" y="-46783"/>
                  <a:pt x="1340434" y="62953"/>
                  <a:pt x="1516685" y="0"/>
                </a:cubicBezTo>
                <a:cubicBezTo>
                  <a:pt x="1692936" y="-62953"/>
                  <a:pt x="1803931" y="56590"/>
                  <a:pt x="2011714" y="0"/>
                </a:cubicBezTo>
                <a:cubicBezTo>
                  <a:pt x="2219497" y="-56590"/>
                  <a:pt x="2335542" y="49540"/>
                  <a:pt x="2506743" y="0"/>
                </a:cubicBezTo>
                <a:cubicBezTo>
                  <a:pt x="2677944" y="-49540"/>
                  <a:pt x="2860250" y="27739"/>
                  <a:pt x="3159760" y="0"/>
                </a:cubicBezTo>
                <a:cubicBezTo>
                  <a:pt x="3176235" y="206674"/>
                  <a:pt x="3124268" y="311021"/>
                  <a:pt x="3159760" y="548640"/>
                </a:cubicBezTo>
                <a:cubicBezTo>
                  <a:pt x="2911169" y="601601"/>
                  <a:pt x="2859434" y="529174"/>
                  <a:pt x="2633133" y="548640"/>
                </a:cubicBezTo>
                <a:cubicBezTo>
                  <a:pt x="2406832" y="568106"/>
                  <a:pt x="2399929" y="514349"/>
                  <a:pt x="2201299" y="548640"/>
                </a:cubicBezTo>
                <a:cubicBezTo>
                  <a:pt x="2002669" y="582931"/>
                  <a:pt x="1835677" y="542296"/>
                  <a:pt x="1674673" y="548640"/>
                </a:cubicBezTo>
                <a:cubicBezTo>
                  <a:pt x="1513669" y="554984"/>
                  <a:pt x="1277525" y="531174"/>
                  <a:pt x="1148046" y="548640"/>
                </a:cubicBezTo>
                <a:cubicBezTo>
                  <a:pt x="1018567" y="566106"/>
                  <a:pt x="786589" y="533389"/>
                  <a:pt x="653017" y="548640"/>
                </a:cubicBezTo>
                <a:cubicBezTo>
                  <a:pt x="519445" y="563891"/>
                  <a:pt x="208775" y="473874"/>
                  <a:pt x="0" y="548640"/>
                </a:cubicBezTo>
                <a:cubicBezTo>
                  <a:pt x="-40577" y="276107"/>
                  <a:pt x="39194" y="190769"/>
                  <a:pt x="0" y="0"/>
                </a:cubicBezTo>
                <a:close/>
              </a:path>
            </a:pathLst>
          </a:custGeom>
          <a:noFill/>
          <a:ln w="25400">
            <a:solidFill>
              <a:srgbClr val="FF0000"/>
            </a:solidFill>
            <a:prstDash val="dash"/>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4250238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wipe(up)">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par>
                                <p:cTn id="23" presetID="1" presetClass="entr" presetSubtype="0" fill="hold" grpId="0"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wipe(up)">
                                      <p:cBhvr>
                                        <p:cTn id="29" dur="500"/>
                                        <p:tgtEl>
                                          <p:spTgt spid="2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wipe(up)">
                                      <p:cBhvr>
                                        <p:cTn id="34" dur="500"/>
                                        <p:tgtEl>
                                          <p:spTgt spid="28"/>
                                        </p:tgtEl>
                                      </p:cBhvr>
                                    </p:animEffect>
                                  </p:childTnLst>
                                </p:cTn>
                              </p:par>
                              <p:par>
                                <p:cTn id="35" presetID="1" presetClass="entr" presetSubtype="0" fill="hold" grpId="0" nodeType="with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1" presetClass="exit" presetSubtype="0" fill="hold" grpId="1" nodeType="withEffect">
                                  <p:stCondLst>
                                    <p:cond delay="0"/>
                                  </p:stCondLst>
                                  <p:childTnLst>
                                    <p:set>
                                      <p:cBhvr>
                                        <p:cTn id="38" dur="1" fill="hold">
                                          <p:stCondLst>
                                            <p:cond delay="0"/>
                                          </p:stCondLst>
                                        </p:cTn>
                                        <p:tgtEl>
                                          <p:spTgt spid="35"/>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wipe(up)">
                                      <p:cBhvr>
                                        <p:cTn id="43" dur="500"/>
                                        <p:tgtEl>
                                          <p:spTgt spid="30"/>
                                        </p:tgtEl>
                                      </p:cBhvr>
                                    </p:animEffect>
                                  </p:childTnLst>
                                </p:cTn>
                              </p:par>
                              <p:par>
                                <p:cTn id="44" presetID="1" presetClass="entr" presetSubtype="0" fill="hold" grpId="0" nodeType="withEffect">
                                  <p:stCondLst>
                                    <p:cond delay="0"/>
                                  </p:stCondLst>
                                  <p:childTnLst>
                                    <p:set>
                                      <p:cBhvr>
                                        <p:cTn id="45" dur="1" fill="hold">
                                          <p:stCondLst>
                                            <p:cond delay="0"/>
                                          </p:stCondLst>
                                        </p:cTn>
                                        <p:tgtEl>
                                          <p:spTgt spid="37"/>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34"/>
                                        </p:tgtEl>
                                        <p:attrNameLst>
                                          <p:attrName>style.visibility</p:attrName>
                                        </p:attrNameLst>
                                      </p:cBhvr>
                                      <p:to>
                                        <p:strVal val="visible"/>
                                      </p:to>
                                    </p:set>
                                    <p:animEffect transition="in" filter="wipe(up)">
                                      <p:cBhvr>
                                        <p:cTn id="50"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2" grpId="0"/>
      <p:bldP spid="24" grpId="0"/>
      <p:bldP spid="28" grpId="0"/>
      <p:bldP spid="30" grpId="0"/>
      <p:bldP spid="34" grpId="0"/>
      <p:bldP spid="35" grpId="0" animBg="1"/>
      <p:bldP spid="35" grpId="1" animBg="1"/>
      <p:bldP spid="36" grpId="0" animBg="1"/>
      <p:bldP spid="3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D488B-B087-E621-44A5-7549D9B17383}"/>
            </a:ext>
          </a:extLst>
        </p:cNvPr>
        <p:cNvGrpSpPr/>
        <p:nvPr/>
      </p:nvGrpSpPr>
      <p:grpSpPr>
        <a:xfrm>
          <a:off x="0" y="0"/>
          <a:ext cx="0" cy="0"/>
          <a:chOff x="0" y="0"/>
          <a:chExt cx="0" cy="0"/>
        </a:xfrm>
      </p:grpSpPr>
      <p:sp>
        <p:nvSpPr>
          <p:cNvPr id="9" name="标题 8">
            <a:extLst>
              <a:ext uri="{FF2B5EF4-FFF2-40B4-BE49-F238E27FC236}">
                <a16:creationId xmlns:a16="http://schemas.microsoft.com/office/drawing/2014/main" id="{7DB6FF6D-2B46-6234-96E9-A694D1D5115C}"/>
              </a:ext>
            </a:extLst>
          </p:cNvPr>
          <p:cNvSpPr>
            <a:spLocks noGrp="1"/>
          </p:cNvSpPr>
          <p:nvPr>
            <p:ph type="title"/>
          </p:nvPr>
        </p:nvSpPr>
        <p:spPr>
          <a:xfrm>
            <a:off x="1173494" y="249067"/>
            <a:ext cx="8048203" cy="480131"/>
          </a:xfrm>
        </p:spPr>
        <p:txBody>
          <a:bodyPr/>
          <a:lstStyle/>
          <a:p>
            <a:r>
              <a:rPr lang="zh-CN" altLang="en-US" spc="300" dirty="0">
                <a:latin typeface="+mj-ea"/>
              </a:rPr>
              <a:t>设计和实现</a:t>
            </a:r>
          </a:p>
        </p:txBody>
      </p:sp>
      <p:pic>
        <p:nvPicPr>
          <p:cNvPr id="5" name="图片 4" descr="文本&#10;&#10;AI 生成的内容可能不正确。">
            <a:extLst>
              <a:ext uri="{FF2B5EF4-FFF2-40B4-BE49-F238E27FC236}">
                <a16:creationId xmlns:a16="http://schemas.microsoft.com/office/drawing/2014/main" id="{50413A79-75A8-C9D9-CDBF-F0ACC901EA57}"/>
              </a:ext>
            </a:extLst>
          </p:cNvPr>
          <p:cNvPicPr>
            <a:picLocks noChangeAspect="1"/>
          </p:cNvPicPr>
          <p:nvPr/>
        </p:nvPicPr>
        <p:blipFill>
          <a:blip r:embed="rId3"/>
          <a:stretch>
            <a:fillRect/>
          </a:stretch>
        </p:blipFill>
        <p:spPr>
          <a:xfrm>
            <a:off x="453469" y="1857875"/>
            <a:ext cx="5994956" cy="1457528"/>
          </a:xfrm>
          <a:prstGeom prst="rect">
            <a:avLst/>
          </a:prstGeom>
        </p:spPr>
      </p:pic>
      <p:pic>
        <p:nvPicPr>
          <p:cNvPr id="7" name="图片 6" descr="文本&#10;&#10;AI 生成的内容可能不正确。">
            <a:extLst>
              <a:ext uri="{FF2B5EF4-FFF2-40B4-BE49-F238E27FC236}">
                <a16:creationId xmlns:a16="http://schemas.microsoft.com/office/drawing/2014/main" id="{64C0885B-9338-688E-85EB-75C0186BB9EB}"/>
              </a:ext>
            </a:extLst>
          </p:cNvPr>
          <p:cNvPicPr>
            <a:picLocks noChangeAspect="1"/>
          </p:cNvPicPr>
          <p:nvPr/>
        </p:nvPicPr>
        <p:blipFill>
          <a:blip r:embed="rId4"/>
          <a:stretch>
            <a:fillRect/>
          </a:stretch>
        </p:blipFill>
        <p:spPr>
          <a:xfrm>
            <a:off x="438944" y="3489489"/>
            <a:ext cx="6024006" cy="1629002"/>
          </a:xfrm>
          <a:prstGeom prst="rect">
            <a:avLst/>
          </a:prstGeom>
        </p:spPr>
      </p:pic>
      <p:grpSp>
        <p:nvGrpSpPr>
          <p:cNvPr id="4" name="组合 3">
            <a:extLst>
              <a:ext uri="{FF2B5EF4-FFF2-40B4-BE49-F238E27FC236}">
                <a16:creationId xmlns:a16="http://schemas.microsoft.com/office/drawing/2014/main" id="{7154805D-9FA4-275E-7A4B-5764D277EDF6}"/>
              </a:ext>
            </a:extLst>
          </p:cNvPr>
          <p:cNvGrpSpPr/>
          <p:nvPr/>
        </p:nvGrpSpPr>
        <p:grpSpPr>
          <a:xfrm>
            <a:off x="453470" y="1007159"/>
            <a:ext cx="5905766" cy="623969"/>
            <a:chOff x="453470" y="1007159"/>
            <a:chExt cx="5905766" cy="623969"/>
          </a:xfrm>
        </p:grpSpPr>
        <p:sp>
          <p:nvSpPr>
            <p:cNvPr id="8" name="文本框 7">
              <a:extLst>
                <a:ext uri="{FF2B5EF4-FFF2-40B4-BE49-F238E27FC236}">
                  <a16:creationId xmlns:a16="http://schemas.microsoft.com/office/drawing/2014/main" id="{DAEFB7AC-0A25-7FF8-41F5-BAF9C7CC0A6A}"/>
                </a:ext>
              </a:extLst>
            </p:cNvPr>
            <p:cNvSpPr txBox="1"/>
            <p:nvPr/>
          </p:nvSpPr>
          <p:spPr>
            <a:xfrm>
              <a:off x="996939" y="1121474"/>
              <a:ext cx="3683300" cy="338554"/>
            </a:xfrm>
            <a:prstGeom prst="rect">
              <a:avLst/>
            </a:prstGeom>
            <a:noFill/>
          </p:spPr>
          <p:txBody>
            <a:bodyPr wrap="square">
              <a:spAutoFit/>
            </a:bodyPr>
            <a:lstStyle/>
            <a:p>
              <a:r>
                <a:rPr lang="zh-CN" altLang="en-US" sz="1600" b="1" dirty="0"/>
                <a:t>多核场景下，非原子操作造成竞争条件</a:t>
              </a:r>
            </a:p>
          </p:txBody>
        </p:sp>
        <p:sp>
          <p:nvSpPr>
            <p:cNvPr id="10" name="矩形 9">
              <a:extLst>
                <a:ext uri="{FF2B5EF4-FFF2-40B4-BE49-F238E27FC236}">
                  <a16:creationId xmlns:a16="http://schemas.microsoft.com/office/drawing/2014/main" id="{549D03D6-109F-D9A2-EADC-7847A313B80A}"/>
                </a:ext>
              </a:extLst>
            </p:cNvPr>
            <p:cNvSpPr/>
            <p:nvPr/>
          </p:nvSpPr>
          <p:spPr>
            <a:xfrm>
              <a:off x="453470" y="1007159"/>
              <a:ext cx="5905766" cy="623969"/>
            </a:xfrm>
            <a:prstGeom prst="rect">
              <a:avLst/>
            </a:prstGeom>
            <a:no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pic>
          <p:nvPicPr>
            <p:cNvPr id="13" name="图形 12" descr="实心填充的悲伤表情 纯色填充">
              <a:extLst>
                <a:ext uri="{FF2B5EF4-FFF2-40B4-BE49-F238E27FC236}">
                  <a16:creationId xmlns:a16="http://schemas.microsoft.com/office/drawing/2014/main" id="{27BACFFA-ADAE-095D-A6F9-39A024A255C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0144" y="1052354"/>
              <a:ext cx="476795" cy="476795"/>
            </a:xfrm>
            <a:prstGeom prst="rect">
              <a:avLst/>
            </a:prstGeom>
          </p:spPr>
        </p:pic>
      </p:grpSp>
      <p:grpSp>
        <p:nvGrpSpPr>
          <p:cNvPr id="2" name="组合 1">
            <a:extLst>
              <a:ext uri="{FF2B5EF4-FFF2-40B4-BE49-F238E27FC236}">
                <a16:creationId xmlns:a16="http://schemas.microsoft.com/office/drawing/2014/main" id="{6B80E3DD-3BBF-26E4-D319-32F0B99811C9}"/>
              </a:ext>
            </a:extLst>
          </p:cNvPr>
          <p:cNvGrpSpPr/>
          <p:nvPr/>
        </p:nvGrpSpPr>
        <p:grpSpPr>
          <a:xfrm>
            <a:off x="7158068" y="1449392"/>
            <a:ext cx="4580462" cy="3598498"/>
            <a:chOff x="7187119" y="1835628"/>
            <a:chExt cx="4580462" cy="3598498"/>
          </a:xfrm>
        </p:grpSpPr>
        <p:sp>
          <p:nvSpPr>
            <p:cNvPr id="14" name="矩形 13">
              <a:extLst>
                <a:ext uri="{FF2B5EF4-FFF2-40B4-BE49-F238E27FC236}">
                  <a16:creationId xmlns:a16="http://schemas.microsoft.com/office/drawing/2014/main" id="{EBDCBB2E-C034-080D-F69E-E39F7739FB18}"/>
                </a:ext>
              </a:extLst>
            </p:cNvPr>
            <p:cNvSpPr/>
            <p:nvPr/>
          </p:nvSpPr>
          <p:spPr>
            <a:xfrm>
              <a:off x="7198141" y="2059429"/>
              <a:ext cx="4569440" cy="3374697"/>
            </a:xfrm>
            <a:prstGeom prst="rect">
              <a:avLst/>
            </a:prstGeom>
            <a:no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8545211A-70EC-02E7-5551-1DCA22B5C5F2}"/>
                </a:ext>
              </a:extLst>
            </p:cNvPr>
            <p:cNvSpPr/>
            <p:nvPr/>
          </p:nvSpPr>
          <p:spPr>
            <a:xfrm>
              <a:off x="7187119" y="1835628"/>
              <a:ext cx="1576074" cy="431188"/>
            </a:xfrm>
            <a:prstGeom prst="roundRect">
              <a:avLst/>
            </a:prstGeom>
            <a:solidFill>
              <a:schemeClr val="tx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t>动态锁</a:t>
              </a:r>
            </a:p>
          </p:txBody>
        </p:sp>
      </p:grpSp>
      <p:sp>
        <p:nvSpPr>
          <p:cNvPr id="18" name="矩形 17">
            <a:extLst>
              <a:ext uri="{FF2B5EF4-FFF2-40B4-BE49-F238E27FC236}">
                <a16:creationId xmlns:a16="http://schemas.microsoft.com/office/drawing/2014/main" id="{54E7186B-CE7B-C495-AF02-4A063C16C049}"/>
              </a:ext>
            </a:extLst>
          </p:cNvPr>
          <p:cNvSpPr/>
          <p:nvPr/>
        </p:nvSpPr>
        <p:spPr>
          <a:xfrm>
            <a:off x="682955" y="3835275"/>
            <a:ext cx="981075" cy="209550"/>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938E505D-4A88-22AF-A5D7-9400F6464982}"/>
              </a:ext>
            </a:extLst>
          </p:cNvPr>
          <p:cNvSpPr/>
          <p:nvPr/>
        </p:nvSpPr>
        <p:spPr>
          <a:xfrm>
            <a:off x="682956" y="4809711"/>
            <a:ext cx="981075" cy="209550"/>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FB5D9825-9610-054E-ED76-95AA0E29CCF5}"/>
              </a:ext>
            </a:extLst>
          </p:cNvPr>
          <p:cNvSpPr/>
          <p:nvPr/>
        </p:nvSpPr>
        <p:spPr>
          <a:xfrm>
            <a:off x="1908043" y="4600161"/>
            <a:ext cx="981075" cy="209550"/>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a:extLst>
              <a:ext uri="{FF2B5EF4-FFF2-40B4-BE49-F238E27FC236}">
                <a16:creationId xmlns:a16="http://schemas.microsoft.com/office/drawing/2014/main" id="{8E7FEE7A-E891-0359-0FBF-FCC32216E3AD}"/>
              </a:ext>
            </a:extLst>
          </p:cNvPr>
          <p:cNvGrpSpPr/>
          <p:nvPr/>
        </p:nvGrpSpPr>
        <p:grpSpPr>
          <a:xfrm>
            <a:off x="410421" y="5454526"/>
            <a:ext cx="11410104" cy="702240"/>
            <a:chOff x="410421" y="5454526"/>
            <a:chExt cx="11410104" cy="702240"/>
          </a:xfrm>
        </p:grpSpPr>
        <p:sp>
          <p:nvSpPr>
            <p:cNvPr id="22" name="矩形 21">
              <a:extLst>
                <a:ext uri="{FF2B5EF4-FFF2-40B4-BE49-F238E27FC236}">
                  <a16:creationId xmlns:a16="http://schemas.microsoft.com/office/drawing/2014/main" id="{EC5F7DBF-57DA-F0BC-0E40-221FACC16A84}"/>
                </a:ext>
              </a:extLst>
            </p:cNvPr>
            <p:cNvSpPr/>
            <p:nvPr/>
          </p:nvSpPr>
          <p:spPr>
            <a:xfrm>
              <a:off x="520144" y="5454526"/>
              <a:ext cx="11300381" cy="702240"/>
            </a:xfrm>
            <a:prstGeom prst="rect">
              <a:avLst/>
            </a:prstGeom>
            <a:no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3F59FBAA-A366-165B-7162-777B2D9F1581}"/>
                </a:ext>
              </a:extLst>
            </p:cNvPr>
            <p:cNvSpPr/>
            <p:nvPr/>
          </p:nvSpPr>
          <p:spPr>
            <a:xfrm>
              <a:off x="520144" y="5454526"/>
              <a:ext cx="1670606" cy="702240"/>
            </a:xfrm>
            <a:prstGeom prst="rect">
              <a:avLst/>
            </a:prstGeom>
            <a:solidFill>
              <a:schemeClr val="tx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8B402ADB-800E-DD3F-1191-E4A1CD36FD39}"/>
                </a:ext>
              </a:extLst>
            </p:cNvPr>
            <p:cNvSpPr txBox="1"/>
            <p:nvPr/>
          </p:nvSpPr>
          <p:spPr>
            <a:xfrm>
              <a:off x="410421" y="5630593"/>
              <a:ext cx="1780329" cy="369332"/>
            </a:xfrm>
            <a:prstGeom prst="rect">
              <a:avLst/>
            </a:prstGeom>
            <a:noFill/>
          </p:spPr>
          <p:txBody>
            <a:bodyPr wrap="square">
              <a:spAutoFit/>
            </a:bodyPr>
            <a:lstStyle/>
            <a:p>
              <a:pPr algn="ctr"/>
              <a:r>
                <a:rPr lang="zh-CN" altLang="en-US" b="1" dirty="0"/>
                <a:t>🔑 </a:t>
              </a:r>
              <a:r>
                <a:rPr lang="zh-CN" altLang="en-US" b="1" dirty="0">
                  <a:solidFill>
                    <a:schemeClr val="bg1"/>
                  </a:solidFill>
                </a:rPr>
                <a:t>热更新代理</a:t>
              </a:r>
            </a:p>
          </p:txBody>
        </p:sp>
        <p:sp>
          <p:nvSpPr>
            <p:cNvPr id="27" name="文本框 26">
              <a:extLst>
                <a:ext uri="{FF2B5EF4-FFF2-40B4-BE49-F238E27FC236}">
                  <a16:creationId xmlns:a16="http://schemas.microsoft.com/office/drawing/2014/main" id="{7E9DB554-03C7-2410-489A-D906D01EA1E0}"/>
                </a:ext>
              </a:extLst>
            </p:cNvPr>
            <p:cNvSpPr txBox="1"/>
            <p:nvPr/>
          </p:nvSpPr>
          <p:spPr>
            <a:xfrm>
              <a:off x="2190750" y="5628612"/>
              <a:ext cx="9153525" cy="369332"/>
            </a:xfrm>
            <a:prstGeom prst="rect">
              <a:avLst/>
            </a:prstGeom>
            <a:noFill/>
          </p:spPr>
          <p:txBody>
            <a:bodyPr wrap="square">
              <a:spAutoFit/>
            </a:bodyPr>
            <a:lstStyle/>
            <a:p>
              <a:r>
                <a:rPr lang="zh-CN" altLang="en-US" dirty="0"/>
                <a:t>与故障隔离代理类似，热更新代理的目标是向外部隐藏具体的热更新处理逻辑</a:t>
              </a:r>
            </a:p>
          </p:txBody>
        </p:sp>
      </p:grpSp>
      <p:sp>
        <p:nvSpPr>
          <p:cNvPr id="3" name="矩形 2">
            <a:extLst>
              <a:ext uri="{FF2B5EF4-FFF2-40B4-BE49-F238E27FC236}">
                <a16:creationId xmlns:a16="http://schemas.microsoft.com/office/drawing/2014/main" id="{6035DDDF-7923-4B46-FC0C-92D4F2C6B6F8}"/>
              </a:ext>
            </a:extLst>
          </p:cNvPr>
          <p:cNvSpPr/>
          <p:nvPr/>
        </p:nvSpPr>
        <p:spPr>
          <a:xfrm>
            <a:off x="682956" y="2496412"/>
            <a:ext cx="981076" cy="265197"/>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BF9E5FD3-FBB4-D900-D0A8-C316F8EAAB93}"/>
              </a:ext>
            </a:extLst>
          </p:cNvPr>
          <p:cNvSpPr txBox="1"/>
          <p:nvPr/>
        </p:nvSpPr>
        <p:spPr>
          <a:xfrm>
            <a:off x="7169091" y="1962906"/>
            <a:ext cx="1330674" cy="33855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1600" b="1" i="0" u="none" strike="noStrike" kern="1200" cap="none" spc="0" normalizeH="0" baseline="0" noProof="0" dirty="0">
                <a:ln>
                  <a:noFill/>
                </a:ln>
                <a:solidFill>
                  <a:prstClr val="black"/>
                </a:solidFill>
                <a:effectLst/>
                <a:uLnTx/>
                <a:uFillTx/>
                <a:latin typeface="微软雅黑"/>
                <a:ea typeface="微软雅黑"/>
                <a:cs typeface="+mn-cs"/>
              </a:rPr>
              <a:t>访问者：</a:t>
            </a:r>
            <a:endParaRPr kumimoji="0" lang="en-US" altLang="zh-CN" sz="1600" b="1" i="0" u="none" strike="noStrike" kern="1200" cap="none" spc="0" normalizeH="0" baseline="0" noProof="0" dirty="0">
              <a:ln>
                <a:noFill/>
              </a:ln>
              <a:solidFill>
                <a:prstClr val="black"/>
              </a:solidFill>
              <a:effectLst/>
              <a:uLnTx/>
              <a:uFillTx/>
              <a:latin typeface="微软雅黑"/>
              <a:ea typeface="微软雅黑"/>
              <a:cs typeface="+mn-cs"/>
            </a:endParaRPr>
          </a:p>
        </p:txBody>
      </p:sp>
      <p:sp>
        <p:nvSpPr>
          <p:cNvPr id="21" name="文本框 20">
            <a:extLst>
              <a:ext uri="{FF2B5EF4-FFF2-40B4-BE49-F238E27FC236}">
                <a16:creationId xmlns:a16="http://schemas.microsoft.com/office/drawing/2014/main" id="{C02C9A06-64BF-26B6-7DBF-1EC979722F27}"/>
              </a:ext>
            </a:extLst>
          </p:cNvPr>
          <p:cNvSpPr txBox="1"/>
          <p:nvPr/>
        </p:nvSpPr>
        <p:spPr>
          <a:xfrm>
            <a:off x="7047634" y="2250715"/>
            <a:ext cx="4569440" cy="338554"/>
          </a:xfrm>
          <a:prstGeom prst="rect">
            <a:avLst/>
          </a:prstGeom>
          <a:noFill/>
        </p:spPr>
        <p:txBody>
          <a:bodyPr wrap="square">
            <a:spAutoFit/>
          </a:bodyPr>
          <a:lstStyle/>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1600" b="0" i="0" u="none" strike="noStrike" kern="1200" cap="none" spc="0" normalizeH="0" baseline="0" noProof="0" dirty="0">
                <a:ln>
                  <a:noFill/>
                </a:ln>
                <a:solidFill>
                  <a:prstClr val="black"/>
                </a:solidFill>
                <a:effectLst/>
                <a:uLnTx/>
                <a:uFillTx/>
                <a:latin typeface="微软雅黑"/>
                <a:ea typeface="微软雅黑"/>
                <a:cs typeface="+mn-cs"/>
              </a:rPr>
              <a:t>检查标记前，关闭当前 </a:t>
            </a:r>
            <a:r>
              <a:rPr kumimoji="0" lang="en-US" altLang="zh-CN" sz="1600" b="0" i="0" u="none" strike="noStrike" kern="1200" cap="none" spc="0" normalizeH="0" baseline="0" noProof="0" dirty="0">
                <a:ln>
                  <a:noFill/>
                </a:ln>
                <a:solidFill>
                  <a:prstClr val="black"/>
                </a:solidFill>
                <a:effectLst/>
                <a:uLnTx/>
                <a:uFillTx/>
                <a:latin typeface="微软雅黑"/>
                <a:ea typeface="微软雅黑"/>
                <a:cs typeface="+mn-cs"/>
              </a:rPr>
              <a:t>CPU </a:t>
            </a:r>
            <a:r>
              <a:rPr kumimoji="0" lang="zh-CN" altLang="en-US" sz="1600" b="0" i="0" u="none" strike="noStrike" kern="1200" cap="none" spc="0" normalizeH="0" baseline="0" noProof="0" dirty="0">
                <a:ln>
                  <a:noFill/>
                </a:ln>
                <a:solidFill>
                  <a:prstClr val="black"/>
                </a:solidFill>
                <a:effectLst/>
                <a:uLnTx/>
                <a:uFillTx/>
                <a:latin typeface="微软雅黑"/>
                <a:ea typeface="微软雅黑"/>
                <a:cs typeface="+mn-cs"/>
              </a:rPr>
              <a:t>的中断</a:t>
            </a:r>
            <a:endParaRPr kumimoji="0" lang="en-US" altLang="zh-CN" sz="1600" b="0" i="0" u="none" strike="noStrike" kern="1200" cap="none" spc="0" normalizeH="0" baseline="0" noProof="0" dirty="0">
              <a:ln>
                <a:noFill/>
              </a:ln>
              <a:solidFill>
                <a:prstClr val="black"/>
              </a:solidFill>
              <a:effectLst/>
              <a:uLnTx/>
              <a:uFillTx/>
              <a:latin typeface="微软雅黑"/>
              <a:ea typeface="微软雅黑"/>
              <a:cs typeface="+mn-cs"/>
            </a:endParaRPr>
          </a:p>
        </p:txBody>
      </p:sp>
      <p:sp>
        <p:nvSpPr>
          <p:cNvPr id="26" name="文本框 25">
            <a:extLst>
              <a:ext uri="{FF2B5EF4-FFF2-40B4-BE49-F238E27FC236}">
                <a16:creationId xmlns:a16="http://schemas.microsoft.com/office/drawing/2014/main" id="{F60C5060-EC8F-690F-F7C4-5DC0EED98C54}"/>
              </a:ext>
            </a:extLst>
          </p:cNvPr>
          <p:cNvSpPr txBox="1"/>
          <p:nvPr/>
        </p:nvSpPr>
        <p:spPr>
          <a:xfrm>
            <a:off x="7047633" y="2574255"/>
            <a:ext cx="4690897" cy="338554"/>
          </a:xfrm>
          <a:prstGeom prst="rect">
            <a:avLst/>
          </a:prstGeom>
          <a:noFill/>
        </p:spPr>
        <p:txBody>
          <a:bodyPr wrap="square">
            <a:spAutoFit/>
          </a:bodyPr>
          <a:lstStyle/>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1600" b="0" i="0" u="none" strike="noStrike" kern="1200" cap="none" spc="0" normalizeH="0" baseline="0" noProof="0" dirty="0">
                <a:ln>
                  <a:noFill/>
                </a:ln>
                <a:solidFill>
                  <a:prstClr val="black"/>
                </a:solidFill>
                <a:effectLst/>
                <a:uLnTx/>
                <a:uFillTx/>
                <a:latin typeface="微软雅黑"/>
                <a:ea typeface="微软雅黑"/>
                <a:cs typeface="+mn-cs"/>
              </a:rPr>
              <a:t>完成计数器增加操作后，重新开启中断</a:t>
            </a:r>
            <a:endParaRPr kumimoji="0" lang="en-US" altLang="zh-CN" sz="1600" b="0" i="0" u="none" strike="noStrike" kern="1200" cap="none" spc="0" normalizeH="0" baseline="0" noProof="0" dirty="0">
              <a:ln>
                <a:noFill/>
              </a:ln>
              <a:solidFill>
                <a:prstClr val="black"/>
              </a:solidFill>
              <a:effectLst/>
              <a:uLnTx/>
              <a:uFillTx/>
              <a:latin typeface="微软雅黑"/>
              <a:ea typeface="微软雅黑"/>
              <a:cs typeface="+mn-cs"/>
            </a:endParaRPr>
          </a:p>
        </p:txBody>
      </p:sp>
      <p:sp>
        <p:nvSpPr>
          <p:cNvPr id="29" name="文本框 28">
            <a:extLst>
              <a:ext uri="{FF2B5EF4-FFF2-40B4-BE49-F238E27FC236}">
                <a16:creationId xmlns:a16="http://schemas.microsoft.com/office/drawing/2014/main" id="{585650EF-CA5A-3AB4-795F-4A8262436AB7}"/>
              </a:ext>
            </a:extLst>
          </p:cNvPr>
          <p:cNvSpPr txBox="1"/>
          <p:nvPr/>
        </p:nvSpPr>
        <p:spPr>
          <a:xfrm>
            <a:off x="7169089" y="3063543"/>
            <a:ext cx="1633105" cy="33855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1600" b="1" i="0" u="none" strike="noStrike" kern="1200" cap="none" spc="0" normalizeH="0" baseline="0" noProof="0" dirty="0">
                <a:ln>
                  <a:noFill/>
                </a:ln>
                <a:solidFill>
                  <a:prstClr val="black"/>
                </a:solidFill>
                <a:effectLst/>
                <a:uLnTx/>
                <a:uFillTx/>
                <a:latin typeface="微软雅黑"/>
                <a:ea typeface="微软雅黑"/>
                <a:cs typeface="+mn-cs"/>
              </a:rPr>
              <a:t>更新者：</a:t>
            </a:r>
            <a:endParaRPr kumimoji="0" lang="en-US" altLang="zh-CN" sz="1600" b="1" i="0" u="none" strike="noStrike" kern="1200" cap="none" spc="0" normalizeH="0" baseline="0" noProof="0" dirty="0">
              <a:ln>
                <a:noFill/>
              </a:ln>
              <a:solidFill>
                <a:prstClr val="black"/>
              </a:solidFill>
              <a:effectLst/>
              <a:uLnTx/>
              <a:uFillTx/>
              <a:latin typeface="微软雅黑"/>
              <a:ea typeface="微软雅黑"/>
              <a:cs typeface="+mn-cs"/>
            </a:endParaRPr>
          </a:p>
        </p:txBody>
      </p:sp>
      <p:sp>
        <p:nvSpPr>
          <p:cNvPr id="31" name="文本框 30">
            <a:extLst>
              <a:ext uri="{FF2B5EF4-FFF2-40B4-BE49-F238E27FC236}">
                <a16:creationId xmlns:a16="http://schemas.microsoft.com/office/drawing/2014/main" id="{CD1CE1B6-40BF-D022-D980-E2616200D576}"/>
              </a:ext>
            </a:extLst>
          </p:cNvPr>
          <p:cNvSpPr txBox="1"/>
          <p:nvPr/>
        </p:nvSpPr>
        <p:spPr>
          <a:xfrm>
            <a:off x="7047633" y="3455904"/>
            <a:ext cx="4690897" cy="584775"/>
          </a:xfrm>
          <a:prstGeom prst="rect">
            <a:avLst/>
          </a:prstGeom>
          <a:noFill/>
        </p:spPr>
        <p:txBody>
          <a:bodyPr wrap="square">
            <a:spAutoFit/>
          </a:bodyPr>
          <a:lstStyle/>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1600" b="0" i="0" u="none" strike="noStrike" kern="1200" cap="none" spc="0" normalizeH="0" baseline="0" noProof="0" dirty="0">
                <a:ln>
                  <a:noFill/>
                </a:ln>
                <a:solidFill>
                  <a:prstClr val="black"/>
                </a:solidFill>
                <a:effectLst/>
                <a:uLnTx/>
                <a:uFillTx/>
                <a:latin typeface="微软雅黑"/>
                <a:ea typeface="微软雅黑"/>
                <a:cs typeface="+mn-cs"/>
              </a:rPr>
              <a:t>统计任务计数前，向其它 </a:t>
            </a:r>
            <a:r>
              <a:rPr kumimoji="0" lang="en-US" altLang="zh-CN" sz="1600" b="0" i="0" u="none" strike="noStrike" kern="1200" cap="none" spc="0" normalizeH="0" baseline="0" noProof="0" dirty="0">
                <a:ln>
                  <a:noFill/>
                </a:ln>
                <a:solidFill>
                  <a:prstClr val="black"/>
                </a:solidFill>
                <a:effectLst/>
                <a:uLnTx/>
                <a:uFillTx/>
                <a:latin typeface="微软雅黑"/>
                <a:ea typeface="微软雅黑"/>
                <a:cs typeface="+mn-cs"/>
              </a:rPr>
              <a:t>CPU</a:t>
            </a:r>
            <a:r>
              <a:rPr kumimoji="0" lang="zh-CN" altLang="en-US" sz="1600" b="0" i="0" u="none" strike="noStrike" kern="1200" cap="none" spc="0" normalizeH="0" baseline="0" noProof="0" dirty="0">
                <a:ln>
                  <a:noFill/>
                </a:ln>
                <a:solidFill>
                  <a:prstClr val="black"/>
                </a:solidFill>
                <a:effectLst/>
                <a:uLnTx/>
                <a:uFillTx/>
                <a:latin typeface="微软雅黑"/>
                <a:ea typeface="微软雅黑"/>
                <a:cs typeface="+mn-cs"/>
              </a:rPr>
              <a:t>核心发送一次</a:t>
            </a:r>
            <a:r>
              <a:rPr kumimoji="0" lang="zh-CN" altLang="en-US" sz="1600" b="0" i="0" u="none" strike="noStrike" kern="1200" cap="none" spc="0" normalizeH="0" baseline="0" noProof="0" dirty="0">
                <a:ln>
                  <a:noFill/>
                </a:ln>
                <a:solidFill>
                  <a:srgbClr val="FF0000"/>
                </a:solidFill>
                <a:effectLst/>
                <a:uLnTx/>
                <a:uFillTx/>
                <a:latin typeface="微软雅黑"/>
                <a:ea typeface="微软雅黑"/>
                <a:cs typeface="+mn-cs"/>
              </a:rPr>
              <a:t>核间中断</a:t>
            </a:r>
            <a:r>
              <a:rPr kumimoji="0" lang="en-US" altLang="zh-CN" sz="1600" b="0" i="0" u="none" strike="noStrike" kern="1200" cap="none" spc="0" normalizeH="0" baseline="0" noProof="0" dirty="0">
                <a:ln>
                  <a:noFill/>
                </a:ln>
                <a:solidFill>
                  <a:srgbClr val="FF0000"/>
                </a:solidFill>
                <a:effectLst/>
                <a:uLnTx/>
                <a:uFillTx/>
                <a:latin typeface="微软雅黑"/>
                <a:ea typeface="微软雅黑"/>
                <a:cs typeface="+mn-cs"/>
              </a:rPr>
              <a:t>(IPI)</a:t>
            </a:r>
            <a:r>
              <a:rPr kumimoji="0" lang="zh-CN" altLang="en-US" sz="1600" b="0" i="0" u="none" strike="noStrike" kern="1200" cap="none" spc="0" normalizeH="0" baseline="0" noProof="0" dirty="0">
                <a:ln>
                  <a:noFill/>
                </a:ln>
                <a:solidFill>
                  <a:srgbClr val="FF0000"/>
                </a:solidFill>
                <a:effectLst/>
                <a:uLnTx/>
                <a:uFillTx/>
                <a:latin typeface="微软雅黑"/>
                <a:ea typeface="微软雅黑"/>
                <a:cs typeface="+mn-cs"/>
              </a:rPr>
              <a:t>，并等待其它 </a:t>
            </a:r>
            <a:r>
              <a:rPr kumimoji="0" lang="en-US" altLang="zh-CN" sz="1600" b="0" i="0" u="none" strike="noStrike" kern="1200" cap="none" spc="0" normalizeH="0" baseline="0" noProof="0" dirty="0">
                <a:ln>
                  <a:noFill/>
                </a:ln>
                <a:solidFill>
                  <a:srgbClr val="FF0000"/>
                </a:solidFill>
                <a:effectLst/>
                <a:uLnTx/>
                <a:uFillTx/>
                <a:latin typeface="微软雅黑"/>
                <a:ea typeface="微软雅黑"/>
                <a:cs typeface="+mn-cs"/>
              </a:rPr>
              <a:t>CPU </a:t>
            </a:r>
            <a:r>
              <a:rPr kumimoji="0" lang="zh-CN" altLang="en-US" sz="1600" b="0" i="0" u="none" strike="noStrike" kern="1200" cap="none" spc="0" normalizeH="0" baseline="0" noProof="0" dirty="0">
                <a:ln>
                  <a:noFill/>
                </a:ln>
                <a:solidFill>
                  <a:srgbClr val="FF0000"/>
                </a:solidFill>
                <a:effectLst/>
                <a:uLnTx/>
                <a:uFillTx/>
                <a:latin typeface="微软雅黑"/>
                <a:ea typeface="微软雅黑"/>
                <a:cs typeface="+mn-cs"/>
              </a:rPr>
              <a:t>响应</a:t>
            </a:r>
            <a:endParaRPr kumimoji="0" lang="en-US" altLang="zh-CN" sz="1600" b="0" i="0" u="none" strike="noStrike" kern="1200" cap="none" spc="0" normalizeH="0" baseline="0" noProof="0" dirty="0">
              <a:ln>
                <a:noFill/>
              </a:ln>
              <a:solidFill>
                <a:srgbClr val="FF0000"/>
              </a:solidFill>
              <a:effectLst/>
              <a:uLnTx/>
              <a:uFillTx/>
              <a:latin typeface="微软雅黑"/>
              <a:ea typeface="微软雅黑"/>
              <a:cs typeface="+mn-cs"/>
            </a:endParaRPr>
          </a:p>
        </p:txBody>
      </p:sp>
      <p:sp>
        <p:nvSpPr>
          <p:cNvPr id="33" name="文本框 32">
            <a:extLst>
              <a:ext uri="{FF2B5EF4-FFF2-40B4-BE49-F238E27FC236}">
                <a16:creationId xmlns:a16="http://schemas.microsoft.com/office/drawing/2014/main" id="{8736BF6D-0892-2D24-0023-709C5D7A61C4}"/>
              </a:ext>
            </a:extLst>
          </p:cNvPr>
          <p:cNvSpPr txBox="1"/>
          <p:nvPr/>
        </p:nvSpPr>
        <p:spPr>
          <a:xfrm>
            <a:off x="7047633" y="4085437"/>
            <a:ext cx="4690897" cy="338554"/>
          </a:xfrm>
          <a:prstGeom prst="rect">
            <a:avLst/>
          </a:prstGeom>
          <a:noFill/>
        </p:spPr>
        <p:txBody>
          <a:bodyPr wrap="square">
            <a:spAutoFit/>
          </a:bodyPr>
          <a:lstStyle/>
          <a:p>
            <a:pPr marL="742950" lvl="1" indent="-285750">
              <a:buFont typeface="Wingdings" panose="05000000000000000000" pitchFamily="2" charset="2"/>
              <a:buChar char="Ø"/>
            </a:pPr>
            <a:r>
              <a:rPr lang="zh-CN" altLang="en-US" sz="1600" dirty="0"/>
              <a:t>更新旧域的自定义堆的域标识</a:t>
            </a:r>
            <a:endParaRPr lang="en-US" altLang="zh-CN" sz="1600" dirty="0"/>
          </a:p>
        </p:txBody>
      </p:sp>
    </p:spTree>
    <p:extLst>
      <p:ext uri="{BB962C8B-B14F-4D97-AF65-F5344CB8AC3E}">
        <p14:creationId xmlns:p14="http://schemas.microsoft.com/office/powerpoint/2010/main" val="328156232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0-#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1" presetClass="entr" presetSubtype="0" fill="hold" grpId="0" nodeType="afterEffect">
                                  <p:stCondLst>
                                    <p:cond delay="0"/>
                                  </p:stCondLst>
                                  <p:childTnLst>
                                    <p:set>
                                      <p:cBhvr>
                                        <p:cTn id="15" dur="1" fill="hold">
                                          <p:stCondLst>
                                            <p:cond delay="499"/>
                                          </p:stCondLst>
                                        </p:cTn>
                                        <p:tgtEl>
                                          <p:spTgt spid="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up)">
                                      <p:cBhvr>
                                        <p:cTn id="20" dur="500"/>
                                        <p:tgtEl>
                                          <p:spTgt spid="2"/>
                                        </p:tgtEl>
                                      </p:cBhvr>
                                    </p:animEffect>
                                  </p:childTnLst>
                                </p:cTn>
                              </p:par>
                              <p:par>
                                <p:cTn id="21" presetID="2" presetClass="entr" presetSubtype="8"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0-#ppt_w/2"/>
                                          </p:val>
                                        </p:tav>
                                        <p:tav tm="100000">
                                          <p:val>
                                            <p:strVal val="#ppt_x"/>
                                          </p:val>
                                        </p:tav>
                                      </p:tavLst>
                                    </p:anim>
                                    <p:anim calcmode="lin" valueType="num">
                                      <p:cBhvr additive="base">
                                        <p:cTn id="24"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wipe(up)">
                                      <p:cBhvr>
                                        <p:cTn id="29" dur="5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wipe(up)">
                                      <p:cBhvr>
                                        <p:cTn id="34" dur="500"/>
                                        <p:tgtEl>
                                          <p:spTgt spid="21"/>
                                        </p:tgtEl>
                                      </p:cBhvr>
                                    </p:animEffec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wipe(up)">
                                      <p:cBhvr>
                                        <p:cTn id="41" dur="500"/>
                                        <p:tgtEl>
                                          <p:spTgt spid="26"/>
                                        </p:tgtEl>
                                      </p:cBhvr>
                                    </p:animEffect>
                                  </p:childTnLst>
                                </p:cTn>
                              </p:par>
                              <p:par>
                                <p:cTn id="42" presetID="1"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grpId="0" nodeType="clickEffect">
                                  <p:stCondLst>
                                    <p:cond delay="0"/>
                                  </p:stCondLst>
                                  <p:childTnLst>
                                    <p:set>
                                      <p:cBhvr>
                                        <p:cTn id="47" dur="1" fill="hold">
                                          <p:stCondLst>
                                            <p:cond delay="0"/>
                                          </p:stCondLst>
                                        </p:cTn>
                                        <p:tgtEl>
                                          <p:spTgt spid="29"/>
                                        </p:tgtEl>
                                        <p:attrNameLst>
                                          <p:attrName>style.visibility</p:attrName>
                                        </p:attrNameLst>
                                      </p:cBhvr>
                                      <p:to>
                                        <p:strVal val="visible"/>
                                      </p:to>
                                    </p:set>
                                    <p:animEffect transition="in" filter="wipe(up)">
                                      <p:cBhvr>
                                        <p:cTn id="48" dur="500"/>
                                        <p:tgtEl>
                                          <p:spTgt spid="29"/>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grpId="0" nodeType="click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wipe(up)">
                                      <p:cBhvr>
                                        <p:cTn id="53" dur="500"/>
                                        <p:tgtEl>
                                          <p:spTgt spid="31"/>
                                        </p:tgtEl>
                                      </p:cBhvr>
                                    </p:animEffect>
                                  </p:childTnLst>
                                </p:cTn>
                              </p:par>
                              <p:par>
                                <p:cTn id="54" presetID="1" presetClass="entr" presetSubtype="0" fill="hold" grpId="0" nodeType="withEffect">
                                  <p:stCondLst>
                                    <p:cond delay="0"/>
                                  </p:stCondLst>
                                  <p:childTnLst>
                                    <p:set>
                                      <p:cBhvr>
                                        <p:cTn id="55" dur="1" fill="hold">
                                          <p:stCondLst>
                                            <p:cond delay="0"/>
                                          </p:stCondLst>
                                        </p:cTn>
                                        <p:tgtEl>
                                          <p:spTgt spid="20"/>
                                        </p:tgtEl>
                                        <p:attrNameLst>
                                          <p:attrName>style.visibility</p:attrName>
                                        </p:attrNameLst>
                                      </p:cBhvr>
                                      <p:to>
                                        <p:strVal val="visible"/>
                                      </p:to>
                                    </p:set>
                                  </p:childTnLst>
                                </p:cTn>
                              </p:par>
                            </p:childTnLst>
                          </p:cTn>
                        </p:par>
                        <p:par>
                          <p:cTn id="56" fill="hold">
                            <p:stCondLst>
                              <p:cond delay="500"/>
                            </p:stCondLst>
                            <p:childTnLst>
                              <p:par>
                                <p:cTn id="57" presetID="22" presetClass="entr" presetSubtype="1" fill="hold" grpId="0" nodeType="afterEffect">
                                  <p:stCondLst>
                                    <p:cond delay="0"/>
                                  </p:stCondLst>
                                  <p:childTnLst>
                                    <p:set>
                                      <p:cBhvr>
                                        <p:cTn id="58" dur="1" fill="hold">
                                          <p:stCondLst>
                                            <p:cond delay="0"/>
                                          </p:stCondLst>
                                        </p:cTn>
                                        <p:tgtEl>
                                          <p:spTgt spid="33"/>
                                        </p:tgtEl>
                                        <p:attrNameLst>
                                          <p:attrName>style.visibility</p:attrName>
                                        </p:attrNameLst>
                                      </p:cBhvr>
                                      <p:to>
                                        <p:strVal val="visible"/>
                                      </p:to>
                                    </p:set>
                                    <p:animEffect transition="in" filter="wipe(up)">
                                      <p:cBhvr>
                                        <p:cTn id="59" dur="500"/>
                                        <p:tgtEl>
                                          <p:spTgt spid="33"/>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nodeType="clickEffect">
                                  <p:stCondLst>
                                    <p:cond delay="0"/>
                                  </p:stCondLst>
                                  <p:childTnLst>
                                    <p:set>
                                      <p:cBhvr>
                                        <p:cTn id="63" dur="1" fill="hold">
                                          <p:stCondLst>
                                            <p:cond delay="0"/>
                                          </p:stCondLst>
                                        </p:cTn>
                                        <p:tgtEl>
                                          <p:spTgt spid="6"/>
                                        </p:tgtEl>
                                        <p:attrNameLst>
                                          <p:attrName>style.visibility</p:attrName>
                                        </p:attrNameLst>
                                      </p:cBhvr>
                                      <p:to>
                                        <p:strVal val="visible"/>
                                      </p:to>
                                    </p:set>
                                    <p:animEffect transition="in" filter="wipe(down)">
                                      <p:cBhvr>
                                        <p:cTn id="6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3" grpId="0" animBg="1"/>
      <p:bldP spid="12" grpId="0"/>
      <p:bldP spid="21" grpId="0"/>
      <p:bldP spid="26" grpId="0"/>
      <p:bldP spid="29" grpId="0"/>
      <p:bldP spid="31" grpId="0"/>
      <p:bldP spid="3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0DE15-CF90-C719-29E4-CAD661075957}"/>
            </a:ext>
          </a:extLst>
        </p:cNvPr>
        <p:cNvGrpSpPr/>
        <p:nvPr/>
      </p:nvGrpSpPr>
      <p:grpSpPr>
        <a:xfrm>
          <a:off x="0" y="0"/>
          <a:ext cx="0" cy="0"/>
          <a:chOff x="0" y="0"/>
          <a:chExt cx="0" cy="0"/>
        </a:xfrm>
      </p:grpSpPr>
      <p:sp>
        <p:nvSpPr>
          <p:cNvPr id="9" name="标题 8">
            <a:extLst>
              <a:ext uri="{FF2B5EF4-FFF2-40B4-BE49-F238E27FC236}">
                <a16:creationId xmlns:a16="http://schemas.microsoft.com/office/drawing/2014/main" id="{697D4D2C-9E8C-FC45-D35F-7F792C11DD90}"/>
              </a:ext>
            </a:extLst>
          </p:cNvPr>
          <p:cNvSpPr>
            <a:spLocks noGrp="1"/>
          </p:cNvSpPr>
          <p:nvPr>
            <p:ph type="title"/>
          </p:nvPr>
        </p:nvSpPr>
        <p:spPr>
          <a:xfrm>
            <a:off x="1173494" y="249067"/>
            <a:ext cx="8048203" cy="480131"/>
          </a:xfrm>
        </p:spPr>
        <p:txBody>
          <a:bodyPr/>
          <a:lstStyle/>
          <a:p>
            <a:r>
              <a:rPr lang="zh-CN" altLang="en-US" spc="300" dirty="0">
                <a:latin typeface="+mj-ea"/>
              </a:rPr>
              <a:t>设计和实现</a:t>
            </a:r>
          </a:p>
        </p:txBody>
      </p:sp>
      <p:pic>
        <p:nvPicPr>
          <p:cNvPr id="3" name="图片 2" descr="图形用户界面&#10;&#10;AI 生成的内容可能不正确。">
            <a:extLst>
              <a:ext uri="{FF2B5EF4-FFF2-40B4-BE49-F238E27FC236}">
                <a16:creationId xmlns:a16="http://schemas.microsoft.com/office/drawing/2014/main" id="{773C8016-3950-7FEB-1D67-3D4D27F7C15D}"/>
              </a:ext>
            </a:extLst>
          </p:cNvPr>
          <p:cNvPicPr>
            <a:picLocks noChangeAspect="1"/>
          </p:cNvPicPr>
          <p:nvPr/>
        </p:nvPicPr>
        <p:blipFill>
          <a:blip r:embed="rId3"/>
          <a:stretch>
            <a:fillRect/>
          </a:stretch>
        </p:blipFill>
        <p:spPr>
          <a:xfrm>
            <a:off x="461510" y="1457050"/>
            <a:ext cx="6487430" cy="3943900"/>
          </a:xfrm>
          <a:prstGeom prst="rect">
            <a:avLst/>
          </a:prstGeom>
        </p:spPr>
      </p:pic>
      <p:sp>
        <p:nvSpPr>
          <p:cNvPr id="4" name="文本框 3">
            <a:extLst>
              <a:ext uri="{FF2B5EF4-FFF2-40B4-BE49-F238E27FC236}">
                <a16:creationId xmlns:a16="http://schemas.microsoft.com/office/drawing/2014/main" id="{6BA4D1C8-32C9-3AE6-E166-2007C14744F8}"/>
              </a:ext>
            </a:extLst>
          </p:cNvPr>
          <p:cNvSpPr txBox="1"/>
          <p:nvPr/>
        </p:nvSpPr>
        <p:spPr>
          <a:xfrm>
            <a:off x="7067550" y="2506265"/>
            <a:ext cx="4514850" cy="3077766"/>
          </a:xfrm>
          <a:prstGeom prst="rect">
            <a:avLst/>
          </a:prstGeom>
          <a:noFill/>
        </p:spPr>
        <p:txBody>
          <a:bodyPr wrap="square" rtlCol="0">
            <a:spAutoFit/>
          </a:bodyPr>
          <a:lstStyle/>
          <a:p>
            <a:pPr marL="285750" indent="-285750">
              <a:buFont typeface="Wingdings" panose="05000000000000000000" pitchFamily="2" charset="2"/>
              <a:buChar char="Ø"/>
            </a:pPr>
            <a:r>
              <a:rPr lang="en-US" altLang="zh-CN" sz="1600" dirty="0"/>
              <a:t>Alien OS</a:t>
            </a:r>
          </a:p>
          <a:p>
            <a:pPr marL="742950" lvl="1" indent="-285750">
              <a:buFont typeface="Wingdings" panose="05000000000000000000" pitchFamily="2" charset="2"/>
              <a:buChar char="Ø"/>
            </a:pPr>
            <a:r>
              <a:rPr lang="en-US" altLang="zh-CN" sz="1600" dirty="0"/>
              <a:t>30k </a:t>
            </a:r>
            <a:r>
              <a:rPr lang="zh-CN" altLang="en-US" sz="1600" dirty="0"/>
              <a:t>行 </a:t>
            </a:r>
            <a:r>
              <a:rPr lang="en-US" altLang="zh-CN" sz="1600" dirty="0"/>
              <a:t>Rust </a:t>
            </a:r>
            <a:r>
              <a:rPr lang="zh-CN" altLang="en-US" sz="1600" dirty="0"/>
              <a:t>和 </a:t>
            </a:r>
            <a:r>
              <a:rPr lang="en-US" altLang="zh-CN" sz="1600" dirty="0"/>
              <a:t>200 </a:t>
            </a:r>
            <a:r>
              <a:rPr lang="zh-CN" altLang="en-US" sz="1600" dirty="0"/>
              <a:t>行左右的汇编代码</a:t>
            </a:r>
            <a:endParaRPr lang="en-US" altLang="zh-CN" sz="1600" dirty="0"/>
          </a:p>
          <a:p>
            <a:pPr marL="742950" lvl="1" indent="-285750">
              <a:buFont typeface="Wingdings" panose="05000000000000000000" pitchFamily="2" charset="2"/>
              <a:buChar char="Ø"/>
            </a:pPr>
            <a:r>
              <a:rPr lang="en-US" altLang="zh-CN" sz="1600" dirty="0"/>
              <a:t>TCB </a:t>
            </a:r>
            <a:r>
              <a:rPr lang="zh-CN" altLang="en-US" sz="1600" dirty="0"/>
              <a:t>包含 </a:t>
            </a:r>
            <a:r>
              <a:rPr lang="en-US" altLang="zh-CN" sz="1600" dirty="0"/>
              <a:t>7k </a:t>
            </a:r>
            <a:r>
              <a:rPr lang="zh-CN" altLang="en-US" sz="1600" dirty="0"/>
              <a:t>行代码 </a:t>
            </a:r>
            <a:r>
              <a:rPr lang="en-US" altLang="zh-CN" sz="1600" dirty="0"/>
              <a:t>(3k </a:t>
            </a:r>
            <a:r>
              <a:rPr lang="zh-CN" altLang="en-US" sz="1600" dirty="0"/>
              <a:t>行是域的基础设施代码</a:t>
            </a:r>
            <a:r>
              <a:rPr lang="en-US" altLang="zh-CN" sz="1600" dirty="0"/>
              <a:t>)</a:t>
            </a:r>
            <a:r>
              <a:rPr lang="zh-CN" altLang="en-US" sz="1600" dirty="0"/>
              <a:t>，完全由 </a:t>
            </a:r>
            <a:r>
              <a:rPr lang="en-US" altLang="zh-CN" sz="1600" dirty="0"/>
              <a:t>safe rust</a:t>
            </a:r>
            <a:r>
              <a:rPr lang="zh-CN" altLang="en-US" sz="1600" dirty="0"/>
              <a:t>实现的域集合包含 </a:t>
            </a:r>
            <a:r>
              <a:rPr lang="en-US" altLang="zh-CN" sz="1600" dirty="0"/>
              <a:t>23k </a:t>
            </a:r>
            <a:r>
              <a:rPr lang="zh-CN" altLang="en-US" sz="1600" dirty="0"/>
              <a:t>行代码</a:t>
            </a:r>
            <a:endParaRPr lang="en-US" altLang="zh-CN" sz="1600" dirty="0"/>
          </a:p>
          <a:p>
            <a:pPr marL="285750" indent="-285750">
              <a:buFont typeface="Wingdings" panose="05000000000000000000" pitchFamily="2" charset="2"/>
              <a:buChar char="Ø"/>
            </a:pPr>
            <a:r>
              <a:rPr lang="en-US" altLang="zh-CN" sz="1600" dirty="0"/>
              <a:t>Linux</a:t>
            </a:r>
            <a:r>
              <a:rPr lang="zh-CN" altLang="en-US" sz="1600" dirty="0"/>
              <a:t>内核适配</a:t>
            </a:r>
            <a:endParaRPr lang="en-US" altLang="zh-CN" sz="1600" dirty="0"/>
          </a:p>
          <a:p>
            <a:pPr marL="742950" lvl="1" indent="-285750">
              <a:buFont typeface="Wingdings" panose="05000000000000000000" pitchFamily="2" charset="2"/>
              <a:buChar char="Ø"/>
            </a:pPr>
            <a:r>
              <a:rPr lang="zh-CN" altLang="en-US" sz="1600" dirty="0"/>
              <a:t>运行时：使用</a:t>
            </a:r>
            <a:r>
              <a:rPr lang="en-US" altLang="zh-CN" sz="1600" dirty="0"/>
              <a:t>Rust </a:t>
            </a:r>
            <a:r>
              <a:rPr lang="zh-CN" altLang="en-US" sz="1600" dirty="0"/>
              <a:t>实现了 </a:t>
            </a:r>
            <a:r>
              <a:rPr lang="en-US" altLang="zh-CN" sz="1600" dirty="0"/>
              <a:t>2k </a:t>
            </a:r>
            <a:r>
              <a:rPr lang="zh-CN" altLang="en-US" sz="1600" dirty="0"/>
              <a:t>行的内核模块作为</a:t>
            </a:r>
            <a:r>
              <a:rPr lang="en-US" altLang="zh-CN" sz="1600" dirty="0"/>
              <a:t>Moat </a:t>
            </a:r>
            <a:r>
              <a:rPr lang="zh-CN" altLang="en-US" sz="1600" dirty="0"/>
              <a:t>的运行时</a:t>
            </a:r>
            <a:endParaRPr lang="en-US" altLang="zh-CN" sz="1600" dirty="0"/>
          </a:p>
          <a:p>
            <a:pPr marL="742950" lvl="1" indent="-285750">
              <a:buFont typeface="Wingdings" panose="05000000000000000000" pitchFamily="2" charset="2"/>
              <a:buChar char="Ø"/>
            </a:pPr>
            <a:r>
              <a:rPr lang="zh-CN" altLang="en-US" sz="1600" dirty="0"/>
              <a:t>域基础库：约 </a:t>
            </a:r>
            <a:r>
              <a:rPr lang="en-US" altLang="zh-CN" sz="1600" dirty="0"/>
              <a:t>1k </a:t>
            </a:r>
            <a:r>
              <a:rPr lang="zh-CN" altLang="en-US" sz="1600" dirty="0"/>
              <a:t>行代码用于封装内核 </a:t>
            </a:r>
            <a:r>
              <a:rPr lang="en-US" altLang="zh-CN" sz="1600" dirty="0"/>
              <a:t>API</a:t>
            </a:r>
          </a:p>
          <a:p>
            <a:pPr marL="742950" lvl="1" indent="-285750">
              <a:buFont typeface="Wingdings" panose="05000000000000000000" pitchFamily="2" charset="2"/>
              <a:buChar char="Ø"/>
            </a:pPr>
            <a:r>
              <a:rPr lang="en-US" altLang="zh-CN" sz="1600" dirty="0" err="1"/>
              <a:t>rnull</a:t>
            </a:r>
            <a:r>
              <a:rPr lang="en-US" altLang="zh-CN" sz="1600" dirty="0"/>
              <a:t>(150 </a:t>
            </a:r>
            <a:r>
              <a:rPr lang="zh-CN" altLang="en-US" sz="1600" dirty="0"/>
              <a:t>行</a:t>
            </a:r>
            <a:r>
              <a:rPr lang="en-US" altLang="zh-CN" sz="1600" dirty="0"/>
              <a:t>)</a:t>
            </a:r>
            <a:r>
              <a:rPr lang="zh-CN" altLang="en-US" sz="1600" dirty="0"/>
              <a:t>，</a:t>
            </a:r>
            <a:r>
              <a:rPr lang="en-US" altLang="zh-CN" sz="1600" dirty="0" err="1"/>
              <a:t>rnvme</a:t>
            </a:r>
            <a:r>
              <a:rPr lang="en-US" altLang="zh-CN" sz="1600" dirty="0"/>
              <a:t>(300 </a:t>
            </a:r>
            <a:r>
              <a:rPr lang="zh-CN" altLang="en-US" sz="1600" dirty="0"/>
              <a:t>行</a:t>
            </a:r>
            <a:r>
              <a:rPr lang="en-US" altLang="zh-CN" sz="1600" dirty="0"/>
              <a:t>)</a:t>
            </a:r>
          </a:p>
          <a:p>
            <a:pPr marL="742950" lvl="1" indent="-285750">
              <a:buFont typeface="Wingdings" panose="05000000000000000000" pitchFamily="2" charset="2"/>
              <a:buChar char="Ø"/>
            </a:pPr>
            <a:endParaRPr lang="zh-CN" altLang="en-US" dirty="0"/>
          </a:p>
        </p:txBody>
      </p:sp>
    </p:spTree>
    <p:extLst>
      <p:ext uri="{BB962C8B-B14F-4D97-AF65-F5344CB8AC3E}">
        <p14:creationId xmlns:p14="http://schemas.microsoft.com/office/powerpoint/2010/main" val="164551239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up)">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E90FB-B694-2456-D045-70FD61359F9A}"/>
            </a:ext>
          </a:extLst>
        </p:cNvPr>
        <p:cNvGrpSpPr/>
        <p:nvPr/>
      </p:nvGrpSpPr>
      <p:grpSpPr>
        <a:xfrm>
          <a:off x="0" y="0"/>
          <a:ext cx="0" cy="0"/>
          <a:chOff x="0" y="0"/>
          <a:chExt cx="0" cy="0"/>
        </a:xfrm>
      </p:grpSpPr>
      <p:sp>
        <p:nvSpPr>
          <p:cNvPr id="9" name="标题 8">
            <a:extLst>
              <a:ext uri="{FF2B5EF4-FFF2-40B4-BE49-F238E27FC236}">
                <a16:creationId xmlns:a16="http://schemas.microsoft.com/office/drawing/2014/main" id="{092F394E-3630-7DE7-7BF1-0135E63D7E14}"/>
              </a:ext>
            </a:extLst>
          </p:cNvPr>
          <p:cNvSpPr>
            <a:spLocks noGrp="1"/>
          </p:cNvSpPr>
          <p:nvPr>
            <p:ph type="title"/>
          </p:nvPr>
        </p:nvSpPr>
        <p:spPr>
          <a:xfrm>
            <a:off x="1173494" y="249067"/>
            <a:ext cx="8048203" cy="480131"/>
          </a:xfrm>
        </p:spPr>
        <p:txBody>
          <a:bodyPr/>
          <a:lstStyle/>
          <a:p>
            <a:r>
              <a:rPr lang="zh-CN" altLang="en-US" spc="300" dirty="0">
                <a:latin typeface="+mj-ea"/>
              </a:rPr>
              <a:t>实验评估</a:t>
            </a:r>
          </a:p>
        </p:txBody>
      </p:sp>
      <p:sp>
        <p:nvSpPr>
          <p:cNvPr id="3" name="文本框 2">
            <a:extLst>
              <a:ext uri="{FF2B5EF4-FFF2-40B4-BE49-F238E27FC236}">
                <a16:creationId xmlns:a16="http://schemas.microsoft.com/office/drawing/2014/main" id="{095B96EB-126D-36A2-89F6-E9F2FF84F292}"/>
              </a:ext>
            </a:extLst>
          </p:cNvPr>
          <p:cNvSpPr txBox="1"/>
          <p:nvPr/>
        </p:nvSpPr>
        <p:spPr>
          <a:xfrm>
            <a:off x="571500" y="1590145"/>
            <a:ext cx="6317429" cy="830997"/>
          </a:xfrm>
          <a:prstGeom prst="rect">
            <a:avLst/>
          </a:prstGeom>
          <a:noFill/>
        </p:spPr>
        <p:txBody>
          <a:bodyPr wrap="square" rtlCol="0">
            <a:spAutoFit/>
          </a:bodyPr>
          <a:lstStyle/>
          <a:p>
            <a:pPr marL="342900" indent="-342900">
              <a:buFont typeface="+mj-lt"/>
              <a:buAutoNum type="arabicPeriod"/>
            </a:pPr>
            <a:r>
              <a:rPr lang="zh-CN" altLang="en-US" sz="1600" dirty="0"/>
              <a:t>为支持模块隔离和热更新，</a:t>
            </a:r>
            <a:r>
              <a:rPr lang="en-US" altLang="zh-CN" sz="1600" dirty="0"/>
              <a:t>Moat </a:t>
            </a:r>
            <a:r>
              <a:rPr lang="zh-CN" altLang="en-US" sz="1600" dirty="0"/>
              <a:t>的域抽象带来的开销有多大？</a:t>
            </a:r>
            <a:endParaRPr lang="en-US" altLang="zh-CN" sz="1600" dirty="0"/>
          </a:p>
          <a:p>
            <a:pPr marL="342900" indent="-342900">
              <a:buFont typeface="+mj-lt"/>
              <a:buAutoNum type="arabicPeriod"/>
            </a:pPr>
            <a:r>
              <a:rPr lang="zh-CN" altLang="en-US" sz="1600" dirty="0"/>
              <a:t>故障恢复如何影响应用程序以及需要付出什么代价？</a:t>
            </a:r>
            <a:endParaRPr lang="en-US" altLang="zh-CN" sz="1600" dirty="0"/>
          </a:p>
          <a:p>
            <a:pPr marL="342900" indent="-342900">
              <a:buFont typeface="+mj-lt"/>
              <a:buAutoNum type="arabicPeriod"/>
            </a:pPr>
            <a:r>
              <a:rPr lang="en-US" altLang="zh-CN" sz="1600" dirty="0"/>
              <a:t>Moat </a:t>
            </a:r>
            <a:r>
              <a:rPr lang="zh-CN" altLang="en-US" sz="1600" dirty="0"/>
              <a:t>的热更新如何发挥作用，热更新的服务暂停时间有多大？</a:t>
            </a:r>
          </a:p>
        </p:txBody>
      </p:sp>
      <p:grpSp>
        <p:nvGrpSpPr>
          <p:cNvPr id="4" name="组合 3">
            <a:extLst>
              <a:ext uri="{FF2B5EF4-FFF2-40B4-BE49-F238E27FC236}">
                <a16:creationId xmlns:a16="http://schemas.microsoft.com/office/drawing/2014/main" id="{CC6C6E76-6CF3-7A55-D72D-9EA53CEBE182}"/>
              </a:ext>
            </a:extLst>
          </p:cNvPr>
          <p:cNvGrpSpPr/>
          <p:nvPr/>
        </p:nvGrpSpPr>
        <p:grpSpPr>
          <a:xfrm>
            <a:off x="470710" y="2582482"/>
            <a:ext cx="7196914" cy="3431251"/>
            <a:chOff x="470710" y="2664749"/>
            <a:chExt cx="7196914" cy="3431251"/>
          </a:xfrm>
        </p:grpSpPr>
        <p:sp>
          <p:nvSpPr>
            <p:cNvPr id="10" name="矩形 9">
              <a:extLst>
                <a:ext uri="{FF2B5EF4-FFF2-40B4-BE49-F238E27FC236}">
                  <a16:creationId xmlns:a16="http://schemas.microsoft.com/office/drawing/2014/main" id="{43B0161B-2CCC-27A0-5FF8-478959234118}"/>
                </a:ext>
              </a:extLst>
            </p:cNvPr>
            <p:cNvSpPr/>
            <p:nvPr/>
          </p:nvSpPr>
          <p:spPr>
            <a:xfrm>
              <a:off x="475732" y="2971800"/>
              <a:ext cx="7191892" cy="3124200"/>
            </a:xfrm>
            <a:prstGeom prst="rect">
              <a:avLst/>
            </a:prstGeom>
            <a:no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a:extLst>
                <a:ext uri="{FF2B5EF4-FFF2-40B4-BE49-F238E27FC236}">
                  <a16:creationId xmlns:a16="http://schemas.microsoft.com/office/drawing/2014/main" id="{7A0221AF-EDF6-DC05-EF61-B4A122D03B5A}"/>
                </a:ext>
              </a:extLst>
            </p:cNvPr>
            <p:cNvSpPr/>
            <p:nvPr/>
          </p:nvSpPr>
          <p:spPr>
            <a:xfrm>
              <a:off x="470710" y="2664749"/>
              <a:ext cx="1476893" cy="571599"/>
            </a:xfrm>
            <a:prstGeom prst="roundRect">
              <a:avLst/>
            </a:prstGeom>
            <a:solidFill>
              <a:schemeClr val="tx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t>测试环境</a:t>
              </a:r>
            </a:p>
          </p:txBody>
        </p:sp>
      </p:grpSp>
      <p:sp>
        <p:nvSpPr>
          <p:cNvPr id="11" name="文本框 10">
            <a:extLst>
              <a:ext uri="{FF2B5EF4-FFF2-40B4-BE49-F238E27FC236}">
                <a16:creationId xmlns:a16="http://schemas.microsoft.com/office/drawing/2014/main" id="{5E52B60F-6122-8715-62D0-9F2BF5B9F951}"/>
              </a:ext>
            </a:extLst>
          </p:cNvPr>
          <p:cNvSpPr txBox="1"/>
          <p:nvPr/>
        </p:nvSpPr>
        <p:spPr>
          <a:xfrm>
            <a:off x="571500" y="3305175"/>
            <a:ext cx="6562725" cy="2308324"/>
          </a:xfrm>
          <a:prstGeom prst="rect">
            <a:avLst/>
          </a:prstGeom>
          <a:noFill/>
        </p:spPr>
        <p:txBody>
          <a:bodyPr wrap="square" rtlCol="0">
            <a:spAutoFit/>
          </a:bodyPr>
          <a:lstStyle/>
          <a:p>
            <a:pPr marL="285750" indent="-285750">
              <a:buFont typeface="Wingdings" panose="05000000000000000000" pitchFamily="2" charset="2"/>
              <a:buChar char="Ø"/>
            </a:pPr>
            <a:r>
              <a:rPr lang="en-US" altLang="zh-CN" sz="1600" dirty="0"/>
              <a:t>Linux</a:t>
            </a:r>
          </a:p>
          <a:p>
            <a:pPr marL="742950" lvl="1" indent="-285750">
              <a:buFont typeface="Wingdings" panose="05000000000000000000" pitchFamily="2" charset="2"/>
              <a:buChar char="Ø"/>
            </a:pPr>
            <a:r>
              <a:rPr lang="en-US" altLang="zh-CN" sz="1600" dirty="0"/>
              <a:t>Intel i9-13900HX</a:t>
            </a:r>
            <a:r>
              <a:rPr lang="zh-CN" altLang="en-US" sz="1600" dirty="0"/>
              <a:t>处理器</a:t>
            </a:r>
            <a:endParaRPr lang="en-US" altLang="zh-CN" sz="1600" dirty="0"/>
          </a:p>
          <a:p>
            <a:pPr marL="742950" lvl="1" indent="-285750">
              <a:buFont typeface="Wingdings" panose="05000000000000000000" pitchFamily="2" charset="2"/>
              <a:buChar char="Ø"/>
            </a:pPr>
            <a:r>
              <a:rPr lang="en-US" altLang="zh-CN" sz="1600" dirty="0"/>
              <a:t>32GB RAM</a:t>
            </a:r>
          </a:p>
          <a:p>
            <a:pPr marL="742950" lvl="1" indent="-285750">
              <a:buFont typeface="Wingdings" panose="05000000000000000000" pitchFamily="2" charset="2"/>
              <a:buChar char="Ø"/>
            </a:pPr>
            <a:r>
              <a:rPr lang="en-US" altLang="zh-CN" sz="1600" dirty="0"/>
              <a:t>1TB Samsung SSD 990PRO</a:t>
            </a:r>
          </a:p>
          <a:p>
            <a:pPr marL="742950" lvl="1" indent="-285750">
              <a:buFont typeface="Wingdings" panose="05000000000000000000" pitchFamily="2" charset="2"/>
              <a:buChar char="Ø"/>
            </a:pPr>
            <a:r>
              <a:rPr lang="en-US" altLang="zh-CN" sz="1600" dirty="0"/>
              <a:t>64 </a:t>
            </a:r>
            <a:r>
              <a:rPr lang="zh-CN" altLang="en-US" sz="1600" dirty="0"/>
              <a:t>位 </a:t>
            </a:r>
            <a:r>
              <a:rPr lang="en-US" altLang="zh-CN" sz="1600" dirty="0"/>
              <a:t>Ubuntu22.04</a:t>
            </a:r>
            <a:r>
              <a:rPr lang="zh-CN" altLang="en-US" sz="1600" dirty="0"/>
              <a:t>（</a:t>
            </a:r>
            <a:r>
              <a:rPr lang="en-US" altLang="zh-CN" sz="1600" dirty="0" err="1"/>
              <a:t>linux</a:t>
            </a:r>
            <a:r>
              <a:rPr lang="en-US" altLang="zh-CN" sz="1600" dirty="0"/>
              <a:t> 6.8.0</a:t>
            </a:r>
            <a:r>
              <a:rPr lang="zh-CN" altLang="en-US" sz="1600" dirty="0"/>
              <a:t>）</a:t>
            </a:r>
            <a:endParaRPr lang="en-US" altLang="zh-CN" sz="1600" dirty="0"/>
          </a:p>
          <a:p>
            <a:pPr marL="742950" lvl="1" indent="-285750">
              <a:buFont typeface="Wingdings" panose="05000000000000000000" pitchFamily="2" charset="2"/>
              <a:buChar char="Ø"/>
            </a:pPr>
            <a:r>
              <a:rPr lang="zh-CN" altLang="en-US" sz="1600" dirty="0"/>
              <a:t>禁用了超线程，</a:t>
            </a:r>
            <a:r>
              <a:rPr lang="en-US" altLang="zh-CN" sz="1600" dirty="0" err="1"/>
              <a:t>TurboBoost</a:t>
            </a:r>
            <a:r>
              <a:rPr lang="en-US" altLang="zh-CN" sz="1600" dirty="0"/>
              <a:t> </a:t>
            </a:r>
            <a:r>
              <a:rPr lang="zh-CN" altLang="en-US" sz="1600" dirty="0"/>
              <a:t>以及 </a:t>
            </a:r>
            <a:r>
              <a:rPr lang="en-US" altLang="zh-CN" sz="1600" dirty="0"/>
              <a:t>CPU </a:t>
            </a:r>
            <a:r>
              <a:rPr lang="zh-CN" altLang="en-US" sz="1600" dirty="0"/>
              <a:t>频率缩放</a:t>
            </a:r>
            <a:endParaRPr lang="en-US" altLang="zh-CN" sz="1600" dirty="0"/>
          </a:p>
          <a:p>
            <a:pPr marL="285750" indent="-285750">
              <a:buFont typeface="Wingdings" panose="05000000000000000000" pitchFamily="2" charset="2"/>
              <a:buChar char="Ø"/>
            </a:pPr>
            <a:r>
              <a:rPr lang="en-US" altLang="zh-CN" sz="1600" dirty="0"/>
              <a:t>Alien</a:t>
            </a:r>
          </a:p>
          <a:p>
            <a:pPr marL="742950" lvl="1" indent="-285750">
              <a:buFont typeface="Wingdings" panose="05000000000000000000" pitchFamily="2" charset="2"/>
              <a:buChar char="Ø"/>
            </a:pPr>
            <a:r>
              <a:rPr lang="en-US" altLang="zh-CN" sz="1600" dirty="0"/>
              <a:t>VisionFive2</a:t>
            </a:r>
            <a:r>
              <a:rPr lang="zh-CN" altLang="en-US" sz="1600" dirty="0"/>
              <a:t>：四核 </a:t>
            </a:r>
            <a:r>
              <a:rPr lang="en-US" altLang="zh-CN" sz="1600" dirty="0"/>
              <a:t>1.5GHz </a:t>
            </a:r>
            <a:r>
              <a:rPr lang="zh-CN" altLang="en-US" sz="1600" dirty="0"/>
              <a:t>处理器</a:t>
            </a:r>
            <a:r>
              <a:rPr lang="en-US" altLang="zh-CN" sz="1600" dirty="0"/>
              <a:t>RISC-V </a:t>
            </a:r>
            <a:r>
              <a:rPr lang="zh-CN" altLang="en-US" sz="1600" dirty="0"/>
              <a:t>开发板</a:t>
            </a:r>
            <a:endParaRPr lang="en-US" altLang="zh-CN" sz="1600" dirty="0"/>
          </a:p>
          <a:p>
            <a:pPr marL="742950" lvl="1" indent="-285750">
              <a:buFont typeface="Wingdings" panose="05000000000000000000" pitchFamily="2" charset="2"/>
              <a:buChar char="Ø"/>
            </a:pPr>
            <a:r>
              <a:rPr lang="en-US" altLang="zh-CN" sz="1600" dirty="0"/>
              <a:t>8GB RAM</a:t>
            </a:r>
            <a:endParaRPr lang="zh-CN" altLang="en-US" sz="1600" dirty="0"/>
          </a:p>
        </p:txBody>
      </p:sp>
      <p:grpSp>
        <p:nvGrpSpPr>
          <p:cNvPr id="2" name="组合 1">
            <a:extLst>
              <a:ext uri="{FF2B5EF4-FFF2-40B4-BE49-F238E27FC236}">
                <a16:creationId xmlns:a16="http://schemas.microsoft.com/office/drawing/2014/main" id="{DCAE2875-D888-9AE6-217F-FCF1188DFB6A}"/>
              </a:ext>
            </a:extLst>
          </p:cNvPr>
          <p:cNvGrpSpPr/>
          <p:nvPr/>
        </p:nvGrpSpPr>
        <p:grpSpPr>
          <a:xfrm>
            <a:off x="454097" y="980441"/>
            <a:ext cx="7213527" cy="1478806"/>
            <a:chOff x="454097" y="980441"/>
            <a:chExt cx="7213527" cy="1478806"/>
          </a:xfrm>
        </p:grpSpPr>
        <p:sp>
          <p:nvSpPr>
            <p:cNvPr id="13" name="矩形 12">
              <a:extLst>
                <a:ext uri="{FF2B5EF4-FFF2-40B4-BE49-F238E27FC236}">
                  <a16:creationId xmlns:a16="http://schemas.microsoft.com/office/drawing/2014/main" id="{47048185-878D-7ED0-5121-85C04A59ED1E}"/>
                </a:ext>
              </a:extLst>
            </p:cNvPr>
            <p:cNvSpPr/>
            <p:nvPr/>
          </p:nvSpPr>
          <p:spPr>
            <a:xfrm>
              <a:off x="470709" y="1256175"/>
              <a:ext cx="7196915" cy="1203072"/>
            </a:xfrm>
            <a:prstGeom prst="rect">
              <a:avLst/>
            </a:prstGeom>
            <a:no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角 11">
              <a:extLst>
                <a:ext uri="{FF2B5EF4-FFF2-40B4-BE49-F238E27FC236}">
                  <a16:creationId xmlns:a16="http://schemas.microsoft.com/office/drawing/2014/main" id="{8054C897-D4A5-A399-4B98-5B1E1999377E}"/>
                </a:ext>
              </a:extLst>
            </p:cNvPr>
            <p:cNvSpPr/>
            <p:nvPr/>
          </p:nvSpPr>
          <p:spPr>
            <a:xfrm>
              <a:off x="454097" y="980441"/>
              <a:ext cx="1476893" cy="571599"/>
            </a:xfrm>
            <a:prstGeom prst="roundRect">
              <a:avLst/>
            </a:prstGeom>
            <a:solidFill>
              <a:schemeClr val="tx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t>实验目标</a:t>
              </a:r>
            </a:p>
          </p:txBody>
        </p:sp>
      </p:grpSp>
    </p:spTree>
    <p:extLst>
      <p:ext uri="{BB962C8B-B14F-4D97-AF65-F5344CB8AC3E}">
        <p14:creationId xmlns:p14="http://schemas.microsoft.com/office/powerpoint/2010/main" val="235595594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up)">
                                      <p:cBhvr>
                                        <p:cTn id="16" dur="500"/>
                                        <p:tgtEl>
                                          <p:spTgt spid="4"/>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up)">
                                      <p:cBhvr>
                                        <p:cTn id="1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7C5F0-9D8A-BF31-F429-C30BEF219CFB}"/>
            </a:ext>
          </a:extLst>
        </p:cNvPr>
        <p:cNvGrpSpPr/>
        <p:nvPr/>
      </p:nvGrpSpPr>
      <p:grpSpPr>
        <a:xfrm>
          <a:off x="0" y="0"/>
          <a:ext cx="0" cy="0"/>
          <a:chOff x="0" y="0"/>
          <a:chExt cx="0" cy="0"/>
        </a:xfrm>
      </p:grpSpPr>
      <p:sp>
        <p:nvSpPr>
          <p:cNvPr id="9" name="标题 8">
            <a:extLst>
              <a:ext uri="{FF2B5EF4-FFF2-40B4-BE49-F238E27FC236}">
                <a16:creationId xmlns:a16="http://schemas.microsoft.com/office/drawing/2014/main" id="{7F15C24F-7C55-C150-6379-601C4EC65BC8}"/>
              </a:ext>
            </a:extLst>
          </p:cNvPr>
          <p:cNvSpPr>
            <a:spLocks noGrp="1"/>
          </p:cNvSpPr>
          <p:nvPr>
            <p:ph type="title"/>
          </p:nvPr>
        </p:nvSpPr>
        <p:spPr>
          <a:xfrm>
            <a:off x="1173494" y="249067"/>
            <a:ext cx="8048203" cy="480131"/>
          </a:xfrm>
        </p:spPr>
        <p:txBody>
          <a:bodyPr/>
          <a:lstStyle/>
          <a:p>
            <a:r>
              <a:rPr lang="zh-CN" altLang="en-US" spc="300" dirty="0">
                <a:latin typeface="+mj-ea"/>
              </a:rPr>
              <a:t>实验评估：</a:t>
            </a:r>
            <a:r>
              <a:rPr lang="zh-CN" altLang="en-US" dirty="0"/>
              <a:t>跨域调用开销</a:t>
            </a:r>
            <a:endParaRPr lang="zh-CN" altLang="en-US" spc="300" dirty="0">
              <a:latin typeface="+mj-ea"/>
            </a:endParaRPr>
          </a:p>
        </p:txBody>
      </p:sp>
      <p:pic>
        <p:nvPicPr>
          <p:cNvPr id="6" name="图片 5" descr="表格&#10;&#10;AI 生成的内容可能不正确。">
            <a:extLst>
              <a:ext uri="{FF2B5EF4-FFF2-40B4-BE49-F238E27FC236}">
                <a16:creationId xmlns:a16="http://schemas.microsoft.com/office/drawing/2014/main" id="{10B53348-5DA5-73F8-4FC4-A126464E778F}"/>
              </a:ext>
            </a:extLst>
          </p:cNvPr>
          <p:cNvPicPr>
            <a:picLocks noChangeAspect="1"/>
          </p:cNvPicPr>
          <p:nvPr/>
        </p:nvPicPr>
        <p:blipFill>
          <a:blip r:embed="rId3"/>
          <a:stretch>
            <a:fillRect/>
          </a:stretch>
        </p:blipFill>
        <p:spPr>
          <a:xfrm>
            <a:off x="447312" y="1028354"/>
            <a:ext cx="5201376" cy="4953691"/>
          </a:xfrm>
          <a:prstGeom prst="rect">
            <a:avLst/>
          </a:prstGeom>
        </p:spPr>
      </p:pic>
      <p:grpSp>
        <p:nvGrpSpPr>
          <p:cNvPr id="2" name="组合 1">
            <a:extLst>
              <a:ext uri="{FF2B5EF4-FFF2-40B4-BE49-F238E27FC236}">
                <a16:creationId xmlns:a16="http://schemas.microsoft.com/office/drawing/2014/main" id="{9DE06B85-74AA-BBAB-DA89-C40D9161B010}"/>
              </a:ext>
            </a:extLst>
          </p:cNvPr>
          <p:cNvGrpSpPr/>
          <p:nvPr/>
        </p:nvGrpSpPr>
        <p:grpSpPr>
          <a:xfrm>
            <a:off x="6157785" y="2114272"/>
            <a:ext cx="5291568" cy="2984546"/>
            <a:chOff x="6157785" y="2114272"/>
            <a:chExt cx="5291568" cy="2984546"/>
          </a:xfrm>
        </p:grpSpPr>
        <p:grpSp>
          <p:nvGrpSpPr>
            <p:cNvPr id="3" name="组合 2">
              <a:extLst>
                <a:ext uri="{FF2B5EF4-FFF2-40B4-BE49-F238E27FC236}">
                  <a16:creationId xmlns:a16="http://schemas.microsoft.com/office/drawing/2014/main" id="{C095FF89-56D4-2924-1CE4-1A936795F6D4}"/>
                </a:ext>
              </a:extLst>
            </p:cNvPr>
            <p:cNvGrpSpPr/>
            <p:nvPr/>
          </p:nvGrpSpPr>
          <p:grpSpPr>
            <a:xfrm>
              <a:off x="6157785" y="2114272"/>
              <a:ext cx="5291568" cy="2984546"/>
              <a:chOff x="6244445" y="2997499"/>
              <a:chExt cx="5291568" cy="2984546"/>
            </a:xfrm>
          </p:grpSpPr>
          <p:sp>
            <p:nvSpPr>
              <p:cNvPr id="34" name="矩形 33">
                <a:extLst>
                  <a:ext uri="{FF2B5EF4-FFF2-40B4-BE49-F238E27FC236}">
                    <a16:creationId xmlns:a16="http://schemas.microsoft.com/office/drawing/2014/main" id="{4CC2870D-6812-B5DC-ABF7-FECA766246AD}"/>
                  </a:ext>
                </a:extLst>
              </p:cNvPr>
              <p:cNvSpPr/>
              <p:nvPr/>
            </p:nvSpPr>
            <p:spPr>
              <a:xfrm>
                <a:off x="6244445" y="3204603"/>
                <a:ext cx="5291568" cy="2777442"/>
              </a:xfrm>
              <a:prstGeom prst="rect">
                <a:avLst/>
              </a:prstGeom>
              <a:no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六边形 34">
                <a:extLst>
                  <a:ext uri="{FF2B5EF4-FFF2-40B4-BE49-F238E27FC236}">
                    <a16:creationId xmlns:a16="http://schemas.microsoft.com/office/drawing/2014/main" id="{50EF0F5D-C440-36C6-BF15-7000CCCA291E}"/>
                  </a:ext>
                </a:extLst>
              </p:cNvPr>
              <p:cNvSpPr/>
              <p:nvPr/>
            </p:nvSpPr>
            <p:spPr>
              <a:xfrm>
                <a:off x="7887106" y="2997499"/>
                <a:ext cx="2006246" cy="414208"/>
              </a:xfrm>
              <a:prstGeom prst="hexagon">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t>实验结果</a:t>
                </a:r>
              </a:p>
            </p:txBody>
          </p:sp>
        </p:grpSp>
        <p:sp>
          <p:nvSpPr>
            <p:cNvPr id="36" name="文本框 35">
              <a:extLst>
                <a:ext uri="{FF2B5EF4-FFF2-40B4-BE49-F238E27FC236}">
                  <a16:creationId xmlns:a16="http://schemas.microsoft.com/office/drawing/2014/main" id="{EDA77C0F-6B97-2DFC-2229-CC10E077A1EC}"/>
                </a:ext>
              </a:extLst>
            </p:cNvPr>
            <p:cNvSpPr txBox="1"/>
            <p:nvPr/>
          </p:nvSpPr>
          <p:spPr>
            <a:xfrm>
              <a:off x="6247977" y="2611581"/>
              <a:ext cx="5201376" cy="1785104"/>
            </a:xfrm>
            <a:prstGeom prst="rect">
              <a:avLst/>
            </a:prstGeom>
            <a:noFill/>
          </p:spPr>
          <p:txBody>
            <a:bodyPr wrap="square" rtlCol="0">
              <a:spAutoFit/>
            </a:bodyPr>
            <a:lstStyle/>
            <a:p>
              <a:endParaRPr lang="en-US" altLang="zh-CN" sz="1400" dirty="0"/>
            </a:p>
            <a:p>
              <a:pPr marL="285750" indent="-285750">
                <a:buFont typeface="Wingdings" panose="05000000000000000000" pitchFamily="2" charset="2"/>
                <a:buChar char="Ø"/>
              </a:pPr>
              <a:r>
                <a:rPr lang="zh-CN" altLang="en-US" sz="1600" dirty="0"/>
                <a:t>降低调用延迟，比</a:t>
              </a:r>
              <a:r>
                <a:rPr lang="en-US" altLang="zh-CN" sz="1600" dirty="0" err="1"/>
                <a:t>RedLeaf</a:t>
              </a:r>
              <a:r>
                <a:rPr lang="zh-CN" altLang="en-US" sz="1600" dirty="0"/>
                <a:t>快约</a:t>
              </a:r>
              <a:r>
                <a:rPr lang="en-US" altLang="zh-CN" sz="1600" dirty="0">
                  <a:solidFill>
                    <a:srgbClr val="FF0000"/>
                  </a:solidFill>
                </a:rPr>
                <a:t>3</a:t>
              </a:r>
              <a:r>
                <a:rPr lang="zh-CN" altLang="en-US" sz="1600" dirty="0">
                  <a:solidFill>
                    <a:srgbClr val="FF0000"/>
                  </a:solidFill>
                </a:rPr>
                <a:t>倍</a:t>
              </a:r>
              <a:endParaRPr lang="en-US" altLang="zh-CN" sz="1600" dirty="0">
                <a:solidFill>
                  <a:srgbClr val="FF0000"/>
                </a:solidFill>
              </a:endParaRPr>
            </a:p>
            <a:p>
              <a:pPr marL="285750" indent="-285750">
                <a:buFont typeface="Wingdings" panose="05000000000000000000" pitchFamily="2" charset="2"/>
                <a:buChar char="Ø"/>
              </a:pPr>
              <a:endParaRPr lang="en-US" altLang="zh-CN" sz="1600" dirty="0">
                <a:solidFill>
                  <a:srgbClr val="FF0000"/>
                </a:solidFill>
              </a:endParaRPr>
            </a:p>
            <a:p>
              <a:pPr marL="285750" indent="-285750">
                <a:buFont typeface="Wingdings" panose="05000000000000000000" pitchFamily="2" charset="2"/>
                <a:buChar char="Ø"/>
              </a:pPr>
              <a:r>
                <a:rPr lang="zh-CN" altLang="en-US" sz="1600" dirty="0"/>
                <a:t>与硬件隔离机制相同的性能水平</a:t>
              </a:r>
              <a:endParaRPr lang="en-US" altLang="zh-CN" sz="1600" dirty="0"/>
            </a:p>
            <a:p>
              <a:pPr marL="285750" indent="-285750">
                <a:buFont typeface="Wingdings" panose="05000000000000000000" pitchFamily="2" charset="2"/>
                <a:buChar char="Ø"/>
              </a:pPr>
              <a:endParaRPr lang="en-US" altLang="zh-CN" sz="1600" dirty="0"/>
            </a:p>
            <a:p>
              <a:pPr marL="285750" indent="-285750">
                <a:buFont typeface="Wingdings" panose="05000000000000000000" pitchFamily="2" charset="2"/>
                <a:buChar char="Ø"/>
              </a:pPr>
              <a:r>
                <a:rPr lang="zh-CN" altLang="en-US" sz="1600" dirty="0"/>
                <a:t>最简单的系统调用（</a:t>
              </a:r>
              <a:r>
                <a:rPr lang="en-US" altLang="zh-CN" sz="1600" dirty="0" err="1"/>
                <a:t>getpid</a:t>
              </a:r>
              <a:r>
                <a:rPr lang="zh-CN" altLang="en-US" sz="1600" dirty="0"/>
                <a:t>）需要</a:t>
              </a:r>
              <a:r>
                <a:rPr lang="en-US" altLang="zh-CN" sz="1600" dirty="0"/>
                <a:t>270</a:t>
              </a:r>
              <a:r>
                <a:rPr lang="zh-CN" altLang="en-US" sz="1600" dirty="0"/>
                <a:t>周期，凸显了语言级隔离在避免特权级切换上的巨大优势</a:t>
              </a:r>
              <a:endParaRPr lang="en-US" altLang="zh-CN" sz="1600" dirty="0"/>
            </a:p>
          </p:txBody>
        </p:sp>
      </p:grpSp>
    </p:spTree>
    <p:extLst>
      <p:ext uri="{BB962C8B-B14F-4D97-AF65-F5344CB8AC3E}">
        <p14:creationId xmlns:p14="http://schemas.microsoft.com/office/powerpoint/2010/main" val="270083277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up)">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1D8CB-E011-DC55-7C40-0A6328BAC34F}"/>
            </a:ext>
          </a:extLst>
        </p:cNvPr>
        <p:cNvGrpSpPr/>
        <p:nvPr/>
      </p:nvGrpSpPr>
      <p:grpSpPr>
        <a:xfrm>
          <a:off x="0" y="0"/>
          <a:ext cx="0" cy="0"/>
          <a:chOff x="0" y="0"/>
          <a:chExt cx="0" cy="0"/>
        </a:xfrm>
      </p:grpSpPr>
      <p:sp>
        <p:nvSpPr>
          <p:cNvPr id="9" name="标题 8">
            <a:extLst>
              <a:ext uri="{FF2B5EF4-FFF2-40B4-BE49-F238E27FC236}">
                <a16:creationId xmlns:a16="http://schemas.microsoft.com/office/drawing/2014/main" id="{8ACAF715-681A-268E-6335-A276E2892363}"/>
              </a:ext>
            </a:extLst>
          </p:cNvPr>
          <p:cNvSpPr>
            <a:spLocks noGrp="1"/>
          </p:cNvSpPr>
          <p:nvPr>
            <p:ph type="title"/>
          </p:nvPr>
        </p:nvSpPr>
        <p:spPr>
          <a:xfrm>
            <a:off x="1173494" y="249067"/>
            <a:ext cx="8048203" cy="480131"/>
          </a:xfrm>
        </p:spPr>
        <p:txBody>
          <a:bodyPr/>
          <a:lstStyle/>
          <a:p>
            <a:r>
              <a:rPr lang="zh-CN" altLang="en-US" spc="300" dirty="0">
                <a:latin typeface="+mj-ea"/>
              </a:rPr>
              <a:t>实验评估：</a:t>
            </a:r>
            <a:r>
              <a:rPr lang="zh-CN" altLang="en-US" dirty="0"/>
              <a:t>设备驱动隔离开销</a:t>
            </a:r>
            <a:endParaRPr lang="zh-CN" altLang="en-US" spc="300" dirty="0">
              <a:latin typeface="+mj-ea"/>
            </a:endParaRPr>
          </a:p>
        </p:txBody>
      </p:sp>
      <p:pic>
        <p:nvPicPr>
          <p:cNvPr id="5" name="图片 4" descr="图示&#10;&#10;AI 生成的内容可能不正确。">
            <a:extLst>
              <a:ext uri="{FF2B5EF4-FFF2-40B4-BE49-F238E27FC236}">
                <a16:creationId xmlns:a16="http://schemas.microsoft.com/office/drawing/2014/main" id="{7E35F8F2-AF8E-DE5D-ECD5-E56B8A96B845}"/>
              </a:ext>
            </a:extLst>
          </p:cNvPr>
          <p:cNvPicPr>
            <a:picLocks noChangeAspect="1"/>
          </p:cNvPicPr>
          <p:nvPr/>
        </p:nvPicPr>
        <p:blipFill>
          <a:blip r:embed="rId3"/>
          <a:stretch>
            <a:fillRect/>
          </a:stretch>
        </p:blipFill>
        <p:spPr>
          <a:xfrm>
            <a:off x="498629" y="1028699"/>
            <a:ext cx="5448928" cy="2804747"/>
          </a:xfrm>
          <a:prstGeom prst="rect">
            <a:avLst/>
          </a:prstGeom>
        </p:spPr>
      </p:pic>
      <p:pic>
        <p:nvPicPr>
          <p:cNvPr id="7" name="图片 6" descr="图表, 箱线图&#10;&#10;AI 生成的内容可能不正确。">
            <a:extLst>
              <a:ext uri="{FF2B5EF4-FFF2-40B4-BE49-F238E27FC236}">
                <a16:creationId xmlns:a16="http://schemas.microsoft.com/office/drawing/2014/main" id="{65A559F9-4ABE-BC9F-4374-265BEB50196A}"/>
              </a:ext>
            </a:extLst>
          </p:cNvPr>
          <p:cNvPicPr>
            <a:picLocks noChangeAspect="1"/>
          </p:cNvPicPr>
          <p:nvPr/>
        </p:nvPicPr>
        <p:blipFill>
          <a:blip r:embed="rId4"/>
          <a:stretch>
            <a:fillRect/>
          </a:stretch>
        </p:blipFill>
        <p:spPr>
          <a:xfrm>
            <a:off x="498629" y="3938955"/>
            <a:ext cx="5448928" cy="2432818"/>
          </a:xfrm>
          <a:prstGeom prst="rect">
            <a:avLst/>
          </a:prstGeom>
        </p:spPr>
      </p:pic>
      <p:grpSp>
        <p:nvGrpSpPr>
          <p:cNvPr id="4" name="组合 3">
            <a:extLst>
              <a:ext uri="{FF2B5EF4-FFF2-40B4-BE49-F238E27FC236}">
                <a16:creationId xmlns:a16="http://schemas.microsoft.com/office/drawing/2014/main" id="{166E6AE5-4DF9-400A-CF7A-3B738EFF43A6}"/>
              </a:ext>
            </a:extLst>
          </p:cNvPr>
          <p:cNvGrpSpPr/>
          <p:nvPr/>
        </p:nvGrpSpPr>
        <p:grpSpPr>
          <a:xfrm>
            <a:off x="6244445" y="3833446"/>
            <a:ext cx="5093550" cy="2324117"/>
            <a:chOff x="6244445" y="3014792"/>
            <a:chExt cx="5291568" cy="2984546"/>
          </a:xfrm>
        </p:grpSpPr>
        <p:sp>
          <p:nvSpPr>
            <p:cNvPr id="13" name="矩形 12">
              <a:extLst>
                <a:ext uri="{FF2B5EF4-FFF2-40B4-BE49-F238E27FC236}">
                  <a16:creationId xmlns:a16="http://schemas.microsoft.com/office/drawing/2014/main" id="{1A6BC08E-6600-0918-7572-F5B5F83E3C6A}"/>
                </a:ext>
              </a:extLst>
            </p:cNvPr>
            <p:cNvSpPr/>
            <p:nvPr/>
          </p:nvSpPr>
          <p:spPr>
            <a:xfrm>
              <a:off x="6244445" y="3221896"/>
              <a:ext cx="5291568" cy="2777442"/>
            </a:xfrm>
            <a:prstGeom prst="rect">
              <a:avLst/>
            </a:prstGeom>
            <a:no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六边形 13">
              <a:extLst>
                <a:ext uri="{FF2B5EF4-FFF2-40B4-BE49-F238E27FC236}">
                  <a16:creationId xmlns:a16="http://schemas.microsoft.com/office/drawing/2014/main" id="{F3B79FFC-2106-8121-5883-F9F2C2A7FD83}"/>
                </a:ext>
              </a:extLst>
            </p:cNvPr>
            <p:cNvSpPr/>
            <p:nvPr/>
          </p:nvSpPr>
          <p:spPr>
            <a:xfrm>
              <a:off x="7887106" y="3014792"/>
              <a:ext cx="2006246" cy="414208"/>
            </a:xfrm>
            <a:prstGeom prst="hexagon">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t>实验结果</a:t>
              </a:r>
            </a:p>
          </p:txBody>
        </p:sp>
      </p:grpSp>
      <p:sp>
        <p:nvSpPr>
          <p:cNvPr id="15" name="文本框 14">
            <a:extLst>
              <a:ext uri="{FF2B5EF4-FFF2-40B4-BE49-F238E27FC236}">
                <a16:creationId xmlns:a16="http://schemas.microsoft.com/office/drawing/2014/main" id="{74D4D6E2-220F-C611-942F-B115A54A45AC}"/>
              </a:ext>
            </a:extLst>
          </p:cNvPr>
          <p:cNvSpPr txBox="1"/>
          <p:nvPr/>
        </p:nvSpPr>
        <p:spPr>
          <a:xfrm>
            <a:off x="6300108" y="4183590"/>
            <a:ext cx="5201376" cy="1785104"/>
          </a:xfrm>
          <a:prstGeom prst="rect">
            <a:avLst/>
          </a:prstGeom>
          <a:noFill/>
        </p:spPr>
        <p:txBody>
          <a:bodyPr wrap="square" rtlCol="0">
            <a:spAutoFit/>
          </a:bodyPr>
          <a:lstStyle/>
          <a:p>
            <a:endParaRPr lang="en-US" altLang="zh-CN" sz="1400" dirty="0"/>
          </a:p>
          <a:p>
            <a:pPr marL="285750" indent="-285750">
              <a:buFont typeface="Wingdings" panose="05000000000000000000" pitchFamily="2" charset="2"/>
              <a:buChar char="Ø"/>
            </a:pPr>
            <a:r>
              <a:rPr lang="zh-CN" altLang="en-US" sz="1600" dirty="0"/>
              <a:t>未隔离的</a:t>
            </a:r>
            <a:r>
              <a:rPr lang="en-US" altLang="zh-CN" sz="1600" dirty="0"/>
              <a:t>Rust</a:t>
            </a:r>
            <a:r>
              <a:rPr lang="zh-CN" altLang="en-US" sz="1600" dirty="0"/>
              <a:t>驱动性能与原生</a:t>
            </a:r>
            <a:r>
              <a:rPr lang="en-US" altLang="zh-CN" sz="1600" dirty="0"/>
              <a:t>C</a:t>
            </a:r>
            <a:r>
              <a:rPr lang="zh-CN" altLang="en-US" sz="1600" dirty="0"/>
              <a:t>驱动相当，证明了</a:t>
            </a:r>
            <a:r>
              <a:rPr lang="en-US" altLang="zh-CN" sz="1600" dirty="0">
                <a:solidFill>
                  <a:srgbClr val="FF0000"/>
                </a:solidFill>
              </a:rPr>
              <a:t>Rust</a:t>
            </a:r>
            <a:r>
              <a:rPr lang="zh-CN" altLang="en-US" sz="1600" dirty="0">
                <a:solidFill>
                  <a:srgbClr val="FF0000"/>
                </a:solidFill>
              </a:rPr>
              <a:t>的高效性</a:t>
            </a:r>
            <a:endParaRPr lang="en-US" altLang="zh-CN" sz="1600" dirty="0"/>
          </a:p>
          <a:p>
            <a:pPr marL="285750" indent="-285750">
              <a:buFont typeface="Wingdings" panose="05000000000000000000" pitchFamily="2" charset="2"/>
              <a:buChar char="Ø"/>
            </a:pPr>
            <a:endParaRPr lang="en-US" altLang="zh-CN" sz="1600" dirty="0"/>
          </a:p>
          <a:p>
            <a:pPr marL="285750" indent="-285750">
              <a:buFont typeface="Wingdings" panose="05000000000000000000" pitchFamily="2" charset="2"/>
              <a:buChar char="Ø"/>
            </a:pPr>
            <a:r>
              <a:rPr lang="zh-CN" altLang="en-US" sz="1600" dirty="0"/>
              <a:t>隔离驱动仅引入</a:t>
            </a:r>
            <a:r>
              <a:rPr lang="en-US" altLang="zh-CN" sz="1600" dirty="0">
                <a:solidFill>
                  <a:srgbClr val="FF0000"/>
                </a:solidFill>
              </a:rPr>
              <a:t>1%</a:t>
            </a:r>
            <a:r>
              <a:rPr lang="zh-CN" altLang="en-US" sz="1600" dirty="0">
                <a:solidFill>
                  <a:srgbClr val="FF0000"/>
                </a:solidFill>
              </a:rPr>
              <a:t>至</a:t>
            </a:r>
            <a:r>
              <a:rPr lang="en-US" altLang="zh-CN" sz="1600" dirty="0">
                <a:solidFill>
                  <a:srgbClr val="FF0000"/>
                </a:solidFill>
              </a:rPr>
              <a:t>2%</a:t>
            </a:r>
            <a:r>
              <a:rPr lang="zh-CN" altLang="en-US" sz="1600" dirty="0"/>
              <a:t>的平均吞吐量开销</a:t>
            </a:r>
            <a:endParaRPr lang="en-US" altLang="zh-CN" sz="1600" dirty="0"/>
          </a:p>
          <a:p>
            <a:pPr marL="285750" indent="-285750">
              <a:buFont typeface="Wingdings" panose="05000000000000000000" pitchFamily="2" charset="2"/>
              <a:buChar char="Ø"/>
            </a:pPr>
            <a:endParaRPr lang="en-US" altLang="zh-CN" sz="1600" dirty="0"/>
          </a:p>
          <a:p>
            <a:pPr marL="285750" indent="-285750">
              <a:buFont typeface="Wingdings" panose="05000000000000000000" pitchFamily="2" charset="2"/>
              <a:buChar char="Ø"/>
            </a:pPr>
            <a:r>
              <a:rPr lang="zh-CN" altLang="en-US" sz="1600" dirty="0"/>
              <a:t>隔离开销相对设备自身的影响有限</a:t>
            </a:r>
            <a:endParaRPr lang="en-US" altLang="zh-CN" sz="1600" dirty="0"/>
          </a:p>
        </p:txBody>
      </p:sp>
      <p:pic>
        <p:nvPicPr>
          <p:cNvPr id="3" name="图片 2" descr="图片包含 表格&#10;&#10;AI 生成的内容可能不正确。">
            <a:extLst>
              <a:ext uri="{FF2B5EF4-FFF2-40B4-BE49-F238E27FC236}">
                <a16:creationId xmlns:a16="http://schemas.microsoft.com/office/drawing/2014/main" id="{32D34DD9-CFD4-D441-DEDE-1772CDB807CB}"/>
              </a:ext>
            </a:extLst>
          </p:cNvPr>
          <p:cNvPicPr>
            <a:picLocks noChangeAspect="1"/>
          </p:cNvPicPr>
          <p:nvPr/>
        </p:nvPicPr>
        <p:blipFill>
          <a:blip r:embed="rId5"/>
          <a:stretch>
            <a:fillRect/>
          </a:stretch>
        </p:blipFill>
        <p:spPr>
          <a:xfrm>
            <a:off x="6481616" y="1089850"/>
            <a:ext cx="4727033" cy="2633851"/>
          </a:xfrm>
          <a:prstGeom prst="rect">
            <a:avLst/>
          </a:prstGeom>
        </p:spPr>
      </p:pic>
    </p:spTree>
    <p:extLst>
      <p:ext uri="{BB962C8B-B14F-4D97-AF65-F5344CB8AC3E}">
        <p14:creationId xmlns:p14="http://schemas.microsoft.com/office/powerpoint/2010/main" val="125408293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1"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fill="hold"/>
                                        <p:tgtEl>
                                          <p:spTgt spid="3"/>
                                        </p:tgtEl>
                                        <p:attrNameLst>
                                          <p:attrName>ppt_x</p:attrName>
                                        </p:attrNameLst>
                                      </p:cBhvr>
                                      <p:tavLst>
                                        <p:tav tm="0">
                                          <p:val>
                                            <p:strVal val="#ppt_x"/>
                                          </p:val>
                                        </p:tav>
                                        <p:tav tm="100000">
                                          <p:val>
                                            <p:strVal val="#ppt_x"/>
                                          </p:val>
                                        </p:tav>
                                      </p:tavLst>
                                    </p:anim>
                                    <p:anim calcmode="lin" valueType="num">
                                      <p:cBhvr additive="base">
                                        <p:cTn id="16" dur="500" fill="hold"/>
                                        <p:tgtEl>
                                          <p:spTgt spid="3"/>
                                        </p:tgtEl>
                                        <p:attrNameLst>
                                          <p:attrName>ppt_y</p:attrName>
                                        </p:attrNameLst>
                                      </p:cBhvr>
                                      <p:tavLst>
                                        <p:tav tm="0">
                                          <p:val>
                                            <p:strVal val="0-#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up)">
                                      <p:cBhvr>
                                        <p:cTn id="21" dur="500"/>
                                        <p:tgtEl>
                                          <p:spTgt spid="4"/>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wipe(up)">
                                      <p:cBhvr>
                                        <p:cTn id="2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681DE-DA7C-A58F-F76C-EF3747E0CFE4}"/>
            </a:ext>
          </a:extLst>
        </p:cNvPr>
        <p:cNvGrpSpPr/>
        <p:nvPr/>
      </p:nvGrpSpPr>
      <p:grpSpPr>
        <a:xfrm>
          <a:off x="0" y="0"/>
          <a:ext cx="0" cy="0"/>
          <a:chOff x="0" y="0"/>
          <a:chExt cx="0" cy="0"/>
        </a:xfrm>
      </p:grpSpPr>
      <p:sp>
        <p:nvSpPr>
          <p:cNvPr id="9" name="标题 8">
            <a:extLst>
              <a:ext uri="{FF2B5EF4-FFF2-40B4-BE49-F238E27FC236}">
                <a16:creationId xmlns:a16="http://schemas.microsoft.com/office/drawing/2014/main" id="{408FD197-08FD-15E2-9DC1-0195DB33B2CB}"/>
              </a:ext>
            </a:extLst>
          </p:cNvPr>
          <p:cNvSpPr>
            <a:spLocks noGrp="1"/>
          </p:cNvSpPr>
          <p:nvPr>
            <p:ph type="title"/>
          </p:nvPr>
        </p:nvSpPr>
        <p:spPr>
          <a:xfrm>
            <a:off x="1173494" y="249067"/>
            <a:ext cx="8048203" cy="480131"/>
          </a:xfrm>
        </p:spPr>
        <p:txBody>
          <a:bodyPr/>
          <a:lstStyle/>
          <a:p>
            <a:r>
              <a:rPr lang="zh-CN" altLang="en-US" spc="300" dirty="0">
                <a:latin typeface="+mj-ea"/>
              </a:rPr>
              <a:t>实验评估：工作负载对</a:t>
            </a:r>
            <a:r>
              <a:rPr lang="zh-CN" altLang="en-US" dirty="0"/>
              <a:t>跨域通信的影响</a:t>
            </a:r>
            <a:endParaRPr lang="zh-CN" altLang="en-US" spc="300" dirty="0">
              <a:latin typeface="+mj-ea"/>
            </a:endParaRPr>
          </a:p>
        </p:txBody>
      </p:sp>
      <p:grpSp>
        <p:nvGrpSpPr>
          <p:cNvPr id="2" name="组合 1">
            <a:extLst>
              <a:ext uri="{FF2B5EF4-FFF2-40B4-BE49-F238E27FC236}">
                <a16:creationId xmlns:a16="http://schemas.microsoft.com/office/drawing/2014/main" id="{A612AAC2-968B-681D-B26D-56407ED1F1AF}"/>
              </a:ext>
            </a:extLst>
          </p:cNvPr>
          <p:cNvGrpSpPr/>
          <p:nvPr/>
        </p:nvGrpSpPr>
        <p:grpSpPr>
          <a:xfrm>
            <a:off x="6244446" y="2124195"/>
            <a:ext cx="5291568" cy="2984546"/>
            <a:chOff x="6244445" y="2997499"/>
            <a:chExt cx="5291568" cy="2984546"/>
          </a:xfrm>
        </p:grpSpPr>
        <p:sp>
          <p:nvSpPr>
            <p:cNvPr id="13" name="矩形 12">
              <a:extLst>
                <a:ext uri="{FF2B5EF4-FFF2-40B4-BE49-F238E27FC236}">
                  <a16:creationId xmlns:a16="http://schemas.microsoft.com/office/drawing/2014/main" id="{E2E127CF-EF49-2776-E7C9-FFB2E3495740}"/>
                </a:ext>
              </a:extLst>
            </p:cNvPr>
            <p:cNvSpPr/>
            <p:nvPr/>
          </p:nvSpPr>
          <p:spPr>
            <a:xfrm>
              <a:off x="6244445" y="3204603"/>
              <a:ext cx="5291568" cy="2777442"/>
            </a:xfrm>
            <a:prstGeom prst="rect">
              <a:avLst/>
            </a:prstGeom>
            <a:no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六边形 13">
              <a:extLst>
                <a:ext uri="{FF2B5EF4-FFF2-40B4-BE49-F238E27FC236}">
                  <a16:creationId xmlns:a16="http://schemas.microsoft.com/office/drawing/2014/main" id="{84E3AAF0-CE40-30FD-4964-563111524001}"/>
                </a:ext>
              </a:extLst>
            </p:cNvPr>
            <p:cNvSpPr/>
            <p:nvPr/>
          </p:nvSpPr>
          <p:spPr>
            <a:xfrm>
              <a:off x="7887106" y="2997499"/>
              <a:ext cx="2006246" cy="414208"/>
            </a:xfrm>
            <a:prstGeom prst="hexagon">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t>实验结果</a:t>
              </a:r>
            </a:p>
          </p:txBody>
        </p:sp>
      </p:grpSp>
      <p:sp>
        <p:nvSpPr>
          <p:cNvPr id="15" name="文本框 14">
            <a:extLst>
              <a:ext uri="{FF2B5EF4-FFF2-40B4-BE49-F238E27FC236}">
                <a16:creationId xmlns:a16="http://schemas.microsoft.com/office/drawing/2014/main" id="{1EEC997E-B6C2-68CA-C33F-D71E10969B06}"/>
              </a:ext>
            </a:extLst>
          </p:cNvPr>
          <p:cNvSpPr txBox="1"/>
          <p:nvPr/>
        </p:nvSpPr>
        <p:spPr>
          <a:xfrm>
            <a:off x="6289542" y="2431184"/>
            <a:ext cx="5201376" cy="2492990"/>
          </a:xfrm>
          <a:prstGeom prst="rect">
            <a:avLst/>
          </a:prstGeom>
          <a:noFill/>
        </p:spPr>
        <p:txBody>
          <a:bodyPr wrap="square" rtlCol="0">
            <a:spAutoFit/>
          </a:bodyPr>
          <a:lstStyle/>
          <a:p>
            <a:pPr marL="285750" indent="-285750">
              <a:buFont typeface="Wingdings" panose="05000000000000000000" pitchFamily="2" charset="2"/>
              <a:buChar char="Ø"/>
            </a:pPr>
            <a:endParaRPr lang="en-US" altLang="zh-CN" sz="1400" dirty="0"/>
          </a:p>
          <a:p>
            <a:pPr marL="285750" indent="-285750">
              <a:buFont typeface="Wingdings" panose="05000000000000000000" pitchFamily="2" charset="2"/>
              <a:buChar char="Ø"/>
            </a:pPr>
            <a:endParaRPr lang="en-US" altLang="zh-CN" sz="1400" dirty="0"/>
          </a:p>
          <a:p>
            <a:pPr marL="285750" indent="-285750">
              <a:buFont typeface="Wingdings" panose="05000000000000000000" pitchFamily="2" charset="2"/>
              <a:buChar char="Ø"/>
            </a:pPr>
            <a:r>
              <a:rPr lang="zh-CN" altLang="en-US" sz="1600" dirty="0"/>
              <a:t>小型工作负载</a:t>
            </a:r>
            <a:r>
              <a:rPr lang="en-US" altLang="zh-CN" sz="1600" dirty="0"/>
              <a:t>(</a:t>
            </a:r>
            <a:r>
              <a:rPr lang="zh-CN" altLang="en-US" sz="1600" dirty="0"/>
              <a:t>如</a:t>
            </a:r>
            <a:r>
              <a:rPr lang="en-US" altLang="zh-CN" sz="1600" dirty="0"/>
              <a:t>512B)</a:t>
            </a:r>
            <a:r>
              <a:rPr lang="zh-CN" altLang="en-US" sz="1600" dirty="0"/>
              <a:t>的域，多次调用导致可观测的性能下降（</a:t>
            </a:r>
            <a:r>
              <a:rPr lang="en-US" altLang="zh-CN" sz="1600" dirty="0">
                <a:solidFill>
                  <a:srgbClr val="FF0000"/>
                </a:solidFill>
              </a:rPr>
              <a:t>8</a:t>
            </a:r>
            <a:r>
              <a:rPr lang="zh-CN" altLang="en-US" sz="1600" dirty="0">
                <a:solidFill>
                  <a:srgbClr val="FF0000"/>
                </a:solidFill>
              </a:rPr>
              <a:t>次调用时下降</a:t>
            </a:r>
            <a:r>
              <a:rPr lang="en-US" altLang="zh-CN" sz="1600" dirty="0">
                <a:solidFill>
                  <a:srgbClr val="FF0000"/>
                </a:solidFill>
              </a:rPr>
              <a:t>6%</a:t>
            </a:r>
            <a:r>
              <a:rPr lang="zh-CN" altLang="en-US" sz="1600" dirty="0"/>
              <a:t>）</a:t>
            </a:r>
            <a:endParaRPr lang="en-US" altLang="zh-CN" sz="1600" dirty="0"/>
          </a:p>
          <a:p>
            <a:pPr marL="285750" indent="-285750">
              <a:buFont typeface="Wingdings" panose="05000000000000000000" pitchFamily="2" charset="2"/>
              <a:buChar char="Ø"/>
            </a:pPr>
            <a:endParaRPr lang="en-US" altLang="zh-CN" sz="1600" dirty="0"/>
          </a:p>
          <a:p>
            <a:pPr marL="285750" indent="-285750">
              <a:buFont typeface="Wingdings" panose="05000000000000000000" pitchFamily="2" charset="2"/>
              <a:buChar char="Ø"/>
            </a:pPr>
            <a:r>
              <a:rPr lang="zh-CN" altLang="en-US" sz="1600" dirty="0"/>
              <a:t>较大的工作负载（如</a:t>
            </a:r>
            <a:r>
              <a:rPr lang="en-US" altLang="zh-CN" sz="1600" dirty="0"/>
              <a:t>4KB</a:t>
            </a:r>
            <a:r>
              <a:rPr lang="zh-CN" altLang="en-US" sz="1600" dirty="0"/>
              <a:t>），</a:t>
            </a:r>
            <a:r>
              <a:rPr lang="zh-CN" altLang="en-US" sz="1600" dirty="0">
                <a:solidFill>
                  <a:srgbClr val="FF0000"/>
                </a:solidFill>
              </a:rPr>
              <a:t>开销被有效摊销</a:t>
            </a:r>
            <a:r>
              <a:rPr lang="zh-CN" altLang="en-US" sz="1600" dirty="0"/>
              <a:t>，即使</a:t>
            </a:r>
            <a:r>
              <a:rPr lang="en-US" altLang="zh-CN" sz="1600" dirty="0"/>
              <a:t>8</a:t>
            </a:r>
            <a:r>
              <a:rPr lang="zh-CN" altLang="en-US" sz="1600" dirty="0"/>
              <a:t>次调用性能下降也</a:t>
            </a:r>
            <a:r>
              <a:rPr lang="zh-CN" altLang="en-US" sz="1600" dirty="0">
                <a:solidFill>
                  <a:srgbClr val="FF0000"/>
                </a:solidFill>
              </a:rPr>
              <a:t>仅为</a:t>
            </a:r>
            <a:r>
              <a:rPr lang="en-US" altLang="zh-CN" sz="1600" dirty="0">
                <a:solidFill>
                  <a:srgbClr val="FF0000"/>
                </a:solidFill>
              </a:rPr>
              <a:t>1.5%</a:t>
            </a:r>
          </a:p>
          <a:p>
            <a:pPr marL="285750" indent="-285750">
              <a:buFont typeface="Wingdings" panose="05000000000000000000" pitchFamily="2" charset="2"/>
              <a:buChar char="Ø"/>
            </a:pPr>
            <a:endParaRPr lang="en-US" altLang="zh-CN" sz="1600" dirty="0"/>
          </a:p>
          <a:p>
            <a:pPr marL="285750" indent="-285750">
              <a:buFont typeface="Wingdings" panose="05000000000000000000" pitchFamily="2" charset="2"/>
              <a:buChar char="Ø"/>
            </a:pPr>
            <a:r>
              <a:rPr lang="zh-CN" altLang="en-US" sz="1600" dirty="0">
                <a:solidFill>
                  <a:srgbClr val="FF0000"/>
                </a:solidFill>
              </a:rPr>
              <a:t>应避免将过于细粒度的功能拆分为独立的域，以确保隔离开销被充分摊销</a:t>
            </a:r>
            <a:endParaRPr lang="en-US" altLang="zh-CN" sz="1600" dirty="0">
              <a:solidFill>
                <a:srgbClr val="FF0000"/>
              </a:solidFill>
            </a:endParaRPr>
          </a:p>
        </p:txBody>
      </p:sp>
      <p:pic>
        <p:nvPicPr>
          <p:cNvPr id="3" name="图片 2" descr="图表, 条形图&#10;&#10;AI 生成的内容可能不正确。">
            <a:extLst>
              <a:ext uri="{FF2B5EF4-FFF2-40B4-BE49-F238E27FC236}">
                <a16:creationId xmlns:a16="http://schemas.microsoft.com/office/drawing/2014/main" id="{6C0DEB88-C03E-155D-73E3-A92584BA6662}"/>
              </a:ext>
            </a:extLst>
          </p:cNvPr>
          <p:cNvPicPr>
            <a:picLocks noChangeAspect="1"/>
          </p:cNvPicPr>
          <p:nvPr/>
        </p:nvPicPr>
        <p:blipFill>
          <a:blip r:embed="rId3"/>
          <a:stretch>
            <a:fillRect/>
          </a:stretch>
        </p:blipFill>
        <p:spPr>
          <a:xfrm>
            <a:off x="151153" y="1525070"/>
            <a:ext cx="5796403" cy="4229620"/>
          </a:xfrm>
          <a:prstGeom prst="rect">
            <a:avLst/>
          </a:prstGeom>
        </p:spPr>
      </p:pic>
    </p:spTree>
    <p:extLst>
      <p:ext uri="{BB962C8B-B14F-4D97-AF65-F5344CB8AC3E}">
        <p14:creationId xmlns:p14="http://schemas.microsoft.com/office/powerpoint/2010/main" val="129364954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up)">
                                      <p:cBhvr>
                                        <p:cTn id="13" dur="500"/>
                                        <p:tgtEl>
                                          <p:spTgt spid="2"/>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up)">
                                      <p:cBhvr>
                                        <p:cTn id="1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AC3C0-D0BF-DBC0-0529-85E8FBDF9DC1}"/>
            </a:ext>
          </a:extLst>
        </p:cNvPr>
        <p:cNvGrpSpPr/>
        <p:nvPr/>
      </p:nvGrpSpPr>
      <p:grpSpPr>
        <a:xfrm>
          <a:off x="0" y="0"/>
          <a:ext cx="0" cy="0"/>
          <a:chOff x="0" y="0"/>
          <a:chExt cx="0" cy="0"/>
        </a:xfrm>
      </p:grpSpPr>
      <p:sp>
        <p:nvSpPr>
          <p:cNvPr id="9" name="标题 8">
            <a:extLst>
              <a:ext uri="{FF2B5EF4-FFF2-40B4-BE49-F238E27FC236}">
                <a16:creationId xmlns:a16="http://schemas.microsoft.com/office/drawing/2014/main" id="{BAAA3466-36B1-8A58-B37B-521FEB8CD2C2}"/>
              </a:ext>
            </a:extLst>
          </p:cNvPr>
          <p:cNvSpPr>
            <a:spLocks noGrp="1"/>
          </p:cNvSpPr>
          <p:nvPr>
            <p:ph type="title"/>
          </p:nvPr>
        </p:nvSpPr>
        <p:spPr>
          <a:xfrm>
            <a:off x="1173494" y="249067"/>
            <a:ext cx="8048203" cy="480131"/>
          </a:xfrm>
        </p:spPr>
        <p:txBody>
          <a:bodyPr/>
          <a:lstStyle/>
          <a:p>
            <a:r>
              <a:rPr lang="zh-CN" altLang="en-US" spc="300" dirty="0">
                <a:latin typeface="+mj-ea"/>
              </a:rPr>
              <a:t>实验评估：</a:t>
            </a:r>
            <a:r>
              <a:rPr lang="zh-CN" altLang="en-US" dirty="0"/>
              <a:t>故障恢复机制的有效性与开销</a:t>
            </a:r>
            <a:endParaRPr lang="zh-CN" altLang="en-US" spc="300" dirty="0">
              <a:latin typeface="+mj-ea"/>
            </a:endParaRPr>
          </a:p>
        </p:txBody>
      </p:sp>
      <p:grpSp>
        <p:nvGrpSpPr>
          <p:cNvPr id="2" name="组合 1">
            <a:extLst>
              <a:ext uri="{FF2B5EF4-FFF2-40B4-BE49-F238E27FC236}">
                <a16:creationId xmlns:a16="http://schemas.microsoft.com/office/drawing/2014/main" id="{B898C7F3-2EA1-9106-5C0C-06806E165540}"/>
              </a:ext>
            </a:extLst>
          </p:cNvPr>
          <p:cNvGrpSpPr/>
          <p:nvPr/>
        </p:nvGrpSpPr>
        <p:grpSpPr>
          <a:xfrm>
            <a:off x="6295816" y="2219389"/>
            <a:ext cx="5291568" cy="2984546"/>
            <a:chOff x="6244445" y="2997499"/>
            <a:chExt cx="5291568" cy="2984546"/>
          </a:xfrm>
        </p:grpSpPr>
        <p:sp>
          <p:nvSpPr>
            <p:cNvPr id="13" name="矩形 12">
              <a:extLst>
                <a:ext uri="{FF2B5EF4-FFF2-40B4-BE49-F238E27FC236}">
                  <a16:creationId xmlns:a16="http://schemas.microsoft.com/office/drawing/2014/main" id="{EA961EDD-198E-2ADE-D79B-BFEEC9CEC32E}"/>
                </a:ext>
              </a:extLst>
            </p:cNvPr>
            <p:cNvSpPr/>
            <p:nvPr/>
          </p:nvSpPr>
          <p:spPr>
            <a:xfrm>
              <a:off x="6244445" y="3204603"/>
              <a:ext cx="5291568" cy="2777442"/>
            </a:xfrm>
            <a:prstGeom prst="rect">
              <a:avLst/>
            </a:prstGeom>
            <a:no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六边形 13">
              <a:extLst>
                <a:ext uri="{FF2B5EF4-FFF2-40B4-BE49-F238E27FC236}">
                  <a16:creationId xmlns:a16="http://schemas.microsoft.com/office/drawing/2014/main" id="{5C5005FF-B932-C21F-238A-C4E6DEBB993D}"/>
                </a:ext>
              </a:extLst>
            </p:cNvPr>
            <p:cNvSpPr/>
            <p:nvPr/>
          </p:nvSpPr>
          <p:spPr>
            <a:xfrm>
              <a:off x="7887106" y="2997499"/>
              <a:ext cx="2006246" cy="414208"/>
            </a:xfrm>
            <a:prstGeom prst="hexagon">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t>实验结果</a:t>
              </a:r>
            </a:p>
          </p:txBody>
        </p:sp>
      </p:grpSp>
      <p:sp>
        <p:nvSpPr>
          <p:cNvPr id="15" name="文本框 14">
            <a:extLst>
              <a:ext uri="{FF2B5EF4-FFF2-40B4-BE49-F238E27FC236}">
                <a16:creationId xmlns:a16="http://schemas.microsoft.com/office/drawing/2014/main" id="{215632DC-B416-D27D-AE95-41CFE396E7A2}"/>
              </a:ext>
            </a:extLst>
          </p:cNvPr>
          <p:cNvSpPr txBox="1"/>
          <p:nvPr/>
        </p:nvSpPr>
        <p:spPr>
          <a:xfrm>
            <a:off x="6340911" y="2449301"/>
            <a:ext cx="5201376" cy="2739211"/>
          </a:xfrm>
          <a:prstGeom prst="rect">
            <a:avLst/>
          </a:prstGeom>
          <a:noFill/>
        </p:spPr>
        <p:txBody>
          <a:bodyPr wrap="square" rtlCol="0">
            <a:spAutoFit/>
          </a:bodyPr>
          <a:lstStyle/>
          <a:p>
            <a:pPr marL="285750" indent="-285750">
              <a:buFont typeface="Wingdings" panose="05000000000000000000" pitchFamily="2" charset="2"/>
              <a:buChar char="Ø"/>
            </a:pPr>
            <a:endParaRPr lang="en-US" altLang="zh-CN" sz="1400" dirty="0"/>
          </a:p>
          <a:p>
            <a:pPr marL="285750" indent="-285750">
              <a:buFont typeface="Wingdings" panose="05000000000000000000" pitchFamily="2" charset="2"/>
              <a:buChar char="Ø"/>
            </a:pPr>
            <a:endParaRPr lang="en-US" altLang="zh-CN" sz="1400" dirty="0"/>
          </a:p>
          <a:p>
            <a:pPr marL="285750" indent="-285750">
              <a:buFont typeface="Wingdings" panose="05000000000000000000" pitchFamily="2" charset="2"/>
              <a:buChar char="Ø"/>
            </a:pPr>
            <a:r>
              <a:rPr lang="zh-CN" altLang="en-US" sz="1600" dirty="0">
                <a:solidFill>
                  <a:srgbClr val="FF0000"/>
                </a:solidFill>
              </a:rPr>
              <a:t>故障被捕获处理，服务未被中断</a:t>
            </a:r>
            <a:endParaRPr lang="en-US" altLang="zh-CN" sz="1600" dirty="0">
              <a:solidFill>
                <a:srgbClr val="FF0000"/>
              </a:solidFill>
            </a:endParaRPr>
          </a:p>
          <a:p>
            <a:pPr marL="285750" indent="-285750">
              <a:buFont typeface="Wingdings" panose="05000000000000000000" pitchFamily="2" charset="2"/>
              <a:buChar char="Ø"/>
            </a:pPr>
            <a:endParaRPr lang="en-US" altLang="zh-CN" sz="1600" dirty="0"/>
          </a:p>
          <a:p>
            <a:pPr marL="285750" indent="-285750">
              <a:buFont typeface="Wingdings" panose="05000000000000000000" pitchFamily="2" charset="2"/>
              <a:buChar char="Ø"/>
            </a:pPr>
            <a:r>
              <a:rPr lang="zh-CN" altLang="en-US" sz="1600" dirty="0"/>
              <a:t>当每</a:t>
            </a:r>
            <a:r>
              <a:rPr lang="en-US" altLang="zh-CN" sz="1600" dirty="0"/>
              <a:t>100</a:t>
            </a:r>
            <a:r>
              <a:rPr lang="zh-CN" altLang="en-US" sz="1600" dirty="0"/>
              <a:t>微秒注入一次故障时，吞吐量下降约</a:t>
            </a:r>
            <a:r>
              <a:rPr lang="en-US" altLang="zh-CN" sz="1600" dirty="0"/>
              <a:t>13%</a:t>
            </a:r>
            <a:r>
              <a:rPr lang="zh-CN" altLang="en-US" sz="1600" dirty="0"/>
              <a:t>。每次恢复过程会产生</a:t>
            </a:r>
            <a:r>
              <a:rPr lang="en-US" altLang="zh-CN" sz="1600" dirty="0"/>
              <a:t>20-25</a:t>
            </a:r>
            <a:r>
              <a:rPr lang="zh-CN" altLang="en-US" sz="1600" dirty="0"/>
              <a:t>微秒的延迟，而单个 </a:t>
            </a:r>
            <a:r>
              <a:rPr lang="en-US" altLang="zh-CN" sz="1600" dirty="0"/>
              <a:t>I/O </a:t>
            </a:r>
            <a:r>
              <a:rPr lang="zh-CN" altLang="en-US" sz="1600" dirty="0"/>
              <a:t>请求的时间平均为 </a:t>
            </a:r>
            <a:r>
              <a:rPr lang="en-US" altLang="zh-CN" sz="1600" dirty="0"/>
              <a:t>2us</a:t>
            </a:r>
          </a:p>
          <a:p>
            <a:pPr marL="285750" indent="-285750">
              <a:buFont typeface="Wingdings" panose="05000000000000000000" pitchFamily="2" charset="2"/>
              <a:buChar char="Ø"/>
            </a:pPr>
            <a:endParaRPr lang="en-US" altLang="zh-CN" sz="1600" dirty="0"/>
          </a:p>
          <a:p>
            <a:pPr marL="285750" indent="-285750">
              <a:buFont typeface="Wingdings" panose="05000000000000000000" pitchFamily="2" charset="2"/>
              <a:buChar char="Ø"/>
            </a:pPr>
            <a:r>
              <a:rPr lang="en-US" altLang="zh-CN" sz="1600" dirty="0">
                <a:solidFill>
                  <a:srgbClr val="FF0000"/>
                </a:solidFill>
              </a:rPr>
              <a:t>MOAT</a:t>
            </a:r>
            <a:r>
              <a:rPr lang="zh-CN" altLang="en-US" sz="1600" dirty="0">
                <a:solidFill>
                  <a:srgbClr val="FF0000"/>
                </a:solidFill>
              </a:rPr>
              <a:t>在牺牲延迟的前提下换取了服务的持续可用性。</a:t>
            </a:r>
            <a:endParaRPr lang="en-US" altLang="zh-CN" sz="1600" dirty="0">
              <a:solidFill>
                <a:srgbClr val="FF0000"/>
              </a:solidFill>
            </a:endParaRPr>
          </a:p>
          <a:p>
            <a:pPr marL="285750" indent="-285750">
              <a:buFont typeface="Wingdings" panose="05000000000000000000" pitchFamily="2" charset="2"/>
              <a:buChar char="Ø"/>
            </a:pPr>
            <a:endParaRPr lang="en-US" altLang="zh-CN" sz="1600" dirty="0">
              <a:solidFill>
                <a:srgbClr val="FF0000"/>
              </a:solidFill>
            </a:endParaRPr>
          </a:p>
          <a:p>
            <a:pPr marL="285750" indent="-285750">
              <a:buFont typeface="Wingdings" panose="05000000000000000000" pitchFamily="2" charset="2"/>
              <a:buChar char="Ø"/>
            </a:pPr>
            <a:r>
              <a:rPr lang="zh-CN" altLang="en-US" sz="1600" dirty="0"/>
              <a:t>空间开销</a:t>
            </a:r>
            <a:r>
              <a:rPr lang="en-US" altLang="zh-CN" sz="1600" dirty="0"/>
              <a:t>: 11.4%-15.6%</a:t>
            </a:r>
          </a:p>
        </p:txBody>
      </p:sp>
      <p:pic>
        <p:nvPicPr>
          <p:cNvPr id="4" name="图片 3" descr="表格&#10;&#10;AI 生成的内容可能不正确。">
            <a:extLst>
              <a:ext uri="{FF2B5EF4-FFF2-40B4-BE49-F238E27FC236}">
                <a16:creationId xmlns:a16="http://schemas.microsoft.com/office/drawing/2014/main" id="{3A5E3485-2EA8-9FB7-202D-BE2B6A3B292F}"/>
              </a:ext>
            </a:extLst>
          </p:cNvPr>
          <p:cNvPicPr>
            <a:picLocks noChangeAspect="1"/>
          </p:cNvPicPr>
          <p:nvPr/>
        </p:nvPicPr>
        <p:blipFill>
          <a:blip r:embed="rId3"/>
          <a:stretch>
            <a:fillRect/>
          </a:stretch>
        </p:blipFill>
        <p:spPr>
          <a:xfrm>
            <a:off x="367995" y="3680408"/>
            <a:ext cx="5682907" cy="2443386"/>
          </a:xfrm>
          <a:prstGeom prst="rect">
            <a:avLst/>
          </a:prstGeom>
        </p:spPr>
      </p:pic>
      <p:pic>
        <p:nvPicPr>
          <p:cNvPr id="6" name="图片 5" descr="图形用户界面, 文本, 应用程序&#10;&#10;AI 生成的内容可能不正确。">
            <a:extLst>
              <a:ext uri="{FF2B5EF4-FFF2-40B4-BE49-F238E27FC236}">
                <a16:creationId xmlns:a16="http://schemas.microsoft.com/office/drawing/2014/main" id="{D8975832-9E93-D814-C47E-CEC989C3B753}"/>
              </a:ext>
            </a:extLst>
          </p:cNvPr>
          <p:cNvPicPr>
            <a:picLocks noChangeAspect="1"/>
          </p:cNvPicPr>
          <p:nvPr/>
        </p:nvPicPr>
        <p:blipFill>
          <a:blip r:embed="rId4"/>
          <a:stretch>
            <a:fillRect/>
          </a:stretch>
        </p:blipFill>
        <p:spPr>
          <a:xfrm>
            <a:off x="367996" y="897747"/>
            <a:ext cx="5682907" cy="2616978"/>
          </a:xfrm>
          <a:prstGeom prst="rect">
            <a:avLst/>
          </a:prstGeom>
        </p:spPr>
      </p:pic>
    </p:spTree>
    <p:extLst>
      <p:ext uri="{BB962C8B-B14F-4D97-AF65-F5344CB8AC3E}">
        <p14:creationId xmlns:p14="http://schemas.microsoft.com/office/powerpoint/2010/main" val="68685390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0-#ppt_w/2"/>
                                          </p:val>
                                        </p:tav>
                                        <p:tav tm="100000">
                                          <p:val>
                                            <p:strVal val="#ppt_x"/>
                                          </p:val>
                                        </p:tav>
                                      </p:tavLst>
                                    </p:anim>
                                    <p:anim calcmode="lin" valueType="num">
                                      <p:cBhvr additive="base">
                                        <p:cTn id="12"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up)">
                                      <p:cBhvr>
                                        <p:cTn id="17" dur="500"/>
                                        <p:tgtEl>
                                          <p:spTgt spid="2"/>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wipe(up)">
                                      <p:cBhvr>
                                        <p:cTn id="2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C9275-49FF-8B85-D482-056004E6D196}"/>
            </a:ext>
          </a:extLst>
        </p:cNvPr>
        <p:cNvGrpSpPr/>
        <p:nvPr/>
      </p:nvGrpSpPr>
      <p:grpSpPr>
        <a:xfrm>
          <a:off x="0" y="0"/>
          <a:ext cx="0" cy="0"/>
          <a:chOff x="0" y="0"/>
          <a:chExt cx="0" cy="0"/>
        </a:xfrm>
      </p:grpSpPr>
      <p:sp>
        <p:nvSpPr>
          <p:cNvPr id="9" name="标题 8">
            <a:extLst>
              <a:ext uri="{FF2B5EF4-FFF2-40B4-BE49-F238E27FC236}">
                <a16:creationId xmlns:a16="http://schemas.microsoft.com/office/drawing/2014/main" id="{EC182DB6-1729-6A39-0015-8B49FD7ABC6C}"/>
              </a:ext>
            </a:extLst>
          </p:cNvPr>
          <p:cNvSpPr>
            <a:spLocks noGrp="1"/>
          </p:cNvSpPr>
          <p:nvPr>
            <p:ph type="title"/>
          </p:nvPr>
        </p:nvSpPr>
        <p:spPr>
          <a:xfrm>
            <a:off x="1173494" y="249067"/>
            <a:ext cx="8048203" cy="480131"/>
          </a:xfrm>
        </p:spPr>
        <p:txBody>
          <a:bodyPr/>
          <a:lstStyle/>
          <a:p>
            <a:r>
              <a:rPr lang="zh-CN" altLang="en-US" spc="300" dirty="0">
                <a:latin typeface="+mj-ea"/>
              </a:rPr>
              <a:t>实验评估：</a:t>
            </a:r>
            <a:r>
              <a:rPr lang="zh-CN" altLang="en-US" dirty="0"/>
              <a:t>热更新延迟分析</a:t>
            </a:r>
            <a:endParaRPr lang="zh-CN" altLang="en-US" spc="300" dirty="0">
              <a:latin typeface="+mj-ea"/>
            </a:endParaRPr>
          </a:p>
        </p:txBody>
      </p:sp>
      <p:grpSp>
        <p:nvGrpSpPr>
          <p:cNvPr id="5" name="组合 4">
            <a:extLst>
              <a:ext uri="{FF2B5EF4-FFF2-40B4-BE49-F238E27FC236}">
                <a16:creationId xmlns:a16="http://schemas.microsoft.com/office/drawing/2014/main" id="{8A078D88-4F91-1DB9-D3DE-F9B5BAAB9D42}"/>
              </a:ext>
            </a:extLst>
          </p:cNvPr>
          <p:cNvGrpSpPr/>
          <p:nvPr/>
        </p:nvGrpSpPr>
        <p:grpSpPr>
          <a:xfrm>
            <a:off x="6096000" y="2876763"/>
            <a:ext cx="5291568" cy="2984546"/>
            <a:chOff x="6096000" y="2062779"/>
            <a:chExt cx="5291568" cy="2984546"/>
          </a:xfrm>
        </p:grpSpPr>
        <p:sp>
          <p:nvSpPr>
            <p:cNvPr id="13" name="矩形 12">
              <a:extLst>
                <a:ext uri="{FF2B5EF4-FFF2-40B4-BE49-F238E27FC236}">
                  <a16:creationId xmlns:a16="http://schemas.microsoft.com/office/drawing/2014/main" id="{F18905F1-FB5E-E963-B53A-31F9FE48A478}"/>
                </a:ext>
              </a:extLst>
            </p:cNvPr>
            <p:cNvSpPr/>
            <p:nvPr/>
          </p:nvSpPr>
          <p:spPr>
            <a:xfrm>
              <a:off x="6096000" y="2269883"/>
              <a:ext cx="5291568" cy="2777442"/>
            </a:xfrm>
            <a:prstGeom prst="rect">
              <a:avLst/>
            </a:prstGeom>
            <a:no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六边形 13">
              <a:extLst>
                <a:ext uri="{FF2B5EF4-FFF2-40B4-BE49-F238E27FC236}">
                  <a16:creationId xmlns:a16="http://schemas.microsoft.com/office/drawing/2014/main" id="{C25BAFAE-1705-0827-D9CD-0B8CEAB9807A}"/>
                </a:ext>
              </a:extLst>
            </p:cNvPr>
            <p:cNvSpPr/>
            <p:nvPr/>
          </p:nvSpPr>
          <p:spPr>
            <a:xfrm>
              <a:off x="7738661" y="2062779"/>
              <a:ext cx="2006246" cy="414208"/>
            </a:xfrm>
            <a:prstGeom prst="hexagon">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t>实验结果</a:t>
              </a:r>
            </a:p>
          </p:txBody>
        </p:sp>
      </p:grpSp>
      <p:sp>
        <p:nvSpPr>
          <p:cNvPr id="15" name="文本框 14">
            <a:extLst>
              <a:ext uri="{FF2B5EF4-FFF2-40B4-BE49-F238E27FC236}">
                <a16:creationId xmlns:a16="http://schemas.microsoft.com/office/drawing/2014/main" id="{F816E80D-FF8F-1892-4174-073BB9BE7DFF}"/>
              </a:ext>
            </a:extLst>
          </p:cNvPr>
          <p:cNvSpPr txBox="1"/>
          <p:nvPr/>
        </p:nvSpPr>
        <p:spPr>
          <a:xfrm>
            <a:off x="6141095" y="3456925"/>
            <a:ext cx="5201376" cy="2277547"/>
          </a:xfrm>
          <a:prstGeom prst="rect">
            <a:avLst/>
          </a:prstGeom>
          <a:noFill/>
        </p:spPr>
        <p:txBody>
          <a:bodyPr wrap="square" rtlCol="0">
            <a:spAutoFit/>
          </a:bodyPr>
          <a:lstStyle/>
          <a:p>
            <a:endParaRPr lang="en-US" altLang="zh-CN" sz="1400" dirty="0"/>
          </a:p>
          <a:p>
            <a:pPr marL="285750" indent="-285750">
              <a:buFont typeface="Wingdings" panose="05000000000000000000" pitchFamily="2" charset="2"/>
              <a:buChar char="Ø"/>
            </a:pPr>
            <a:r>
              <a:rPr lang="en-US" altLang="zh-CN" sz="1600" dirty="0"/>
              <a:t>Moat</a:t>
            </a:r>
            <a:r>
              <a:rPr lang="zh-CN" altLang="en-US" sz="1600" dirty="0"/>
              <a:t>可以实现对模块级别进行更新</a:t>
            </a:r>
            <a:endParaRPr lang="en-US" altLang="zh-CN" sz="1600" dirty="0"/>
          </a:p>
          <a:p>
            <a:pPr marL="285750" indent="-285750">
              <a:buFont typeface="Wingdings" panose="05000000000000000000" pitchFamily="2" charset="2"/>
              <a:buChar char="Ø"/>
            </a:pPr>
            <a:endParaRPr lang="en-US" altLang="zh-CN" sz="1600" dirty="0"/>
          </a:p>
          <a:p>
            <a:pPr marL="285750" indent="-285750">
              <a:buFont typeface="Wingdings" panose="05000000000000000000" pitchFamily="2" charset="2"/>
              <a:buChar char="Ø"/>
            </a:pPr>
            <a:r>
              <a:rPr lang="zh-CN" altLang="en-US" sz="1600" dirty="0"/>
              <a:t>服务中断时间很短：对于有状态域，服务中断时间在</a:t>
            </a:r>
            <a:r>
              <a:rPr lang="en-US" altLang="zh-CN" sz="1600" dirty="0">
                <a:solidFill>
                  <a:srgbClr val="FF0000"/>
                </a:solidFill>
              </a:rPr>
              <a:t>146</a:t>
            </a:r>
            <a:r>
              <a:rPr lang="zh-CN" altLang="en-US" sz="1600" dirty="0">
                <a:solidFill>
                  <a:srgbClr val="FF0000"/>
                </a:solidFill>
              </a:rPr>
              <a:t>微秒左右</a:t>
            </a:r>
            <a:endParaRPr lang="en-US" altLang="zh-CN" sz="1600" dirty="0">
              <a:solidFill>
                <a:srgbClr val="FF0000"/>
              </a:solidFill>
            </a:endParaRPr>
          </a:p>
          <a:p>
            <a:pPr marL="285750" indent="-285750">
              <a:buFont typeface="Wingdings" panose="05000000000000000000" pitchFamily="2" charset="2"/>
              <a:buChar char="Ø"/>
            </a:pPr>
            <a:endParaRPr lang="en-US" altLang="zh-CN" sz="1600" dirty="0"/>
          </a:p>
          <a:p>
            <a:pPr marL="285750" indent="-285750">
              <a:buFont typeface="Wingdings" panose="05000000000000000000" pitchFamily="2" charset="2"/>
              <a:buChar char="Ø"/>
            </a:pPr>
            <a:r>
              <a:rPr lang="zh-CN" altLang="en-US" sz="1600" dirty="0"/>
              <a:t>传统</a:t>
            </a:r>
            <a:r>
              <a:rPr lang="en-US" altLang="zh-CN" sz="1600" dirty="0"/>
              <a:t>Linux</a:t>
            </a:r>
            <a:r>
              <a:rPr lang="zh-CN" altLang="en-US" sz="1600" dirty="0"/>
              <a:t>更新工具</a:t>
            </a:r>
            <a:r>
              <a:rPr lang="en-US" altLang="zh-CN" sz="1600" dirty="0" err="1"/>
              <a:t>kpatch</a:t>
            </a:r>
            <a:r>
              <a:rPr lang="zh-CN" altLang="en-US" sz="1600" dirty="0"/>
              <a:t>需要暂停所有</a:t>
            </a:r>
            <a:r>
              <a:rPr lang="en-US" altLang="zh-CN" sz="1600" dirty="0"/>
              <a:t>CPU</a:t>
            </a:r>
            <a:r>
              <a:rPr lang="zh-CN" altLang="en-US" sz="1600" dirty="0"/>
              <a:t>（导致</a:t>
            </a:r>
            <a:r>
              <a:rPr lang="en-US" altLang="zh-CN" sz="1600" dirty="0"/>
              <a:t>2.8ms-3ms</a:t>
            </a:r>
            <a:r>
              <a:rPr lang="zh-CN" altLang="en-US" sz="1600" dirty="0"/>
              <a:t>服务中断）相比，</a:t>
            </a:r>
            <a:r>
              <a:rPr lang="en-US" altLang="zh-CN" sz="1600" dirty="0"/>
              <a:t>MOAT</a:t>
            </a:r>
            <a:r>
              <a:rPr lang="zh-CN" altLang="en-US" sz="1600" dirty="0"/>
              <a:t>将中断时间缩短了约</a:t>
            </a:r>
            <a:r>
              <a:rPr lang="en-US" altLang="zh-CN" sz="1600" dirty="0"/>
              <a:t>20</a:t>
            </a:r>
            <a:r>
              <a:rPr lang="zh-CN" altLang="en-US" sz="1600" dirty="0"/>
              <a:t>倍</a:t>
            </a:r>
            <a:endParaRPr lang="en-US" altLang="zh-CN" sz="1600" dirty="0"/>
          </a:p>
        </p:txBody>
      </p:sp>
      <p:pic>
        <p:nvPicPr>
          <p:cNvPr id="3" name="图片 2" descr="表格&#10;&#10;AI 生成的内容可能不正确。">
            <a:extLst>
              <a:ext uri="{FF2B5EF4-FFF2-40B4-BE49-F238E27FC236}">
                <a16:creationId xmlns:a16="http://schemas.microsoft.com/office/drawing/2014/main" id="{F0070DA0-EFAA-8640-44A6-122BBAEAE047}"/>
              </a:ext>
            </a:extLst>
          </p:cNvPr>
          <p:cNvPicPr>
            <a:picLocks noChangeAspect="1"/>
          </p:cNvPicPr>
          <p:nvPr/>
        </p:nvPicPr>
        <p:blipFill>
          <a:blip r:embed="rId3"/>
          <a:stretch>
            <a:fillRect/>
          </a:stretch>
        </p:blipFill>
        <p:spPr>
          <a:xfrm>
            <a:off x="608312" y="1685581"/>
            <a:ext cx="4642823" cy="3933357"/>
          </a:xfrm>
          <a:prstGeom prst="rect">
            <a:avLst/>
          </a:prstGeom>
        </p:spPr>
      </p:pic>
      <p:pic>
        <p:nvPicPr>
          <p:cNvPr id="4" name="图片 3" descr="图表, 文本&#10;&#10;AI 生成的内容可能不正确。">
            <a:extLst>
              <a:ext uri="{FF2B5EF4-FFF2-40B4-BE49-F238E27FC236}">
                <a16:creationId xmlns:a16="http://schemas.microsoft.com/office/drawing/2014/main" id="{57C36DF5-D36F-DA44-4AE8-E2268B2837AB}"/>
              </a:ext>
            </a:extLst>
          </p:cNvPr>
          <p:cNvPicPr>
            <a:picLocks noChangeAspect="1"/>
          </p:cNvPicPr>
          <p:nvPr/>
        </p:nvPicPr>
        <p:blipFill>
          <a:blip r:embed="rId4"/>
          <a:stretch>
            <a:fillRect/>
          </a:stretch>
        </p:blipFill>
        <p:spPr>
          <a:xfrm>
            <a:off x="5984544" y="1076866"/>
            <a:ext cx="5268060" cy="1600423"/>
          </a:xfrm>
          <a:prstGeom prst="rect">
            <a:avLst/>
          </a:prstGeom>
        </p:spPr>
      </p:pic>
    </p:spTree>
    <p:extLst>
      <p:ext uri="{BB962C8B-B14F-4D97-AF65-F5344CB8AC3E}">
        <p14:creationId xmlns:p14="http://schemas.microsoft.com/office/powerpoint/2010/main" val="314154130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0-#ppt_w/2"/>
                                          </p:val>
                                        </p:tav>
                                        <p:tav tm="100000">
                                          <p:val>
                                            <p:strVal val="#ppt_x"/>
                                          </p:val>
                                        </p:tav>
                                      </p:tavLst>
                                    </p:anim>
                                    <p:anim calcmode="lin" valueType="num">
                                      <p:cBhvr additive="base">
                                        <p:cTn id="13"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up)">
                                      <p:cBhvr>
                                        <p:cTn id="18" dur="500"/>
                                        <p:tgtEl>
                                          <p:spTgt spid="5"/>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up)">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672ED-5FD0-25BE-A8C4-DE41DEEC6369}"/>
            </a:ext>
          </a:extLst>
        </p:cNvPr>
        <p:cNvGrpSpPr/>
        <p:nvPr/>
      </p:nvGrpSpPr>
      <p:grpSpPr>
        <a:xfrm>
          <a:off x="0" y="0"/>
          <a:ext cx="0" cy="0"/>
          <a:chOff x="0" y="0"/>
          <a:chExt cx="0" cy="0"/>
        </a:xfrm>
      </p:grpSpPr>
      <p:sp>
        <p:nvSpPr>
          <p:cNvPr id="9" name="标题 8">
            <a:extLst>
              <a:ext uri="{FF2B5EF4-FFF2-40B4-BE49-F238E27FC236}">
                <a16:creationId xmlns:a16="http://schemas.microsoft.com/office/drawing/2014/main" id="{B2A4DAC7-0A48-714B-4115-63B9338E130A}"/>
              </a:ext>
            </a:extLst>
          </p:cNvPr>
          <p:cNvSpPr>
            <a:spLocks noGrp="1"/>
          </p:cNvSpPr>
          <p:nvPr>
            <p:ph type="title"/>
          </p:nvPr>
        </p:nvSpPr>
        <p:spPr>
          <a:xfrm>
            <a:off x="1173494" y="249067"/>
            <a:ext cx="8048203" cy="480131"/>
          </a:xfrm>
        </p:spPr>
        <p:txBody>
          <a:bodyPr/>
          <a:lstStyle/>
          <a:p>
            <a:r>
              <a:rPr lang="zh-CN" altLang="en-US" spc="300" dirty="0">
                <a:latin typeface="+mj-ea"/>
              </a:rPr>
              <a:t>实验评估：</a:t>
            </a:r>
            <a:r>
              <a:rPr lang="zh-CN" altLang="en-US" dirty="0"/>
              <a:t>热更新可扩展性</a:t>
            </a:r>
            <a:endParaRPr lang="zh-CN" altLang="en-US" spc="300" dirty="0">
              <a:latin typeface="+mj-ea"/>
            </a:endParaRPr>
          </a:p>
        </p:txBody>
      </p:sp>
      <p:grpSp>
        <p:nvGrpSpPr>
          <p:cNvPr id="2" name="组合 1">
            <a:extLst>
              <a:ext uri="{FF2B5EF4-FFF2-40B4-BE49-F238E27FC236}">
                <a16:creationId xmlns:a16="http://schemas.microsoft.com/office/drawing/2014/main" id="{85579331-73BE-8178-01B2-81EEF54B3063}"/>
              </a:ext>
            </a:extLst>
          </p:cNvPr>
          <p:cNvGrpSpPr/>
          <p:nvPr/>
        </p:nvGrpSpPr>
        <p:grpSpPr>
          <a:xfrm>
            <a:off x="3205162" y="4269963"/>
            <a:ext cx="5781675" cy="1815882"/>
            <a:chOff x="3205162" y="4269963"/>
            <a:chExt cx="5781675" cy="1815882"/>
          </a:xfrm>
        </p:grpSpPr>
        <p:sp>
          <p:nvSpPr>
            <p:cNvPr id="13" name="矩形 12">
              <a:extLst>
                <a:ext uri="{FF2B5EF4-FFF2-40B4-BE49-F238E27FC236}">
                  <a16:creationId xmlns:a16="http://schemas.microsoft.com/office/drawing/2014/main" id="{8181383D-F43E-2B0B-1241-EB47D61BCA85}"/>
                </a:ext>
              </a:extLst>
            </p:cNvPr>
            <p:cNvSpPr/>
            <p:nvPr/>
          </p:nvSpPr>
          <p:spPr>
            <a:xfrm>
              <a:off x="3205162" y="4476409"/>
              <a:ext cx="5781675" cy="1609436"/>
            </a:xfrm>
            <a:prstGeom prst="rect">
              <a:avLst/>
            </a:prstGeom>
            <a:no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六边形 13">
              <a:extLst>
                <a:ext uri="{FF2B5EF4-FFF2-40B4-BE49-F238E27FC236}">
                  <a16:creationId xmlns:a16="http://schemas.microsoft.com/office/drawing/2014/main" id="{D2457F30-10F5-AC62-4626-556C0594D9F3}"/>
                </a:ext>
              </a:extLst>
            </p:cNvPr>
            <p:cNvSpPr/>
            <p:nvPr/>
          </p:nvSpPr>
          <p:spPr>
            <a:xfrm>
              <a:off x="4876399" y="4269963"/>
              <a:ext cx="2157814" cy="414208"/>
            </a:xfrm>
            <a:prstGeom prst="hexagon">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t>实验结果</a:t>
              </a:r>
            </a:p>
          </p:txBody>
        </p:sp>
      </p:grpSp>
      <p:sp>
        <p:nvSpPr>
          <p:cNvPr id="15" name="文本框 14">
            <a:extLst>
              <a:ext uri="{FF2B5EF4-FFF2-40B4-BE49-F238E27FC236}">
                <a16:creationId xmlns:a16="http://schemas.microsoft.com/office/drawing/2014/main" id="{A57847CB-270F-D23F-BC76-DA133DB70770}"/>
              </a:ext>
            </a:extLst>
          </p:cNvPr>
          <p:cNvSpPr txBox="1"/>
          <p:nvPr/>
        </p:nvSpPr>
        <p:spPr>
          <a:xfrm>
            <a:off x="3205162" y="4588629"/>
            <a:ext cx="5683129" cy="1538883"/>
          </a:xfrm>
          <a:prstGeom prst="rect">
            <a:avLst/>
          </a:prstGeom>
          <a:noFill/>
        </p:spPr>
        <p:txBody>
          <a:bodyPr wrap="square" rtlCol="0">
            <a:spAutoFit/>
          </a:bodyPr>
          <a:lstStyle/>
          <a:p>
            <a:endParaRPr lang="en-US" altLang="zh-CN" sz="1400" dirty="0"/>
          </a:p>
          <a:p>
            <a:pPr marL="285750" indent="-285750">
              <a:buFont typeface="Wingdings" panose="05000000000000000000" pitchFamily="2" charset="2"/>
              <a:buChar char="Ø"/>
            </a:pPr>
            <a:r>
              <a:rPr lang="zh-CN" altLang="en-US" sz="1600" dirty="0">
                <a:solidFill>
                  <a:srgbClr val="FF0000"/>
                </a:solidFill>
              </a:rPr>
              <a:t>随着</a:t>
            </a:r>
            <a:r>
              <a:rPr lang="en-US" altLang="zh-CN" sz="1600" dirty="0">
                <a:solidFill>
                  <a:srgbClr val="FF0000"/>
                </a:solidFill>
              </a:rPr>
              <a:t>CPU</a:t>
            </a:r>
            <a:r>
              <a:rPr lang="zh-CN" altLang="en-US" sz="1600" dirty="0">
                <a:solidFill>
                  <a:srgbClr val="FF0000"/>
                </a:solidFill>
              </a:rPr>
              <a:t>核心数增加，任务同步时间会增长</a:t>
            </a:r>
            <a:r>
              <a:rPr lang="zh-CN" altLang="en-US" sz="1600" dirty="0"/>
              <a:t>（</a:t>
            </a:r>
            <a:r>
              <a:rPr lang="en-US" altLang="zh-CN" sz="1600" dirty="0"/>
              <a:t>1</a:t>
            </a:r>
            <a:r>
              <a:rPr lang="zh-CN" altLang="en-US" sz="1600" dirty="0"/>
              <a:t>微秒</a:t>
            </a:r>
            <a:r>
              <a:rPr lang="en-US" altLang="zh-CN" sz="1600" dirty="0"/>
              <a:t>-143</a:t>
            </a:r>
            <a:r>
              <a:rPr lang="zh-CN" altLang="en-US" sz="1600" dirty="0"/>
              <a:t>微秒）</a:t>
            </a:r>
            <a:endParaRPr lang="en-US" altLang="zh-CN" sz="1600" dirty="0"/>
          </a:p>
          <a:p>
            <a:pPr marL="285750" indent="-285750">
              <a:buFont typeface="Wingdings" panose="05000000000000000000" pitchFamily="2" charset="2"/>
              <a:buChar char="Ø"/>
            </a:pPr>
            <a:r>
              <a:rPr lang="zh-CN" altLang="en-US" sz="1600" dirty="0"/>
              <a:t>反直觉现象：</a:t>
            </a:r>
            <a:r>
              <a:rPr lang="zh-CN" altLang="en-US" sz="1600" dirty="0">
                <a:solidFill>
                  <a:srgbClr val="FF0000"/>
                </a:solidFill>
              </a:rPr>
              <a:t>活跃任务数增加反而可能减少同步时间</a:t>
            </a:r>
            <a:endParaRPr lang="en-US" altLang="zh-CN" sz="1600" dirty="0">
              <a:solidFill>
                <a:srgbClr val="FF0000"/>
              </a:solidFill>
            </a:endParaRPr>
          </a:p>
          <a:p>
            <a:pPr marL="285750" indent="-285750">
              <a:buFont typeface="Wingdings" panose="05000000000000000000" pitchFamily="2" charset="2"/>
              <a:buChar char="Ø"/>
            </a:pPr>
            <a:r>
              <a:rPr lang="zh-CN" altLang="en-US" sz="1600" dirty="0"/>
              <a:t>在不同规模的系统负载下能保持</a:t>
            </a:r>
            <a:r>
              <a:rPr lang="zh-CN" altLang="en-US" sz="1600" dirty="0">
                <a:solidFill>
                  <a:srgbClr val="FF0000"/>
                </a:solidFill>
              </a:rPr>
              <a:t>可预测的、较低的服务中断时间</a:t>
            </a:r>
            <a:endParaRPr lang="en-US" altLang="zh-CN" sz="1600" dirty="0">
              <a:solidFill>
                <a:srgbClr val="FF0000"/>
              </a:solidFill>
            </a:endParaRPr>
          </a:p>
        </p:txBody>
      </p:sp>
      <p:pic>
        <p:nvPicPr>
          <p:cNvPr id="4" name="图片 3" descr="图表, 折线图&#10;&#10;AI 生成的内容可能不正确。">
            <a:extLst>
              <a:ext uri="{FF2B5EF4-FFF2-40B4-BE49-F238E27FC236}">
                <a16:creationId xmlns:a16="http://schemas.microsoft.com/office/drawing/2014/main" id="{5ACC8D32-0C15-4896-7DC7-45BC6A1BE71B}"/>
              </a:ext>
            </a:extLst>
          </p:cNvPr>
          <p:cNvPicPr>
            <a:picLocks noChangeAspect="1"/>
          </p:cNvPicPr>
          <p:nvPr/>
        </p:nvPicPr>
        <p:blipFill>
          <a:blip r:embed="rId3"/>
          <a:stretch>
            <a:fillRect/>
          </a:stretch>
        </p:blipFill>
        <p:spPr>
          <a:xfrm>
            <a:off x="2297338" y="1012843"/>
            <a:ext cx="6924359" cy="3018311"/>
          </a:xfrm>
          <a:prstGeom prst="rect">
            <a:avLst/>
          </a:prstGeom>
        </p:spPr>
      </p:pic>
    </p:spTree>
    <p:extLst>
      <p:ext uri="{BB962C8B-B14F-4D97-AF65-F5344CB8AC3E}">
        <p14:creationId xmlns:p14="http://schemas.microsoft.com/office/powerpoint/2010/main" val="1080754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up)">
                                      <p:cBhvr>
                                        <p:cTn id="13" dur="500"/>
                                        <p:tgtEl>
                                          <p:spTgt spid="2"/>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up)">
                                      <p:cBhvr>
                                        <p:cTn id="1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3C0F4-6101-A6D1-2539-4EE285B0ABD8}"/>
            </a:ext>
          </a:extLst>
        </p:cNvPr>
        <p:cNvGrpSpPr/>
        <p:nvPr/>
      </p:nvGrpSpPr>
      <p:grpSpPr>
        <a:xfrm>
          <a:off x="0" y="0"/>
          <a:ext cx="0" cy="0"/>
          <a:chOff x="0" y="0"/>
          <a:chExt cx="0" cy="0"/>
        </a:xfrm>
      </p:grpSpPr>
      <p:sp>
        <p:nvSpPr>
          <p:cNvPr id="9" name="标题 8">
            <a:extLst>
              <a:ext uri="{FF2B5EF4-FFF2-40B4-BE49-F238E27FC236}">
                <a16:creationId xmlns:a16="http://schemas.microsoft.com/office/drawing/2014/main" id="{FC3CF41C-0421-8897-AB99-963E2F6A07AE}"/>
              </a:ext>
            </a:extLst>
          </p:cNvPr>
          <p:cNvSpPr>
            <a:spLocks noGrp="1"/>
          </p:cNvSpPr>
          <p:nvPr>
            <p:ph type="title"/>
          </p:nvPr>
        </p:nvSpPr>
        <p:spPr>
          <a:xfrm>
            <a:off x="1173494" y="249067"/>
            <a:ext cx="8048203" cy="480131"/>
          </a:xfrm>
        </p:spPr>
        <p:txBody>
          <a:bodyPr/>
          <a:lstStyle/>
          <a:p>
            <a:r>
              <a:rPr lang="zh-CN" altLang="en-US" spc="300" dirty="0">
                <a:latin typeface="+mj-ea"/>
              </a:rPr>
              <a:t>总结和展望</a:t>
            </a:r>
          </a:p>
        </p:txBody>
      </p:sp>
      <p:grpSp>
        <p:nvGrpSpPr>
          <p:cNvPr id="4" name="组合 3">
            <a:extLst>
              <a:ext uri="{FF2B5EF4-FFF2-40B4-BE49-F238E27FC236}">
                <a16:creationId xmlns:a16="http://schemas.microsoft.com/office/drawing/2014/main" id="{93BB919F-50C5-F076-608E-46F33499E4E9}"/>
              </a:ext>
            </a:extLst>
          </p:cNvPr>
          <p:cNvGrpSpPr/>
          <p:nvPr/>
        </p:nvGrpSpPr>
        <p:grpSpPr>
          <a:xfrm>
            <a:off x="599494" y="1078705"/>
            <a:ext cx="10868605" cy="1978820"/>
            <a:chOff x="599494" y="1078705"/>
            <a:chExt cx="10868605" cy="1978820"/>
          </a:xfrm>
        </p:grpSpPr>
        <p:sp>
          <p:nvSpPr>
            <p:cNvPr id="2" name="矩形 1">
              <a:extLst>
                <a:ext uri="{FF2B5EF4-FFF2-40B4-BE49-F238E27FC236}">
                  <a16:creationId xmlns:a16="http://schemas.microsoft.com/office/drawing/2014/main" id="{31479D2D-E15C-27F0-8319-BB1D88E1AFF4}"/>
                </a:ext>
              </a:extLst>
            </p:cNvPr>
            <p:cNvSpPr/>
            <p:nvPr/>
          </p:nvSpPr>
          <p:spPr>
            <a:xfrm>
              <a:off x="599494" y="1305734"/>
              <a:ext cx="10868605" cy="1751791"/>
            </a:xfrm>
            <a:prstGeom prst="rect">
              <a:avLst/>
            </a:prstGeom>
            <a:no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2">
              <a:extLst>
                <a:ext uri="{FF2B5EF4-FFF2-40B4-BE49-F238E27FC236}">
                  <a16:creationId xmlns:a16="http://schemas.microsoft.com/office/drawing/2014/main" id="{E8D78F9C-35CB-4A25-D020-6AE9DE141739}"/>
                </a:ext>
              </a:extLst>
            </p:cNvPr>
            <p:cNvSpPr/>
            <p:nvPr/>
          </p:nvSpPr>
          <p:spPr>
            <a:xfrm>
              <a:off x="599495" y="1078705"/>
              <a:ext cx="1478604" cy="535022"/>
            </a:xfrm>
            <a:prstGeom prst="roundRect">
              <a:avLst/>
            </a:prstGeom>
            <a:solidFill>
              <a:schemeClr val="tx2"/>
            </a:solid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总结</a:t>
              </a:r>
            </a:p>
          </p:txBody>
        </p:sp>
      </p:grpSp>
      <p:sp>
        <p:nvSpPr>
          <p:cNvPr id="16" name="文本框 15">
            <a:extLst>
              <a:ext uri="{FF2B5EF4-FFF2-40B4-BE49-F238E27FC236}">
                <a16:creationId xmlns:a16="http://schemas.microsoft.com/office/drawing/2014/main" id="{D678FDF1-2709-E9AD-E2CA-A1741E38F9C2}"/>
              </a:ext>
            </a:extLst>
          </p:cNvPr>
          <p:cNvSpPr txBox="1"/>
          <p:nvPr/>
        </p:nvSpPr>
        <p:spPr>
          <a:xfrm>
            <a:off x="723901" y="1735461"/>
            <a:ext cx="10496550" cy="1077218"/>
          </a:xfrm>
          <a:prstGeom prst="rect">
            <a:avLst/>
          </a:prstGeom>
          <a:noFill/>
        </p:spPr>
        <p:txBody>
          <a:bodyPr wrap="square">
            <a:spAutoFit/>
          </a:bodyPr>
          <a:lstStyle/>
          <a:p>
            <a:r>
              <a:rPr lang="zh-CN" altLang="en-US" sz="1600" dirty="0"/>
              <a:t>在 Rust 语言提供的安全保证基础上，基于系统分解和模块化思想，Moat 提供了一个通用的用于实施模块隔离的框架，Moat 利用私有堆和共享堆的设计来实现模块间的内存隔离和通信，Moat 还通过故障隔离加强了内存隔离的有效性。在模块隔离的基础上，Moat 提供了对隔离模块的组件级热更新支持，这依赖 Moat 提出的状态分离存储和高效的状态同步方法。</a:t>
            </a:r>
          </a:p>
        </p:txBody>
      </p:sp>
      <p:grpSp>
        <p:nvGrpSpPr>
          <p:cNvPr id="5" name="组合 4">
            <a:extLst>
              <a:ext uri="{FF2B5EF4-FFF2-40B4-BE49-F238E27FC236}">
                <a16:creationId xmlns:a16="http://schemas.microsoft.com/office/drawing/2014/main" id="{37C0DDF0-B749-6493-8C8F-35269D52EB8A}"/>
              </a:ext>
            </a:extLst>
          </p:cNvPr>
          <p:cNvGrpSpPr/>
          <p:nvPr/>
        </p:nvGrpSpPr>
        <p:grpSpPr>
          <a:xfrm>
            <a:off x="599494" y="3800475"/>
            <a:ext cx="10868605" cy="1978820"/>
            <a:chOff x="599494" y="3800475"/>
            <a:chExt cx="10868605" cy="1978820"/>
          </a:xfrm>
        </p:grpSpPr>
        <p:sp>
          <p:nvSpPr>
            <p:cNvPr id="17" name="矩形 16">
              <a:extLst>
                <a:ext uri="{FF2B5EF4-FFF2-40B4-BE49-F238E27FC236}">
                  <a16:creationId xmlns:a16="http://schemas.microsoft.com/office/drawing/2014/main" id="{11DE778D-6564-6F84-21D5-48FF319EBDE5}"/>
                </a:ext>
              </a:extLst>
            </p:cNvPr>
            <p:cNvSpPr/>
            <p:nvPr/>
          </p:nvSpPr>
          <p:spPr>
            <a:xfrm>
              <a:off x="599494" y="4027504"/>
              <a:ext cx="10868605" cy="1751791"/>
            </a:xfrm>
            <a:prstGeom prst="rect">
              <a:avLst/>
            </a:prstGeom>
            <a:no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圆角 17">
              <a:extLst>
                <a:ext uri="{FF2B5EF4-FFF2-40B4-BE49-F238E27FC236}">
                  <a16:creationId xmlns:a16="http://schemas.microsoft.com/office/drawing/2014/main" id="{AE7BB777-FD85-D911-D292-4EE059D13FE5}"/>
                </a:ext>
              </a:extLst>
            </p:cNvPr>
            <p:cNvSpPr/>
            <p:nvPr/>
          </p:nvSpPr>
          <p:spPr>
            <a:xfrm>
              <a:off x="599495" y="3800475"/>
              <a:ext cx="1478604" cy="535022"/>
            </a:xfrm>
            <a:prstGeom prst="roundRect">
              <a:avLst/>
            </a:prstGeom>
            <a:solidFill>
              <a:schemeClr val="tx2"/>
            </a:solid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展望</a:t>
              </a:r>
            </a:p>
          </p:txBody>
        </p:sp>
      </p:grpSp>
      <p:sp>
        <p:nvSpPr>
          <p:cNvPr id="19" name="文本框 18">
            <a:extLst>
              <a:ext uri="{FF2B5EF4-FFF2-40B4-BE49-F238E27FC236}">
                <a16:creationId xmlns:a16="http://schemas.microsoft.com/office/drawing/2014/main" id="{FF5B1C0A-BBBA-B7D0-F622-4F05A293DE2D}"/>
              </a:ext>
            </a:extLst>
          </p:cNvPr>
          <p:cNvSpPr txBox="1"/>
          <p:nvPr/>
        </p:nvSpPr>
        <p:spPr>
          <a:xfrm>
            <a:off x="723901" y="4562526"/>
            <a:ext cx="10496550" cy="830997"/>
          </a:xfrm>
          <a:prstGeom prst="rect">
            <a:avLst/>
          </a:prstGeom>
          <a:noFill/>
        </p:spPr>
        <p:txBody>
          <a:bodyPr wrap="square">
            <a:spAutoFit/>
          </a:bodyPr>
          <a:lstStyle/>
          <a:p>
            <a:pPr marL="285750" indent="-285750">
              <a:buFont typeface="Wingdings" panose="05000000000000000000" pitchFamily="2" charset="2"/>
              <a:buChar char="Ø"/>
            </a:pPr>
            <a:r>
              <a:rPr lang="zh-CN" altLang="en-US" sz="1600" dirty="0"/>
              <a:t>证明</a:t>
            </a:r>
            <a:r>
              <a:rPr lang="en-US" altLang="zh-CN" sz="1600" dirty="0"/>
              <a:t>Rust</a:t>
            </a:r>
            <a:r>
              <a:rPr lang="zh-CN" altLang="en-US" sz="1600" dirty="0"/>
              <a:t>语言的安全性❓</a:t>
            </a:r>
            <a:endParaRPr lang="en-US" altLang="zh-CN" sz="1600" dirty="0"/>
          </a:p>
          <a:p>
            <a:pPr marL="285750" indent="-285750">
              <a:buFont typeface="Wingdings" panose="05000000000000000000" pitchFamily="2" charset="2"/>
              <a:buChar char="Ø"/>
            </a:pPr>
            <a:endParaRPr lang="en-US" altLang="zh-CN" sz="1600" dirty="0"/>
          </a:p>
          <a:p>
            <a:pPr marL="285750" indent="-285750">
              <a:buFont typeface="Wingdings" panose="05000000000000000000" pitchFamily="2" charset="2"/>
              <a:buChar char="Ø"/>
            </a:pPr>
            <a:r>
              <a:rPr lang="zh-CN" altLang="en-US" sz="1600" dirty="0"/>
              <a:t>更多模块的隔离化❓</a:t>
            </a:r>
          </a:p>
        </p:txBody>
      </p:sp>
    </p:spTree>
    <p:extLst>
      <p:ext uri="{BB962C8B-B14F-4D97-AF65-F5344CB8AC3E}">
        <p14:creationId xmlns:p14="http://schemas.microsoft.com/office/powerpoint/2010/main" val="307736732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up)">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500"/>
                                        <p:tgtEl>
                                          <p:spTgt spid="5"/>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wipe(up)">
                                      <p:cBhvr>
                                        <p:cTn id="1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1833795" y="2336758"/>
            <a:ext cx="8524408" cy="1446550"/>
          </a:xfrm>
          <a:prstGeom prst="rect">
            <a:avLst/>
          </a:prstGeom>
          <a:noFill/>
        </p:spPr>
        <p:txBody>
          <a:bodyPr wrap="square" rtlCol="0">
            <a:spAutoFit/>
          </a:bodyPr>
          <a:lstStyle/>
          <a:p>
            <a:pPr algn="ctr"/>
            <a:r>
              <a:rPr lang="zh-CN" altLang="en-US" sz="4400" dirty="0">
                <a:solidFill>
                  <a:schemeClr val="bg1"/>
                </a:solidFill>
                <a:latin typeface="+mn-ea"/>
                <a:ea typeface="+mn-ea"/>
              </a:rPr>
              <a:t>谢谢观看</a:t>
            </a:r>
            <a:endParaRPr lang="en-US" altLang="zh-CN" sz="4400" dirty="0">
              <a:solidFill>
                <a:schemeClr val="bg1"/>
              </a:solidFill>
              <a:latin typeface="+mn-ea"/>
              <a:ea typeface="+mn-ea"/>
            </a:endParaRPr>
          </a:p>
          <a:p>
            <a:pPr algn="ctr"/>
            <a:r>
              <a:rPr lang="zh-CN" altLang="en-US" sz="4400" dirty="0">
                <a:solidFill>
                  <a:schemeClr val="bg1"/>
                </a:solidFill>
                <a:latin typeface="+mn-ea"/>
                <a:ea typeface="+mn-ea"/>
              </a:rPr>
              <a:t>敬请各位老师批评指正</a:t>
            </a:r>
          </a:p>
        </p:txBody>
      </p:sp>
      <p:sp>
        <p:nvSpPr>
          <p:cNvPr id="16" name="文本框 15"/>
          <p:cNvSpPr txBox="1"/>
          <p:nvPr/>
        </p:nvSpPr>
        <p:spPr>
          <a:xfrm>
            <a:off x="5052591" y="4089237"/>
            <a:ext cx="2100625" cy="549061"/>
          </a:xfrm>
          <a:prstGeom prst="rect">
            <a:avLst/>
          </a:prstGeom>
          <a:noFill/>
        </p:spPr>
        <p:txBody>
          <a:bodyPr wrap="square" rtlCol="0">
            <a:spAutoFit/>
          </a:bodyPr>
          <a:lstStyle/>
          <a:p>
            <a:pPr algn="ctr">
              <a:lnSpc>
                <a:spcPct val="130000"/>
              </a:lnSpc>
            </a:pPr>
            <a:r>
              <a:rPr lang="zh-CN" altLang="en-US" sz="1200" spc="100" dirty="0">
                <a:solidFill>
                  <a:schemeClr val="bg1"/>
                </a:solidFill>
                <a:latin typeface="+mn-ea"/>
                <a:cs typeface="+mn-ea"/>
                <a:sym typeface="+mn-lt"/>
              </a:rPr>
              <a:t>答辩人：陈林峰</a:t>
            </a:r>
            <a:endParaRPr lang="en-US" altLang="zh-CN" sz="1200" spc="100" dirty="0">
              <a:solidFill>
                <a:schemeClr val="bg1"/>
              </a:solidFill>
              <a:latin typeface="+mn-ea"/>
              <a:cs typeface="+mn-ea"/>
              <a:sym typeface="+mn-lt"/>
            </a:endParaRPr>
          </a:p>
          <a:p>
            <a:pPr algn="ctr">
              <a:lnSpc>
                <a:spcPct val="130000"/>
              </a:lnSpc>
            </a:pPr>
            <a:r>
              <a:rPr lang="zh-CN" altLang="en-US" sz="1200" spc="100" dirty="0">
                <a:solidFill>
                  <a:schemeClr val="bg1"/>
                </a:solidFill>
                <a:latin typeface="+mn-ea"/>
                <a:cs typeface="+mn-ea"/>
                <a:sym typeface="+mn-lt"/>
              </a:rPr>
              <a:t>导　师：陆慧梅</a:t>
            </a:r>
          </a:p>
        </p:txBody>
      </p:sp>
    </p:spTree>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E7B4BED-C063-7978-E749-FD7B695ED945}"/>
            </a:ext>
          </a:extLst>
        </p:cNvPr>
        <p:cNvGrpSpPr/>
        <p:nvPr/>
      </p:nvGrpSpPr>
      <p:grpSpPr>
        <a:xfrm>
          <a:off x="0" y="0"/>
          <a:ext cx="0" cy="0"/>
          <a:chOff x="0" y="0"/>
          <a:chExt cx="0" cy="0"/>
        </a:xfrm>
      </p:grpSpPr>
      <p:sp>
        <p:nvSpPr>
          <p:cNvPr id="9" name="标题 8">
            <a:extLst>
              <a:ext uri="{FF2B5EF4-FFF2-40B4-BE49-F238E27FC236}">
                <a16:creationId xmlns:a16="http://schemas.microsoft.com/office/drawing/2014/main" id="{460EBB5C-9C2E-CB05-4E5D-AE1DBCFCAAD4}"/>
              </a:ext>
            </a:extLst>
          </p:cNvPr>
          <p:cNvSpPr>
            <a:spLocks noGrp="1"/>
          </p:cNvSpPr>
          <p:nvPr>
            <p:ph type="title"/>
          </p:nvPr>
        </p:nvSpPr>
        <p:spPr/>
        <p:txBody>
          <a:bodyPr/>
          <a:lstStyle/>
          <a:p>
            <a:r>
              <a:rPr lang="zh-CN" altLang="en-US" dirty="0"/>
              <a:t>研究目的和意义</a:t>
            </a:r>
          </a:p>
        </p:txBody>
      </p:sp>
      <p:pic>
        <p:nvPicPr>
          <p:cNvPr id="11" name="图片 10">
            <a:extLst>
              <a:ext uri="{FF2B5EF4-FFF2-40B4-BE49-F238E27FC236}">
                <a16:creationId xmlns:a16="http://schemas.microsoft.com/office/drawing/2014/main" id="{CFE3FFD8-F3B3-53CC-ACF5-74F42490BD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193" y="2137328"/>
            <a:ext cx="3416285" cy="1959464"/>
          </a:xfrm>
          <a:prstGeom prst="rect">
            <a:avLst/>
          </a:prstGeom>
        </p:spPr>
      </p:pic>
      <p:grpSp>
        <p:nvGrpSpPr>
          <p:cNvPr id="5" name="组合 4">
            <a:extLst>
              <a:ext uri="{FF2B5EF4-FFF2-40B4-BE49-F238E27FC236}">
                <a16:creationId xmlns:a16="http://schemas.microsoft.com/office/drawing/2014/main" id="{202F53E5-5EAE-DCAC-CFAB-B7D356E2AB5C}"/>
              </a:ext>
            </a:extLst>
          </p:cNvPr>
          <p:cNvGrpSpPr/>
          <p:nvPr/>
        </p:nvGrpSpPr>
        <p:grpSpPr>
          <a:xfrm>
            <a:off x="4231836" y="2681472"/>
            <a:ext cx="7062052" cy="388810"/>
            <a:chOff x="4231836" y="2681472"/>
            <a:chExt cx="7062052" cy="388810"/>
          </a:xfrm>
        </p:grpSpPr>
        <p:sp>
          <p:nvSpPr>
            <p:cNvPr id="15" name="文本框 14">
              <a:extLst>
                <a:ext uri="{FF2B5EF4-FFF2-40B4-BE49-F238E27FC236}">
                  <a16:creationId xmlns:a16="http://schemas.microsoft.com/office/drawing/2014/main" id="{E86D502C-4BDF-B0DB-376E-F0184D0BFCE9}"/>
                </a:ext>
              </a:extLst>
            </p:cNvPr>
            <p:cNvSpPr txBox="1"/>
            <p:nvPr/>
          </p:nvSpPr>
          <p:spPr>
            <a:xfrm>
              <a:off x="4663228" y="2700949"/>
              <a:ext cx="6630660" cy="369332"/>
            </a:xfrm>
            <a:prstGeom prst="rect">
              <a:avLst/>
            </a:prstGeom>
            <a:noFill/>
          </p:spPr>
          <p:txBody>
            <a:bodyPr wrap="square">
              <a:spAutoFit/>
            </a:bodyPr>
            <a:lstStyle/>
            <a:p>
              <a:r>
                <a:rPr lang="zh-CN" altLang="en-US" b="1" dirty="0"/>
                <a:t>隔离</a:t>
              </a:r>
              <a:r>
                <a:rPr lang="zh-CN" altLang="en-US" dirty="0"/>
                <a:t>：利用语言机制提升内核模块的内存与故障安全性</a:t>
              </a:r>
            </a:p>
          </p:txBody>
        </p:sp>
        <p:pic>
          <p:nvPicPr>
            <p:cNvPr id="30" name="图形 29" descr="靶心 纯色填充">
              <a:extLst>
                <a:ext uri="{FF2B5EF4-FFF2-40B4-BE49-F238E27FC236}">
                  <a16:creationId xmlns:a16="http://schemas.microsoft.com/office/drawing/2014/main" id="{4C7845A1-FAF2-6DE0-C988-5F935AE9E10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46214" y="2716647"/>
              <a:ext cx="317014" cy="317014"/>
            </a:xfrm>
            <a:prstGeom prst="rect">
              <a:avLst/>
            </a:prstGeom>
          </p:spPr>
        </p:pic>
        <p:sp>
          <p:nvSpPr>
            <p:cNvPr id="33" name="矩形: 圆角 32">
              <a:extLst>
                <a:ext uri="{FF2B5EF4-FFF2-40B4-BE49-F238E27FC236}">
                  <a16:creationId xmlns:a16="http://schemas.microsoft.com/office/drawing/2014/main" id="{E700AC8E-B1DE-7B5A-E3CA-8015C9FE10C1}"/>
                </a:ext>
              </a:extLst>
            </p:cNvPr>
            <p:cNvSpPr/>
            <p:nvPr/>
          </p:nvSpPr>
          <p:spPr>
            <a:xfrm>
              <a:off x="4231836" y="2681472"/>
              <a:ext cx="7062051" cy="388810"/>
            </a:xfrm>
            <a:custGeom>
              <a:avLst/>
              <a:gdLst>
                <a:gd name="csX0" fmla="*/ 0 w 7062051"/>
                <a:gd name="csY0" fmla="*/ 64803 h 388810"/>
                <a:gd name="csX1" fmla="*/ 64803 w 7062051"/>
                <a:gd name="csY1" fmla="*/ 0 h 388810"/>
                <a:gd name="csX2" fmla="*/ 896696 w 7062051"/>
                <a:gd name="csY2" fmla="*/ 0 h 388810"/>
                <a:gd name="csX3" fmla="*/ 1520616 w 7062051"/>
                <a:gd name="csY3" fmla="*/ 0 h 388810"/>
                <a:gd name="csX4" fmla="*/ 2075212 w 7062051"/>
                <a:gd name="csY4" fmla="*/ 0 h 388810"/>
                <a:gd name="csX5" fmla="*/ 2837781 w 7062051"/>
                <a:gd name="csY5" fmla="*/ 0 h 388810"/>
                <a:gd name="csX6" fmla="*/ 3461701 w 7062051"/>
                <a:gd name="csY6" fmla="*/ 0 h 388810"/>
                <a:gd name="csX7" fmla="*/ 4293594 w 7062051"/>
                <a:gd name="csY7" fmla="*/ 0 h 388810"/>
                <a:gd name="csX8" fmla="*/ 4848190 w 7062051"/>
                <a:gd name="csY8" fmla="*/ 0 h 388810"/>
                <a:gd name="csX9" fmla="*/ 5680083 w 7062051"/>
                <a:gd name="csY9" fmla="*/ 0 h 388810"/>
                <a:gd name="csX10" fmla="*/ 6165355 w 7062051"/>
                <a:gd name="csY10" fmla="*/ 0 h 388810"/>
                <a:gd name="csX11" fmla="*/ 6997248 w 7062051"/>
                <a:gd name="csY11" fmla="*/ 0 h 388810"/>
                <a:gd name="csX12" fmla="*/ 7062051 w 7062051"/>
                <a:gd name="csY12" fmla="*/ 64803 h 388810"/>
                <a:gd name="csX13" fmla="*/ 7062051 w 7062051"/>
                <a:gd name="csY13" fmla="*/ 324007 h 388810"/>
                <a:gd name="csX14" fmla="*/ 6997248 w 7062051"/>
                <a:gd name="csY14" fmla="*/ 388810 h 388810"/>
                <a:gd name="csX15" fmla="*/ 6304004 w 7062051"/>
                <a:gd name="csY15" fmla="*/ 388810 h 388810"/>
                <a:gd name="csX16" fmla="*/ 5472110 w 7062051"/>
                <a:gd name="csY16" fmla="*/ 388810 h 388810"/>
                <a:gd name="csX17" fmla="*/ 4778866 w 7062051"/>
                <a:gd name="csY17" fmla="*/ 388810 h 388810"/>
                <a:gd name="csX18" fmla="*/ 4293594 w 7062051"/>
                <a:gd name="csY18" fmla="*/ 388810 h 388810"/>
                <a:gd name="csX19" fmla="*/ 3738999 w 7062051"/>
                <a:gd name="csY19" fmla="*/ 388810 h 388810"/>
                <a:gd name="csX20" fmla="*/ 2907105 w 7062051"/>
                <a:gd name="csY20" fmla="*/ 388810 h 388810"/>
                <a:gd name="csX21" fmla="*/ 2213861 w 7062051"/>
                <a:gd name="csY21" fmla="*/ 388810 h 388810"/>
                <a:gd name="csX22" fmla="*/ 1659265 w 7062051"/>
                <a:gd name="csY22" fmla="*/ 388810 h 388810"/>
                <a:gd name="csX23" fmla="*/ 966021 w 7062051"/>
                <a:gd name="csY23" fmla="*/ 388810 h 388810"/>
                <a:gd name="csX24" fmla="*/ 64803 w 7062051"/>
                <a:gd name="csY24" fmla="*/ 388810 h 388810"/>
                <a:gd name="csX25" fmla="*/ 0 w 7062051"/>
                <a:gd name="csY25" fmla="*/ 324007 h 388810"/>
                <a:gd name="csX26" fmla="*/ 0 w 7062051"/>
                <a:gd name="csY26" fmla="*/ 64803 h 3888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7062051" h="388810" extrusionOk="0">
                  <a:moveTo>
                    <a:pt x="0" y="64803"/>
                  </a:moveTo>
                  <a:cubicBezTo>
                    <a:pt x="-1545" y="28060"/>
                    <a:pt x="25841" y="1191"/>
                    <a:pt x="64803" y="0"/>
                  </a:cubicBezTo>
                  <a:cubicBezTo>
                    <a:pt x="454224" y="30442"/>
                    <a:pt x="565527" y="5794"/>
                    <a:pt x="896696" y="0"/>
                  </a:cubicBezTo>
                  <a:cubicBezTo>
                    <a:pt x="1227865" y="-5794"/>
                    <a:pt x="1339828" y="21472"/>
                    <a:pt x="1520616" y="0"/>
                  </a:cubicBezTo>
                  <a:cubicBezTo>
                    <a:pt x="1701404" y="-21472"/>
                    <a:pt x="1839420" y="-2237"/>
                    <a:pt x="2075212" y="0"/>
                  </a:cubicBezTo>
                  <a:cubicBezTo>
                    <a:pt x="2311004" y="2237"/>
                    <a:pt x="2582117" y="8117"/>
                    <a:pt x="2837781" y="0"/>
                  </a:cubicBezTo>
                  <a:cubicBezTo>
                    <a:pt x="3093445" y="-8117"/>
                    <a:pt x="3256652" y="-8069"/>
                    <a:pt x="3461701" y="0"/>
                  </a:cubicBezTo>
                  <a:cubicBezTo>
                    <a:pt x="3666750" y="8069"/>
                    <a:pt x="3955097" y="-21391"/>
                    <a:pt x="4293594" y="0"/>
                  </a:cubicBezTo>
                  <a:cubicBezTo>
                    <a:pt x="4632091" y="21391"/>
                    <a:pt x="4580048" y="-12960"/>
                    <a:pt x="4848190" y="0"/>
                  </a:cubicBezTo>
                  <a:cubicBezTo>
                    <a:pt x="5116332" y="12960"/>
                    <a:pt x="5504117" y="18472"/>
                    <a:pt x="5680083" y="0"/>
                  </a:cubicBezTo>
                  <a:cubicBezTo>
                    <a:pt x="5856049" y="-18472"/>
                    <a:pt x="6021915" y="-12340"/>
                    <a:pt x="6165355" y="0"/>
                  </a:cubicBezTo>
                  <a:cubicBezTo>
                    <a:pt x="6308795" y="12340"/>
                    <a:pt x="6785905" y="32842"/>
                    <a:pt x="6997248" y="0"/>
                  </a:cubicBezTo>
                  <a:cubicBezTo>
                    <a:pt x="7034111" y="1597"/>
                    <a:pt x="7062542" y="34094"/>
                    <a:pt x="7062051" y="64803"/>
                  </a:cubicBezTo>
                  <a:cubicBezTo>
                    <a:pt x="7068357" y="147546"/>
                    <a:pt x="7067490" y="223685"/>
                    <a:pt x="7062051" y="324007"/>
                  </a:cubicBezTo>
                  <a:cubicBezTo>
                    <a:pt x="7066238" y="354599"/>
                    <a:pt x="7031305" y="388140"/>
                    <a:pt x="6997248" y="388810"/>
                  </a:cubicBezTo>
                  <a:cubicBezTo>
                    <a:pt x="6761441" y="414934"/>
                    <a:pt x="6502865" y="360083"/>
                    <a:pt x="6304004" y="388810"/>
                  </a:cubicBezTo>
                  <a:cubicBezTo>
                    <a:pt x="6105143" y="417537"/>
                    <a:pt x="5838132" y="349508"/>
                    <a:pt x="5472110" y="388810"/>
                  </a:cubicBezTo>
                  <a:cubicBezTo>
                    <a:pt x="5106088" y="428112"/>
                    <a:pt x="5084680" y="359229"/>
                    <a:pt x="4778866" y="388810"/>
                  </a:cubicBezTo>
                  <a:cubicBezTo>
                    <a:pt x="4473052" y="418391"/>
                    <a:pt x="4530567" y="373794"/>
                    <a:pt x="4293594" y="388810"/>
                  </a:cubicBezTo>
                  <a:cubicBezTo>
                    <a:pt x="4056621" y="403826"/>
                    <a:pt x="3856545" y="364042"/>
                    <a:pt x="3738999" y="388810"/>
                  </a:cubicBezTo>
                  <a:cubicBezTo>
                    <a:pt x="3621453" y="413578"/>
                    <a:pt x="3140278" y="393917"/>
                    <a:pt x="2907105" y="388810"/>
                  </a:cubicBezTo>
                  <a:cubicBezTo>
                    <a:pt x="2673932" y="383703"/>
                    <a:pt x="2408405" y="405117"/>
                    <a:pt x="2213861" y="388810"/>
                  </a:cubicBezTo>
                  <a:cubicBezTo>
                    <a:pt x="2019317" y="372503"/>
                    <a:pt x="1855351" y="396487"/>
                    <a:pt x="1659265" y="388810"/>
                  </a:cubicBezTo>
                  <a:cubicBezTo>
                    <a:pt x="1463179" y="381133"/>
                    <a:pt x="1208725" y="403906"/>
                    <a:pt x="966021" y="388810"/>
                  </a:cubicBezTo>
                  <a:cubicBezTo>
                    <a:pt x="723317" y="373714"/>
                    <a:pt x="474209" y="379934"/>
                    <a:pt x="64803" y="388810"/>
                  </a:cubicBezTo>
                  <a:cubicBezTo>
                    <a:pt x="30859" y="383132"/>
                    <a:pt x="5226" y="365448"/>
                    <a:pt x="0" y="324007"/>
                  </a:cubicBezTo>
                  <a:cubicBezTo>
                    <a:pt x="-3712" y="256764"/>
                    <a:pt x="11375" y="127849"/>
                    <a:pt x="0" y="64803"/>
                  </a:cubicBezTo>
                  <a:close/>
                </a:path>
              </a:pathLst>
            </a:custGeom>
            <a:noFill/>
            <a:ln>
              <a:gradFill flip="none" rotWithShape="1">
                <a:gsLst>
                  <a:gs pos="0">
                    <a:schemeClr val="accent1"/>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合 3">
            <a:extLst>
              <a:ext uri="{FF2B5EF4-FFF2-40B4-BE49-F238E27FC236}">
                <a16:creationId xmlns:a16="http://schemas.microsoft.com/office/drawing/2014/main" id="{B3A0246C-CA79-3519-0BDF-F256199AD03E}"/>
              </a:ext>
            </a:extLst>
          </p:cNvPr>
          <p:cNvGrpSpPr/>
          <p:nvPr/>
        </p:nvGrpSpPr>
        <p:grpSpPr>
          <a:xfrm>
            <a:off x="4231836" y="2225488"/>
            <a:ext cx="7062051" cy="408607"/>
            <a:chOff x="4231836" y="2225488"/>
            <a:chExt cx="7062051" cy="408607"/>
          </a:xfrm>
        </p:grpSpPr>
        <p:sp>
          <p:nvSpPr>
            <p:cNvPr id="27" name="文本框 26">
              <a:extLst>
                <a:ext uri="{FF2B5EF4-FFF2-40B4-BE49-F238E27FC236}">
                  <a16:creationId xmlns:a16="http://schemas.microsoft.com/office/drawing/2014/main" id="{D2F83F8C-F491-0F80-40C5-8C5BBD3140D4}"/>
                </a:ext>
              </a:extLst>
            </p:cNvPr>
            <p:cNvSpPr txBox="1"/>
            <p:nvPr/>
          </p:nvSpPr>
          <p:spPr>
            <a:xfrm>
              <a:off x="4663228" y="2264763"/>
              <a:ext cx="5432130" cy="369332"/>
            </a:xfrm>
            <a:prstGeom prst="rect">
              <a:avLst/>
            </a:prstGeom>
            <a:noFill/>
          </p:spPr>
          <p:txBody>
            <a:bodyPr wrap="square" rtlCol="0">
              <a:spAutoFit/>
            </a:bodyPr>
            <a:lstStyle/>
            <a:p>
              <a:r>
                <a:rPr lang="zh-CN" altLang="en-US" b="1" dirty="0"/>
                <a:t>安全边界：</a:t>
              </a:r>
              <a:r>
                <a:rPr lang="zh-CN" altLang="en-US" dirty="0"/>
                <a:t>解决宏内核模块缺乏安全边界的问题</a:t>
              </a:r>
            </a:p>
          </p:txBody>
        </p:sp>
        <p:pic>
          <p:nvPicPr>
            <p:cNvPr id="29" name="图形 28" descr="靶心 纯色填充">
              <a:extLst>
                <a:ext uri="{FF2B5EF4-FFF2-40B4-BE49-F238E27FC236}">
                  <a16:creationId xmlns:a16="http://schemas.microsoft.com/office/drawing/2014/main" id="{8800B872-1032-5F93-7629-E9813F76CB2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46214" y="2261134"/>
              <a:ext cx="317014" cy="317014"/>
            </a:xfrm>
            <a:prstGeom prst="rect">
              <a:avLst/>
            </a:prstGeom>
          </p:spPr>
        </p:pic>
        <p:sp>
          <p:nvSpPr>
            <p:cNvPr id="34" name="矩形: 圆角 33">
              <a:extLst>
                <a:ext uri="{FF2B5EF4-FFF2-40B4-BE49-F238E27FC236}">
                  <a16:creationId xmlns:a16="http://schemas.microsoft.com/office/drawing/2014/main" id="{87C5EDA8-AAB9-2B87-4BA0-948F7B2BADB5}"/>
                </a:ext>
              </a:extLst>
            </p:cNvPr>
            <p:cNvSpPr/>
            <p:nvPr/>
          </p:nvSpPr>
          <p:spPr>
            <a:xfrm>
              <a:off x="4231836" y="2225488"/>
              <a:ext cx="7062051" cy="392909"/>
            </a:xfrm>
            <a:custGeom>
              <a:avLst/>
              <a:gdLst>
                <a:gd name="csX0" fmla="*/ 0 w 7062051"/>
                <a:gd name="csY0" fmla="*/ 65486 h 392909"/>
                <a:gd name="csX1" fmla="*/ 65486 w 7062051"/>
                <a:gd name="csY1" fmla="*/ 0 h 392909"/>
                <a:gd name="csX2" fmla="*/ 897215 w 7062051"/>
                <a:gd name="csY2" fmla="*/ 0 h 392909"/>
                <a:gd name="csX3" fmla="*/ 1521013 w 7062051"/>
                <a:gd name="csY3" fmla="*/ 0 h 392909"/>
                <a:gd name="csX4" fmla="*/ 2075499 w 7062051"/>
                <a:gd name="csY4" fmla="*/ 0 h 392909"/>
                <a:gd name="csX5" fmla="*/ 2837918 w 7062051"/>
                <a:gd name="csY5" fmla="*/ 0 h 392909"/>
                <a:gd name="csX6" fmla="*/ 3461715 w 7062051"/>
                <a:gd name="csY6" fmla="*/ 0 h 392909"/>
                <a:gd name="csX7" fmla="*/ 4293444 w 7062051"/>
                <a:gd name="csY7" fmla="*/ 0 h 392909"/>
                <a:gd name="csX8" fmla="*/ 4847931 w 7062051"/>
                <a:gd name="csY8" fmla="*/ 0 h 392909"/>
                <a:gd name="csX9" fmla="*/ 5679660 w 7062051"/>
                <a:gd name="csY9" fmla="*/ 0 h 392909"/>
                <a:gd name="csX10" fmla="*/ 6164836 w 7062051"/>
                <a:gd name="csY10" fmla="*/ 0 h 392909"/>
                <a:gd name="csX11" fmla="*/ 6996565 w 7062051"/>
                <a:gd name="csY11" fmla="*/ 0 h 392909"/>
                <a:gd name="csX12" fmla="*/ 7062051 w 7062051"/>
                <a:gd name="csY12" fmla="*/ 65486 h 392909"/>
                <a:gd name="csX13" fmla="*/ 7062051 w 7062051"/>
                <a:gd name="csY13" fmla="*/ 327423 h 392909"/>
                <a:gd name="csX14" fmla="*/ 6996565 w 7062051"/>
                <a:gd name="csY14" fmla="*/ 392909 h 392909"/>
                <a:gd name="csX15" fmla="*/ 6303457 w 7062051"/>
                <a:gd name="csY15" fmla="*/ 392909 h 392909"/>
                <a:gd name="csX16" fmla="*/ 5471728 w 7062051"/>
                <a:gd name="csY16" fmla="*/ 392909 h 392909"/>
                <a:gd name="csX17" fmla="*/ 4778620 w 7062051"/>
                <a:gd name="csY17" fmla="*/ 392909 h 392909"/>
                <a:gd name="csX18" fmla="*/ 4293444 w 7062051"/>
                <a:gd name="csY18" fmla="*/ 392909 h 392909"/>
                <a:gd name="csX19" fmla="*/ 3738958 w 7062051"/>
                <a:gd name="csY19" fmla="*/ 392909 h 392909"/>
                <a:gd name="csX20" fmla="*/ 2907228 w 7062051"/>
                <a:gd name="csY20" fmla="*/ 392909 h 392909"/>
                <a:gd name="csX21" fmla="*/ 2214120 w 7062051"/>
                <a:gd name="csY21" fmla="*/ 392909 h 392909"/>
                <a:gd name="csX22" fmla="*/ 1659634 w 7062051"/>
                <a:gd name="csY22" fmla="*/ 392909 h 392909"/>
                <a:gd name="csX23" fmla="*/ 966526 w 7062051"/>
                <a:gd name="csY23" fmla="*/ 392909 h 392909"/>
                <a:gd name="csX24" fmla="*/ 65486 w 7062051"/>
                <a:gd name="csY24" fmla="*/ 392909 h 392909"/>
                <a:gd name="csX25" fmla="*/ 0 w 7062051"/>
                <a:gd name="csY25" fmla="*/ 327423 h 392909"/>
                <a:gd name="csX26" fmla="*/ 0 w 7062051"/>
                <a:gd name="csY26" fmla="*/ 65486 h 3929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7062051" h="392909" extrusionOk="0">
                  <a:moveTo>
                    <a:pt x="0" y="65486"/>
                  </a:moveTo>
                  <a:cubicBezTo>
                    <a:pt x="-5398" y="25990"/>
                    <a:pt x="25051" y="1602"/>
                    <a:pt x="65486" y="0"/>
                  </a:cubicBezTo>
                  <a:cubicBezTo>
                    <a:pt x="464858" y="-3927"/>
                    <a:pt x="639973" y="7203"/>
                    <a:pt x="897215" y="0"/>
                  </a:cubicBezTo>
                  <a:cubicBezTo>
                    <a:pt x="1154457" y="-7203"/>
                    <a:pt x="1255539" y="28123"/>
                    <a:pt x="1521013" y="0"/>
                  </a:cubicBezTo>
                  <a:cubicBezTo>
                    <a:pt x="1786487" y="-28123"/>
                    <a:pt x="1841874" y="-26907"/>
                    <a:pt x="2075499" y="0"/>
                  </a:cubicBezTo>
                  <a:cubicBezTo>
                    <a:pt x="2309124" y="26907"/>
                    <a:pt x="2646155" y="-4902"/>
                    <a:pt x="2837918" y="0"/>
                  </a:cubicBezTo>
                  <a:cubicBezTo>
                    <a:pt x="3029681" y="4902"/>
                    <a:pt x="3272423" y="4309"/>
                    <a:pt x="3461715" y="0"/>
                  </a:cubicBezTo>
                  <a:cubicBezTo>
                    <a:pt x="3651007" y="-4309"/>
                    <a:pt x="3939997" y="-21278"/>
                    <a:pt x="4293444" y="0"/>
                  </a:cubicBezTo>
                  <a:cubicBezTo>
                    <a:pt x="4646891" y="21278"/>
                    <a:pt x="4587168" y="19483"/>
                    <a:pt x="4847931" y="0"/>
                  </a:cubicBezTo>
                  <a:cubicBezTo>
                    <a:pt x="5108694" y="-19483"/>
                    <a:pt x="5416518" y="-6883"/>
                    <a:pt x="5679660" y="0"/>
                  </a:cubicBezTo>
                  <a:cubicBezTo>
                    <a:pt x="5942802" y="6883"/>
                    <a:pt x="5965435" y="-12188"/>
                    <a:pt x="6164836" y="0"/>
                  </a:cubicBezTo>
                  <a:cubicBezTo>
                    <a:pt x="6364237" y="12188"/>
                    <a:pt x="6708624" y="33988"/>
                    <a:pt x="6996565" y="0"/>
                  </a:cubicBezTo>
                  <a:cubicBezTo>
                    <a:pt x="7034058" y="1974"/>
                    <a:pt x="7062309" y="31992"/>
                    <a:pt x="7062051" y="65486"/>
                  </a:cubicBezTo>
                  <a:cubicBezTo>
                    <a:pt x="7065351" y="155111"/>
                    <a:pt x="7053533" y="254288"/>
                    <a:pt x="7062051" y="327423"/>
                  </a:cubicBezTo>
                  <a:cubicBezTo>
                    <a:pt x="7062910" y="362524"/>
                    <a:pt x="7031658" y="392494"/>
                    <a:pt x="6996565" y="392909"/>
                  </a:cubicBezTo>
                  <a:cubicBezTo>
                    <a:pt x="6682367" y="361249"/>
                    <a:pt x="6607172" y="362478"/>
                    <a:pt x="6303457" y="392909"/>
                  </a:cubicBezTo>
                  <a:cubicBezTo>
                    <a:pt x="5999742" y="423340"/>
                    <a:pt x="5853596" y="415790"/>
                    <a:pt x="5471728" y="392909"/>
                  </a:cubicBezTo>
                  <a:cubicBezTo>
                    <a:pt x="5089860" y="370028"/>
                    <a:pt x="4983786" y="426405"/>
                    <a:pt x="4778620" y="392909"/>
                  </a:cubicBezTo>
                  <a:cubicBezTo>
                    <a:pt x="4573454" y="359413"/>
                    <a:pt x="4449814" y="376249"/>
                    <a:pt x="4293444" y="392909"/>
                  </a:cubicBezTo>
                  <a:cubicBezTo>
                    <a:pt x="4137074" y="409569"/>
                    <a:pt x="3855209" y="373317"/>
                    <a:pt x="3738958" y="392909"/>
                  </a:cubicBezTo>
                  <a:cubicBezTo>
                    <a:pt x="3622707" y="412501"/>
                    <a:pt x="3306007" y="377525"/>
                    <a:pt x="2907228" y="392909"/>
                  </a:cubicBezTo>
                  <a:cubicBezTo>
                    <a:pt x="2508449" y="408294"/>
                    <a:pt x="2362411" y="397192"/>
                    <a:pt x="2214120" y="392909"/>
                  </a:cubicBezTo>
                  <a:cubicBezTo>
                    <a:pt x="2065829" y="388626"/>
                    <a:pt x="1822910" y="410711"/>
                    <a:pt x="1659634" y="392909"/>
                  </a:cubicBezTo>
                  <a:cubicBezTo>
                    <a:pt x="1496358" y="375107"/>
                    <a:pt x="1263647" y="406776"/>
                    <a:pt x="966526" y="392909"/>
                  </a:cubicBezTo>
                  <a:cubicBezTo>
                    <a:pt x="669405" y="379042"/>
                    <a:pt x="496915" y="412169"/>
                    <a:pt x="65486" y="392909"/>
                  </a:cubicBezTo>
                  <a:cubicBezTo>
                    <a:pt x="30246" y="390057"/>
                    <a:pt x="3115" y="366958"/>
                    <a:pt x="0" y="327423"/>
                  </a:cubicBezTo>
                  <a:cubicBezTo>
                    <a:pt x="10241" y="239050"/>
                    <a:pt x="-5870" y="188679"/>
                    <a:pt x="0" y="65486"/>
                  </a:cubicBezTo>
                  <a:close/>
                </a:path>
              </a:pathLst>
            </a:custGeom>
            <a:noFill/>
            <a:ln>
              <a:gradFill flip="none" rotWithShape="1">
                <a:gsLst>
                  <a:gs pos="0">
                    <a:schemeClr val="accent1"/>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 name="组合 6">
            <a:extLst>
              <a:ext uri="{FF2B5EF4-FFF2-40B4-BE49-F238E27FC236}">
                <a16:creationId xmlns:a16="http://schemas.microsoft.com/office/drawing/2014/main" id="{0B67F76F-93A6-372C-7505-3ED0250A2A83}"/>
              </a:ext>
            </a:extLst>
          </p:cNvPr>
          <p:cNvGrpSpPr/>
          <p:nvPr/>
        </p:nvGrpSpPr>
        <p:grpSpPr>
          <a:xfrm>
            <a:off x="4231836" y="3173555"/>
            <a:ext cx="7062051" cy="370333"/>
            <a:chOff x="4231836" y="3173555"/>
            <a:chExt cx="7062051" cy="370333"/>
          </a:xfrm>
        </p:grpSpPr>
        <p:sp>
          <p:nvSpPr>
            <p:cNvPr id="17" name="文本框 16">
              <a:extLst>
                <a:ext uri="{FF2B5EF4-FFF2-40B4-BE49-F238E27FC236}">
                  <a16:creationId xmlns:a16="http://schemas.microsoft.com/office/drawing/2014/main" id="{566412B1-5615-7E61-B521-4A5598680615}"/>
                </a:ext>
              </a:extLst>
            </p:cNvPr>
            <p:cNvSpPr txBox="1"/>
            <p:nvPr/>
          </p:nvSpPr>
          <p:spPr>
            <a:xfrm>
              <a:off x="4663228" y="3174556"/>
              <a:ext cx="6097978" cy="369332"/>
            </a:xfrm>
            <a:prstGeom prst="rect">
              <a:avLst/>
            </a:prstGeom>
            <a:noFill/>
          </p:spPr>
          <p:txBody>
            <a:bodyPr wrap="square">
              <a:spAutoFit/>
            </a:bodyPr>
            <a:lstStyle/>
            <a:p>
              <a:r>
                <a:rPr lang="zh-CN" altLang="en-US" b="1" dirty="0"/>
                <a:t>性能</a:t>
              </a:r>
              <a:r>
                <a:rPr lang="zh-CN" altLang="en-US" dirty="0"/>
                <a:t>：在隔离的同时保持内核级性能</a:t>
              </a:r>
            </a:p>
          </p:txBody>
        </p:sp>
        <p:pic>
          <p:nvPicPr>
            <p:cNvPr id="31" name="图形 30" descr="靶心 纯色填充">
              <a:extLst>
                <a:ext uri="{FF2B5EF4-FFF2-40B4-BE49-F238E27FC236}">
                  <a16:creationId xmlns:a16="http://schemas.microsoft.com/office/drawing/2014/main" id="{F993B8F1-FCBC-25BE-890C-70B956FDF4F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46214" y="3221932"/>
              <a:ext cx="317014" cy="317014"/>
            </a:xfrm>
            <a:prstGeom prst="rect">
              <a:avLst/>
            </a:prstGeom>
          </p:spPr>
        </p:pic>
        <p:sp>
          <p:nvSpPr>
            <p:cNvPr id="35" name="矩形: 圆角 34">
              <a:extLst>
                <a:ext uri="{FF2B5EF4-FFF2-40B4-BE49-F238E27FC236}">
                  <a16:creationId xmlns:a16="http://schemas.microsoft.com/office/drawing/2014/main" id="{2552F2CD-9AE4-4A88-2998-98D6042CA644}"/>
                </a:ext>
              </a:extLst>
            </p:cNvPr>
            <p:cNvSpPr/>
            <p:nvPr/>
          </p:nvSpPr>
          <p:spPr>
            <a:xfrm>
              <a:off x="4231836" y="3173555"/>
              <a:ext cx="7062051" cy="366392"/>
            </a:xfrm>
            <a:custGeom>
              <a:avLst/>
              <a:gdLst>
                <a:gd name="csX0" fmla="*/ 0 w 7062051"/>
                <a:gd name="csY0" fmla="*/ 61067 h 366392"/>
                <a:gd name="csX1" fmla="*/ 61067 w 7062051"/>
                <a:gd name="csY1" fmla="*/ 0 h 366392"/>
                <a:gd name="csX2" fmla="*/ 685660 w 7062051"/>
                <a:gd name="csY2" fmla="*/ 0 h 366392"/>
                <a:gd name="csX3" fmla="*/ 1310252 w 7062051"/>
                <a:gd name="csY3" fmla="*/ 0 h 366392"/>
                <a:gd name="csX4" fmla="*/ 2004244 w 7062051"/>
                <a:gd name="csY4" fmla="*/ 0 h 366392"/>
                <a:gd name="csX5" fmla="*/ 2628836 w 7062051"/>
                <a:gd name="csY5" fmla="*/ 0 h 366392"/>
                <a:gd name="csX6" fmla="*/ 3114630 w 7062051"/>
                <a:gd name="csY6" fmla="*/ 0 h 366392"/>
                <a:gd name="csX7" fmla="*/ 3878021 w 7062051"/>
                <a:gd name="csY7" fmla="*/ 0 h 366392"/>
                <a:gd name="csX8" fmla="*/ 4572013 w 7062051"/>
                <a:gd name="csY8" fmla="*/ 0 h 366392"/>
                <a:gd name="csX9" fmla="*/ 5057807 w 7062051"/>
                <a:gd name="csY9" fmla="*/ 0 h 366392"/>
                <a:gd name="csX10" fmla="*/ 5821198 w 7062051"/>
                <a:gd name="csY10" fmla="*/ 0 h 366392"/>
                <a:gd name="csX11" fmla="*/ 7000984 w 7062051"/>
                <a:gd name="csY11" fmla="*/ 0 h 366392"/>
                <a:gd name="csX12" fmla="*/ 7062051 w 7062051"/>
                <a:gd name="csY12" fmla="*/ 61067 h 366392"/>
                <a:gd name="csX13" fmla="*/ 7062051 w 7062051"/>
                <a:gd name="csY13" fmla="*/ 305325 h 366392"/>
                <a:gd name="csX14" fmla="*/ 7000984 w 7062051"/>
                <a:gd name="csY14" fmla="*/ 366392 h 366392"/>
                <a:gd name="csX15" fmla="*/ 6237593 w 7062051"/>
                <a:gd name="csY15" fmla="*/ 366392 h 366392"/>
                <a:gd name="csX16" fmla="*/ 5404803 w 7062051"/>
                <a:gd name="csY16" fmla="*/ 366392 h 366392"/>
                <a:gd name="csX17" fmla="*/ 4849610 w 7062051"/>
                <a:gd name="csY17" fmla="*/ 366392 h 366392"/>
                <a:gd name="csX18" fmla="*/ 4086219 w 7062051"/>
                <a:gd name="csY18" fmla="*/ 366392 h 366392"/>
                <a:gd name="csX19" fmla="*/ 3531026 w 7062051"/>
                <a:gd name="csY19" fmla="*/ 366392 h 366392"/>
                <a:gd name="csX20" fmla="*/ 2975832 w 7062051"/>
                <a:gd name="csY20" fmla="*/ 366392 h 366392"/>
                <a:gd name="csX21" fmla="*/ 2351240 w 7062051"/>
                <a:gd name="csY21" fmla="*/ 366392 h 366392"/>
                <a:gd name="csX22" fmla="*/ 1865445 w 7062051"/>
                <a:gd name="csY22" fmla="*/ 366392 h 366392"/>
                <a:gd name="csX23" fmla="*/ 1102055 w 7062051"/>
                <a:gd name="csY23" fmla="*/ 366392 h 366392"/>
                <a:gd name="csX24" fmla="*/ 61067 w 7062051"/>
                <a:gd name="csY24" fmla="*/ 366392 h 366392"/>
                <a:gd name="csX25" fmla="*/ 0 w 7062051"/>
                <a:gd name="csY25" fmla="*/ 305325 h 366392"/>
                <a:gd name="csX26" fmla="*/ 0 w 7062051"/>
                <a:gd name="csY26" fmla="*/ 61067 h 3663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7062051" h="366392" extrusionOk="0">
                  <a:moveTo>
                    <a:pt x="0" y="61067"/>
                  </a:moveTo>
                  <a:cubicBezTo>
                    <a:pt x="1680" y="30435"/>
                    <a:pt x="30097" y="-2050"/>
                    <a:pt x="61067" y="0"/>
                  </a:cubicBezTo>
                  <a:cubicBezTo>
                    <a:pt x="218979" y="22946"/>
                    <a:pt x="495389" y="21603"/>
                    <a:pt x="685660" y="0"/>
                  </a:cubicBezTo>
                  <a:cubicBezTo>
                    <a:pt x="875931" y="-21603"/>
                    <a:pt x="1070190" y="24248"/>
                    <a:pt x="1310252" y="0"/>
                  </a:cubicBezTo>
                  <a:cubicBezTo>
                    <a:pt x="1550314" y="-24248"/>
                    <a:pt x="1854553" y="-11447"/>
                    <a:pt x="2004244" y="0"/>
                  </a:cubicBezTo>
                  <a:cubicBezTo>
                    <a:pt x="2153935" y="11447"/>
                    <a:pt x="2372069" y="-21449"/>
                    <a:pt x="2628836" y="0"/>
                  </a:cubicBezTo>
                  <a:cubicBezTo>
                    <a:pt x="2885603" y="21449"/>
                    <a:pt x="2944873" y="3299"/>
                    <a:pt x="3114630" y="0"/>
                  </a:cubicBezTo>
                  <a:cubicBezTo>
                    <a:pt x="3284387" y="-3299"/>
                    <a:pt x="3610272" y="28497"/>
                    <a:pt x="3878021" y="0"/>
                  </a:cubicBezTo>
                  <a:cubicBezTo>
                    <a:pt x="4145770" y="-28497"/>
                    <a:pt x="4290938" y="33260"/>
                    <a:pt x="4572013" y="0"/>
                  </a:cubicBezTo>
                  <a:cubicBezTo>
                    <a:pt x="4853088" y="-33260"/>
                    <a:pt x="4844723" y="-8032"/>
                    <a:pt x="5057807" y="0"/>
                  </a:cubicBezTo>
                  <a:cubicBezTo>
                    <a:pt x="5270891" y="8032"/>
                    <a:pt x="5441770" y="-5055"/>
                    <a:pt x="5821198" y="0"/>
                  </a:cubicBezTo>
                  <a:cubicBezTo>
                    <a:pt x="6200626" y="5055"/>
                    <a:pt x="6575953" y="47895"/>
                    <a:pt x="7000984" y="0"/>
                  </a:cubicBezTo>
                  <a:cubicBezTo>
                    <a:pt x="7033187" y="-865"/>
                    <a:pt x="7062799" y="27658"/>
                    <a:pt x="7062051" y="61067"/>
                  </a:cubicBezTo>
                  <a:cubicBezTo>
                    <a:pt x="7052209" y="123843"/>
                    <a:pt x="7069870" y="233485"/>
                    <a:pt x="7062051" y="305325"/>
                  </a:cubicBezTo>
                  <a:cubicBezTo>
                    <a:pt x="7064698" y="346373"/>
                    <a:pt x="7033418" y="365305"/>
                    <a:pt x="7000984" y="366392"/>
                  </a:cubicBezTo>
                  <a:cubicBezTo>
                    <a:pt x="6652414" y="391637"/>
                    <a:pt x="6407209" y="390483"/>
                    <a:pt x="6237593" y="366392"/>
                  </a:cubicBezTo>
                  <a:cubicBezTo>
                    <a:pt x="6067977" y="342301"/>
                    <a:pt x="5619497" y="343301"/>
                    <a:pt x="5404803" y="366392"/>
                  </a:cubicBezTo>
                  <a:cubicBezTo>
                    <a:pt x="5190109" y="389484"/>
                    <a:pt x="5013539" y="346736"/>
                    <a:pt x="4849610" y="366392"/>
                  </a:cubicBezTo>
                  <a:cubicBezTo>
                    <a:pt x="4685681" y="386048"/>
                    <a:pt x="4405159" y="352550"/>
                    <a:pt x="4086219" y="366392"/>
                  </a:cubicBezTo>
                  <a:cubicBezTo>
                    <a:pt x="3767279" y="380234"/>
                    <a:pt x="3692547" y="339144"/>
                    <a:pt x="3531026" y="366392"/>
                  </a:cubicBezTo>
                  <a:cubicBezTo>
                    <a:pt x="3369505" y="393640"/>
                    <a:pt x="3204705" y="380479"/>
                    <a:pt x="2975832" y="366392"/>
                  </a:cubicBezTo>
                  <a:cubicBezTo>
                    <a:pt x="2746959" y="352305"/>
                    <a:pt x="2560590" y="381872"/>
                    <a:pt x="2351240" y="366392"/>
                  </a:cubicBezTo>
                  <a:cubicBezTo>
                    <a:pt x="2141890" y="350912"/>
                    <a:pt x="2020324" y="369004"/>
                    <a:pt x="1865445" y="366392"/>
                  </a:cubicBezTo>
                  <a:cubicBezTo>
                    <a:pt x="1710567" y="363780"/>
                    <a:pt x="1376329" y="372217"/>
                    <a:pt x="1102055" y="366392"/>
                  </a:cubicBezTo>
                  <a:cubicBezTo>
                    <a:pt x="827781" y="360568"/>
                    <a:pt x="532780" y="391443"/>
                    <a:pt x="61067" y="366392"/>
                  </a:cubicBezTo>
                  <a:cubicBezTo>
                    <a:pt x="24743" y="364942"/>
                    <a:pt x="-2107" y="331762"/>
                    <a:pt x="0" y="305325"/>
                  </a:cubicBezTo>
                  <a:cubicBezTo>
                    <a:pt x="-6180" y="242947"/>
                    <a:pt x="6514" y="134120"/>
                    <a:pt x="0" y="61067"/>
                  </a:cubicBezTo>
                  <a:close/>
                </a:path>
              </a:pathLst>
            </a:custGeom>
            <a:noFill/>
            <a:ln>
              <a:gradFill flip="none" rotWithShape="1">
                <a:gsLst>
                  <a:gs pos="0">
                    <a:schemeClr val="accent1"/>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xtLst>
                <a:ext uri="{C807C97D-BFC1-408E-A445-0C87EB9F89A2}">
                  <ask:lineSketchStyleProps xmlns:ask="http://schemas.microsoft.com/office/drawing/2018/sketchyshapes" sd="207725326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 name="组合 9">
            <a:extLst>
              <a:ext uri="{FF2B5EF4-FFF2-40B4-BE49-F238E27FC236}">
                <a16:creationId xmlns:a16="http://schemas.microsoft.com/office/drawing/2014/main" id="{AAB66103-AC92-92F9-8023-342787F8A55B}"/>
              </a:ext>
            </a:extLst>
          </p:cNvPr>
          <p:cNvGrpSpPr/>
          <p:nvPr/>
        </p:nvGrpSpPr>
        <p:grpSpPr>
          <a:xfrm>
            <a:off x="4231836" y="3624504"/>
            <a:ext cx="7062051" cy="374924"/>
            <a:chOff x="4231836" y="3624504"/>
            <a:chExt cx="7062051" cy="374924"/>
          </a:xfrm>
        </p:grpSpPr>
        <p:sp>
          <p:nvSpPr>
            <p:cNvPr id="19" name="文本框 18">
              <a:extLst>
                <a:ext uri="{FF2B5EF4-FFF2-40B4-BE49-F238E27FC236}">
                  <a16:creationId xmlns:a16="http://schemas.microsoft.com/office/drawing/2014/main" id="{E3FE3136-B37A-51B3-3895-F4D40B86DB6D}"/>
                </a:ext>
              </a:extLst>
            </p:cNvPr>
            <p:cNvSpPr txBox="1"/>
            <p:nvPr/>
          </p:nvSpPr>
          <p:spPr>
            <a:xfrm>
              <a:off x="4663228" y="3630095"/>
              <a:ext cx="6097978" cy="369332"/>
            </a:xfrm>
            <a:prstGeom prst="rect">
              <a:avLst/>
            </a:prstGeom>
            <a:noFill/>
          </p:spPr>
          <p:txBody>
            <a:bodyPr wrap="square">
              <a:spAutoFit/>
            </a:bodyPr>
            <a:lstStyle/>
            <a:p>
              <a:r>
                <a:rPr lang="zh-CN" altLang="en-US" b="1" dirty="0"/>
                <a:t>热更新</a:t>
              </a:r>
              <a:r>
                <a:rPr lang="zh-CN" altLang="en-US" dirty="0"/>
                <a:t>：为内核模块提供统一、可扩展的热更新能力</a:t>
              </a:r>
            </a:p>
          </p:txBody>
        </p:sp>
        <p:pic>
          <p:nvPicPr>
            <p:cNvPr id="32" name="图形 31" descr="靶心 纯色填充">
              <a:extLst>
                <a:ext uri="{FF2B5EF4-FFF2-40B4-BE49-F238E27FC236}">
                  <a16:creationId xmlns:a16="http://schemas.microsoft.com/office/drawing/2014/main" id="{794DB7DF-EEC2-EF7A-131E-4F375AF2518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46214" y="3654283"/>
              <a:ext cx="317014" cy="317014"/>
            </a:xfrm>
            <a:prstGeom prst="rect">
              <a:avLst/>
            </a:prstGeom>
          </p:spPr>
        </p:pic>
        <p:sp>
          <p:nvSpPr>
            <p:cNvPr id="36" name="矩形: 圆角 35">
              <a:extLst>
                <a:ext uri="{FF2B5EF4-FFF2-40B4-BE49-F238E27FC236}">
                  <a16:creationId xmlns:a16="http://schemas.microsoft.com/office/drawing/2014/main" id="{D6DCB6A1-DDC5-3EB3-A0A1-90602AB25C5D}"/>
                </a:ext>
              </a:extLst>
            </p:cNvPr>
            <p:cNvSpPr/>
            <p:nvPr/>
          </p:nvSpPr>
          <p:spPr>
            <a:xfrm>
              <a:off x="4231836" y="3624504"/>
              <a:ext cx="7062051" cy="374924"/>
            </a:xfrm>
            <a:custGeom>
              <a:avLst/>
              <a:gdLst>
                <a:gd name="csX0" fmla="*/ 0 w 7062051"/>
                <a:gd name="csY0" fmla="*/ 62489 h 374924"/>
                <a:gd name="csX1" fmla="*/ 62489 w 7062051"/>
                <a:gd name="csY1" fmla="*/ 0 h 374924"/>
                <a:gd name="csX2" fmla="*/ 686826 w 7062051"/>
                <a:gd name="csY2" fmla="*/ 0 h 374924"/>
                <a:gd name="csX3" fmla="*/ 1380533 w 7062051"/>
                <a:gd name="csY3" fmla="*/ 0 h 374924"/>
                <a:gd name="csX4" fmla="*/ 2004869 w 7062051"/>
                <a:gd name="csY4" fmla="*/ 0 h 374924"/>
                <a:gd name="csX5" fmla="*/ 2767947 w 7062051"/>
                <a:gd name="csY5" fmla="*/ 0 h 374924"/>
                <a:gd name="csX6" fmla="*/ 3253543 w 7062051"/>
                <a:gd name="csY6" fmla="*/ 0 h 374924"/>
                <a:gd name="csX7" fmla="*/ 3877879 w 7062051"/>
                <a:gd name="csY7" fmla="*/ 0 h 374924"/>
                <a:gd name="csX8" fmla="*/ 4363474 w 7062051"/>
                <a:gd name="csY8" fmla="*/ 0 h 374924"/>
                <a:gd name="csX9" fmla="*/ 4849069 w 7062051"/>
                <a:gd name="csY9" fmla="*/ 0 h 374924"/>
                <a:gd name="csX10" fmla="*/ 5404035 w 7062051"/>
                <a:gd name="csY10" fmla="*/ 0 h 374924"/>
                <a:gd name="csX11" fmla="*/ 6167113 w 7062051"/>
                <a:gd name="csY11" fmla="*/ 0 h 374924"/>
                <a:gd name="csX12" fmla="*/ 6999562 w 7062051"/>
                <a:gd name="csY12" fmla="*/ 0 h 374924"/>
                <a:gd name="csX13" fmla="*/ 7062051 w 7062051"/>
                <a:gd name="csY13" fmla="*/ 62489 h 374924"/>
                <a:gd name="csX14" fmla="*/ 7062051 w 7062051"/>
                <a:gd name="csY14" fmla="*/ 312435 h 374924"/>
                <a:gd name="csX15" fmla="*/ 6999562 w 7062051"/>
                <a:gd name="csY15" fmla="*/ 374924 h 374924"/>
                <a:gd name="csX16" fmla="*/ 6513967 w 7062051"/>
                <a:gd name="csY16" fmla="*/ 374924 h 374924"/>
                <a:gd name="csX17" fmla="*/ 5959001 w 7062051"/>
                <a:gd name="csY17" fmla="*/ 374924 h 374924"/>
                <a:gd name="csX18" fmla="*/ 5404035 w 7062051"/>
                <a:gd name="csY18" fmla="*/ 374924 h 374924"/>
                <a:gd name="csX19" fmla="*/ 4849069 w 7062051"/>
                <a:gd name="csY19" fmla="*/ 374924 h 374924"/>
                <a:gd name="csX20" fmla="*/ 4224733 w 7062051"/>
                <a:gd name="csY20" fmla="*/ 374924 h 374924"/>
                <a:gd name="csX21" fmla="*/ 3669767 w 7062051"/>
                <a:gd name="csY21" fmla="*/ 374924 h 374924"/>
                <a:gd name="csX22" fmla="*/ 2906689 w 7062051"/>
                <a:gd name="csY22" fmla="*/ 374924 h 374924"/>
                <a:gd name="csX23" fmla="*/ 2421094 w 7062051"/>
                <a:gd name="csY23" fmla="*/ 374924 h 374924"/>
                <a:gd name="csX24" fmla="*/ 1658016 w 7062051"/>
                <a:gd name="csY24" fmla="*/ 374924 h 374924"/>
                <a:gd name="csX25" fmla="*/ 894938 w 7062051"/>
                <a:gd name="csY25" fmla="*/ 374924 h 374924"/>
                <a:gd name="csX26" fmla="*/ 62489 w 7062051"/>
                <a:gd name="csY26" fmla="*/ 374924 h 374924"/>
                <a:gd name="csX27" fmla="*/ 0 w 7062051"/>
                <a:gd name="csY27" fmla="*/ 312435 h 374924"/>
                <a:gd name="csX28" fmla="*/ 0 w 7062051"/>
                <a:gd name="csY28" fmla="*/ 62489 h 3749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7062051" h="374924" extrusionOk="0">
                  <a:moveTo>
                    <a:pt x="0" y="62489"/>
                  </a:moveTo>
                  <a:cubicBezTo>
                    <a:pt x="1407" y="34238"/>
                    <a:pt x="24219" y="6359"/>
                    <a:pt x="62489" y="0"/>
                  </a:cubicBezTo>
                  <a:cubicBezTo>
                    <a:pt x="263473" y="23850"/>
                    <a:pt x="415051" y="-27917"/>
                    <a:pt x="686826" y="0"/>
                  </a:cubicBezTo>
                  <a:cubicBezTo>
                    <a:pt x="958601" y="27917"/>
                    <a:pt x="1058132" y="17479"/>
                    <a:pt x="1380533" y="0"/>
                  </a:cubicBezTo>
                  <a:cubicBezTo>
                    <a:pt x="1702934" y="-17479"/>
                    <a:pt x="1870022" y="14581"/>
                    <a:pt x="2004869" y="0"/>
                  </a:cubicBezTo>
                  <a:cubicBezTo>
                    <a:pt x="2139716" y="-14581"/>
                    <a:pt x="2482000" y="-30749"/>
                    <a:pt x="2767947" y="0"/>
                  </a:cubicBezTo>
                  <a:cubicBezTo>
                    <a:pt x="3053894" y="30749"/>
                    <a:pt x="3097761" y="14338"/>
                    <a:pt x="3253543" y="0"/>
                  </a:cubicBezTo>
                  <a:cubicBezTo>
                    <a:pt x="3409325" y="-14338"/>
                    <a:pt x="3581527" y="1936"/>
                    <a:pt x="3877879" y="0"/>
                  </a:cubicBezTo>
                  <a:cubicBezTo>
                    <a:pt x="4174231" y="-1936"/>
                    <a:pt x="4197941" y="17304"/>
                    <a:pt x="4363474" y="0"/>
                  </a:cubicBezTo>
                  <a:cubicBezTo>
                    <a:pt x="4529007" y="-17304"/>
                    <a:pt x="4658936" y="20982"/>
                    <a:pt x="4849069" y="0"/>
                  </a:cubicBezTo>
                  <a:cubicBezTo>
                    <a:pt x="5039202" y="-20982"/>
                    <a:pt x="5246153" y="-3391"/>
                    <a:pt x="5404035" y="0"/>
                  </a:cubicBezTo>
                  <a:cubicBezTo>
                    <a:pt x="5561917" y="3391"/>
                    <a:pt x="5999641" y="-29821"/>
                    <a:pt x="6167113" y="0"/>
                  </a:cubicBezTo>
                  <a:cubicBezTo>
                    <a:pt x="6334585" y="29821"/>
                    <a:pt x="6694173" y="33255"/>
                    <a:pt x="6999562" y="0"/>
                  </a:cubicBezTo>
                  <a:cubicBezTo>
                    <a:pt x="7038077" y="-2231"/>
                    <a:pt x="7063219" y="28476"/>
                    <a:pt x="7062051" y="62489"/>
                  </a:cubicBezTo>
                  <a:cubicBezTo>
                    <a:pt x="7069240" y="160107"/>
                    <a:pt x="7059142" y="256471"/>
                    <a:pt x="7062051" y="312435"/>
                  </a:cubicBezTo>
                  <a:cubicBezTo>
                    <a:pt x="7068798" y="346052"/>
                    <a:pt x="7039849" y="380723"/>
                    <a:pt x="6999562" y="374924"/>
                  </a:cubicBezTo>
                  <a:cubicBezTo>
                    <a:pt x="6822673" y="357933"/>
                    <a:pt x="6704450" y="379696"/>
                    <a:pt x="6513967" y="374924"/>
                  </a:cubicBezTo>
                  <a:cubicBezTo>
                    <a:pt x="6323484" y="370152"/>
                    <a:pt x="6131231" y="370715"/>
                    <a:pt x="5959001" y="374924"/>
                  </a:cubicBezTo>
                  <a:cubicBezTo>
                    <a:pt x="5786771" y="379133"/>
                    <a:pt x="5571614" y="382232"/>
                    <a:pt x="5404035" y="374924"/>
                  </a:cubicBezTo>
                  <a:cubicBezTo>
                    <a:pt x="5236456" y="367616"/>
                    <a:pt x="5111576" y="387522"/>
                    <a:pt x="4849069" y="374924"/>
                  </a:cubicBezTo>
                  <a:cubicBezTo>
                    <a:pt x="4586562" y="362326"/>
                    <a:pt x="4512692" y="355512"/>
                    <a:pt x="4224733" y="374924"/>
                  </a:cubicBezTo>
                  <a:cubicBezTo>
                    <a:pt x="3936774" y="394336"/>
                    <a:pt x="3922609" y="373043"/>
                    <a:pt x="3669767" y="374924"/>
                  </a:cubicBezTo>
                  <a:cubicBezTo>
                    <a:pt x="3416925" y="376805"/>
                    <a:pt x="3156663" y="381399"/>
                    <a:pt x="2906689" y="374924"/>
                  </a:cubicBezTo>
                  <a:cubicBezTo>
                    <a:pt x="2656715" y="368449"/>
                    <a:pt x="2604724" y="363079"/>
                    <a:pt x="2421094" y="374924"/>
                  </a:cubicBezTo>
                  <a:cubicBezTo>
                    <a:pt x="2237464" y="386769"/>
                    <a:pt x="1979870" y="412195"/>
                    <a:pt x="1658016" y="374924"/>
                  </a:cubicBezTo>
                  <a:cubicBezTo>
                    <a:pt x="1336162" y="337653"/>
                    <a:pt x="1082851" y="348657"/>
                    <a:pt x="894938" y="374924"/>
                  </a:cubicBezTo>
                  <a:cubicBezTo>
                    <a:pt x="707025" y="401191"/>
                    <a:pt x="250414" y="355419"/>
                    <a:pt x="62489" y="374924"/>
                  </a:cubicBezTo>
                  <a:cubicBezTo>
                    <a:pt x="26050" y="374217"/>
                    <a:pt x="-3322" y="344098"/>
                    <a:pt x="0" y="312435"/>
                  </a:cubicBezTo>
                  <a:cubicBezTo>
                    <a:pt x="-10182" y="198196"/>
                    <a:pt x="-9683" y="145584"/>
                    <a:pt x="0" y="62489"/>
                  </a:cubicBezTo>
                  <a:close/>
                </a:path>
              </a:pathLst>
            </a:custGeom>
            <a:noFill/>
            <a:ln>
              <a:gradFill flip="none" rotWithShape="1">
                <a:gsLst>
                  <a:gs pos="0">
                    <a:schemeClr val="accent1"/>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xtLst>
                <a:ext uri="{C807C97D-BFC1-408E-A445-0C87EB9F89A2}">
                  <ask:lineSketchStyleProps xmlns:ask="http://schemas.microsoft.com/office/drawing/2018/sketchyshapes" sd="2043212884">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组合 2">
            <a:extLst>
              <a:ext uri="{FF2B5EF4-FFF2-40B4-BE49-F238E27FC236}">
                <a16:creationId xmlns:a16="http://schemas.microsoft.com/office/drawing/2014/main" id="{E51466C3-7222-D27C-62C6-671F1011BB18}"/>
              </a:ext>
            </a:extLst>
          </p:cNvPr>
          <p:cNvGrpSpPr/>
          <p:nvPr/>
        </p:nvGrpSpPr>
        <p:grpSpPr>
          <a:xfrm>
            <a:off x="414000" y="992849"/>
            <a:ext cx="10879887" cy="910397"/>
            <a:chOff x="414000" y="992849"/>
            <a:chExt cx="10879887" cy="910397"/>
          </a:xfrm>
        </p:grpSpPr>
        <p:sp>
          <p:nvSpPr>
            <p:cNvPr id="6" name="矩形 5">
              <a:extLst>
                <a:ext uri="{FF2B5EF4-FFF2-40B4-BE49-F238E27FC236}">
                  <a16:creationId xmlns:a16="http://schemas.microsoft.com/office/drawing/2014/main" id="{EC637F0F-A2C0-A1FE-6771-C763437DECBA}"/>
                </a:ext>
              </a:extLst>
            </p:cNvPr>
            <p:cNvSpPr/>
            <p:nvPr/>
          </p:nvSpPr>
          <p:spPr>
            <a:xfrm>
              <a:off x="424194" y="1306346"/>
              <a:ext cx="10869693" cy="596900"/>
            </a:xfrm>
            <a:prstGeom prst="rect">
              <a:avLst/>
            </a:prstGeom>
            <a:noFill/>
            <a:ln w="25400">
              <a:solidFill>
                <a:schemeClr val="tx2"/>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对角圆角 1">
              <a:extLst>
                <a:ext uri="{FF2B5EF4-FFF2-40B4-BE49-F238E27FC236}">
                  <a16:creationId xmlns:a16="http://schemas.microsoft.com/office/drawing/2014/main" id="{1E78F420-F1DC-BFDA-437C-56ADF4D70107}"/>
                </a:ext>
              </a:extLst>
            </p:cNvPr>
            <p:cNvSpPr/>
            <p:nvPr/>
          </p:nvSpPr>
          <p:spPr>
            <a:xfrm>
              <a:off x="414000" y="992849"/>
              <a:ext cx="1167144" cy="480132"/>
            </a:xfrm>
            <a:prstGeom prst="round2DiagRect">
              <a:avLst/>
            </a:prstGeom>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t>研究目的</a:t>
              </a:r>
            </a:p>
          </p:txBody>
        </p:sp>
        <p:sp>
          <p:nvSpPr>
            <p:cNvPr id="8" name="文本框 7">
              <a:extLst>
                <a:ext uri="{FF2B5EF4-FFF2-40B4-BE49-F238E27FC236}">
                  <a16:creationId xmlns:a16="http://schemas.microsoft.com/office/drawing/2014/main" id="{158258BA-54E7-FD26-0E71-488463E3792F}"/>
                </a:ext>
              </a:extLst>
            </p:cNvPr>
            <p:cNvSpPr txBox="1"/>
            <p:nvPr/>
          </p:nvSpPr>
          <p:spPr>
            <a:xfrm>
              <a:off x="739896" y="1533914"/>
              <a:ext cx="10487255" cy="369332"/>
            </a:xfrm>
            <a:prstGeom prst="rect">
              <a:avLst/>
            </a:prstGeom>
            <a:noFill/>
          </p:spPr>
          <p:txBody>
            <a:bodyPr wrap="square" rtlCol="0">
              <a:spAutoFit/>
            </a:bodyPr>
            <a:lstStyle/>
            <a:p>
              <a:r>
                <a:rPr lang="zh-CN" altLang="en-US" dirty="0"/>
                <a:t>在不牺牲内核性能与通用性的前提下，利用现代语言机制实现安全、低开销、通用的内核模块隔离框架。</a:t>
              </a:r>
            </a:p>
          </p:txBody>
        </p:sp>
        <p:sp>
          <p:nvSpPr>
            <p:cNvPr id="38" name="菱形 37">
              <a:extLst>
                <a:ext uri="{FF2B5EF4-FFF2-40B4-BE49-F238E27FC236}">
                  <a16:creationId xmlns:a16="http://schemas.microsoft.com/office/drawing/2014/main" id="{5C18673E-C2B9-BD8B-DBF3-423B582DDE5B}"/>
                </a:ext>
              </a:extLst>
            </p:cNvPr>
            <p:cNvSpPr/>
            <p:nvPr/>
          </p:nvSpPr>
          <p:spPr>
            <a:xfrm>
              <a:off x="509576" y="1594847"/>
              <a:ext cx="255922" cy="247466"/>
            </a:xfrm>
            <a:prstGeom prst="diamond">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grpSp>
      <p:grpSp>
        <p:nvGrpSpPr>
          <p:cNvPr id="12" name="组合 11">
            <a:extLst>
              <a:ext uri="{FF2B5EF4-FFF2-40B4-BE49-F238E27FC236}">
                <a16:creationId xmlns:a16="http://schemas.microsoft.com/office/drawing/2014/main" id="{CB7AE9A0-82DF-113C-8523-F3DBD3E109E0}"/>
              </a:ext>
            </a:extLst>
          </p:cNvPr>
          <p:cNvGrpSpPr/>
          <p:nvPr/>
        </p:nvGrpSpPr>
        <p:grpSpPr>
          <a:xfrm>
            <a:off x="424193" y="4291108"/>
            <a:ext cx="4598181" cy="1680177"/>
            <a:chOff x="424193" y="4291108"/>
            <a:chExt cx="4598181" cy="1680177"/>
          </a:xfrm>
        </p:grpSpPr>
        <p:sp>
          <p:nvSpPr>
            <p:cNvPr id="54" name="矩形: 剪去单角 53">
              <a:extLst>
                <a:ext uri="{FF2B5EF4-FFF2-40B4-BE49-F238E27FC236}">
                  <a16:creationId xmlns:a16="http://schemas.microsoft.com/office/drawing/2014/main" id="{3A943114-64C3-0243-2B0B-7C22B9F31AC1}"/>
                </a:ext>
              </a:extLst>
            </p:cNvPr>
            <p:cNvSpPr/>
            <p:nvPr/>
          </p:nvSpPr>
          <p:spPr>
            <a:xfrm flipH="1">
              <a:off x="424193" y="4291108"/>
              <a:ext cx="3807643" cy="1680177"/>
            </a:xfrm>
            <a:custGeom>
              <a:avLst/>
              <a:gdLst>
                <a:gd name="csX0" fmla="*/ 0 w 3807643"/>
                <a:gd name="csY0" fmla="*/ 0 h 1680177"/>
                <a:gd name="csX1" fmla="*/ 517383 w 3807643"/>
                <a:gd name="csY1" fmla="*/ 0 h 1680177"/>
                <a:gd name="csX2" fmla="*/ 1105317 w 3807643"/>
                <a:gd name="csY2" fmla="*/ 0 h 1680177"/>
                <a:gd name="csX3" fmla="*/ 1622700 w 3807643"/>
                <a:gd name="csY3" fmla="*/ 0 h 1680177"/>
                <a:gd name="csX4" fmla="*/ 2210634 w 3807643"/>
                <a:gd name="csY4" fmla="*/ 0 h 1680177"/>
                <a:gd name="csX5" fmla="*/ 2692741 w 3807643"/>
                <a:gd name="csY5" fmla="*/ 0 h 1680177"/>
                <a:gd name="csX6" fmla="*/ 3527608 w 3807643"/>
                <a:gd name="csY6" fmla="*/ 0 h 1680177"/>
                <a:gd name="csX7" fmla="*/ 3807643 w 3807643"/>
                <a:gd name="csY7" fmla="*/ 280035 h 1680177"/>
                <a:gd name="csX8" fmla="*/ 3807643 w 3807643"/>
                <a:gd name="csY8" fmla="*/ 718746 h 1680177"/>
                <a:gd name="csX9" fmla="*/ 3807643 w 3807643"/>
                <a:gd name="csY9" fmla="*/ 1171459 h 1680177"/>
                <a:gd name="csX10" fmla="*/ 3807643 w 3807643"/>
                <a:gd name="csY10" fmla="*/ 1680177 h 1680177"/>
                <a:gd name="csX11" fmla="*/ 3173036 w 3807643"/>
                <a:gd name="csY11" fmla="*/ 1680177 h 1680177"/>
                <a:gd name="csX12" fmla="*/ 2614582 w 3807643"/>
                <a:gd name="csY12" fmla="*/ 1680177 h 1680177"/>
                <a:gd name="csX13" fmla="*/ 2094204 w 3807643"/>
                <a:gd name="csY13" fmla="*/ 1680177 h 1680177"/>
                <a:gd name="csX14" fmla="*/ 1535749 w 3807643"/>
                <a:gd name="csY14" fmla="*/ 1680177 h 1680177"/>
                <a:gd name="csX15" fmla="*/ 863066 w 3807643"/>
                <a:gd name="csY15" fmla="*/ 1680177 h 1680177"/>
                <a:gd name="csX16" fmla="*/ 0 w 3807643"/>
                <a:gd name="csY16" fmla="*/ 1680177 h 1680177"/>
                <a:gd name="csX17" fmla="*/ 0 w 3807643"/>
                <a:gd name="csY17" fmla="*/ 1170523 h 1680177"/>
                <a:gd name="csX18" fmla="*/ 0 w 3807643"/>
                <a:gd name="csY18" fmla="*/ 660870 h 1680177"/>
                <a:gd name="csX19" fmla="*/ 0 w 3807643"/>
                <a:gd name="csY19" fmla="*/ 0 h 16801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3807643" h="1680177" fill="none" extrusionOk="0">
                  <a:moveTo>
                    <a:pt x="0" y="0"/>
                  </a:moveTo>
                  <a:cubicBezTo>
                    <a:pt x="230265" y="-22465"/>
                    <a:pt x="380098" y="23672"/>
                    <a:pt x="517383" y="0"/>
                  </a:cubicBezTo>
                  <a:cubicBezTo>
                    <a:pt x="654668" y="-23672"/>
                    <a:pt x="921320" y="-3393"/>
                    <a:pt x="1105317" y="0"/>
                  </a:cubicBezTo>
                  <a:cubicBezTo>
                    <a:pt x="1289314" y="3393"/>
                    <a:pt x="1456241" y="25584"/>
                    <a:pt x="1622700" y="0"/>
                  </a:cubicBezTo>
                  <a:cubicBezTo>
                    <a:pt x="1789159" y="-25584"/>
                    <a:pt x="1960929" y="29395"/>
                    <a:pt x="2210634" y="0"/>
                  </a:cubicBezTo>
                  <a:cubicBezTo>
                    <a:pt x="2460339" y="-29395"/>
                    <a:pt x="2515236" y="-15904"/>
                    <a:pt x="2692741" y="0"/>
                  </a:cubicBezTo>
                  <a:cubicBezTo>
                    <a:pt x="2870246" y="15904"/>
                    <a:pt x="3165642" y="-27623"/>
                    <a:pt x="3527608" y="0"/>
                  </a:cubicBezTo>
                  <a:cubicBezTo>
                    <a:pt x="3623690" y="78331"/>
                    <a:pt x="3692885" y="186158"/>
                    <a:pt x="3807643" y="280035"/>
                  </a:cubicBezTo>
                  <a:cubicBezTo>
                    <a:pt x="3801321" y="392933"/>
                    <a:pt x="3818160" y="571442"/>
                    <a:pt x="3807643" y="718746"/>
                  </a:cubicBezTo>
                  <a:cubicBezTo>
                    <a:pt x="3797126" y="866050"/>
                    <a:pt x="3795214" y="974961"/>
                    <a:pt x="3807643" y="1171459"/>
                  </a:cubicBezTo>
                  <a:cubicBezTo>
                    <a:pt x="3820072" y="1367957"/>
                    <a:pt x="3828026" y="1487122"/>
                    <a:pt x="3807643" y="1680177"/>
                  </a:cubicBezTo>
                  <a:cubicBezTo>
                    <a:pt x="3677042" y="1710009"/>
                    <a:pt x="3330786" y="1699982"/>
                    <a:pt x="3173036" y="1680177"/>
                  </a:cubicBezTo>
                  <a:cubicBezTo>
                    <a:pt x="3015286" y="1660372"/>
                    <a:pt x="2799921" y="1659623"/>
                    <a:pt x="2614582" y="1680177"/>
                  </a:cubicBezTo>
                  <a:cubicBezTo>
                    <a:pt x="2429243" y="1700731"/>
                    <a:pt x="2257427" y="1705396"/>
                    <a:pt x="2094204" y="1680177"/>
                  </a:cubicBezTo>
                  <a:cubicBezTo>
                    <a:pt x="1930981" y="1654958"/>
                    <a:pt x="1810535" y="1657936"/>
                    <a:pt x="1535749" y="1680177"/>
                  </a:cubicBezTo>
                  <a:cubicBezTo>
                    <a:pt x="1260963" y="1702418"/>
                    <a:pt x="1098978" y="1678250"/>
                    <a:pt x="863066" y="1680177"/>
                  </a:cubicBezTo>
                  <a:cubicBezTo>
                    <a:pt x="627154" y="1682104"/>
                    <a:pt x="393904" y="1716189"/>
                    <a:pt x="0" y="1680177"/>
                  </a:cubicBezTo>
                  <a:cubicBezTo>
                    <a:pt x="24163" y="1535007"/>
                    <a:pt x="17546" y="1420086"/>
                    <a:pt x="0" y="1170523"/>
                  </a:cubicBezTo>
                  <a:cubicBezTo>
                    <a:pt x="-17546" y="920960"/>
                    <a:pt x="9812" y="777460"/>
                    <a:pt x="0" y="660870"/>
                  </a:cubicBezTo>
                  <a:cubicBezTo>
                    <a:pt x="-9812" y="544280"/>
                    <a:pt x="24488" y="326642"/>
                    <a:pt x="0" y="0"/>
                  </a:cubicBezTo>
                  <a:close/>
                </a:path>
                <a:path w="3807643" h="1680177" stroke="0" extrusionOk="0">
                  <a:moveTo>
                    <a:pt x="0" y="0"/>
                  </a:moveTo>
                  <a:cubicBezTo>
                    <a:pt x="223959" y="-18664"/>
                    <a:pt x="427029" y="-10130"/>
                    <a:pt x="552659" y="0"/>
                  </a:cubicBezTo>
                  <a:cubicBezTo>
                    <a:pt x="678289" y="10130"/>
                    <a:pt x="933391" y="2397"/>
                    <a:pt x="1034765" y="0"/>
                  </a:cubicBezTo>
                  <a:cubicBezTo>
                    <a:pt x="1136139" y="-2397"/>
                    <a:pt x="1484478" y="31919"/>
                    <a:pt x="1693252" y="0"/>
                  </a:cubicBezTo>
                  <a:cubicBezTo>
                    <a:pt x="1902026" y="-31919"/>
                    <a:pt x="2004236" y="-4119"/>
                    <a:pt x="2245910" y="0"/>
                  </a:cubicBezTo>
                  <a:cubicBezTo>
                    <a:pt x="2487584" y="4119"/>
                    <a:pt x="2579767" y="23657"/>
                    <a:pt x="2798569" y="0"/>
                  </a:cubicBezTo>
                  <a:cubicBezTo>
                    <a:pt x="3017371" y="-23657"/>
                    <a:pt x="3349037" y="-10269"/>
                    <a:pt x="3527608" y="0"/>
                  </a:cubicBezTo>
                  <a:cubicBezTo>
                    <a:pt x="3621230" y="78681"/>
                    <a:pt x="3723360" y="215136"/>
                    <a:pt x="3807643" y="280035"/>
                  </a:cubicBezTo>
                  <a:cubicBezTo>
                    <a:pt x="3812186" y="475083"/>
                    <a:pt x="3794878" y="542229"/>
                    <a:pt x="3807643" y="746749"/>
                  </a:cubicBezTo>
                  <a:cubicBezTo>
                    <a:pt x="3820408" y="951269"/>
                    <a:pt x="3822808" y="1061931"/>
                    <a:pt x="3807643" y="1171459"/>
                  </a:cubicBezTo>
                  <a:cubicBezTo>
                    <a:pt x="3792479" y="1280987"/>
                    <a:pt x="3826103" y="1432133"/>
                    <a:pt x="3807643" y="1680177"/>
                  </a:cubicBezTo>
                  <a:cubicBezTo>
                    <a:pt x="3533744" y="1698595"/>
                    <a:pt x="3345026" y="1658454"/>
                    <a:pt x="3173036" y="1680177"/>
                  </a:cubicBezTo>
                  <a:cubicBezTo>
                    <a:pt x="3001046" y="1701900"/>
                    <a:pt x="2823208" y="1665509"/>
                    <a:pt x="2500352" y="1680177"/>
                  </a:cubicBezTo>
                  <a:cubicBezTo>
                    <a:pt x="2177496" y="1694845"/>
                    <a:pt x="2074768" y="1688747"/>
                    <a:pt x="1903822" y="1680177"/>
                  </a:cubicBezTo>
                  <a:cubicBezTo>
                    <a:pt x="1732876" y="1671608"/>
                    <a:pt x="1532906" y="1689495"/>
                    <a:pt x="1193061" y="1680177"/>
                  </a:cubicBezTo>
                  <a:cubicBezTo>
                    <a:pt x="853216" y="1670859"/>
                    <a:pt x="381999" y="1671299"/>
                    <a:pt x="0" y="1680177"/>
                  </a:cubicBezTo>
                  <a:cubicBezTo>
                    <a:pt x="-9094" y="1461514"/>
                    <a:pt x="-25607" y="1320015"/>
                    <a:pt x="0" y="1120118"/>
                  </a:cubicBezTo>
                  <a:cubicBezTo>
                    <a:pt x="25607" y="920221"/>
                    <a:pt x="-24865" y="774182"/>
                    <a:pt x="0" y="543257"/>
                  </a:cubicBezTo>
                  <a:cubicBezTo>
                    <a:pt x="24865" y="312332"/>
                    <a:pt x="14444" y="198797"/>
                    <a:pt x="0" y="0"/>
                  </a:cubicBezTo>
                  <a:close/>
                </a:path>
              </a:pathLst>
            </a:custGeom>
            <a:solidFill>
              <a:schemeClr val="accent1">
                <a:alpha val="20000"/>
              </a:schemeClr>
            </a:solidFill>
            <a:ln>
              <a:gradFill flip="none" rotWithShape="1">
                <a:gsLst>
                  <a:gs pos="0">
                    <a:schemeClr val="tx2"/>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xtLst>
                <a:ext uri="{C807C97D-BFC1-408E-A445-0C87EB9F89A2}">
                  <ask:lineSketchStyleProps xmlns:ask="http://schemas.microsoft.com/office/drawing/2018/sketchyshapes" sd="1219033472">
                    <a:prstGeom prst="snip1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a:extLst>
                <a:ext uri="{FF2B5EF4-FFF2-40B4-BE49-F238E27FC236}">
                  <a16:creationId xmlns:a16="http://schemas.microsoft.com/office/drawing/2014/main" id="{15A9A899-A9B2-05AB-727D-571992EC4960}"/>
                </a:ext>
              </a:extLst>
            </p:cNvPr>
            <p:cNvSpPr/>
            <p:nvPr/>
          </p:nvSpPr>
          <p:spPr>
            <a:xfrm>
              <a:off x="4415126" y="4291108"/>
              <a:ext cx="607248" cy="16801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t>理论意义</a:t>
              </a:r>
            </a:p>
          </p:txBody>
        </p:sp>
        <p:sp>
          <p:nvSpPr>
            <p:cNvPr id="41" name="文本框 40">
              <a:extLst>
                <a:ext uri="{FF2B5EF4-FFF2-40B4-BE49-F238E27FC236}">
                  <a16:creationId xmlns:a16="http://schemas.microsoft.com/office/drawing/2014/main" id="{68E1FF79-809E-3043-BA65-766E942D57C5}"/>
                </a:ext>
              </a:extLst>
            </p:cNvPr>
            <p:cNvSpPr txBox="1"/>
            <p:nvPr/>
          </p:nvSpPr>
          <p:spPr>
            <a:xfrm>
              <a:off x="673843" y="4346798"/>
              <a:ext cx="3570089" cy="646331"/>
            </a:xfrm>
            <a:prstGeom prst="rect">
              <a:avLst/>
            </a:prstGeom>
            <a:noFill/>
          </p:spPr>
          <p:txBody>
            <a:bodyPr vert="horz" wrap="square">
              <a:spAutoFit/>
            </a:bodyPr>
            <a:lstStyle/>
            <a:p>
              <a:pPr algn="r"/>
              <a:r>
                <a:rPr lang="zh-CN" altLang="en-US" dirty="0"/>
                <a:t>探索“语言机制 </a:t>
              </a:r>
              <a:r>
                <a:rPr lang="en-US" altLang="zh-CN" dirty="0"/>
                <a:t>+ </a:t>
              </a:r>
              <a:r>
                <a:rPr lang="zh-CN" altLang="en-US" dirty="0"/>
                <a:t>内核架构”的新结合方式</a:t>
              </a:r>
            </a:p>
          </p:txBody>
        </p:sp>
        <p:sp>
          <p:nvSpPr>
            <p:cNvPr id="48" name="文本框 47">
              <a:extLst>
                <a:ext uri="{FF2B5EF4-FFF2-40B4-BE49-F238E27FC236}">
                  <a16:creationId xmlns:a16="http://schemas.microsoft.com/office/drawing/2014/main" id="{3FFD7626-28B8-6742-93A5-AB4D7C44A6B6}"/>
                </a:ext>
              </a:extLst>
            </p:cNvPr>
            <p:cNvSpPr txBox="1"/>
            <p:nvPr/>
          </p:nvSpPr>
          <p:spPr>
            <a:xfrm>
              <a:off x="496480" y="5138884"/>
              <a:ext cx="3761145" cy="646331"/>
            </a:xfrm>
            <a:prstGeom prst="rect">
              <a:avLst/>
            </a:prstGeom>
            <a:noFill/>
          </p:spPr>
          <p:txBody>
            <a:bodyPr wrap="square">
              <a:spAutoFit/>
            </a:bodyPr>
            <a:lstStyle/>
            <a:p>
              <a:pPr algn="r"/>
              <a:r>
                <a:rPr lang="zh-CN" altLang="en-US" dirty="0"/>
                <a:t>在性能、隔离与通用性之间取得平衡</a:t>
              </a:r>
            </a:p>
          </p:txBody>
        </p:sp>
      </p:grpSp>
      <p:grpSp>
        <p:nvGrpSpPr>
          <p:cNvPr id="13" name="组合 12">
            <a:extLst>
              <a:ext uri="{FF2B5EF4-FFF2-40B4-BE49-F238E27FC236}">
                <a16:creationId xmlns:a16="http://schemas.microsoft.com/office/drawing/2014/main" id="{E07D0214-4373-EED9-EBF2-E061831A3E9A}"/>
              </a:ext>
            </a:extLst>
          </p:cNvPr>
          <p:cNvGrpSpPr/>
          <p:nvPr/>
        </p:nvGrpSpPr>
        <p:grpSpPr>
          <a:xfrm>
            <a:off x="6223413" y="4291108"/>
            <a:ext cx="4710718" cy="1680177"/>
            <a:chOff x="6223413" y="4291108"/>
            <a:chExt cx="4710718" cy="1680177"/>
          </a:xfrm>
        </p:grpSpPr>
        <p:sp>
          <p:nvSpPr>
            <p:cNvPr id="53" name="矩形: 剪去单角 52">
              <a:extLst>
                <a:ext uri="{FF2B5EF4-FFF2-40B4-BE49-F238E27FC236}">
                  <a16:creationId xmlns:a16="http://schemas.microsoft.com/office/drawing/2014/main" id="{70F61F9F-814C-402D-75E7-5CCBE61C50F1}"/>
                </a:ext>
              </a:extLst>
            </p:cNvPr>
            <p:cNvSpPr/>
            <p:nvPr/>
          </p:nvSpPr>
          <p:spPr>
            <a:xfrm>
              <a:off x="7001093" y="4291109"/>
              <a:ext cx="3933038" cy="1680176"/>
            </a:xfrm>
            <a:custGeom>
              <a:avLst/>
              <a:gdLst>
                <a:gd name="csX0" fmla="*/ 0 w 3933038"/>
                <a:gd name="csY0" fmla="*/ 0 h 1680176"/>
                <a:gd name="csX1" fmla="*/ 535774 w 3933038"/>
                <a:gd name="csY1" fmla="*/ 0 h 1680176"/>
                <a:gd name="csX2" fmla="*/ 1144608 w 3933038"/>
                <a:gd name="csY2" fmla="*/ 0 h 1680176"/>
                <a:gd name="csX3" fmla="*/ 1680381 w 3933038"/>
                <a:gd name="csY3" fmla="*/ 0 h 1680176"/>
                <a:gd name="csX4" fmla="*/ 2289215 w 3933038"/>
                <a:gd name="csY4" fmla="*/ 0 h 1680176"/>
                <a:gd name="csX5" fmla="*/ 2788459 w 3933038"/>
                <a:gd name="csY5" fmla="*/ 0 h 1680176"/>
                <a:gd name="csX6" fmla="*/ 3653003 w 3933038"/>
                <a:gd name="csY6" fmla="*/ 0 h 1680176"/>
                <a:gd name="csX7" fmla="*/ 3933038 w 3933038"/>
                <a:gd name="csY7" fmla="*/ 280035 h 1680176"/>
                <a:gd name="csX8" fmla="*/ 3933038 w 3933038"/>
                <a:gd name="csY8" fmla="*/ 718746 h 1680176"/>
                <a:gd name="csX9" fmla="*/ 3933038 w 3933038"/>
                <a:gd name="csY9" fmla="*/ 1171458 h 1680176"/>
                <a:gd name="csX10" fmla="*/ 3933038 w 3933038"/>
                <a:gd name="csY10" fmla="*/ 1680176 h 1680176"/>
                <a:gd name="csX11" fmla="*/ 3277532 w 3933038"/>
                <a:gd name="csY11" fmla="*/ 1680176 h 1680176"/>
                <a:gd name="csX12" fmla="*/ 2700686 w 3933038"/>
                <a:gd name="csY12" fmla="*/ 1680176 h 1680176"/>
                <a:gd name="csX13" fmla="*/ 2163171 w 3933038"/>
                <a:gd name="csY13" fmla="*/ 1680176 h 1680176"/>
                <a:gd name="csX14" fmla="*/ 1586325 w 3933038"/>
                <a:gd name="csY14" fmla="*/ 1680176 h 1680176"/>
                <a:gd name="csX15" fmla="*/ 891489 w 3933038"/>
                <a:gd name="csY15" fmla="*/ 1680176 h 1680176"/>
                <a:gd name="csX16" fmla="*/ 0 w 3933038"/>
                <a:gd name="csY16" fmla="*/ 1680176 h 1680176"/>
                <a:gd name="csX17" fmla="*/ 0 w 3933038"/>
                <a:gd name="csY17" fmla="*/ 1170523 h 1680176"/>
                <a:gd name="csX18" fmla="*/ 0 w 3933038"/>
                <a:gd name="csY18" fmla="*/ 660869 h 1680176"/>
                <a:gd name="csX19" fmla="*/ 0 w 3933038"/>
                <a:gd name="csY19" fmla="*/ 0 h 16801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3933038" h="1680176" fill="none" extrusionOk="0">
                  <a:moveTo>
                    <a:pt x="0" y="0"/>
                  </a:moveTo>
                  <a:cubicBezTo>
                    <a:pt x="230093" y="-2322"/>
                    <a:pt x="409759" y="26681"/>
                    <a:pt x="535774" y="0"/>
                  </a:cubicBezTo>
                  <a:cubicBezTo>
                    <a:pt x="661789" y="-26681"/>
                    <a:pt x="981666" y="-7245"/>
                    <a:pt x="1144608" y="0"/>
                  </a:cubicBezTo>
                  <a:cubicBezTo>
                    <a:pt x="1307550" y="7245"/>
                    <a:pt x="1518679" y="-8194"/>
                    <a:pt x="1680381" y="0"/>
                  </a:cubicBezTo>
                  <a:cubicBezTo>
                    <a:pt x="1842083" y="8194"/>
                    <a:pt x="2167244" y="-145"/>
                    <a:pt x="2289215" y="0"/>
                  </a:cubicBezTo>
                  <a:cubicBezTo>
                    <a:pt x="2411186" y="145"/>
                    <a:pt x="2595606" y="-20354"/>
                    <a:pt x="2788459" y="0"/>
                  </a:cubicBezTo>
                  <a:cubicBezTo>
                    <a:pt x="2981312" y="20354"/>
                    <a:pt x="3321170" y="-33864"/>
                    <a:pt x="3653003" y="0"/>
                  </a:cubicBezTo>
                  <a:cubicBezTo>
                    <a:pt x="3749085" y="78331"/>
                    <a:pt x="3818280" y="186158"/>
                    <a:pt x="3933038" y="280035"/>
                  </a:cubicBezTo>
                  <a:cubicBezTo>
                    <a:pt x="3926716" y="392933"/>
                    <a:pt x="3943555" y="571442"/>
                    <a:pt x="3933038" y="718746"/>
                  </a:cubicBezTo>
                  <a:cubicBezTo>
                    <a:pt x="3922521" y="866050"/>
                    <a:pt x="3916577" y="980589"/>
                    <a:pt x="3933038" y="1171458"/>
                  </a:cubicBezTo>
                  <a:cubicBezTo>
                    <a:pt x="3949499" y="1362327"/>
                    <a:pt x="3953421" y="1487121"/>
                    <a:pt x="3933038" y="1680176"/>
                  </a:cubicBezTo>
                  <a:cubicBezTo>
                    <a:pt x="3759925" y="1703957"/>
                    <a:pt x="3485850" y="1665669"/>
                    <a:pt x="3277532" y="1680176"/>
                  </a:cubicBezTo>
                  <a:cubicBezTo>
                    <a:pt x="3069214" y="1694683"/>
                    <a:pt x="2852261" y="1669737"/>
                    <a:pt x="2700686" y="1680176"/>
                  </a:cubicBezTo>
                  <a:cubicBezTo>
                    <a:pt x="2549111" y="1690615"/>
                    <a:pt x="2283569" y="1681735"/>
                    <a:pt x="2163171" y="1680176"/>
                  </a:cubicBezTo>
                  <a:cubicBezTo>
                    <a:pt x="2042774" y="1678617"/>
                    <a:pt x="1732123" y="1678930"/>
                    <a:pt x="1586325" y="1680176"/>
                  </a:cubicBezTo>
                  <a:cubicBezTo>
                    <a:pt x="1440527" y="1681422"/>
                    <a:pt x="1047968" y="1674341"/>
                    <a:pt x="891489" y="1680176"/>
                  </a:cubicBezTo>
                  <a:cubicBezTo>
                    <a:pt x="735010" y="1686011"/>
                    <a:pt x="388416" y="1642648"/>
                    <a:pt x="0" y="1680176"/>
                  </a:cubicBezTo>
                  <a:cubicBezTo>
                    <a:pt x="-23660" y="1532497"/>
                    <a:pt x="25089" y="1419723"/>
                    <a:pt x="0" y="1170523"/>
                  </a:cubicBezTo>
                  <a:cubicBezTo>
                    <a:pt x="-25089" y="921323"/>
                    <a:pt x="5300" y="782323"/>
                    <a:pt x="0" y="660869"/>
                  </a:cubicBezTo>
                  <a:cubicBezTo>
                    <a:pt x="-5300" y="539415"/>
                    <a:pt x="24724" y="324795"/>
                    <a:pt x="0" y="0"/>
                  </a:cubicBezTo>
                  <a:close/>
                </a:path>
                <a:path w="3933038" h="1680176" stroke="0" extrusionOk="0">
                  <a:moveTo>
                    <a:pt x="0" y="0"/>
                  </a:moveTo>
                  <a:cubicBezTo>
                    <a:pt x="175888" y="7036"/>
                    <a:pt x="433179" y="22713"/>
                    <a:pt x="572304" y="0"/>
                  </a:cubicBezTo>
                  <a:cubicBezTo>
                    <a:pt x="711429" y="-22713"/>
                    <a:pt x="861041" y="-9313"/>
                    <a:pt x="1071548" y="0"/>
                  </a:cubicBezTo>
                  <a:cubicBezTo>
                    <a:pt x="1282055" y="9313"/>
                    <a:pt x="1543385" y="-14353"/>
                    <a:pt x="1753441" y="0"/>
                  </a:cubicBezTo>
                  <a:cubicBezTo>
                    <a:pt x="1963497" y="14353"/>
                    <a:pt x="2204110" y="16343"/>
                    <a:pt x="2325745" y="0"/>
                  </a:cubicBezTo>
                  <a:cubicBezTo>
                    <a:pt x="2447380" y="-16343"/>
                    <a:pt x="2764211" y="20245"/>
                    <a:pt x="2898049" y="0"/>
                  </a:cubicBezTo>
                  <a:cubicBezTo>
                    <a:pt x="3031887" y="-20245"/>
                    <a:pt x="3325724" y="32317"/>
                    <a:pt x="3653003" y="0"/>
                  </a:cubicBezTo>
                  <a:cubicBezTo>
                    <a:pt x="3746625" y="78681"/>
                    <a:pt x="3848755" y="215136"/>
                    <a:pt x="3933038" y="280035"/>
                  </a:cubicBezTo>
                  <a:cubicBezTo>
                    <a:pt x="3937581" y="475083"/>
                    <a:pt x="3920273" y="542229"/>
                    <a:pt x="3933038" y="746749"/>
                  </a:cubicBezTo>
                  <a:cubicBezTo>
                    <a:pt x="3945803" y="951269"/>
                    <a:pt x="3945891" y="1069926"/>
                    <a:pt x="3933038" y="1171458"/>
                  </a:cubicBezTo>
                  <a:cubicBezTo>
                    <a:pt x="3920185" y="1272990"/>
                    <a:pt x="3951498" y="1432132"/>
                    <a:pt x="3933038" y="1680176"/>
                  </a:cubicBezTo>
                  <a:cubicBezTo>
                    <a:pt x="3727908" y="1674372"/>
                    <a:pt x="3518380" y="1670803"/>
                    <a:pt x="3277532" y="1680176"/>
                  </a:cubicBezTo>
                  <a:cubicBezTo>
                    <a:pt x="3036684" y="1689549"/>
                    <a:pt x="2816066" y="1706647"/>
                    <a:pt x="2582695" y="1680176"/>
                  </a:cubicBezTo>
                  <a:cubicBezTo>
                    <a:pt x="2349324" y="1653705"/>
                    <a:pt x="2200702" y="1696279"/>
                    <a:pt x="1966519" y="1680176"/>
                  </a:cubicBezTo>
                  <a:cubicBezTo>
                    <a:pt x="1732336" y="1664073"/>
                    <a:pt x="1595157" y="1716589"/>
                    <a:pt x="1232352" y="1680176"/>
                  </a:cubicBezTo>
                  <a:cubicBezTo>
                    <a:pt x="869547" y="1643763"/>
                    <a:pt x="593225" y="1684686"/>
                    <a:pt x="0" y="1680176"/>
                  </a:cubicBezTo>
                  <a:cubicBezTo>
                    <a:pt x="-9094" y="1461513"/>
                    <a:pt x="-25607" y="1320014"/>
                    <a:pt x="0" y="1120117"/>
                  </a:cubicBezTo>
                  <a:cubicBezTo>
                    <a:pt x="25607" y="920220"/>
                    <a:pt x="-19959" y="772289"/>
                    <a:pt x="0" y="543257"/>
                  </a:cubicBezTo>
                  <a:cubicBezTo>
                    <a:pt x="19959" y="314225"/>
                    <a:pt x="14444" y="198797"/>
                    <a:pt x="0" y="0"/>
                  </a:cubicBezTo>
                  <a:close/>
                </a:path>
              </a:pathLst>
            </a:custGeom>
            <a:solidFill>
              <a:schemeClr val="accent1">
                <a:alpha val="20000"/>
              </a:schemeClr>
            </a:solidFill>
            <a:ln>
              <a:gradFill flip="none" rotWithShape="1">
                <a:gsLst>
                  <a:gs pos="0">
                    <a:schemeClr val="tx2"/>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xtLst>
                <a:ext uri="{C807C97D-BFC1-408E-A445-0C87EB9F89A2}">
                  <ask:lineSketchStyleProps xmlns:ask="http://schemas.microsoft.com/office/drawing/2018/sketchyshapes" sd="1219033472">
                    <a:prstGeom prst="snip1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42">
              <a:extLst>
                <a:ext uri="{FF2B5EF4-FFF2-40B4-BE49-F238E27FC236}">
                  <a16:creationId xmlns:a16="http://schemas.microsoft.com/office/drawing/2014/main" id="{88D27B56-67DA-0C57-CF41-51366B4105BC}"/>
                </a:ext>
              </a:extLst>
            </p:cNvPr>
            <p:cNvSpPr txBox="1"/>
            <p:nvPr/>
          </p:nvSpPr>
          <p:spPr>
            <a:xfrm>
              <a:off x="7120059" y="5227204"/>
              <a:ext cx="3695106" cy="369332"/>
            </a:xfrm>
            <a:prstGeom prst="rect">
              <a:avLst/>
            </a:prstGeom>
            <a:noFill/>
          </p:spPr>
          <p:txBody>
            <a:bodyPr wrap="square">
              <a:spAutoFit/>
            </a:bodyPr>
            <a:lstStyle/>
            <a:p>
              <a:r>
                <a:rPr lang="zh-CN" altLang="en-US" dirty="0"/>
                <a:t>降低内核模块开发与维护成本</a:t>
              </a:r>
            </a:p>
          </p:txBody>
        </p:sp>
        <p:sp>
          <p:nvSpPr>
            <p:cNvPr id="44" name="矩形 43">
              <a:extLst>
                <a:ext uri="{FF2B5EF4-FFF2-40B4-BE49-F238E27FC236}">
                  <a16:creationId xmlns:a16="http://schemas.microsoft.com/office/drawing/2014/main" id="{8A28994D-7364-186C-7A9A-A762D6BCA276}"/>
                </a:ext>
              </a:extLst>
            </p:cNvPr>
            <p:cNvSpPr/>
            <p:nvPr/>
          </p:nvSpPr>
          <p:spPr>
            <a:xfrm>
              <a:off x="6223413" y="4291108"/>
              <a:ext cx="607248" cy="16801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t>工程意义</a:t>
              </a:r>
            </a:p>
          </p:txBody>
        </p:sp>
        <p:sp>
          <p:nvSpPr>
            <p:cNvPr id="46" name="文本框 45">
              <a:extLst>
                <a:ext uri="{FF2B5EF4-FFF2-40B4-BE49-F238E27FC236}">
                  <a16:creationId xmlns:a16="http://schemas.microsoft.com/office/drawing/2014/main" id="{32D177C7-9C72-7A76-FF25-7ADED94217E9}"/>
                </a:ext>
              </a:extLst>
            </p:cNvPr>
            <p:cNvSpPr txBox="1"/>
            <p:nvPr/>
          </p:nvSpPr>
          <p:spPr>
            <a:xfrm>
              <a:off x="7113933" y="4394395"/>
              <a:ext cx="3216105" cy="369332"/>
            </a:xfrm>
            <a:prstGeom prst="rect">
              <a:avLst/>
            </a:prstGeom>
            <a:noFill/>
          </p:spPr>
          <p:txBody>
            <a:bodyPr wrap="square">
              <a:spAutoFit/>
            </a:bodyPr>
            <a:lstStyle/>
            <a:p>
              <a:r>
                <a:rPr lang="zh-CN" altLang="en-US" dirty="0"/>
                <a:t>显著提升内核稳定性与安全性</a:t>
              </a:r>
            </a:p>
          </p:txBody>
        </p:sp>
        <p:sp>
          <p:nvSpPr>
            <p:cNvPr id="50" name="文本框 49">
              <a:extLst>
                <a:ext uri="{FF2B5EF4-FFF2-40B4-BE49-F238E27FC236}">
                  <a16:creationId xmlns:a16="http://schemas.microsoft.com/office/drawing/2014/main" id="{7EADCBAD-FDC4-0486-1315-43C37946A602}"/>
                </a:ext>
              </a:extLst>
            </p:cNvPr>
            <p:cNvSpPr txBox="1"/>
            <p:nvPr/>
          </p:nvSpPr>
          <p:spPr>
            <a:xfrm>
              <a:off x="7113933" y="4808462"/>
              <a:ext cx="3285661" cy="369332"/>
            </a:xfrm>
            <a:prstGeom prst="rect">
              <a:avLst/>
            </a:prstGeom>
            <a:noFill/>
          </p:spPr>
          <p:txBody>
            <a:bodyPr wrap="square">
              <a:spAutoFit/>
            </a:bodyPr>
            <a:lstStyle/>
            <a:p>
              <a:r>
                <a:rPr lang="zh-CN" altLang="en-US" dirty="0"/>
                <a:t>为内核热更新提供结构性支撑</a:t>
              </a:r>
            </a:p>
          </p:txBody>
        </p:sp>
      </p:grpSp>
      <p:sp>
        <p:nvSpPr>
          <p:cNvPr id="52" name="加号 51">
            <a:extLst>
              <a:ext uri="{FF2B5EF4-FFF2-40B4-BE49-F238E27FC236}">
                <a16:creationId xmlns:a16="http://schemas.microsoft.com/office/drawing/2014/main" id="{486861C6-DB60-21E4-39C3-1DC5890AC09E}"/>
              </a:ext>
            </a:extLst>
          </p:cNvPr>
          <p:cNvSpPr/>
          <p:nvPr/>
        </p:nvSpPr>
        <p:spPr>
          <a:xfrm>
            <a:off x="5106024" y="4669963"/>
            <a:ext cx="946957" cy="741907"/>
          </a:xfrm>
          <a:prstGeom prst="mathPlus">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31068264"/>
      </p:ext>
    </p:extLst>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7A8C932-FDD5-8AC0-24A9-96A7ED42BF2A}"/>
            </a:ext>
          </a:extLst>
        </p:cNvPr>
        <p:cNvGrpSpPr/>
        <p:nvPr/>
      </p:nvGrpSpPr>
      <p:grpSpPr>
        <a:xfrm>
          <a:off x="0" y="0"/>
          <a:ext cx="0" cy="0"/>
          <a:chOff x="0" y="0"/>
          <a:chExt cx="0" cy="0"/>
        </a:xfrm>
      </p:grpSpPr>
      <p:sp>
        <p:nvSpPr>
          <p:cNvPr id="9" name="标题 8">
            <a:extLst>
              <a:ext uri="{FF2B5EF4-FFF2-40B4-BE49-F238E27FC236}">
                <a16:creationId xmlns:a16="http://schemas.microsoft.com/office/drawing/2014/main" id="{72ECB8F9-C9EA-84EC-D66C-C54B28B90B91}"/>
              </a:ext>
            </a:extLst>
          </p:cNvPr>
          <p:cNvSpPr>
            <a:spLocks noGrp="1"/>
          </p:cNvSpPr>
          <p:nvPr>
            <p:ph type="title"/>
          </p:nvPr>
        </p:nvSpPr>
        <p:spPr>
          <a:xfrm>
            <a:off x="1173494" y="249067"/>
            <a:ext cx="8048203" cy="480131"/>
          </a:xfrm>
        </p:spPr>
        <p:txBody>
          <a:bodyPr/>
          <a:lstStyle/>
          <a:p>
            <a:r>
              <a:rPr lang="zh-CN" altLang="en-US" spc="300" dirty="0">
                <a:latin typeface="+mj-ea"/>
              </a:rPr>
              <a:t>研究现状与关键问题</a:t>
            </a:r>
          </a:p>
        </p:txBody>
      </p:sp>
      <p:sp>
        <p:nvSpPr>
          <p:cNvPr id="5" name="矩形 4">
            <a:extLst>
              <a:ext uri="{FF2B5EF4-FFF2-40B4-BE49-F238E27FC236}">
                <a16:creationId xmlns:a16="http://schemas.microsoft.com/office/drawing/2014/main" id="{A4FBF15A-AFB4-38A8-CFA2-CA711B6C09CE}"/>
              </a:ext>
            </a:extLst>
          </p:cNvPr>
          <p:cNvSpPr/>
          <p:nvPr/>
        </p:nvSpPr>
        <p:spPr>
          <a:xfrm>
            <a:off x="2645853" y="4047389"/>
            <a:ext cx="1952421" cy="713453"/>
          </a:xfrm>
          <a:prstGeom prst="rect">
            <a:avLst/>
          </a:prstGeom>
          <a:solidFill>
            <a:srgbClr val="EFF8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 name="矩形 5">
            <a:extLst>
              <a:ext uri="{FF2B5EF4-FFF2-40B4-BE49-F238E27FC236}">
                <a16:creationId xmlns:a16="http://schemas.microsoft.com/office/drawing/2014/main" id="{A2ADCD93-EAEC-0258-1E87-BE92CFEF7040}"/>
              </a:ext>
            </a:extLst>
          </p:cNvPr>
          <p:cNvSpPr/>
          <p:nvPr/>
        </p:nvSpPr>
        <p:spPr>
          <a:xfrm>
            <a:off x="484254" y="4044833"/>
            <a:ext cx="1952421" cy="713453"/>
          </a:xfrm>
          <a:prstGeom prst="rect">
            <a:avLst/>
          </a:prstGeom>
          <a:solidFill>
            <a:srgbClr val="EFF8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8" name="矩形 7">
            <a:extLst>
              <a:ext uri="{FF2B5EF4-FFF2-40B4-BE49-F238E27FC236}">
                <a16:creationId xmlns:a16="http://schemas.microsoft.com/office/drawing/2014/main" id="{D1A07482-D727-C86B-4A7F-C9C9F252D9C0}"/>
              </a:ext>
            </a:extLst>
          </p:cNvPr>
          <p:cNvSpPr/>
          <p:nvPr/>
        </p:nvSpPr>
        <p:spPr>
          <a:xfrm>
            <a:off x="361950" y="3429000"/>
            <a:ext cx="11468100" cy="2755415"/>
          </a:xfrm>
          <a:prstGeom prst="rect">
            <a:avLst/>
          </a:prstGeom>
          <a:noFill/>
          <a:ln w="222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2" name="灯片编号占位符 3">
            <a:extLst>
              <a:ext uri="{FF2B5EF4-FFF2-40B4-BE49-F238E27FC236}">
                <a16:creationId xmlns:a16="http://schemas.microsoft.com/office/drawing/2014/main" id="{A136CDF8-57AF-CE72-51A4-D160227C18CE}"/>
              </a:ext>
            </a:extLst>
          </p:cNvPr>
          <p:cNvSpPr>
            <a:spLocks noGrp="1"/>
          </p:cNvSpPr>
          <p:nvPr/>
        </p:nvSpPr>
        <p:spPr>
          <a:xfrm>
            <a:off x="9315450" y="224928"/>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800" b="1"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2550ED5-0697-499D-99C7-583386341ACD}" type="slidenum">
              <a:rPr lang="zh-CN" altLang="en-US" sz="2400" smtClean="0"/>
              <a:pPr/>
              <a:t>27</a:t>
            </a:fld>
            <a:endParaRPr lang="zh-CN" altLang="en-US" dirty="0"/>
          </a:p>
        </p:txBody>
      </p:sp>
      <p:sp>
        <p:nvSpPr>
          <p:cNvPr id="13" name="矩形 12">
            <a:extLst>
              <a:ext uri="{FF2B5EF4-FFF2-40B4-BE49-F238E27FC236}">
                <a16:creationId xmlns:a16="http://schemas.microsoft.com/office/drawing/2014/main" id="{57ACC487-155E-55C7-67A0-75AB0F3051B2}"/>
              </a:ext>
            </a:extLst>
          </p:cNvPr>
          <p:cNvSpPr/>
          <p:nvPr/>
        </p:nvSpPr>
        <p:spPr>
          <a:xfrm>
            <a:off x="361950" y="996019"/>
            <a:ext cx="11477625" cy="918924"/>
          </a:xfrm>
          <a:prstGeom prst="rect">
            <a:avLst/>
          </a:prstGeom>
          <a:no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14" name="文本框 6">
            <a:extLst>
              <a:ext uri="{FF2B5EF4-FFF2-40B4-BE49-F238E27FC236}">
                <a16:creationId xmlns:a16="http://schemas.microsoft.com/office/drawing/2014/main" id="{0F540A92-892C-3045-52E2-0435D695690A}"/>
              </a:ext>
            </a:extLst>
          </p:cNvPr>
          <p:cNvSpPr txBox="1"/>
          <p:nvPr/>
        </p:nvSpPr>
        <p:spPr>
          <a:xfrm>
            <a:off x="361950" y="996018"/>
            <a:ext cx="11468100" cy="787523"/>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just">
              <a:lnSpc>
                <a:spcPct val="150000"/>
              </a:lnSpc>
              <a:buClr>
                <a:srgbClr val="FF0000"/>
              </a:buClr>
              <a:buFont typeface="Wingdings" panose="05000000000000000000" pitchFamily="2" charset="2"/>
              <a:buChar char="u"/>
            </a:pPr>
            <a:r>
              <a:rPr lang="zh-CN" altLang="en-US" sz="1600" b="1" dirty="0">
                <a:solidFill>
                  <a:srgbClr val="FF0000"/>
                </a:solidFill>
              </a:rPr>
              <a:t>工程背景：</a:t>
            </a:r>
            <a:r>
              <a:rPr lang="zh-CN" altLang="en-US" sz="1600" b="1" dirty="0"/>
              <a:t>在现代计算环境中，硬件性能已不再是主要瓶颈，但由于历史原因，主流商用操作系统（如</a:t>
            </a:r>
            <a:r>
              <a:rPr lang="en-US" altLang="zh-CN" sz="1600" b="1" dirty="0"/>
              <a:t>Linux</a:t>
            </a:r>
            <a:r>
              <a:rPr lang="zh-CN" altLang="en-US" sz="1600" b="1" dirty="0"/>
              <a:t>）内核仍普遍采用缺乏内存安全考虑的</a:t>
            </a:r>
            <a:r>
              <a:rPr lang="en-US" altLang="zh-CN" sz="1600" b="1" dirty="0"/>
              <a:t>C</a:t>
            </a:r>
            <a:r>
              <a:rPr lang="zh-CN" altLang="en-US" sz="1600" b="1" dirty="0"/>
              <a:t>语言和单体内核架构，导致其底层存在大量难以根除的内存安全漏洞，构成了严重的安全隐患</a:t>
            </a:r>
          </a:p>
        </p:txBody>
      </p:sp>
      <p:sp>
        <p:nvSpPr>
          <p:cNvPr id="15" name="矩形 14">
            <a:extLst>
              <a:ext uri="{FF2B5EF4-FFF2-40B4-BE49-F238E27FC236}">
                <a16:creationId xmlns:a16="http://schemas.microsoft.com/office/drawing/2014/main" id="{0A85A997-A13E-4F7A-DE50-BADEA78DDC2E}"/>
              </a:ext>
            </a:extLst>
          </p:cNvPr>
          <p:cNvSpPr/>
          <p:nvPr/>
        </p:nvSpPr>
        <p:spPr>
          <a:xfrm>
            <a:off x="361951" y="2083546"/>
            <a:ext cx="1054404" cy="894761"/>
          </a:xfrm>
          <a:prstGeom prst="rect">
            <a:avLst/>
          </a:prstGeom>
          <a:solidFill>
            <a:schemeClr val="accent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6" name="矩形 15">
            <a:extLst>
              <a:ext uri="{FF2B5EF4-FFF2-40B4-BE49-F238E27FC236}">
                <a16:creationId xmlns:a16="http://schemas.microsoft.com/office/drawing/2014/main" id="{382BF03F-F1CD-494A-E743-AC01196972C0}"/>
              </a:ext>
            </a:extLst>
          </p:cNvPr>
          <p:cNvSpPr/>
          <p:nvPr/>
        </p:nvSpPr>
        <p:spPr>
          <a:xfrm>
            <a:off x="1416354" y="2092482"/>
            <a:ext cx="10423221" cy="885825"/>
          </a:xfrm>
          <a:prstGeom prst="rect">
            <a:avLst/>
          </a:prstGeom>
          <a:solidFill>
            <a:srgbClr val="F9FAFF"/>
          </a:solidFill>
          <a:ln w="222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7" name="文本框 9">
            <a:extLst>
              <a:ext uri="{FF2B5EF4-FFF2-40B4-BE49-F238E27FC236}">
                <a16:creationId xmlns:a16="http://schemas.microsoft.com/office/drawing/2014/main" id="{15052471-0FDB-E211-E875-813FF8A92232}"/>
              </a:ext>
            </a:extLst>
          </p:cNvPr>
          <p:cNvSpPr txBox="1"/>
          <p:nvPr/>
        </p:nvSpPr>
        <p:spPr>
          <a:xfrm>
            <a:off x="508605" y="2181451"/>
            <a:ext cx="895351" cy="70788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solidFill>
                  <a:schemeClr val="bg1"/>
                </a:solidFill>
              </a:rPr>
              <a:t>核 心问 题</a:t>
            </a:r>
          </a:p>
        </p:txBody>
      </p:sp>
      <p:sp>
        <p:nvSpPr>
          <p:cNvPr id="18" name="文本框 10">
            <a:extLst>
              <a:ext uri="{FF2B5EF4-FFF2-40B4-BE49-F238E27FC236}">
                <a16:creationId xmlns:a16="http://schemas.microsoft.com/office/drawing/2014/main" id="{FC6BFCBE-BFAD-1454-10A4-DA02A8ACE368}"/>
              </a:ext>
            </a:extLst>
          </p:cNvPr>
          <p:cNvSpPr txBox="1"/>
          <p:nvPr/>
        </p:nvSpPr>
        <p:spPr>
          <a:xfrm>
            <a:off x="1416353" y="2072669"/>
            <a:ext cx="10389181" cy="78752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600" b="1" dirty="0"/>
              <a:t>现有的各种内核安全加固方案（无论是硬件隔离、软件隔离还是基于安全语言的重构）均无法在不牺牲性能、不破坏现有生态的前提下，为已广泛部署的商用操作系统提供一条可行的渐进式安全演进路径</a:t>
            </a:r>
          </a:p>
        </p:txBody>
      </p:sp>
      <p:sp>
        <p:nvSpPr>
          <p:cNvPr id="19" name="矩形: 圆角 18">
            <a:extLst>
              <a:ext uri="{FF2B5EF4-FFF2-40B4-BE49-F238E27FC236}">
                <a16:creationId xmlns:a16="http://schemas.microsoft.com/office/drawing/2014/main" id="{59D8D716-67DC-1DB4-2B92-A85765C31F95}"/>
              </a:ext>
            </a:extLst>
          </p:cNvPr>
          <p:cNvSpPr/>
          <p:nvPr/>
        </p:nvSpPr>
        <p:spPr>
          <a:xfrm>
            <a:off x="333374" y="3189342"/>
            <a:ext cx="1743075" cy="504824"/>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20" name="文本框 12">
            <a:extLst>
              <a:ext uri="{FF2B5EF4-FFF2-40B4-BE49-F238E27FC236}">
                <a16:creationId xmlns:a16="http://schemas.microsoft.com/office/drawing/2014/main" id="{A81F3406-3308-FDE8-AE6B-8D7E25E481D7}"/>
              </a:ext>
            </a:extLst>
          </p:cNvPr>
          <p:cNvSpPr txBox="1"/>
          <p:nvPr/>
        </p:nvSpPr>
        <p:spPr>
          <a:xfrm>
            <a:off x="508604" y="3248307"/>
            <a:ext cx="151447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solidFill>
                  <a:schemeClr val="bg1"/>
                </a:solidFill>
              </a:rPr>
              <a:t>学 科 前 沿</a:t>
            </a:r>
          </a:p>
        </p:txBody>
      </p:sp>
      <p:grpSp>
        <p:nvGrpSpPr>
          <p:cNvPr id="21" name="组合 20">
            <a:extLst>
              <a:ext uri="{FF2B5EF4-FFF2-40B4-BE49-F238E27FC236}">
                <a16:creationId xmlns:a16="http://schemas.microsoft.com/office/drawing/2014/main" id="{AADDAB92-B788-E3F4-85C6-D01E7D4BA408}"/>
              </a:ext>
            </a:extLst>
          </p:cNvPr>
          <p:cNvGrpSpPr/>
          <p:nvPr/>
        </p:nvGrpSpPr>
        <p:grpSpPr>
          <a:xfrm>
            <a:off x="740155" y="3796151"/>
            <a:ext cx="1398779" cy="504824"/>
            <a:chOff x="991996" y="4138673"/>
            <a:chExt cx="1398779" cy="504824"/>
          </a:xfrm>
        </p:grpSpPr>
        <p:sp>
          <p:nvSpPr>
            <p:cNvPr id="43" name="任意多边形: 形状 42">
              <a:extLst>
                <a:ext uri="{FF2B5EF4-FFF2-40B4-BE49-F238E27FC236}">
                  <a16:creationId xmlns:a16="http://schemas.microsoft.com/office/drawing/2014/main" id="{ACD03208-5E0F-EACF-A77C-1CA871DD9577}"/>
                </a:ext>
              </a:extLst>
            </p:cNvPr>
            <p:cNvSpPr/>
            <p:nvPr/>
          </p:nvSpPr>
          <p:spPr>
            <a:xfrm>
              <a:off x="991996" y="4138673"/>
              <a:ext cx="1398779" cy="504824"/>
            </a:xfrm>
            <a:custGeom>
              <a:avLst/>
              <a:gdLst>
                <a:gd name="connsiteX0" fmla="*/ 252412 w 1990725"/>
                <a:gd name="connsiteY0" fmla="*/ 0 h 504824"/>
                <a:gd name="connsiteX1" fmla="*/ 1709737 w 1990725"/>
                <a:gd name="connsiteY1" fmla="*/ 0 h 504824"/>
                <a:gd name="connsiteX2" fmla="*/ 1709737 w 1990725"/>
                <a:gd name="connsiteY2" fmla="*/ 2881 h 504824"/>
                <a:gd name="connsiteX3" fmla="*/ 1738313 w 1990725"/>
                <a:gd name="connsiteY3" fmla="*/ 0 h 504824"/>
                <a:gd name="connsiteX4" fmla="*/ 1990725 w 1990725"/>
                <a:gd name="connsiteY4" fmla="*/ 252412 h 504824"/>
                <a:gd name="connsiteX5" fmla="*/ 1738313 w 1990725"/>
                <a:gd name="connsiteY5" fmla="*/ 504824 h 504824"/>
                <a:gd name="connsiteX6" fmla="*/ 1709737 w 1990725"/>
                <a:gd name="connsiteY6" fmla="*/ 501944 h 504824"/>
                <a:gd name="connsiteX7" fmla="*/ 1709737 w 1990725"/>
                <a:gd name="connsiteY7" fmla="*/ 504824 h 504824"/>
                <a:gd name="connsiteX8" fmla="*/ 252412 w 1990725"/>
                <a:gd name="connsiteY8" fmla="*/ 504824 h 504824"/>
                <a:gd name="connsiteX9" fmla="*/ 0 w 1990725"/>
                <a:gd name="connsiteY9" fmla="*/ 252412 h 504824"/>
                <a:gd name="connsiteX10" fmla="*/ 252412 w 1990725"/>
                <a:gd name="connsiteY10" fmla="*/ 0 h 504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0725" h="504824">
                  <a:moveTo>
                    <a:pt x="252412" y="0"/>
                  </a:moveTo>
                  <a:lnTo>
                    <a:pt x="1709737" y="0"/>
                  </a:lnTo>
                  <a:lnTo>
                    <a:pt x="1709737" y="2881"/>
                  </a:lnTo>
                  <a:lnTo>
                    <a:pt x="1738313" y="0"/>
                  </a:lnTo>
                  <a:cubicBezTo>
                    <a:pt x="1877716" y="0"/>
                    <a:pt x="1990725" y="113009"/>
                    <a:pt x="1990725" y="252412"/>
                  </a:cubicBezTo>
                  <a:cubicBezTo>
                    <a:pt x="1990725" y="391815"/>
                    <a:pt x="1877716" y="504824"/>
                    <a:pt x="1738313" y="504824"/>
                  </a:cubicBezTo>
                  <a:lnTo>
                    <a:pt x="1709737" y="501944"/>
                  </a:lnTo>
                  <a:lnTo>
                    <a:pt x="1709737" y="504824"/>
                  </a:lnTo>
                  <a:lnTo>
                    <a:pt x="252412" y="504824"/>
                  </a:lnTo>
                  <a:cubicBezTo>
                    <a:pt x="113009" y="504824"/>
                    <a:pt x="0" y="391815"/>
                    <a:pt x="0" y="252412"/>
                  </a:cubicBezTo>
                  <a:cubicBezTo>
                    <a:pt x="0" y="113009"/>
                    <a:pt x="113009" y="0"/>
                    <a:pt x="252412" y="0"/>
                  </a:cubicBezTo>
                  <a:close/>
                </a:path>
              </a:pathLst>
            </a:cu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4" name="文本框 18">
              <a:extLst>
                <a:ext uri="{FF2B5EF4-FFF2-40B4-BE49-F238E27FC236}">
                  <a16:creationId xmlns:a16="http://schemas.microsoft.com/office/drawing/2014/main" id="{DEAF1ABB-4867-0A11-0DCB-E4CC1AA16687}"/>
                </a:ext>
              </a:extLst>
            </p:cNvPr>
            <p:cNvSpPr txBox="1"/>
            <p:nvPr/>
          </p:nvSpPr>
          <p:spPr>
            <a:xfrm>
              <a:off x="1063435" y="4206419"/>
              <a:ext cx="1327340" cy="338554"/>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2"/>
                  </a:solidFill>
                </a:rPr>
                <a:t>研究方向一</a:t>
              </a:r>
            </a:p>
          </p:txBody>
        </p:sp>
      </p:grpSp>
      <p:grpSp>
        <p:nvGrpSpPr>
          <p:cNvPr id="22" name="组合 21">
            <a:extLst>
              <a:ext uri="{FF2B5EF4-FFF2-40B4-BE49-F238E27FC236}">
                <a16:creationId xmlns:a16="http://schemas.microsoft.com/office/drawing/2014/main" id="{3B9536F6-173E-8B2A-89FA-8916E802F720}"/>
              </a:ext>
            </a:extLst>
          </p:cNvPr>
          <p:cNvGrpSpPr/>
          <p:nvPr/>
        </p:nvGrpSpPr>
        <p:grpSpPr>
          <a:xfrm>
            <a:off x="2926555" y="3786063"/>
            <a:ext cx="1398779" cy="504824"/>
            <a:chOff x="991996" y="4138673"/>
            <a:chExt cx="1398779" cy="504824"/>
          </a:xfrm>
        </p:grpSpPr>
        <p:sp>
          <p:nvSpPr>
            <p:cNvPr id="41" name="任意多边形: 形状 40">
              <a:extLst>
                <a:ext uri="{FF2B5EF4-FFF2-40B4-BE49-F238E27FC236}">
                  <a16:creationId xmlns:a16="http://schemas.microsoft.com/office/drawing/2014/main" id="{DF868A31-5698-2C20-673D-A990CD2665E0}"/>
                </a:ext>
              </a:extLst>
            </p:cNvPr>
            <p:cNvSpPr/>
            <p:nvPr/>
          </p:nvSpPr>
          <p:spPr>
            <a:xfrm>
              <a:off x="991996" y="4138673"/>
              <a:ext cx="1398779" cy="504824"/>
            </a:xfrm>
            <a:custGeom>
              <a:avLst/>
              <a:gdLst>
                <a:gd name="connsiteX0" fmla="*/ 252412 w 1990725"/>
                <a:gd name="connsiteY0" fmla="*/ 0 h 504824"/>
                <a:gd name="connsiteX1" fmla="*/ 1709737 w 1990725"/>
                <a:gd name="connsiteY1" fmla="*/ 0 h 504824"/>
                <a:gd name="connsiteX2" fmla="*/ 1709737 w 1990725"/>
                <a:gd name="connsiteY2" fmla="*/ 2881 h 504824"/>
                <a:gd name="connsiteX3" fmla="*/ 1738313 w 1990725"/>
                <a:gd name="connsiteY3" fmla="*/ 0 h 504824"/>
                <a:gd name="connsiteX4" fmla="*/ 1990725 w 1990725"/>
                <a:gd name="connsiteY4" fmla="*/ 252412 h 504824"/>
                <a:gd name="connsiteX5" fmla="*/ 1738313 w 1990725"/>
                <a:gd name="connsiteY5" fmla="*/ 504824 h 504824"/>
                <a:gd name="connsiteX6" fmla="*/ 1709737 w 1990725"/>
                <a:gd name="connsiteY6" fmla="*/ 501944 h 504824"/>
                <a:gd name="connsiteX7" fmla="*/ 1709737 w 1990725"/>
                <a:gd name="connsiteY7" fmla="*/ 504824 h 504824"/>
                <a:gd name="connsiteX8" fmla="*/ 252412 w 1990725"/>
                <a:gd name="connsiteY8" fmla="*/ 504824 h 504824"/>
                <a:gd name="connsiteX9" fmla="*/ 0 w 1990725"/>
                <a:gd name="connsiteY9" fmla="*/ 252412 h 504824"/>
                <a:gd name="connsiteX10" fmla="*/ 252412 w 1990725"/>
                <a:gd name="connsiteY10" fmla="*/ 0 h 504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0725" h="504824">
                  <a:moveTo>
                    <a:pt x="252412" y="0"/>
                  </a:moveTo>
                  <a:lnTo>
                    <a:pt x="1709737" y="0"/>
                  </a:lnTo>
                  <a:lnTo>
                    <a:pt x="1709737" y="2881"/>
                  </a:lnTo>
                  <a:lnTo>
                    <a:pt x="1738313" y="0"/>
                  </a:lnTo>
                  <a:cubicBezTo>
                    <a:pt x="1877716" y="0"/>
                    <a:pt x="1990725" y="113009"/>
                    <a:pt x="1990725" y="252412"/>
                  </a:cubicBezTo>
                  <a:cubicBezTo>
                    <a:pt x="1990725" y="391815"/>
                    <a:pt x="1877716" y="504824"/>
                    <a:pt x="1738313" y="504824"/>
                  </a:cubicBezTo>
                  <a:lnTo>
                    <a:pt x="1709737" y="501944"/>
                  </a:lnTo>
                  <a:lnTo>
                    <a:pt x="1709737" y="504824"/>
                  </a:lnTo>
                  <a:lnTo>
                    <a:pt x="252412" y="504824"/>
                  </a:lnTo>
                  <a:cubicBezTo>
                    <a:pt x="113009" y="504824"/>
                    <a:pt x="0" y="391815"/>
                    <a:pt x="0" y="252412"/>
                  </a:cubicBezTo>
                  <a:cubicBezTo>
                    <a:pt x="0" y="113009"/>
                    <a:pt x="113009" y="0"/>
                    <a:pt x="252412" y="0"/>
                  </a:cubicBezTo>
                  <a:close/>
                </a:path>
              </a:pathLst>
            </a:cu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2" name="文本框 22">
              <a:extLst>
                <a:ext uri="{FF2B5EF4-FFF2-40B4-BE49-F238E27FC236}">
                  <a16:creationId xmlns:a16="http://schemas.microsoft.com/office/drawing/2014/main" id="{0BF58004-CCB6-E3A2-582D-2B5D321DAA59}"/>
                </a:ext>
              </a:extLst>
            </p:cNvPr>
            <p:cNvSpPr txBox="1"/>
            <p:nvPr/>
          </p:nvSpPr>
          <p:spPr>
            <a:xfrm>
              <a:off x="1063435" y="4206419"/>
              <a:ext cx="1327340" cy="338554"/>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2"/>
                  </a:solidFill>
                </a:rPr>
                <a:t>研究方向二</a:t>
              </a:r>
            </a:p>
          </p:txBody>
        </p:sp>
      </p:grpSp>
      <p:sp>
        <p:nvSpPr>
          <p:cNvPr id="23" name="文本框 25">
            <a:extLst>
              <a:ext uri="{FF2B5EF4-FFF2-40B4-BE49-F238E27FC236}">
                <a16:creationId xmlns:a16="http://schemas.microsoft.com/office/drawing/2014/main" id="{E9F3ADD0-23FA-B569-F9F9-94E977B83334}"/>
              </a:ext>
            </a:extLst>
          </p:cNvPr>
          <p:cNvSpPr txBox="1"/>
          <p:nvPr/>
        </p:nvSpPr>
        <p:spPr>
          <a:xfrm>
            <a:off x="762450" y="4351988"/>
            <a:ext cx="1543869" cy="33855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t> </a:t>
            </a:r>
            <a:r>
              <a:rPr lang="zh-CN" altLang="en-US" sz="1400" b="1" dirty="0"/>
              <a:t>基于硬件的隔离</a:t>
            </a:r>
          </a:p>
        </p:txBody>
      </p:sp>
      <p:sp>
        <p:nvSpPr>
          <p:cNvPr id="24" name="文本框 26">
            <a:extLst>
              <a:ext uri="{FF2B5EF4-FFF2-40B4-BE49-F238E27FC236}">
                <a16:creationId xmlns:a16="http://schemas.microsoft.com/office/drawing/2014/main" id="{819E4E0F-AC09-03BB-1F8F-A2E8AE9CA7C6}"/>
              </a:ext>
            </a:extLst>
          </p:cNvPr>
          <p:cNvSpPr txBox="1"/>
          <p:nvPr/>
        </p:nvSpPr>
        <p:spPr>
          <a:xfrm>
            <a:off x="2932717" y="4343959"/>
            <a:ext cx="1454083"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b="1" dirty="0"/>
              <a:t>基于软件的隔离</a:t>
            </a:r>
          </a:p>
        </p:txBody>
      </p:sp>
      <p:sp>
        <p:nvSpPr>
          <p:cNvPr id="51" name="矩形 50">
            <a:extLst>
              <a:ext uri="{FF2B5EF4-FFF2-40B4-BE49-F238E27FC236}">
                <a16:creationId xmlns:a16="http://schemas.microsoft.com/office/drawing/2014/main" id="{7BB2A957-7FDF-E4C4-46E3-9C00082B0576}"/>
              </a:ext>
            </a:extLst>
          </p:cNvPr>
          <p:cNvSpPr/>
          <p:nvPr/>
        </p:nvSpPr>
        <p:spPr>
          <a:xfrm>
            <a:off x="4801584" y="4041725"/>
            <a:ext cx="2149285" cy="713453"/>
          </a:xfrm>
          <a:prstGeom prst="rect">
            <a:avLst/>
          </a:prstGeom>
          <a:solidFill>
            <a:srgbClr val="EFF8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52" name="组合 51">
            <a:extLst>
              <a:ext uri="{FF2B5EF4-FFF2-40B4-BE49-F238E27FC236}">
                <a16:creationId xmlns:a16="http://schemas.microsoft.com/office/drawing/2014/main" id="{35AC40A8-22A6-76DD-ECF2-80EE7D00AE5D}"/>
              </a:ext>
            </a:extLst>
          </p:cNvPr>
          <p:cNvGrpSpPr/>
          <p:nvPr/>
        </p:nvGrpSpPr>
        <p:grpSpPr>
          <a:xfrm>
            <a:off x="5141118" y="3780399"/>
            <a:ext cx="1398779" cy="504824"/>
            <a:chOff x="991996" y="4138673"/>
            <a:chExt cx="1398779" cy="504824"/>
          </a:xfrm>
        </p:grpSpPr>
        <p:sp>
          <p:nvSpPr>
            <p:cNvPr id="53" name="任意多边形: 形状 52">
              <a:extLst>
                <a:ext uri="{FF2B5EF4-FFF2-40B4-BE49-F238E27FC236}">
                  <a16:creationId xmlns:a16="http://schemas.microsoft.com/office/drawing/2014/main" id="{E7365D19-B0F5-ED41-2746-C0E9F0E63E74}"/>
                </a:ext>
              </a:extLst>
            </p:cNvPr>
            <p:cNvSpPr/>
            <p:nvPr/>
          </p:nvSpPr>
          <p:spPr>
            <a:xfrm>
              <a:off x="991996" y="4138673"/>
              <a:ext cx="1398779" cy="504824"/>
            </a:xfrm>
            <a:custGeom>
              <a:avLst/>
              <a:gdLst>
                <a:gd name="connsiteX0" fmla="*/ 252412 w 1990725"/>
                <a:gd name="connsiteY0" fmla="*/ 0 h 504824"/>
                <a:gd name="connsiteX1" fmla="*/ 1709737 w 1990725"/>
                <a:gd name="connsiteY1" fmla="*/ 0 h 504824"/>
                <a:gd name="connsiteX2" fmla="*/ 1709737 w 1990725"/>
                <a:gd name="connsiteY2" fmla="*/ 2881 h 504824"/>
                <a:gd name="connsiteX3" fmla="*/ 1738313 w 1990725"/>
                <a:gd name="connsiteY3" fmla="*/ 0 h 504824"/>
                <a:gd name="connsiteX4" fmla="*/ 1990725 w 1990725"/>
                <a:gd name="connsiteY4" fmla="*/ 252412 h 504824"/>
                <a:gd name="connsiteX5" fmla="*/ 1738313 w 1990725"/>
                <a:gd name="connsiteY5" fmla="*/ 504824 h 504824"/>
                <a:gd name="connsiteX6" fmla="*/ 1709737 w 1990725"/>
                <a:gd name="connsiteY6" fmla="*/ 501944 h 504824"/>
                <a:gd name="connsiteX7" fmla="*/ 1709737 w 1990725"/>
                <a:gd name="connsiteY7" fmla="*/ 504824 h 504824"/>
                <a:gd name="connsiteX8" fmla="*/ 252412 w 1990725"/>
                <a:gd name="connsiteY8" fmla="*/ 504824 h 504824"/>
                <a:gd name="connsiteX9" fmla="*/ 0 w 1990725"/>
                <a:gd name="connsiteY9" fmla="*/ 252412 h 504824"/>
                <a:gd name="connsiteX10" fmla="*/ 252412 w 1990725"/>
                <a:gd name="connsiteY10" fmla="*/ 0 h 504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0725" h="504824">
                  <a:moveTo>
                    <a:pt x="252412" y="0"/>
                  </a:moveTo>
                  <a:lnTo>
                    <a:pt x="1709737" y="0"/>
                  </a:lnTo>
                  <a:lnTo>
                    <a:pt x="1709737" y="2881"/>
                  </a:lnTo>
                  <a:lnTo>
                    <a:pt x="1738313" y="0"/>
                  </a:lnTo>
                  <a:cubicBezTo>
                    <a:pt x="1877716" y="0"/>
                    <a:pt x="1990725" y="113009"/>
                    <a:pt x="1990725" y="252412"/>
                  </a:cubicBezTo>
                  <a:cubicBezTo>
                    <a:pt x="1990725" y="391815"/>
                    <a:pt x="1877716" y="504824"/>
                    <a:pt x="1738313" y="504824"/>
                  </a:cubicBezTo>
                  <a:lnTo>
                    <a:pt x="1709737" y="501944"/>
                  </a:lnTo>
                  <a:lnTo>
                    <a:pt x="1709737" y="504824"/>
                  </a:lnTo>
                  <a:lnTo>
                    <a:pt x="252412" y="504824"/>
                  </a:lnTo>
                  <a:cubicBezTo>
                    <a:pt x="113009" y="504824"/>
                    <a:pt x="0" y="391815"/>
                    <a:pt x="0" y="252412"/>
                  </a:cubicBezTo>
                  <a:cubicBezTo>
                    <a:pt x="0" y="113009"/>
                    <a:pt x="113009" y="0"/>
                    <a:pt x="252412" y="0"/>
                  </a:cubicBezTo>
                  <a:close/>
                </a:path>
              </a:pathLst>
            </a:cu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54" name="文本框 22">
              <a:extLst>
                <a:ext uri="{FF2B5EF4-FFF2-40B4-BE49-F238E27FC236}">
                  <a16:creationId xmlns:a16="http://schemas.microsoft.com/office/drawing/2014/main" id="{49EE83EA-34AD-5710-6C67-772820750BF9}"/>
                </a:ext>
              </a:extLst>
            </p:cNvPr>
            <p:cNvSpPr txBox="1"/>
            <p:nvPr/>
          </p:nvSpPr>
          <p:spPr>
            <a:xfrm>
              <a:off x="1063435" y="4206419"/>
              <a:ext cx="1327340" cy="338554"/>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2"/>
                  </a:solidFill>
                </a:rPr>
                <a:t>研究方向三</a:t>
              </a:r>
            </a:p>
          </p:txBody>
        </p:sp>
      </p:grpSp>
      <p:sp>
        <p:nvSpPr>
          <p:cNvPr id="55" name="文本框 26">
            <a:extLst>
              <a:ext uri="{FF2B5EF4-FFF2-40B4-BE49-F238E27FC236}">
                <a16:creationId xmlns:a16="http://schemas.microsoft.com/office/drawing/2014/main" id="{0275E979-0D1B-1CFD-AEE9-B3643A1AFC71}"/>
              </a:ext>
            </a:extLst>
          </p:cNvPr>
          <p:cNvSpPr txBox="1"/>
          <p:nvPr/>
        </p:nvSpPr>
        <p:spPr>
          <a:xfrm>
            <a:off x="4830160" y="4337119"/>
            <a:ext cx="2149285"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b="1" dirty="0"/>
              <a:t>基于传统安全语言的隔离</a:t>
            </a:r>
          </a:p>
        </p:txBody>
      </p:sp>
      <p:sp>
        <p:nvSpPr>
          <p:cNvPr id="57" name="矩形 56">
            <a:extLst>
              <a:ext uri="{FF2B5EF4-FFF2-40B4-BE49-F238E27FC236}">
                <a16:creationId xmlns:a16="http://schemas.microsoft.com/office/drawing/2014/main" id="{4AAB2185-88CB-DF43-3786-AA20EE6230C4}"/>
              </a:ext>
            </a:extLst>
          </p:cNvPr>
          <p:cNvSpPr/>
          <p:nvPr/>
        </p:nvSpPr>
        <p:spPr>
          <a:xfrm>
            <a:off x="7154179" y="4045598"/>
            <a:ext cx="2149285" cy="713453"/>
          </a:xfrm>
          <a:prstGeom prst="rect">
            <a:avLst/>
          </a:prstGeom>
          <a:solidFill>
            <a:srgbClr val="EFF8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58" name="组合 57">
            <a:extLst>
              <a:ext uri="{FF2B5EF4-FFF2-40B4-BE49-F238E27FC236}">
                <a16:creationId xmlns:a16="http://schemas.microsoft.com/office/drawing/2014/main" id="{2FC046E6-2363-214B-4EF6-2FBAA7E7C090}"/>
              </a:ext>
            </a:extLst>
          </p:cNvPr>
          <p:cNvGrpSpPr/>
          <p:nvPr/>
        </p:nvGrpSpPr>
        <p:grpSpPr>
          <a:xfrm>
            <a:off x="7493713" y="3784272"/>
            <a:ext cx="1398779" cy="504824"/>
            <a:chOff x="991996" y="4138673"/>
            <a:chExt cx="1398779" cy="504824"/>
          </a:xfrm>
        </p:grpSpPr>
        <p:sp>
          <p:nvSpPr>
            <p:cNvPr id="59" name="任意多边形: 形状 58">
              <a:extLst>
                <a:ext uri="{FF2B5EF4-FFF2-40B4-BE49-F238E27FC236}">
                  <a16:creationId xmlns:a16="http://schemas.microsoft.com/office/drawing/2014/main" id="{7BDE4C0B-BF72-E4B0-8451-F7EA723F7826}"/>
                </a:ext>
              </a:extLst>
            </p:cNvPr>
            <p:cNvSpPr/>
            <p:nvPr/>
          </p:nvSpPr>
          <p:spPr>
            <a:xfrm>
              <a:off x="991996" y="4138673"/>
              <a:ext cx="1398779" cy="504824"/>
            </a:xfrm>
            <a:custGeom>
              <a:avLst/>
              <a:gdLst>
                <a:gd name="connsiteX0" fmla="*/ 252412 w 1990725"/>
                <a:gd name="connsiteY0" fmla="*/ 0 h 504824"/>
                <a:gd name="connsiteX1" fmla="*/ 1709737 w 1990725"/>
                <a:gd name="connsiteY1" fmla="*/ 0 h 504824"/>
                <a:gd name="connsiteX2" fmla="*/ 1709737 w 1990725"/>
                <a:gd name="connsiteY2" fmla="*/ 2881 h 504824"/>
                <a:gd name="connsiteX3" fmla="*/ 1738313 w 1990725"/>
                <a:gd name="connsiteY3" fmla="*/ 0 h 504824"/>
                <a:gd name="connsiteX4" fmla="*/ 1990725 w 1990725"/>
                <a:gd name="connsiteY4" fmla="*/ 252412 h 504824"/>
                <a:gd name="connsiteX5" fmla="*/ 1738313 w 1990725"/>
                <a:gd name="connsiteY5" fmla="*/ 504824 h 504824"/>
                <a:gd name="connsiteX6" fmla="*/ 1709737 w 1990725"/>
                <a:gd name="connsiteY6" fmla="*/ 501944 h 504824"/>
                <a:gd name="connsiteX7" fmla="*/ 1709737 w 1990725"/>
                <a:gd name="connsiteY7" fmla="*/ 504824 h 504824"/>
                <a:gd name="connsiteX8" fmla="*/ 252412 w 1990725"/>
                <a:gd name="connsiteY8" fmla="*/ 504824 h 504824"/>
                <a:gd name="connsiteX9" fmla="*/ 0 w 1990725"/>
                <a:gd name="connsiteY9" fmla="*/ 252412 h 504824"/>
                <a:gd name="connsiteX10" fmla="*/ 252412 w 1990725"/>
                <a:gd name="connsiteY10" fmla="*/ 0 h 504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0725" h="504824">
                  <a:moveTo>
                    <a:pt x="252412" y="0"/>
                  </a:moveTo>
                  <a:lnTo>
                    <a:pt x="1709737" y="0"/>
                  </a:lnTo>
                  <a:lnTo>
                    <a:pt x="1709737" y="2881"/>
                  </a:lnTo>
                  <a:lnTo>
                    <a:pt x="1738313" y="0"/>
                  </a:lnTo>
                  <a:cubicBezTo>
                    <a:pt x="1877716" y="0"/>
                    <a:pt x="1990725" y="113009"/>
                    <a:pt x="1990725" y="252412"/>
                  </a:cubicBezTo>
                  <a:cubicBezTo>
                    <a:pt x="1990725" y="391815"/>
                    <a:pt x="1877716" y="504824"/>
                    <a:pt x="1738313" y="504824"/>
                  </a:cubicBezTo>
                  <a:lnTo>
                    <a:pt x="1709737" y="501944"/>
                  </a:lnTo>
                  <a:lnTo>
                    <a:pt x="1709737" y="504824"/>
                  </a:lnTo>
                  <a:lnTo>
                    <a:pt x="252412" y="504824"/>
                  </a:lnTo>
                  <a:cubicBezTo>
                    <a:pt x="113009" y="504824"/>
                    <a:pt x="0" y="391815"/>
                    <a:pt x="0" y="252412"/>
                  </a:cubicBezTo>
                  <a:cubicBezTo>
                    <a:pt x="0" y="113009"/>
                    <a:pt x="113009" y="0"/>
                    <a:pt x="252412" y="0"/>
                  </a:cubicBezTo>
                  <a:close/>
                </a:path>
              </a:pathLst>
            </a:cu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60" name="文本框 22">
              <a:extLst>
                <a:ext uri="{FF2B5EF4-FFF2-40B4-BE49-F238E27FC236}">
                  <a16:creationId xmlns:a16="http://schemas.microsoft.com/office/drawing/2014/main" id="{8B7D6BBC-190D-271A-60DD-9ECA925966AE}"/>
                </a:ext>
              </a:extLst>
            </p:cNvPr>
            <p:cNvSpPr txBox="1"/>
            <p:nvPr/>
          </p:nvSpPr>
          <p:spPr>
            <a:xfrm>
              <a:off x="1063435" y="4206419"/>
              <a:ext cx="1327340" cy="338554"/>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2"/>
                  </a:solidFill>
                </a:rPr>
                <a:t>研究方向四</a:t>
              </a:r>
            </a:p>
          </p:txBody>
        </p:sp>
      </p:grpSp>
      <p:sp>
        <p:nvSpPr>
          <p:cNvPr id="61" name="文本框 26">
            <a:extLst>
              <a:ext uri="{FF2B5EF4-FFF2-40B4-BE49-F238E27FC236}">
                <a16:creationId xmlns:a16="http://schemas.microsoft.com/office/drawing/2014/main" id="{50FF2C92-81E4-F1C4-6939-CFCA71516C99}"/>
              </a:ext>
            </a:extLst>
          </p:cNvPr>
          <p:cNvSpPr txBox="1"/>
          <p:nvPr/>
        </p:nvSpPr>
        <p:spPr>
          <a:xfrm>
            <a:off x="7298451" y="4334726"/>
            <a:ext cx="2005013"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b="1" dirty="0"/>
              <a:t>基于</a:t>
            </a:r>
            <a:r>
              <a:rPr lang="en-US" altLang="zh-CN" sz="1400" b="1" dirty="0"/>
              <a:t>Rust</a:t>
            </a:r>
            <a:r>
              <a:rPr lang="zh-CN" altLang="en-US" sz="1400" b="1" dirty="0"/>
              <a:t>语言的隔离</a:t>
            </a:r>
          </a:p>
        </p:txBody>
      </p:sp>
      <p:sp>
        <p:nvSpPr>
          <p:cNvPr id="63" name="矩形 62">
            <a:extLst>
              <a:ext uri="{FF2B5EF4-FFF2-40B4-BE49-F238E27FC236}">
                <a16:creationId xmlns:a16="http://schemas.microsoft.com/office/drawing/2014/main" id="{13220DA6-5058-F852-1661-2356B40CBF06}"/>
              </a:ext>
            </a:extLst>
          </p:cNvPr>
          <p:cNvSpPr/>
          <p:nvPr/>
        </p:nvSpPr>
        <p:spPr>
          <a:xfrm>
            <a:off x="9478198" y="4041725"/>
            <a:ext cx="2149285" cy="713453"/>
          </a:xfrm>
          <a:prstGeom prst="rect">
            <a:avLst/>
          </a:prstGeom>
          <a:solidFill>
            <a:srgbClr val="EFF8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64" name="组合 63">
            <a:extLst>
              <a:ext uri="{FF2B5EF4-FFF2-40B4-BE49-F238E27FC236}">
                <a16:creationId xmlns:a16="http://schemas.microsoft.com/office/drawing/2014/main" id="{BE6C2F00-3AED-21C4-30B3-97F71B7E8A65}"/>
              </a:ext>
            </a:extLst>
          </p:cNvPr>
          <p:cNvGrpSpPr/>
          <p:nvPr/>
        </p:nvGrpSpPr>
        <p:grpSpPr>
          <a:xfrm>
            <a:off x="9817732" y="3780399"/>
            <a:ext cx="1398779" cy="504824"/>
            <a:chOff x="991996" y="4138673"/>
            <a:chExt cx="1398779" cy="504824"/>
          </a:xfrm>
        </p:grpSpPr>
        <p:sp>
          <p:nvSpPr>
            <p:cNvPr id="65" name="任意多边形: 形状 64">
              <a:extLst>
                <a:ext uri="{FF2B5EF4-FFF2-40B4-BE49-F238E27FC236}">
                  <a16:creationId xmlns:a16="http://schemas.microsoft.com/office/drawing/2014/main" id="{516CD84E-8C21-8823-C08A-C88D1E3F664A}"/>
                </a:ext>
              </a:extLst>
            </p:cNvPr>
            <p:cNvSpPr/>
            <p:nvPr/>
          </p:nvSpPr>
          <p:spPr>
            <a:xfrm>
              <a:off x="991996" y="4138673"/>
              <a:ext cx="1398779" cy="504824"/>
            </a:xfrm>
            <a:custGeom>
              <a:avLst/>
              <a:gdLst>
                <a:gd name="connsiteX0" fmla="*/ 252412 w 1990725"/>
                <a:gd name="connsiteY0" fmla="*/ 0 h 504824"/>
                <a:gd name="connsiteX1" fmla="*/ 1709737 w 1990725"/>
                <a:gd name="connsiteY1" fmla="*/ 0 h 504824"/>
                <a:gd name="connsiteX2" fmla="*/ 1709737 w 1990725"/>
                <a:gd name="connsiteY2" fmla="*/ 2881 h 504824"/>
                <a:gd name="connsiteX3" fmla="*/ 1738313 w 1990725"/>
                <a:gd name="connsiteY3" fmla="*/ 0 h 504824"/>
                <a:gd name="connsiteX4" fmla="*/ 1990725 w 1990725"/>
                <a:gd name="connsiteY4" fmla="*/ 252412 h 504824"/>
                <a:gd name="connsiteX5" fmla="*/ 1738313 w 1990725"/>
                <a:gd name="connsiteY5" fmla="*/ 504824 h 504824"/>
                <a:gd name="connsiteX6" fmla="*/ 1709737 w 1990725"/>
                <a:gd name="connsiteY6" fmla="*/ 501944 h 504824"/>
                <a:gd name="connsiteX7" fmla="*/ 1709737 w 1990725"/>
                <a:gd name="connsiteY7" fmla="*/ 504824 h 504824"/>
                <a:gd name="connsiteX8" fmla="*/ 252412 w 1990725"/>
                <a:gd name="connsiteY8" fmla="*/ 504824 h 504824"/>
                <a:gd name="connsiteX9" fmla="*/ 0 w 1990725"/>
                <a:gd name="connsiteY9" fmla="*/ 252412 h 504824"/>
                <a:gd name="connsiteX10" fmla="*/ 252412 w 1990725"/>
                <a:gd name="connsiteY10" fmla="*/ 0 h 504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0725" h="504824">
                  <a:moveTo>
                    <a:pt x="252412" y="0"/>
                  </a:moveTo>
                  <a:lnTo>
                    <a:pt x="1709737" y="0"/>
                  </a:lnTo>
                  <a:lnTo>
                    <a:pt x="1709737" y="2881"/>
                  </a:lnTo>
                  <a:lnTo>
                    <a:pt x="1738313" y="0"/>
                  </a:lnTo>
                  <a:cubicBezTo>
                    <a:pt x="1877716" y="0"/>
                    <a:pt x="1990725" y="113009"/>
                    <a:pt x="1990725" y="252412"/>
                  </a:cubicBezTo>
                  <a:cubicBezTo>
                    <a:pt x="1990725" y="391815"/>
                    <a:pt x="1877716" y="504824"/>
                    <a:pt x="1738313" y="504824"/>
                  </a:cubicBezTo>
                  <a:lnTo>
                    <a:pt x="1709737" y="501944"/>
                  </a:lnTo>
                  <a:lnTo>
                    <a:pt x="1709737" y="504824"/>
                  </a:lnTo>
                  <a:lnTo>
                    <a:pt x="252412" y="504824"/>
                  </a:lnTo>
                  <a:cubicBezTo>
                    <a:pt x="113009" y="504824"/>
                    <a:pt x="0" y="391815"/>
                    <a:pt x="0" y="252412"/>
                  </a:cubicBezTo>
                  <a:cubicBezTo>
                    <a:pt x="0" y="113009"/>
                    <a:pt x="113009" y="0"/>
                    <a:pt x="252412" y="0"/>
                  </a:cubicBezTo>
                  <a:close/>
                </a:path>
              </a:pathLst>
            </a:cu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66" name="文本框 22">
              <a:extLst>
                <a:ext uri="{FF2B5EF4-FFF2-40B4-BE49-F238E27FC236}">
                  <a16:creationId xmlns:a16="http://schemas.microsoft.com/office/drawing/2014/main" id="{6660706D-AAE3-C55D-8757-71CF2694695F}"/>
                </a:ext>
              </a:extLst>
            </p:cNvPr>
            <p:cNvSpPr txBox="1"/>
            <p:nvPr/>
          </p:nvSpPr>
          <p:spPr>
            <a:xfrm>
              <a:off x="1027715" y="4206419"/>
              <a:ext cx="1327340" cy="338554"/>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2"/>
                  </a:solidFill>
                </a:rPr>
                <a:t>研究方向五</a:t>
              </a:r>
            </a:p>
          </p:txBody>
        </p:sp>
      </p:grpSp>
      <p:sp>
        <p:nvSpPr>
          <p:cNvPr id="67" name="文本框 26">
            <a:extLst>
              <a:ext uri="{FF2B5EF4-FFF2-40B4-BE49-F238E27FC236}">
                <a16:creationId xmlns:a16="http://schemas.microsoft.com/office/drawing/2014/main" id="{F6DCFB91-31AC-0F07-A221-A90CC35A6E2F}"/>
              </a:ext>
            </a:extLst>
          </p:cNvPr>
          <p:cNvSpPr txBox="1"/>
          <p:nvPr/>
        </p:nvSpPr>
        <p:spPr>
          <a:xfrm>
            <a:off x="10088727" y="4328845"/>
            <a:ext cx="75145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b="1" dirty="0"/>
              <a:t>热更新</a:t>
            </a:r>
          </a:p>
        </p:txBody>
      </p:sp>
      <p:sp>
        <p:nvSpPr>
          <p:cNvPr id="68" name="文本框 67">
            <a:extLst>
              <a:ext uri="{FF2B5EF4-FFF2-40B4-BE49-F238E27FC236}">
                <a16:creationId xmlns:a16="http://schemas.microsoft.com/office/drawing/2014/main" id="{6FCC7DD0-2A89-6E7B-C5CD-324677FCFE78}"/>
              </a:ext>
            </a:extLst>
          </p:cNvPr>
          <p:cNvSpPr txBox="1"/>
          <p:nvPr/>
        </p:nvSpPr>
        <p:spPr>
          <a:xfrm>
            <a:off x="508604" y="4948928"/>
            <a:ext cx="1928071" cy="830997"/>
          </a:xfrm>
          <a:prstGeom prst="rect">
            <a:avLst/>
          </a:prstGeom>
          <a:noFill/>
        </p:spPr>
        <p:txBody>
          <a:bodyPr wrap="square" rtlCol="0">
            <a:spAutoFit/>
          </a:bodyPr>
          <a:lstStyle/>
          <a:p>
            <a:pPr marL="285750" indent="-285750">
              <a:buFont typeface="Wingdings" panose="05000000000000000000" pitchFamily="2" charset="2"/>
              <a:buChar char="Ø"/>
            </a:pPr>
            <a:r>
              <a:rPr lang="zh-CN" altLang="en-US" sz="1600" i="1" dirty="0"/>
              <a:t>性能开销大</a:t>
            </a:r>
            <a:endParaRPr lang="en-US" altLang="zh-CN" sz="1600" i="1" dirty="0"/>
          </a:p>
          <a:p>
            <a:pPr marL="285750" indent="-285750">
              <a:buFont typeface="Wingdings" panose="05000000000000000000" pitchFamily="2" charset="2"/>
              <a:buChar char="Ø"/>
            </a:pPr>
            <a:r>
              <a:rPr lang="zh-CN" altLang="en-US" sz="1600" i="1" dirty="0"/>
              <a:t>灵活性不足</a:t>
            </a:r>
            <a:endParaRPr lang="en-US" altLang="zh-CN" sz="1600" i="1" dirty="0"/>
          </a:p>
          <a:p>
            <a:pPr marL="285750" indent="-285750">
              <a:buFont typeface="Wingdings" panose="05000000000000000000" pitchFamily="2" charset="2"/>
              <a:buChar char="Ø"/>
            </a:pPr>
            <a:r>
              <a:rPr lang="zh-CN" altLang="en-US" sz="1600" i="1" dirty="0"/>
              <a:t>隔离粒度不匹配</a:t>
            </a:r>
          </a:p>
        </p:txBody>
      </p:sp>
      <p:sp>
        <p:nvSpPr>
          <p:cNvPr id="70" name="文本框 69">
            <a:extLst>
              <a:ext uri="{FF2B5EF4-FFF2-40B4-BE49-F238E27FC236}">
                <a16:creationId xmlns:a16="http://schemas.microsoft.com/office/drawing/2014/main" id="{FAB3E544-1D56-B34A-F149-7E21A2393A16}"/>
              </a:ext>
            </a:extLst>
          </p:cNvPr>
          <p:cNvSpPr txBox="1"/>
          <p:nvPr/>
        </p:nvSpPr>
        <p:spPr>
          <a:xfrm>
            <a:off x="2645853" y="4948928"/>
            <a:ext cx="1952421" cy="1077218"/>
          </a:xfrm>
          <a:prstGeom prst="rect">
            <a:avLst/>
          </a:prstGeom>
          <a:noFill/>
        </p:spPr>
        <p:txBody>
          <a:bodyPr wrap="square" rtlCol="0">
            <a:spAutoFit/>
          </a:bodyPr>
          <a:lstStyle/>
          <a:p>
            <a:pPr marL="285750" indent="-285750">
              <a:buFont typeface="Wingdings" panose="05000000000000000000" pitchFamily="2" charset="2"/>
              <a:buChar char="Ø"/>
            </a:pPr>
            <a:r>
              <a:rPr lang="en-US" altLang="zh-CN" sz="1600" i="1" dirty="0"/>
              <a:t>SFI</a:t>
            </a:r>
            <a:r>
              <a:rPr lang="zh-CN" altLang="en-US" sz="1600" i="1" dirty="0"/>
              <a:t>的性能与精度问题</a:t>
            </a:r>
            <a:endParaRPr lang="en-US" altLang="zh-CN" sz="1600" i="1" dirty="0"/>
          </a:p>
          <a:p>
            <a:pPr marL="285750" indent="-285750">
              <a:buFont typeface="Wingdings" panose="05000000000000000000" pitchFamily="2" charset="2"/>
              <a:buChar char="Ø"/>
            </a:pPr>
            <a:r>
              <a:rPr lang="zh-CN" altLang="en-US" sz="1600" i="1" dirty="0"/>
              <a:t>微内核的通信开销</a:t>
            </a:r>
          </a:p>
        </p:txBody>
      </p:sp>
      <p:sp>
        <p:nvSpPr>
          <p:cNvPr id="71" name="文本框 70">
            <a:extLst>
              <a:ext uri="{FF2B5EF4-FFF2-40B4-BE49-F238E27FC236}">
                <a16:creationId xmlns:a16="http://schemas.microsoft.com/office/drawing/2014/main" id="{F7A92110-F98F-B65A-6432-991B97543693}"/>
              </a:ext>
            </a:extLst>
          </p:cNvPr>
          <p:cNvSpPr txBox="1"/>
          <p:nvPr/>
        </p:nvSpPr>
        <p:spPr>
          <a:xfrm>
            <a:off x="4801584" y="4948928"/>
            <a:ext cx="2149285" cy="830997"/>
          </a:xfrm>
          <a:prstGeom prst="rect">
            <a:avLst/>
          </a:prstGeom>
          <a:noFill/>
        </p:spPr>
        <p:txBody>
          <a:bodyPr wrap="square" rtlCol="0">
            <a:spAutoFit/>
          </a:bodyPr>
          <a:lstStyle/>
          <a:p>
            <a:pPr marL="285750" indent="-285750">
              <a:buFont typeface="Wingdings" panose="05000000000000000000" pitchFamily="2" charset="2"/>
              <a:buChar char="Ø"/>
            </a:pPr>
            <a:r>
              <a:rPr lang="zh-CN" altLang="en-US" sz="1600" i="1" dirty="0"/>
              <a:t>垃圾回收的开销</a:t>
            </a:r>
            <a:endParaRPr lang="en-US" altLang="zh-CN" sz="1600" i="1" dirty="0"/>
          </a:p>
          <a:p>
            <a:pPr marL="285750" indent="-285750">
              <a:buFont typeface="Wingdings" panose="05000000000000000000" pitchFamily="2" charset="2"/>
              <a:buChar char="Ø"/>
            </a:pPr>
            <a:r>
              <a:rPr lang="zh-CN" altLang="en-US" sz="1600" i="1" dirty="0"/>
              <a:t>低级硬件访问能力弱</a:t>
            </a:r>
          </a:p>
        </p:txBody>
      </p:sp>
      <p:sp>
        <p:nvSpPr>
          <p:cNvPr id="72" name="文本框 71">
            <a:extLst>
              <a:ext uri="{FF2B5EF4-FFF2-40B4-BE49-F238E27FC236}">
                <a16:creationId xmlns:a16="http://schemas.microsoft.com/office/drawing/2014/main" id="{9503F9C4-FFBF-1FF8-39C7-215BA87B2313}"/>
              </a:ext>
            </a:extLst>
          </p:cNvPr>
          <p:cNvSpPr txBox="1"/>
          <p:nvPr/>
        </p:nvSpPr>
        <p:spPr>
          <a:xfrm>
            <a:off x="7154179" y="4948928"/>
            <a:ext cx="2161271" cy="1077218"/>
          </a:xfrm>
          <a:prstGeom prst="rect">
            <a:avLst/>
          </a:prstGeom>
          <a:noFill/>
        </p:spPr>
        <p:txBody>
          <a:bodyPr wrap="square" rtlCol="0">
            <a:spAutoFit/>
          </a:bodyPr>
          <a:lstStyle/>
          <a:p>
            <a:pPr marL="285750" indent="-285750">
              <a:buFont typeface="Wingdings" panose="05000000000000000000" pitchFamily="2" charset="2"/>
              <a:buChar char="Ø"/>
            </a:pPr>
            <a:r>
              <a:rPr lang="zh-CN" altLang="en-US" sz="1600" i="1" dirty="0"/>
              <a:t>完全用</a:t>
            </a:r>
            <a:r>
              <a:rPr lang="en-US" altLang="zh-CN" sz="1600" i="1" dirty="0"/>
              <a:t>Rust</a:t>
            </a:r>
            <a:r>
              <a:rPr lang="zh-CN" altLang="en-US" sz="1600" i="1" dirty="0"/>
              <a:t>重写一个全新的操作系统来替代</a:t>
            </a:r>
            <a:r>
              <a:rPr lang="en-US" altLang="zh-CN" sz="1600" i="1" dirty="0"/>
              <a:t>Linux</a:t>
            </a:r>
            <a:r>
              <a:rPr lang="zh-CN" altLang="en-US" sz="1600" i="1" dirty="0"/>
              <a:t>等现有系统</a:t>
            </a:r>
          </a:p>
        </p:txBody>
      </p:sp>
      <p:sp>
        <p:nvSpPr>
          <p:cNvPr id="75" name="文本框 74">
            <a:extLst>
              <a:ext uri="{FF2B5EF4-FFF2-40B4-BE49-F238E27FC236}">
                <a16:creationId xmlns:a16="http://schemas.microsoft.com/office/drawing/2014/main" id="{E9EB42C6-EF21-1F63-0740-5EAA1C65FF84}"/>
              </a:ext>
            </a:extLst>
          </p:cNvPr>
          <p:cNvSpPr txBox="1"/>
          <p:nvPr/>
        </p:nvSpPr>
        <p:spPr>
          <a:xfrm>
            <a:off x="9478198" y="4948928"/>
            <a:ext cx="2149285" cy="1077218"/>
          </a:xfrm>
          <a:prstGeom prst="rect">
            <a:avLst/>
          </a:prstGeom>
          <a:noFill/>
        </p:spPr>
        <p:txBody>
          <a:bodyPr wrap="square" rtlCol="0">
            <a:spAutoFit/>
          </a:bodyPr>
          <a:lstStyle/>
          <a:p>
            <a:pPr marL="285750" indent="-285750">
              <a:buFont typeface="Wingdings" panose="05000000000000000000" pitchFamily="2" charset="2"/>
              <a:buChar char="Ø"/>
            </a:pPr>
            <a:r>
              <a:rPr lang="zh-CN" altLang="en-US" sz="1600" i="1" dirty="0"/>
              <a:t>功能级别的更新成熟</a:t>
            </a:r>
            <a:endParaRPr lang="en-US" altLang="zh-CN" sz="1600" i="1" dirty="0"/>
          </a:p>
          <a:p>
            <a:pPr marL="285750" indent="-285750">
              <a:buFont typeface="Wingdings" panose="05000000000000000000" pitchFamily="2" charset="2"/>
              <a:buChar char="Ø"/>
            </a:pPr>
            <a:r>
              <a:rPr lang="zh-CN" altLang="en-US" sz="1600" i="1" dirty="0"/>
              <a:t>缺乏通用的适用机制</a:t>
            </a:r>
          </a:p>
        </p:txBody>
      </p:sp>
    </p:spTree>
    <p:extLst>
      <p:ext uri="{BB962C8B-B14F-4D97-AF65-F5344CB8AC3E}">
        <p14:creationId xmlns:p14="http://schemas.microsoft.com/office/powerpoint/2010/main" val="836473338"/>
      </p:ext>
    </p:extLst>
  </p:cSld>
  <p:clrMapOvr>
    <a:masterClrMapping/>
  </p:clrMapOvr>
  <p:transition spd="slow">
    <p:push dir="u"/>
  </p:transition>
</p:sld>
</file>

<file path=ppt/tags/tag1.xml><?xml version="1.0" encoding="utf-8"?>
<p:tagLst xmlns:a="http://schemas.openxmlformats.org/drawingml/2006/main" xmlns:r="http://schemas.openxmlformats.org/officeDocument/2006/relationships" xmlns:p="http://schemas.openxmlformats.org/presentationml/2006/main">
  <p:tag name="PA" val="v5.1.2"/>
</p:tagLst>
</file>

<file path=ppt/tags/tag2.xml><?xml version="1.0" encoding="utf-8"?>
<p:tagLst xmlns:a="http://schemas.openxmlformats.org/drawingml/2006/main" xmlns:r="http://schemas.openxmlformats.org/officeDocument/2006/relationships" xmlns:p="http://schemas.openxmlformats.org/presentationml/2006/main">
  <p:tag name="PA" val="v5.1.2"/>
</p:tagLst>
</file>

<file path=ppt/tags/tag3.xml><?xml version="1.0" encoding="utf-8"?>
<p:tagLst xmlns:a="http://schemas.openxmlformats.org/drawingml/2006/main" xmlns:r="http://schemas.openxmlformats.org/officeDocument/2006/relationships" xmlns:p="http://schemas.openxmlformats.org/presentationml/2006/main">
  <p:tag name="PA" val="v5.1.2"/>
</p:tagLst>
</file>

<file path=ppt/tags/tag4.xml><?xml version="1.0" encoding="utf-8"?>
<p:tagLst xmlns:a="http://schemas.openxmlformats.org/drawingml/2006/main" xmlns:r="http://schemas.openxmlformats.org/officeDocument/2006/relationships" xmlns:p="http://schemas.openxmlformats.org/presentationml/2006/main">
  <p:tag name="PA" val="v5.1.2"/>
</p:tagLst>
</file>

<file path=ppt/tags/tag5.xml><?xml version="1.0" encoding="utf-8"?>
<p:tagLst xmlns:a="http://schemas.openxmlformats.org/drawingml/2006/main" xmlns:r="http://schemas.openxmlformats.org/officeDocument/2006/relationships" xmlns:p="http://schemas.openxmlformats.org/presentationml/2006/main">
  <p:tag name="PA" val="v5.1.2"/>
</p:tagLst>
</file>

<file path=ppt/tags/tag6.xml><?xml version="1.0" encoding="utf-8"?>
<p:tagLst xmlns:a="http://schemas.openxmlformats.org/drawingml/2006/main" xmlns:r="http://schemas.openxmlformats.org/officeDocument/2006/relationships" xmlns:p="http://schemas.openxmlformats.org/presentationml/2006/main">
  <p:tag name="PA" val="v5.1.2"/>
</p:tagLst>
</file>

<file path=ppt/tags/tag7.xml><?xml version="1.0" encoding="utf-8"?>
<p:tagLst xmlns:a="http://schemas.openxmlformats.org/drawingml/2006/main" xmlns:r="http://schemas.openxmlformats.org/officeDocument/2006/relationships" xmlns:p="http://schemas.openxmlformats.org/presentationml/2006/main">
  <p:tag name="PA" val="v5.1.2"/>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封2​​">
  <a:themeElements>
    <a:clrScheme name="自定义 34">
      <a:dk1>
        <a:sysClr val="windowText" lastClr="000000"/>
      </a:dk1>
      <a:lt1>
        <a:sysClr val="window" lastClr="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5400">
          <a:solidFill>
            <a:srgbClr val="002060"/>
          </a:solid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3480</TotalTime>
  <Words>6267</Words>
  <Application>Microsoft Office PowerPoint</Application>
  <PresentationFormat>宽屏</PresentationFormat>
  <Paragraphs>520</Paragraphs>
  <Slides>27</Slides>
  <Notes>27</Notes>
  <HiddenSlides>2</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27</vt:i4>
      </vt:variant>
    </vt:vector>
  </HeadingPairs>
  <TitlesOfParts>
    <vt:vector size="36" baseType="lpstr">
      <vt:lpstr>等线</vt:lpstr>
      <vt:lpstr>等线 Light</vt:lpstr>
      <vt:lpstr>微软雅黑</vt:lpstr>
      <vt:lpstr>微软雅黑 Light</vt:lpstr>
      <vt:lpstr>Arial</vt:lpstr>
      <vt:lpstr>Century Gothic</vt:lpstr>
      <vt:lpstr>Wingdings</vt:lpstr>
      <vt:lpstr>Office 主题​​</vt:lpstr>
      <vt:lpstr>封2​​</vt:lpstr>
      <vt:lpstr>基于语言机制的内核模块隔离研究</vt:lpstr>
      <vt:lpstr>PowerPoint 演示文稿</vt:lpstr>
      <vt:lpstr>研究背景</vt:lpstr>
      <vt:lpstr>研究目的和意义</vt:lpstr>
      <vt:lpstr>研究现状与关键问题</vt:lpstr>
      <vt:lpstr>研究现状与关键问题</vt:lpstr>
      <vt:lpstr>设计和实现</vt:lpstr>
      <vt:lpstr>设计和实现</vt:lpstr>
      <vt:lpstr>设计和实现</vt:lpstr>
      <vt:lpstr>设计和实现</vt:lpstr>
      <vt:lpstr>设计和实现</vt:lpstr>
      <vt:lpstr>设计和实现：热更新</vt:lpstr>
      <vt:lpstr>设计和实现</vt:lpstr>
      <vt:lpstr>设计和实现</vt:lpstr>
      <vt:lpstr>设计和实现</vt:lpstr>
      <vt:lpstr>设计和实现</vt:lpstr>
      <vt:lpstr>实验评估</vt:lpstr>
      <vt:lpstr>实验评估：跨域调用开销</vt:lpstr>
      <vt:lpstr>实验评估：设备驱动隔离开销</vt:lpstr>
      <vt:lpstr>实验评估：工作负载对跨域通信的影响</vt:lpstr>
      <vt:lpstr>实验评估：故障恢复机制的有效性与开销</vt:lpstr>
      <vt:lpstr>实验评估：热更新延迟分析</vt:lpstr>
      <vt:lpstr>实验评估：热更新可扩展性</vt:lpstr>
      <vt:lpstr>总结和展望</vt:lpstr>
      <vt:lpstr>PowerPoint 演示文稿</vt:lpstr>
      <vt:lpstr>研究目的和意义</vt:lpstr>
      <vt:lpstr>研究现状与关键问题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linfeng chen</dc:creator>
  <cp:lastModifiedBy>linfeng chen</cp:lastModifiedBy>
  <cp:revision>230</cp:revision>
  <dcterms:created xsi:type="dcterms:W3CDTF">2025-12-29T08:09:40Z</dcterms:created>
  <dcterms:modified xsi:type="dcterms:W3CDTF">2026-01-21T07:14:07Z</dcterms:modified>
</cp:coreProperties>
</file>