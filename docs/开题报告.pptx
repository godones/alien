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8" r:id="rId2"/>
    <p:sldId id="259" r:id="rId3"/>
    <p:sldId id="260" r:id="rId4"/>
    <p:sldId id="270" r:id="rId5"/>
    <p:sldId id="261" r:id="rId6"/>
    <p:sldId id="278" r:id="rId7"/>
    <p:sldId id="262" r:id="rId8"/>
    <p:sldId id="279" r:id="rId9"/>
    <p:sldId id="281" r:id="rId10"/>
    <p:sldId id="276" r:id="rId11"/>
    <p:sldId id="272" r:id="rId12"/>
    <p:sldId id="282" r:id="rId13"/>
    <p:sldId id="284" r:id="rId14"/>
    <p:sldId id="283" r:id="rId15"/>
    <p:sldId id="266" r:id="rId16"/>
    <p:sldId id="268"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3" autoAdjust="0"/>
    <p:restoredTop sz="94978" autoAdjust="0"/>
  </p:normalViewPr>
  <p:slideViewPr>
    <p:cSldViewPr snapToGrid="0">
      <p:cViewPr varScale="1">
        <p:scale>
          <a:sx n="78" d="100"/>
          <a:sy n="78" d="100"/>
        </p:scale>
        <p:origin x="126" y="648"/>
      </p:cViewPr>
      <p:guideLst>
        <p:guide orient="horz" pos="2160"/>
        <p:guide pos="384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1</a:t>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3</a:t>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4</a:t>
            </a:fld>
            <a:endParaRPr lang="zh-CN" altLang="en-US" dirty="0"/>
          </a:p>
        </p:txBody>
      </p:sp>
    </p:spTree>
    <p:extLst>
      <p:ext uri="{BB962C8B-B14F-4D97-AF65-F5344CB8AC3E}">
        <p14:creationId xmlns:p14="http://schemas.microsoft.com/office/powerpoint/2010/main" val="3521426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5</a:t>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62E42-CC33-A627-A8DB-FC5559CF24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C364F4-C9F3-F810-7158-52F8BEF7D8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F8953F-5EDB-8028-B5C1-54B363CA1DF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7F699B-7B31-79E0-EFC0-D260D4350E82}"/>
              </a:ext>
            </a:extLst>
          </p:cNvPr>
          <p:cNvSpPr>
            <a:spLocks noGrp="1"/>
          </p:cNvSpPr>
          <p:nvPr>
            <p:ph type="sldNum" sz="quarter" idx="10"/>
          </p:nvPr>
        </p:nvSpPr>
        <p:spPr/>
        <p:txBody>
          <a:bodyPr/>
          <a:lstStyle/>
          <a:p>
            <a:pPr>
              <a:defRPr/>
            </a:pPr>
            <a:fld id="{CD7A2CCA-E5D5-4859-8035-B358016F08F8}" type="slidenum">
              <a:rPr lang="zh-CN" altLang="en-US" smtClean="0"/>
              <a:t>6</a:t>
            </a:fld>
            <a:endParaRPr lang="zh-CN" altLang="en-US" dirty="0"/>
          </a:p>
        </p:txBody>
      </p:sp>
    </p:spTree>
    <p:extLst>
      <p:ext uri="{BB962C8B-B14F-4D97-AF65-F5344CB8AC3E}">
        <p14:creationId xmlns:p14="http://schemas.microsoft.com/office/powerpoint/2010/main" val="3519446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7</a:t>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195BE-F810-ABF1-C190-4301C83FED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B4B1A9-E7F9-9886-00A1-63E8FF813F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E4CC12-FDEF-97C5-2DED-C587CE8CB38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6501683-77BD-E0A9-FC15-CC262000C3E9}"/>
              </a:ext>
            </a:extLst>
          </p:cNvPr>
          <p:cNvSpPr>
            <a:spLocks noGrp="1"/>
          </p:cNvSpPr>
          <p:nvPr>
            <p:ph type="sldNum" sz="quarter" idx="10"/>
          </p:nvPr>
        </p:nvSpPr>
        <p:spPr/>
        <p:txBody>
          <a:bodyPr/>
          <a:lstStyle/>
          <a:p>
            <a:pPr>
              <a:defRPr/>
            </a:pPr>
            <a:fld id="{CD7A2CCA-E5D5-4859-8035-B358016F08F8}" type="slidenum">
              <a:rPr lang="zh-CN" altLang="en-US" smtClean="0"/>
              <a:t>8</a:t>
            </a:fld>
            <a:endParaRPr lang="zh-CN" altLang="en-US" dirty="0"/>
          </a:p>
        </p:txBody>
      </p:sp>
    </p:spTree>
    <p:extLst>
      <p:ext uri="{BB962C8B-B14F-4D97-AF65-F5344CB8AC3E}">
        <p14:creationId xmlns:p14="http://schemas.microsoft.com/office/powerpoint/2010/main" val="2834997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84ECF-29FA-FFB6-9EA4-B80B308764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AFA6F6-007E-AFB1-24DB-B2206AAF55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E6AE0F-D207-5D4E-3C68-2813D0336FC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0FF07A1-1F0F-F19A-273F-18F17FF05088}"/>
              </a:ext>
            </a:extLst>
          </p:cNvPr>
          <p:cNvSpPr>
            <a:spLocks noGrp="1"/>
          </p:cNvSpPr>
          <p:nvPr>
            <p:ph type="sldNum" sz="quarter" idx="10"/>
          </p:nvPr>
        </p:nvSpPr>
        <p:spPr/>
        <p:txBody>
          <a:bodyPr/>
          <a:lstStyle/>
          <a:p>
            <a:pPr>
              <a:defRPr/>
            </a:pPr>
            <a:fld id="{CD7A2CCA-E5D5-4859-8035-B358016F08F8}" type="slidenum">
              <a:rPr lang="zh-CN" altLang="en-US" smtClean="0"/>
              <a:t>9</a:t>
            </a:fld>
            <a:endParaRPr lang="zh-CN" altLang="en-US" dirty="0"/>
          </a:p>
        </p:txBody>
      </p:sp>
    </p:spTree>
    <p:extLst>
      <p:ext uri="{BB962C8B-B14F-4D97-AF65-F5344CB8AC3E}">
        <p14:creationId xmlns:p14="http://schemas.microsoft.com/office/powerpoint/2010/main" val="598097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10</a:t>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11</a:t>
            </a:fld>
            <a:endParaRPr lang="zh-CN" altLang="en-US" dirty="0"/>
          </a:p>
        </p:txBody>
      </p:sp>
    </p:spTree>
    <p:extLst>
      <p:ext uri="{BB962C8B-B14F-4D97-AF65-F5344CB8AC3E}">
        <p14:creationId xmlns:p14="http://schemas.microsoft.com/office/powerpoint/2010/main" val="1135371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C537-B8C4-63A0-0B4D-953C126156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C40B10-9408-093E-F71E-E8467C9138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B713A1-1302-B2FA-7591-D9BAC1C25AE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DB01669-FF09-005D-0AFB-53323BA0E611}"/>
              </a:ext>
            </a:extLst>
          </p:cNvPr>
          <p:cNvSpPr>
            <a:spLocks noGrp="1"/>
          </p:cNvSpPr>
          <p:nvPr>
            <p:ph type="sldNum" sz="quarter" idx="10"/>
          </p:nvPr>
        </p:nvSpPr>
        <p:spPr/>
        <p:txBody>
          <a:bodyPr/>
          <a:lstStyle/>
          <a:p>
            <a:pPr>
              <a:defRPr/>
            </a:pPr>
            <a:fld id="{CD7A2CCA-E5D5-4859-8035-B358016F08F8}" type="slidenum">
              <a:rPr lang="zh-CN" altLang="en-US" smtClean="0"/>
              <a:t>12</a:t>
            </a:fld>
            <a:endParaRPr lang="zh-CN" altLang="en-US" dirty="0"/>
          </a:p>
        </p:txBody>
      </p:sp>
    </p:spTree>
    <p:extLst>
      <p:ext uri="{BB962C8B-B14F-4D97-AF65-F5344CB8AC3E}">
        <p14:creationId xmlns:p14="http://schemas.microsoft.com/office/powerpoint/2010/main" val="1626236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BB332-4990-E9B4-7673-076F847643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362EAA-A3BC-8064-7E2F-E74A1431EE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FD12F7-0424-FE15-609F-7557BCCF2A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BBB6BE4-0BCD-6A5B-5E2B-71CEE3035FE3}"/>
              </a:ext>
            </a:extLst>
          </p:cNvPr>
          <p:cNvSpPr>
            <a:spLocks noGrp="1"/>
          </p:cNvSpPr>
          <p:nvPr>
            <p:ph type="sldNum" sz="quarter" idx="10"/>
          </p:nvPr>
        </p:nvSpPr>
        <p:spPr/>
        <p:txBody>
          <a:bodyPr/>
          <a:lstStyle/>
          <a:p>
            <a:pPr>
              <a:defRPr/>
            </a:pPr>
            <a:fld id="{CD7A2CCA-E5D5-4859-8035-B358016F08F8}" type="slidenum">
              <a:rPr lang="zh-CN" altLang="en-US" smtClean="0"/>
              <a:t>13</a:t>
            </a:fld>
            <a:endParaRPr lang="zh-CN" altLang="en-US" dirty="0"/>
          </a:p>
        </p:txBody>
      </p:sp>
    </p:spTree>
    <p:extLst>
      <p:ext uri="{BB962C8B-B14F-4D97-AF65-F5344CB8AC3E}">
        <p14:creationId xmlns:p14="http://schemas.microsoft.com/office/powerpoint/2010/main" val="2081847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655A4-E242-A12A-38B1-28D80BA00E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29938D-CFAB-DFE5-9740-323173FD24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C26440-F70B-6071-2AB1-392DBD6CF2A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E6982CC-32A4-A432-5520-71FB2B03F2FD}"/>
              </a:ext>
            </a:extLst>
          </p:cNvPr>
          <p:cNvSpPr>
            <a:spLocks noGrp="1"/>
          </p:cNvSpPr>
          <p:nvPr>
            <p:ph type="sldNum" sz="quarter" idx="10"/>
          </p:nvPr>
        </p:nvSpPr>
        <p:spPr/>
        <p:txBody>
          <a:bodyPr/>
          <a:lstStyle/>
          <a:p>
            <a:pPr>
              <a:defRPr/>
            </a:pPr>
            <a:fld id="{CD7A2CCA-E5D5-4859-8035-B358016F08F8}" type="slidenum">
              <a:rPr lang="zh-CN" altLang="en-US" smtClean="0"/>
              <a:t>14</a:t>
            </a:fld>
            <a:endParaRPr lang="zh-CN" altLang="en-US" dirty="0"/>
          </a:p>
        </p:txBody>
      </p:sp>
    </p:spTree>
    <p:extLst>
      <p:ext uri="{BB962C8B-B14F-4D97-AF65-F5344CB8AC3E}">
        <p14:creationId xmlns:p14="http://schemas.microsoft.com/office/powerpoint/2010/main" val="2055165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15</a:t>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16</a:t>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7" name="PA-矩形 7"/>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任意多边形: 形状 39"/>
          <p:cNvSpPr/>
          <p:nvPr userDrawn="1"/>
        </p:nvSpPr>
        <p:spPr>
          <a:xfrm>
            <a:off x="221886"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9" name="任意多边形: 形状 39"/>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 name="任意多边形: 形状 39"/>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任意多边形: 形状 74"/>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12" name="标题 47"/>
          <p:cNvSpPr>
            <a:spLocks noGrp="1"/>
          </p:cNvSpPr>
          <p:nvPr>
            <p:ph type="title" hasCustomPrompt="1"/>
          </p:nvPr>
        </p:nvSpPr>
        <p:spPr>
          <a:xfrm>
            <a:off x="671368" y="2616692"/>
            <a:ext cx="701500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charset="-122"/>
                <a:ea typeface="微软雅黑" panose="020B050302020402020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p:cNvSpPr>
            <a:spLocks noGrp="1"/>
          </p:cNvSpPr>
          <p:nvPr>
            <p:ph type="body" sz="quarter" idx="13" hasCustomPrompt="1"/>
          </p:nvPr>
        </p:nvSpPr>
        <p:spPr>
          <a:xfrm>
            <a:off x="671367" y="2352090"/>
            <a:ext cx="5137927"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p:cNvSpPr>
            <a:spLocks noGrp="1"/>
          </p:cNvSpPr>
          <p:nvPr>
            <p:ph type="body" sz="quarter" idx="16" hasCustomPrompt="1"/>
          </p:nvPr>
        </p:nvSpPr>
        <p:spPr>
          <a:xfrm>
            <a:off x="671366" y="4094394"/>
            <a:ext cx="6221139"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sp>
        <p:nvSpPr>
          <p:cNvPr id="16" name="文本框 15"/>
          <p:cNvSpPr txBox="1"/>
          <p:nvPr userDrawn="1"/>
        </p:nvSpPr>
        <p:spPr>
          <a:xfrm>
            <a:off x="474450" y="318256"/>
            <a:ext cx="2104863" cy="792864"/>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2400" b="1" i="0" u="none" strike="noStrike" kern="1200" cap="none" spc="100" normalizeH="0" baseline="0" noProof="0" dirty="0">
                <a:ln>
                  <a:noFill/>
                </a:ln>
                <a:solidFill>
                  <a:srgbClr val="A2A2A2"/>
                </a:solidFill>
                <a:effectLst/>
                <a:uLnTx/>
                <a:uFillTx/>
                <a:latin typeface="微软雅黑" panose="020B0503020204020204" charset="-122"/>
                <a:ea typeface="微软雅黑" panose="020B0503020204020204" charset="-122"/>
                <a:cs typeface="+mn-cs"/>
              </a:rPr>
              <a:t>◁ BIT </a:t>
            </a:r>
            <a:r>
              <a:rPr kumimoji="0" lang="en-US" altLang="zh-CN" sz="2400" b="1" i="0" u="none" strike="noStrike" kern="1200" cap="none" spc="100" normalizeH="0" baseline="0" noProof="0" dirty="0">
                <a:ln>
                  <a:noFill/>
                </a:ln>
                <a:solidFill>
                  <a:srgbClr val="A2A2A2"/>
                </a:solidFill>
                <a:effectLst/>
                <a:uLnTx/>
                <a:uFillTx/>
                <a:latin typeface="+mn-ea"/>
                <a:ea typeface="+mn-ea"/>
                <a:cs typeface="+mn-cs"/>
              </a:rPr>
              <a:t>▷</a:t>
            </a:r>
            <a:endParaRPr kumimoji="0" lang="zh-CN" altLang="en-US" sz="2400" b="1" i="0" u="none" strike="noStrike" kern="1200" cap="none" spc="100" normalizeH="0" baseline="0" noProof="0" dirty="0">
              <a:ln>
                <a:noFill/>
              </a:ln>
              <a:solidFill>
                <a:srgbClr val="A2A2A2"/>
              </a:solidFill>
              <a:effectLst/>
              <a:uLnTx/>
              <a:uFillTx/>
              <a:latin typeface="+mn-ea"/>
              <a:ea typeface="+mn-ea"/>
              <a:cs typeface="+mn-cs"/>
            </a:endParaRPr>
          </a:p>
        </p:txBody>
      </p:sp>
      <p:pic>
        <p:nvPicPr>
          <p:cNvPr id="23" name="图片 22"/>
          <p:cNvPicPr>
            <a:picLocks noChangeAspect="1"/>
          </p:cNvPicPr>
          <p:nvPr userDrawn="1"/>
        </p:nvPicPr>
        <p:blipFill>
          <a:blip r:embed="rId4"/>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print"/>
          <a:stretch>
            <a:fillRect/>
          </a:stretch>
        </p:blipFill>
        <p:spPr>
          <a:xfrm>
            <a:off x="8250874" y="2196869"/>
            <a:ext cx="3243162" cy="2464261"/>
          </a:xfrm>
          <a:prstGeom prst="rect">
            <a:avLst/>
          </a:prstGeom>
        </p:spPr>
      </p:pic>
      <p:grpSp>
        <p:nvGrpSpPr>
          <p:cNvPr id="2" name="组合 1"/>
          <p:cNvGrpSpPr/>
          <p:nvPr userDrawn="1"/>
        </p:nvGrpSpPr>
        <p:grpSpPr>
          <a:xfrm>
            <a:off x="671368" y="6061309"/>
            <a:ext cx="2479573" cy="304965"/>
            <a:chOff x="671368" y="6061309"/>
            <a:chExt cx="2479573" cy="304965"/>
          </a:xfrm>
        </p:grpSpPr>
        <p:grpSp>
          <p:nvGrpSpPr>
            <p:cNvPr id="74" name="组合 73"/>
            <p:cNvGrpSpPr/>
            <p:nvPr userDrawn="1"/>
          </p:nvGrpSpPr>
          <p:grpSpPr>
            <a:xfrm>
              <a:off x="2098445" y="6064781"/>
              <a:ext cx="1052496" cy="298683"/>
              <a:chOff x="2373567" y="1096524"/>
              <a:chExt cx="2578404" cy="731714"/>
            </a:xfrm>
          </p:grpSpPr>
          <p:sp>
            <p:nvSpPr>
              <p:cNvPr id="8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0" name="Freeform 6"/>
              <p:cNvSpPr/>
              <p:nvPr/>
            </p:nvSpPr>
            <p:spPr bwMode="auto">
              <a:xfrm>
                <a:off x="4620305" y="1246611"/>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nvGrpSpPr>
              <p:cNvPr id="91" name="组合 90"/>
              <p:cNvGrpSpPr/>
              <p:nvPr/>
            </p:nvGrpSpPr>
            <p:grpSpPr>
              <a:xfrm>
                <a:off x="2373567" y="1096524"/>
                <a:ext cx="589817" cy="731714"/>
                <a:chOff x="5548313" y="2084388"/>
                <a:chExt cx="547688" cy="679451"/>
              </a:xfrm>
              <a:solidFill>
                <a:schemeClr val="accent3"/>
              </a:solidFill>
            </p:grpSpPr>
            <p:sp>
              <p:nvSpPr>
                <p:cNvPr id="9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92" name="组合 91"/>
              <p:cNvGrpSpPr/>
              <p:nvPr/>
            </p:nvGrpSpPr>
            <p:grpSpPr>
              <a:xfrm>
                <a:off x="3194779" y="1296598"/>
                <a:ext cx="356817" cy="382445"/>
                <a:chOff x="3792874" y="3156423"/>
                <a:chExt cx="331330" cy="355128"/>
              </a:xfrm>
              <a:solidFill>
                <a:schemeClr val="accent3"/>
              </a:solidFill>
            </p:grpSpPr>
            <p:sp>
              <p:nvSpPr>
                <p:cNvPr id="9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nvGrpSpPr>
            <p:cNvPr id="75" name="组合 74"/>
            <p:cNvGrpSpPr/>
            <p:nvPr userDrawn="1"/>
          </p:nvGrpSpPr>
          <p:grpSpPr>
            <a:xfrm>
              <a:off x="671368" y="6061309"/>
              <a:ext cx="1100339" cy="304965"/>
              <a:chOff x="2372715" y="161759"/>
              <a:chExt cx="2695608" cy="747103"/>
            </a:xfrm>
          </p:grpSpPr>
          <p:grpSp>
            <p:nvGrpSpPr>
              <p:cNvPr id="76" name="组合 75"/>
              <p:cNvGrpSpPr/>
              <p:nvPr/>
            </p:nvGrpSpPr>
            <p:grpSpPr>
              <a:xfrm>
                <a:off x="3804781" y="283376"/>
                <a:ext cx="521428" cy="548788"/>
                <a:chOff x="6113463" y="3541713"/>
                <a:chExt cx="484188" cy="509588"/>
              </a:xfrm>
              <a:solidFill>
                <a:schemeClr val="accent3"/>
              </a:solidFill>
            </p:grpSpPr>
            <p:sp>
              <p:nvSpPr>
                <p:cNvPr id="8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7" name="组合 76"/>
              <p:cNvGrpSpPr/>
              <p:nvPr/>
            </p:nvGrpSpPr>
            <p:grpSpPr>
              <a:xfrm>
                <a:off x="2372715" y="161759"/>
                <a:ext cx="591521" cy="747103"/>
                <a:chOff x="6108700" y="2066926"/>
                <a:chExt cx="549275" cy="693738"/>
              </a:xfrm>
              <a:solidFill>
                <a:schemeClr val="accent3"/>
              </a:solidFill>
            </p:grpSpPr>
            <p:sp>
              <p:nvSpPr>
                <p:cNvPr id="8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8" name="组合 77"/>
              <p:cNvGrpSpPr/>
              <p:nvPr/>
            </p:nvGrpSpPr>
            <p:grpSpPr>
              <a:xfrm>
                <a:off x="3173775" y="375308"/>
                <a:ext cx="396626" cy="341923"/>
                <a:chOff x="6186488" y="2930526"/>
                <a:chExt cx="368300" cy="317500"/>
              </a:xfrm>
              <a:solidFill>
                <a:schemeClr val="accent3"/>
              </a:solidFill>
            </p:grpSpPr>
            <p:sp>
              <p:nvSpPr>
                <p:cNvPr id="8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9" name="组合 78"/>
              <p:cNvGrpSpPr/>
              <p:nvPr/>
            </p:nvGrpSpPr>
            <p:grpSpPr>
              <a:xfrm>
                <a:off x="4613362" y="313351"/>
                <a:ext cx="454961" cy="453362"/>
                <a:chOff x="11893465" y="1994536"/>
                <a:chExt cx="274986" cy="274018"/>
              </a:xfrm>
              <a:solidFill>
                <a:schemeClr val="accent3"/>
              </a:solidFill>
            </p:grpSpPr>
            <p:sp>
              <p:nvSpPr>
                <p:cNvPr id="8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3" name="PA-矩形 7"/>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stretch>
            <a:fillRect/>
          </a:stretch>
        </p:blipFill>
        <p:spPr>
          <a:xfrm>
            <a:off x="-2610651" y="161103"/>
            <a:ext cx="6791691" cy="6535792"/>
          </a:xfrm>
          <a:prstGeom prst="rect">
            <a:avLst/>
          </a:prstGeom>
        </p:spPr>
      </p:pic>
      <p:sp>
        <p:nvSpPr>
          <p:cNvPr id="3" name="矩形 2"/>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1" name="任意多边形: 形状 30"/>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48" name="标题 47"/>
          <p:cNvSpPr>
            <a:spLocks noGrp="1"/>
          </p:cNvSpPr>
          <p:nvPr>
            <p:ph type="title" hasCustomPrompt="1"/>
          </p:nvPr>
        </p:nvSpPr>
        <p:spPr>
          <a:xfrm>
            <a:off x="5143364" y="2558484"/>
            <a:ext cx="6206079"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p:cNvSpPr>
            <a:spLocks noGrp="1"/>
          </p:cNvSpPr>
          <p:nvPr>
            <p:ph type="body" sz="quarter" idx="16" hasCustomPrompt="1"/>
          </p:nvPr>
        </p:nvSpPr>
        <p:spPr>
          <a:xfrm>
            <a:off x="5143364" y="4185030"/>
            <a:ext cx="6229674"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pic>
        <p:nvPicPr>
          <p:cNvPr id="8" name="图片 7"/>
          <p:cNvPicPr>
            <a:picLocks noChangeAspect="1"/>
          </p:cNvPicPr>
          <p:nvPr userDrawn="1"/>
        </p:nvPicPr>
        <p:blipFill>
          <a:blip r:embed="rId5" cstate="print"/>
          <a:stretch>
            <a:fillRect/>
          </a:stretch>
        </p:blipFill>
        <p:spPr>
          <a:xfrm>
            <a:off x="1111261" y="2359437"/>
            <a:ext cx="2855386" cy="2169616"/>
          </a:xfrm>
          <a:prstGeom prst="rect">
            <a:avLst/>
          </a:prstGeom>
        </p:spPr>
      </p:pic>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9" name="任意多边形: 形状 118"/>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6" name="任意多边形: 形状 105"/>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8" name="任意多边形: 形状 117"/>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9" name="任意多边形: 形状 83"/>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endParaRPr>
          </a:p>
        </p:txBody>
      </p:sp>
      <p:sp>
        <p:nvSpPr>
          <p:cNvPr id="50" name="任意多边形: 形状 83"/>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endParaRPr>
          </a:p>
        </p:txBody>
      </p:sp>
      <p:sp>
        <p:nvSpPr>
          <p:cNvPr id="102" name="任意多边形: 形状 101"/>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4" name="任意多边形: 形状 83"/>
          <p:cNvSpPr/>
          <p:nvPr userDrawn="1"/>
        </p:nvSpPr>
        <p:spPr>
          <a:xfrm>
            <a:off x="1"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endParaRPr>
          </a:p>
        </p:txBody>
      </p:sp>
      <p:sp>
        <p:nvSpPr>
          <p:cNvPr id="48" name="标题 47"/>
          <p:cNvSpPr>
            <a:spLocks noGrp="1"/>
          </p:cNvSpPr>
          <p:nvPr userDrawn="1">
            <p:ph type="title" hasCustomPrompt="1"/>
          </p:nvPr>
        </p:nvSpPr>
        <p:spPr>
          <a:xfrm>
            <a:off x="515938"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p:cNvSpPr>
            <a:spLocks noGrp="1"/>
          </p:cNvSpPr>
          <p:nvPr userDrawn="1">
            <p:ph type="body" sz="quarter" idx="16" hasCustomPrompt="1"/>
          </p:nvPr>
        </p:nvSpPr>
        <p:spPr>
          <a:xfrm>
            <a:off x="2141362" y="5528219"/>
            <a:ext cx="7909277" cy="3724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cxnSp>
        <p:nvCxnSpPr>
          <p:cNvPr id="18" name="直接连接符 17"/>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400" b="1" i="0" u="none" strike="noStrike" kern="1200" cap="none" spc="100" normalizeH="0" baseline="0" noProof="0" dirty="0">
                <a:ln>
                  <a:noFill/>
                </a:ln>
                <a:solidFill>
                  <a:srgbClr val="A2A2A2"/>
                </a:solidFill>
                <a:effectLst/>
                <a:uLnTx/>
                <a:uFillTx/>
                <a:latin typeface="微软雅黑" panose="020B0503020204020204" charset="-122"/>
                <a:ea typeface="微软雅黑" panose="020B0503020204020204" charset="-122"/>
                <a:cs typeface="+mn-cs"/>
              </a:rPr>
              <a:t>BIT</a:t>
            </a:r>
            <a:r>
              <a:rPr kumimoji="0" lang="en-US" altLang="zh-CN" sz="1400" b="0" i="0" u="none" strike="noStrike" kern="1200" cap="none" spc="100" normalizeH="0" baseline="0" noProof="0" dirty="0">
                <a:ln>
                  <a:noFill/>
                </a:ln>
                <a:solidFill>
                  <a:srgbClr val="A2A2A2"/>
                </a:solidFill>
                <a:effectLst/>
                <a:uLnTx/>
                <a:uFillTx/>
                <a:latin typeface="微软雅黑" panose="020B0503020204020204" charset="-122"/>
                <a:ea typeface="微软雅黑" panose="020B050302020402020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panose="020B0503020204020204" charset="-122"/>
                <a:ea typeface="微软雅黑" panose="020B0503020204020204" charset="-122"/>
                <a:cs typeface="+mn-cs"/>
              </a:rPr>
              <a:t>|</a:t>
            </a:r>
            <a:r>
              <a:rPr kumimoji="0" lang="en-US" altLang="zh-CN" sz="1400" b="0" i="0" u="none" strike="noStrike" kern="1200" cap="none" spc="100" normalizeH="0" baseline="0" noProof="0" dirty="0">
                <a:ln>
                  <a:noFill/>
                </a:ln>
                <a:solidFill>
                  <a:srgbClr val="A2A2A2"/>
                </a:solidFill>
                <a:effectLst/>
                <a:uLnTx/>
                <a:uFillTx/>
                <a:latin typeface="微软雅黑" panose="020B0503020204020204" charset="-122"/>
                <a:ea typeface="微软雅黑" panose="020B050302020402020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panose="020B0503020204020204" charset="-122"/>
                <a:ea typeface="微软雅黑" panose="020B0503020204020204" charset="-122"/>
                <a:cs typeface="+mn-cs"/>
              </a:rPr>
              <a:t>SINCE 1940</a:t>
            </a: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3" name="组合 2"/>
          <p:cNvGrpSpPr/>
          <p:nvPr userDrawn="1"/>
        </p:nvGrpSpPr>
        <p:grpSpPr>
          <a:xfrm>
            <a:off x="10272478" y="6308389"/>
            <a:ext cx="1629576" cy="198576"/>
            <a:chOff x="10272478" y="6308389"/>
            <a:chExt cx="1629576" cy="198576"/>
          </a:xfrm>
        </p:grpSpPr>
        <p:grpSp>
          <p:nvGrpSpPr>
            <p:cNvPr id="40" name="组合 39"/>
            <p:cNvGrpSpPr/>
            <p:nvPr userDrawn="1"/>
          </p:nvGrpSpPr>
          <p:grpSpPr>
            <a:xfrm>
              <a:off x="11216726" y="6310650"/>
              <a:ext cx="685328" cy="194486"/>
              <a:chOff x="2373567" y="1096524"/>
              <a:chExt cx="2578404" cy="731714"/>
            </a:xfrm>
          </p:grpSpPr>
          <p:sp>
            <p:nvSpPr>
              <p:cNvPr id="7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71" name="Freeform 6"/>
              <p:cNvSpPr/>
              <p:nvPr/>
            </p:nvSpPr>
            <p:spPr bwMode="auto">
              <a:xfrm>
                <a:off x="4620306" y="1237050"/>
                <a:ext cx="331665" cy="499208"/>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nvGrpSpPr>
              <p:cNvPr id="72" name="组合 71"/>
              <p:cNvGrpSpPr/>
              <p:nvPr/>
            </p:nvGrpSpPr>
            <p:grpSpPr>
              <a:xfrm>
                <a:off x="2373567" y="1096524"/>
                <a:ext cx="589817" cy="731714"/>
                <a:chOff x="5548313" y="2084388"/>
                <a:chExt cx="547688" cy="679451"/>
              </a:xfrm>
              <a:solidFill>
                <a:schemeClr val="accent3"/>
              </a:solidFill>
            </p:grpSpPr>
            <p:sp>
              <p:nvSpPr>
                <p:cNvPr id="7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7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3" name="组合 72"/>
              <p:cNvGrpSpPr/>
              <p:nvPr/>
            </p:nvGrpSpPr>
            <p:grpSpPr>
              <a:xfrm>
                <a:off x="3194779" y="1296598"/>
                <a:ext cx="356817" cy="382445"/>
                <a:chOff x="3792874" y="3156423"/>
                <a:chExt cx="331330" cy="355128"/>
              </a:xfrm>
              <a:solidFill>
                <a:schemeClr val="accent3"/>
              </a:solidFill>
            </p:grpSpPr>
            <p:sp>
              <p:nvSpPr>
                <p:cNvPr id="7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7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7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nvGrpSpPr>
            <p:cNvPr id="41" name="组合 40"/>
            <p:cNvGrpSpPr/>
            <p:nvPr userDrawn="1"/>
          </p:nvGrpSpPr>
          <p:grpSpPr>
            <a:xfrm>
              <a:off x="10272478" y="6308389"/>
              <a:ext cx="721622" cy="198576"/>
              <a:chOff x="2372715" y="161759"/>
              <a:chExt cx="2714952" cy="747103"/>
            </a:xfrm>
          </p:grpSpPr>
          <p:grpSp>
            <p:nvGrpSpPr>
              <p:cNvPr id="42" name="组合 41"/>
              <p:cNvGrpSpPr/>
              <p:nvPr/>
            </p:nvGrpSpPr>
            <p:grpSpPr>
              <a:xfrm>
                <a:off x="3804781" y="283376"/>
                <a:ext cx="521428" cy="548788"/>
                <a:chOff x="6113463" y="3541713"/>
                <a:chExt cx="484188" cy="509588"/>
              </a:xfrm>
              <a:solidFill>
                <a:schemeClr val="accent3"/>
              </a:solidFill>
            </p:grpSpPr>
            <p:sp>
              <p:nvSpPr>
                <p:cNvPr id="6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43" name="组合 42"/>
              <p:cNvGrpSpPr/>
              <p:nvPr/>
            </p:nvGrpSpPr>
            <p:grpSpPr>
              <a:xfrm>
                <a:off x="2372715" y="161759"/>
                <a:ext cx="591521" cy="747103"/>
                <a:chOff x="6108700" y="2066926"/>
                <a:chExt cx="549275" cy="693738"/>
              </a:xfrm>
              <a:solidFill>
                <a:schemeClr val="accent3"/>
              </a:solidFill>
            </p:grpSpPr>
            <p:sp>
              <p:nvSpPr>
                <p:cNvPr id="6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44" name="组合 43"/>
              <p:cNvGrpSpPr/>
              <p:nvPr/>
            </p:nvGrpSpPr>
            <p:grpSpPr>
              <a:xfrm>
                <a:off x="3173775" y="375308"/>
                <a:ext cx="396626" cy="341923"/>
                <a:chOff x="6186488" y="2930526"/>
                <a:chExt cx="368300" cy="317500"/>
              </a:xfrm>
              <a:solidFill>
                <a:schemeClr val="accent3"/>
              </a:solidFill>
            </p:grpSpPr>
            <p:sp>
              <p:nvSpPr>
                <p:cNvPr id="6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45" name="组合 44"/>
              <p:cNvGrpSpPr/>
              <p:nvPr/>
            </p:nvGrpSpPr>
            <p:grpSpPr>
              <a:xfrm>
                <a:off x="4613354" y="313344"/>
                <a:ext cx="474313" cy="479486"/>
                <a:chOff x="11893474" y="1994534"/>
                <a:chExt cx="286683" cy="289808"/>
              </a:xfrm>
              <a:solidFill>
                <a:schemeClr val="accent3"/>
              </a:solidFill>
            </p:grpSpPr>
            <p:sp>
              <p:nvSpPr>
                <p:cNvPr id="46" name="Freeform 11"/>
                <p:cNvSpPr>
                  <a:spLocks noEditPoints="1"/>
                </p:cNvSpPr>
                <p:nvPr/>
              </p:nvSpPr>
              <p:spPr bwMode="auto">
                <a:xfrm>
                  <a:off x="11976099" y="1994534"/>
                  <a:ext cx="204058" cy="285679"/>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47" name="Freeform 12"/>
                <p:cNvSpPr/>
                <p:nvPr/>
              </p:nvSpPr>
              <p:spPr bwMode="auto">
                <a:xfrm>
                  <a:off x="11893474" y="2009126"/>
                  <a:ext cx="109877" cy="275216"/>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样式2-尾页">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1" fmla="*/ 0 w 3162300"/>
              <a:gd name="connsiteY0-2" fmla="*/ 2147409 h 2238849"/>
              <a:gd name="connsiteX1-3" fmla="*/ 0 w 3162300"/>
              <a:gd name="connsiteY1-4" fmla="*/ 1565265 h 2238849"/>
              <a:gd name="connsiteX2-5" fmla="*/ 0 w 3162300"/>
              <a:gd name="connsiteY2-6" fmla="*/ 1544697 h 2238849"/>
              <a:gd name="connsiteX3-7" fmla="*/ 0 w 3162300"/>
              <a:gd name="connsiteY3-8" fmla="*/ 0 h 2238849"/>
              <a:gd name="connsiteX4-9" fmla="*/ 1585774 w 3162300"/>
              <a:gd name="connsiteY4-10" fmla="*/ 1112898 h 2238849"/>
              <a:gd name="connsiteX5-11" fmla="*/ 3162300 w 3162300"/>
              <a:gd name="connsiteY5-12" fmla="*/ 0 h 2238849"/>
              <a:gd name="connsiteX6-13" fmla="*/ 3162300 w 3162300"/>
              <a:gd name="connsiteY6-14" fmla="*/ 1544697 h 2238849"/>
              <a:gd name="connsiteX7-15" fmla="*/ 3162300 w 3162300"/>
              <a:gd name="connsiteY7-16" fmla="*/ 1565265 h 2238849"/>
              <a:gd name="connsiteX8-17" fmla="*/ 3162300 w 3162300"/>
              <a:gd name="connsiteY8-18" fmla="*/ 2147409 h 2238849"/>
              <a:gd name="connsiteX9" fmla="*/ 91440 w 3162300"/>
              <a:gd name="connsiteY9" fmla="*/ 2238849 h 2238849"/>
              <a:gd name="connsiteX0-19" fmla="*/ 0 w 3162300"/>
              <a:gd name="connsiteY0-20" fmla="*/ 2147409 h 2147409"/>
              <a:gd name="connsiteX1-21" fmla="*/ 0 w 3162300"/>
              <a:gd name="connsiteY1-22" fmla="*/ 1565265 h 2147409"/>
              <a:gd name="connsiteX2-23" fmla="*/ 0 w 3162300"/>
              <a:gd name="connsiteY2-24" fmla="*/ 1544697 h 2147409"/>
              <a:gd name="connsiteX3-25" fmla="*/ 0 w 3162300"/>
              <a:gd name="connsiteY3-26" fmla="*/ 0 h 2147409"/>
              <a:gd name="connsiteX4-27" fmla="*/ 1585774 w 3162300"/>
              <a:gd name="connsiteY4-28" fmla="*/ 1112898 h 2147409"/>
              <a:gd name="connsiteX5-29" fmla="*/ 3162300 w 3162300"/>
              <a:gd name="connsiteY5-30" fmla="*/ 0 h 2147409"/>
              <a:gd name="connsiteX6-31" fmla="*/ 3162300 w 3162300"/>
              <a:gd name="connsiteY6-32" fmla="*/ 1544697 h 2147409"/>
              <a:gd name="connsiteX7-33" fmla="*/ 3162300 w 3162300"/>
              <a:gd name="connsiteY7-34" fmla="*/ 1565265 h 2147409"/>
              <a:gd name="connsiteX8-35" fmla="*/ 3162300 w 3162300"/>
              <a:gd name="connsiteY8-36" fmla="*/ 2147409 h 21474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1" fmla="*/ 0 w 3162300"/>
              <a:gd name="connsiteY0-2" fmla="*/ 1871961 h 1963401"/>
              <a:gd name="connsiteX1-3" fmla="*/ 0 w 3162300"/>
              <a:gd name="connsiteY1-4" fmla="*/ 0 h 1963401"/>
              <a:gd name="connsiteX2-5" fmla="*/ 3162300 w 3162300"/>
              <a:gd name="connsiteY2-6" fmla="*/ 0 h 1963401"/>
              <a:gd name="connsiteX3-7" fmla="*/ 3162300 w 3162300"/>
              <a:gd name="connsiteY3-8" fmla="*/ 1871961 h 1963401"/>
              <a:gd name="connsiteX4-9" fmla="*/ 91440 w 3162300"/>
              <a:gd name="connsiteY4-10" fmla="*/ 1963401 h 1963401"/>
              <a:gd name="connsiteX0-11" fmla="*/ 0 w 3162300"/>
              <a:gd name="connsiteY0-12" fmla="*/ 1871961 h 1871961"/>
              <a:gd name="connsiteX1-13" fmla="*/ 0 w 3162300"/>
              <a:gd name="connsiteY1-14" fmla="*/ 0 h 1871961"/>
              <a:gd name="connsiteX2-15" fmla="*/ 3162300 w 3162300"/>
              <a:gd name="connsiteY2-16" fmla="*/ 0 h 1871961"/>
              <a:gd name="connsiteX3-17" fmla="*/ 3162300 w 3162300"/>
              <a:gd name="connsiteY3-18" fmla="*/ 1871961 h 1871961"/>
            </a:gdLst>
            <a:ahLst/>
            <a:cxnLst>
              <a:cxn ang="0">
                <a:pos x="connsiteX0-1" y="connsiteY0-2"/>
              </a:cxn>
              <a:cxn ang="0">
                <a:pos x="connsiteX1-3" y="connsiteY1-4"/>
              </a:cxn>
              <a:cxn ang="0">
                <a:pos x="connsiteX2-5" y="connsiteY2-6"/>
              </a:cxn>
              <a:cxn ang="0">
                <a:pos x="connsiteX3-7" y="connsiteY3-8"/>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cs typeface="+mn-ea"/>
              <a:sym typeface="+mn-lt"/>
            </a:endParaRPr>
          </a:p>
        </p:txBody>
      </p:sp>
      <p:sp>
        <p:nvSpPr>
          <p:cNvPr id="12" name="等腰三角形 11"/>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print"/>
          <a:stretch>
            <a:fillRect/>
          </a:stretch>
        </p:blipFill>
        <p:spPr>
          <a:xfrm>
            <a:off x="4974749" y="1401223"/>
            <a:ext cx="2256308" cy="631546"/>
          </a:xfrm>
          <a:prstGeom prst="rect">
            <a:avLst/>
          </a:prstGeom>
        </p:spPr>
      </p:pic>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样式3-1">
    <p:spTree>
      <p:nvGrpSpPr>
        <p:cNvPr id="1" name=""/>
        <p:cNvGrpSpPr/>
        <p:nvPr/>
      </p:nvGrpSpPr>
      <p:grpSpPr>
        <a:xfrm>
          <a:off x="0" y="0"/>
          <a:ext cx="0" cy="0"/>
          <a:chOff x="0" y="0"/>
          <a:chExt cx="0" cy="0"/>
        </a:xfrm>
      </p:grpSpPr>
      <p:sp>
        <p:nvSpPr>
          <p:cNvPr id="8" name="文本框 7"/>
          <p:cNvSpPr txBox="1"/>
          <p:nvPr userDrawn="1"/>
        </p:nvSpPr>
        <p:spPr>
          <a:xfrm rot="16200000">
            <a:off x="-1538864" y="2653429"/>
            <a:ext cx="5229637" cy="1323439"/>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0" b="1" i="0" u="none" strike="noStrike" kern="1200" cap="none" spc="50" normalizeH="0" baseline="0" noProof="0" dirty="0">
                <a:ln>
                  <a:noFill/>
                </a:ln>
                <a:solidFill>
                  <a:prstClr val="white">
                    <a:lumMod val="85000"/>
                  </a:prstClr>
                </a:solidFill>
                <a:effectLst/>
                <a:uLnTx/>
                <a:uFillTx/>
                <a:latin typeface="微软雅黑" panose="020B0503020204020204" charset="-122"/>
                <a:ea typeface="微软雅黑" panose="020B0503020204020204" charset="-122"/>
                <a:cs typeface="+mn-cs"/>
              </a:rPr>
              <a:t>Contents</a:t>
            </a:r>
            <a:r>
              <a:rPr kumimoji="0" lang="en-US" altLang="zh-CN" sz="4400" b="1" i="0" u="none" strike="noStrike" kern="1200" cap="none" spc="50" normalizeH="0" baseline="0" noProof="0" dirty="0">
                <a:ln>
                  <a:noFill/>
                </a:ln>
                <a:solidFill>
                  <a:srgbClr val="A13F0B"/>
                </a:solidFill>
                <a:effectLst/>
                <a:uLnTx/>
                <a:uFillTx/>
                <a:latin typeface="微软雅黑" panose="020B0503020204020204" charset="-122"/>
                <a:ea typeface="微软雅黑" panose="020B0503020204020204" charset="-122"/>
                <a:cs typeface="+mn-cs"/>
              </a:rPr>
              <a:t>■</a:t>
            </a:r>
            <a:endParaRPr kumimoji="0" lang="zh-CN" altLang="en-US" sz="4400" b="1" i="0" u="none" strike="noStrike" kern="1200" cap="none" spc="50" normalizeH="0" baseline="0" noProof="0" dirty="0">
              <a:ln>
                <a:noFill/>
              </a:ln>
              <a:solidFill>
                <a:srgbClr val="A13F0B"/>
              </a:solidFill>
              <a:effectLst/>
              <a:uLnTx/>
              <a:uFillTx/>
              <a:latin typeface="微软雅黑" panose="020B0503020204020204" charset="-122"/>
              <a:ea typeface="微软雅黑" panose="020B0503020204020204" charset="-122"/>
              <a:cs typeface="+mn-cs"/>
            </a:endParaRPr>
          </a:p>
        </p:txBody>
      </p:sp>
      <p:sp>
        <p:nvSpPr>
          <p:cNvPr id="9" name="文本框 8"/>
          <p:cNvSpPr txBox="1"/>
          <p:nvPr userDrawn="1"/>
        </p:nvSpPr>
        <p:spPr>
          <a:xfrm>
            <a:off x="1116549" y="3752395"/>
            <a:ext cx="738664" cy="2246769"/>
          </a:xfrm>
          <a:prstGeom prst="rect">
            <a:avLst/>
          </a:prstGeom>
          <a:noFill/>
        </p:spPr>
        <p:txBody>
          <a:bodyPr vert="eaVert"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600" normalizeH="0" baseline="0" noProof="0" dirty="0">
                <a:ln>
                  <a:noFill/>
                </a:ln>
                <a:solidFill>
                  <a:srgbClr val="006C39"/>
                </a:solidFill>
                <a:effectLst/>
                <a:uLnTx/>
                <a:uFillTx/>
                <a:latin typeface="Century Gothic" panose="020B0502020202020204" pitchFamily="34" charset="0"/>
                <a:ea typeface="微软雅黑" panose="020B0503020204020204" charset="-122"/>
                <a:cs typeface="+mn-cs"/>
              </a:rPr>
              <a:t>结构大纲</a:t>
            </a:r>
          </a:p>
        </p:txBody>
      </p:sp>
      <p:sp>
        <p:nvSpPr>
          <p:cNvPr id="12" name="文本框 11"/>
          <p:cNvSpPr txBox="1"/>
          <p:nvPr userDrawn="1"/>
        </p:nvSpPr>
        <p:spPr>
          <a:xfrm>
            <a:off x="9519824" y="6600901"/>
            <a:ext cx="2523448" cy="246221"/>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rPr>
              <a:t>BEIJING INSTITUTE OF TECHNOLOGY</a:t>
            </a:r>
            <a:endPar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pic>
        <p:nvPicPr>
          <p:cNvPr id="57" name="图片 56"/>
          <p:cNvPicPr>
            <a:picLocks noChangeAspect="1"/>
          </p:cNvPicPr>
          <p:nvPr userDrawn="1"/>
        </p:nvPicPr>
        <p:blipFill>
          <a:blip r:embed="rId2" cstate="print"/>
          <a:stretch>
            <a:fillRect/>
          </a:stretch>
        </p:blipFill>
        <p:spPr>
          <a:xfrm>
            <a:off x="10041148" y="78493"/>
            <a:ext cx="2025400" cy="566914"/>
          </a:xfrm>
          <a:prstGeom prst="rect">
            <a:avLst/>
          </a:prstGeom>
        </p:spPr>
      </p:pic>
      <p:sp>
        <p:nvSpPr>
          <p:cNvPr id="82" name="任意多边形: 形状 59"/>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83" name="图片 82"/>
          <p:cNvPicPr>
            <a:picLocks noChangeAspect="1"/>
          </p:cNvPicPr>
          <p:nvPr userDrawn="1"/>
        </p:nvPicPr>
        <p:blipFill>
          <a:blip r:embed="rId2" cstate="print"/>
          <a:stretch>
            <a:fillRect/>
          </a:stretch>
        </p:blipFill>
        <p:spPr>
          <a:xfrm>
            <a:off x="9793498" y="249943"/>
            <a:ext cx="2025400" cy="566914"/>
          </a:xfrm>
          <a:prstGeom prst="rect">
            <a:avLst/>
          </a:prstGeom>
        </p:spPr>
      </p:pic>
      <p:sp>
        <p:nvSpPr>
          <p:cNvPr id="84" name="矩形 83"/>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33" name="组合 32"/>
          <p:cNvGrpSpPr/>
          <p:nvPr userDrawn="1"/>
        </p:nvGrpSpPr>
        <p:grpSpPr>
          <a:xfrm>
            <a:off x="587288" y="6381747"/>
            <a:ext cx="2479573" cy="304965"/>
            <a:chOff x="671368" y="6061309"/>
            <a:chExt cx="2479573" cy="304965"/>
          </a:xfrm>
          <a:solidFill>
            <a:schemeClr val="bg1"/>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0"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nvGrpSpPr>
              <p:cNvPr id="51" name="组合 50"/>
              <p:cNvGrpSpPr/>
              <p:nvPr/>
            </p:nvGrpSpPr>
            <p:grpSpPr>
              <a:xfrm>
                <a:off x="2373567" y="1096524"/>
                <a:ext cx="589817" cy="731714"/>
                <a:chOff x="5548313" y="2084388"/>
                <a:chExt cx="547688" cy="679451"/>
              </a:xfrm>
              <a:grpFill/>
            </p:grpSpPr>
            <p:sp>
              <p:nvSpPr>
                <p:cNvPr id="5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52" name="组合 51"/>
              <p:cNvGrpSpPr/>
              <p:nvPr/>
            </p:nvGrpSpPr>
            <p:grpSpPr>
              <a:xfrm>
                <a:off x="3194779" y="1296598"/>
                <a:ext cx="356817" cy="382445"/>
                <a:chOff x="3792874" y="3156423"/>
                <a:chExt cx="331330" cy="355128"/>
              </a:xfrm>
              <a:grpFill/>
            </p:grpSpPr>
            <p:sp>
              <p:nvSpPr>
                <p:cNvPr id="5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p:cNvGrpSpPr/>
              <p:nvPr/>
            </p:nvGrpSpPr>
            <p:grpSpPr>
              <a:xfrm>
                <a:off x="3804781" y="283376"/>
                <a:ext cx="521428" cy="548788"/>
                <a:chOff x="6113463" y="3541713"/>
                <a:chExt cx="484188" cy="509588"/>
              </a:xfrm>
              <a:grpFill/>
            </p:grpSpPr>
            <p:sp>
              <p:nvSpPr>
                <p:cNvPr id="4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4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37" name="组合 36"/>
              <p:cNvGrpSpPr/>
              <p:nvPr/>
            </p:nvGrpSpPr>
            <p:grpSpPr>
              <a:xfrm>
                <a:off x="2372715" y="161759"/>
                <a:ext cx="591521" cy="747103"/>
                <a:chOff x="6108700" y="2066926"/>
                <a:chExt cx="549275" cy="693738"/>
              </a:xfrm>
              <a:grpFill/>
            </p:grpSpPr>
            <p:sp>
              <p:nvSpPr>
                <p:cNvPr id="4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4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38" name="组合 37"/>
              <p:cNvGrpSpPr/>
              <p:nvPr/>
            </p:nvGrpSpPr>
            <p:grpSpPr>
              <a:xfrm>
                <a:off x="3173775" y="375308"/>
                <a:ext cx="396626" cy="341923"/>
                <a:chOff x="6186488" y="2930526"/>
                <a:chExt cx="368300" cy="317500"/>
              </a:xfrm>
              <a:grpFill/>
            </p:grpSpPr>
            <p:sp>
              <p:nvSpPr>
                <p:cNvPr id="4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4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4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39" name="组合 38"/>
              <p:cNvGrpSpPr/>
              <p:nvPr/>
            </p:nvGrpSpPr>
            <p:grpSpPr>
              <a:xfrm>
                <a:off x="4613362" y="313351"/>
                <a:ext cx="454961" cy="453362"/>
                <a:chOff x="11893465" y="1994536"/>
                <a:chExt cx="274986" cy="274018"/>
              </a:xfrm>
              <a:grpFill/>
            </p:grpSpPr>
            <p:sp>
              <p:nvSpPr>
                <p:cNvPr id="4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4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charset="-122"/>
              </a:rPr>
              <a:t>‹#›</a:t>
            </a:fld>
            <a:endParaRPr lang="zh-CN" altLang="en-US" sz="1600" dirty="0">
              <a:solidFill>
                <a:srgbClr val="F2F2F2"/>
              </a:solidFill>
              <a:latin typeface="微软雅黑" panose="020B0503020204020204" charset="-122"/>
            </a:endParaRPr>
          </a:p>
        </p:txBody>
      </p:sp>
      <p:sp>
        <p:nvSpPr>
          <p:cNvPr id="25" name="矩形 24"/>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57" name="图片 56"/>
          <p:cNvPicPr>
            <a:picLocks noChangeAspect="1"/>
          </p:cNvPicPr>
          <p:nvPr userDrawn="1"/>
        </p:nvPicPr>
        <p:blipFill>
          <a:blip r:embed="rId2" cstate="print"/>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101"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02" name="组合 101"/>
              <p:cNvGrpSpPr/>
              <p:nvPr/>
            </p:nvGrpSpPr>
            <p:grpSpPr>
              <a:xfrm>
                <a:off x="2373567" y="1096524"/>
                <a:ext cx="589817" cy="731714"/>
                <a:chOff x="5548313" y="2084388"/>
                <a:chExt cx="547688" cy="679451"/>
              </a:xfrm>
              <a:grpFill/>
            </p:grpSpPr>
            <p:sp>
              <p:nvSpPr>
                <p:cNvPr id="10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3" name="组合 102"/>
              <p:cNvGrpSpPr/>
              <p:nvPr/>
            </p:nvGrpSpPr>
            <p:grpSpPr>
              <a:xfrm>
                <a:off x="3194779" y="1296598"/>
                <a:ext cx="356817" cy="382445"/>
                <a:chOff x="3792874" y="3156423"/>
                <a:chExt cx="331330" cy="355128"/>
              </a:xfrm>
              <a:grpFill/>
            </p:grpSpPr>
            <p:sp>
              <p:nvSpPr>
                <p:cNvPr id="10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p:cNvGrpSpPr/>
              <p:nvPr/>
            </p:nvGrpSpPr>
            <p:grpSpPr>
              <a:xfrm>
                <a:off x="3804781" y="283376"/>
                <a:ext cx="521428" cy="548788"/>
                <a:chOff x="6113463" y="3541713"/>
                <a:chExt cx="484188" cy="509588"/>
              </a:xfrm>
              <a:grpFill/>
            </p:grpSpPr>
            <p:sp>
              <p:nvSpPr>
                <p:cNvPr id="9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8" name="组合 87"/>
              <p:cNvGrpSpPr/>
              <p:nvPr/>
            </p:nvGrpSpPr>
            <p:grpSpPr>
              <a:xfrm>
                <a:off x="2372715" y="161759"/>
                <a:ext cx="591521" cy="747103"/>
                <a:chOff x="6108700" y="2066926"/>
                <a:chExt cx="549275" cy="693738"/>
              </a:xfrm>
              <a:grpFill/>
            </p:grpSpPr>
            <p:sp>
              <p:nvSpPr>
                <p:cNvPr id="9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9" name="组合 88"/>
              <p:cNvGrpSpPr/>
              <p:nvPr/>
            </p:nvGrpSpPr>
            <p:grpSpPr>
              <a:xfrm>
                <a:off x="3173775" y="375308"/>
                <a:ext cx="396626" cy="341923"/>
                <a:chOff x="6186488" y="2930526"/>
                <a:chExt cx="368300" cy="317500"/>
              </a:xfrm>
              <a:grpFill/>
            </p:grpSpPr>
            <p:sp>
              <p:nvSpPr>
                <p:cNvPr id="9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0" name="组合 89"/>
              <p:cNvGrpSpPr/>
              <p:nvPr/>
            </p:nvGrpSpPr>
            <p:grpSpPr>
              <a:xfrm>
                <a:off x="4613362" y="313351"/>
                <a:ext cx="454961" cy="453362"/>
                <a:chOff x="11893465" y="1994536"/>
                <a:chExt cx="274986" cy="274018"/>
              </a:xfrm>
              <a:grpFill/>
            </p:grpSpPr>
            <p:sp>
              <p:nvSpPr>
                <p:cNvPr id="91"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92"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gr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rPr>
              <a:t>2025/12/22</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5760" y="2588507"/>
            <a:ext cx="7320616" cy="1200329"/>
          </a:xfrm>
        </p:spPr>
        <p:txBody>
          <a:bodyPr/>
          <a:lstStyle/>
          <a:p>
            <a:pPr>
              <a:lnSpc>
                <a:spcPct val="100000"/>
              </a:lnSpc>
            </a:pPr>
            <a:r>
              <a:rPr lang="zh-CN" altLang="en-US" dirty="0"/>
              <a:t>基于语言机制的隔离内核架构设计和实现</a:t>
            </a:r>
          </a:p>
        </p:txBody>
      </p:sp>
      <p:sp>
        <p:nvSpPr>
          <p:cNvPr id="4" name="文本占位符 3"/>
          <p:cNvSpPr>
            <a:spLocks noGrp="1"/>
          </p:cNvSpPr>
          <p:nvPr>
            <p:ph type="body" sz="quarter" idx="16"/>
          </p:nvPr>
        </p:nvSpPr>
        <p:spPr>
          <a:xfrm>
            <a:off x="671366" y="4108052"/>
            <a:ext cx="6221139" cy="345094"/>
          </a:xfrm>
        </p:spPr>
        <p:txBody>
          <a:bodyPr/>
          <a:lstStyle/>
          <a:p>
            <a:r>
              <a:rPr lang="zh-CN" altLang="en-US" dirty="0"/>
              <a:t>答辩人：陈林峰　　　导　师：陆慧梅　　　时间：</a:t>
            </a:r>
            <a:fld id="{D59A35C6-7D58-4C95-A60A-B688BEF8C3D6}" type="datetime1">
              <a:rPr lang="zh-CN" altLang="en-US" smtClean="0"/>
              <a:t>2025/12/22</a:t>
            </a:fld>
            <a:endParaRPr lang="zh-CN" altLang="en-US" dirty="0"/>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2599574" y="1028700"/>
            <a:ext cx="3114955" cy="1259572"/>
            <a:chOff x="5576876" y="540040"/>
            <a:chExt cx="3114955" cy="1259572"/>
          </a:xfrm>
        </p:grpSpPr>
        <p:sp>
          <p:nvSpPr>
            <p:cNvPr id="29" name="文本框 28"/>
            <p:cNvSpPr txBox="1"/>
            <p:nvPr/>
          </p:nvSpPr>
          <p:spPr>
            <a:xfrm>
              <a:off x="5576876" y="540040"/>
              <a:ext cx="886781" cy="769441"/>
            </a:xfrm>
            <a:prstGeom prst="rect">
              <a:avLst/>
            </a:prstGeom>
            <a:noFill/>
          </p:spPr>
          <p:txBody>
            <a:bodyPr wrap="none" rtlCol="0">
              <a:spAutoFit/>
            </a:bodyPr>
            <a:lstStyle/>
            <a:p>
              <a:r>
                <a:rPr lang="en-US" altLang="zh-CN" sz="4400" b="1" spc="300" dirty="0">
                  <a:gradFill>
                    <a:gsLst>
                      <a:gs pos="0">
                        <a:schemeClr val="accent1"/>
                      </a:gs>
                      <a:gs pos="90000">
                        <a:schemeClr val="accent1">
                          <a:alpha val="0"/>
                        </a:schemeClr>
                      </a:gs>
                    </a:gsLst>
                    <a:lin ang="5400000" scaled="1"/>
                  </a:gradFill>
                </a:rPr>
                <a:t>01</a:t>
              </a:r>
              <a:endParaRPr lang="zh-CN" altLang="en-US" sz="4400" b="1" spc="300" dirty="0">
                <a:gradFill>
                  <a:gsLst>
                    <a:gs pos="0">
                      <a:schemeClr val="accent1"/>
                    </a:gs>
                    <a:gs pos="90000">
                      <a:schemeClr val="accent1">
                        <a:alpha val="0"/>
                      </a:schemeClr>
                    </a:gs>
                  </a:gsLst>
                  <a:lin ang="5400000" scaled="1"/>
                </a:gradFill>
              </a:endParaRPr>
            </a:p>
          </p:txBody>
        </p:sp>
        <p:sp>
          <p:nvSpPr>
            <p:cNvPr id="10" name="文本框 9"/>
            <p:cNvSpPr txBox="1"/>
            <p:nvPr/>
          </p:nvSpPr>
          <p:spPr>
            <a:xfrm>
              <a:off x="5576876" y="977361"/>
              <a:ext cx="1774845" cy="523220"/>
            </a:xfrm>
            <a:prstGeom prst="rect">
              <a:avLst/>
            </a:prstGeom>
            <a:noFill/>
          </p:spPr>
          <p:txBody>
            <a:bodyPr wrap="none" rtlCol="0">
              <a:spAutoFit/>
            </a:bodyPr>
            <a:lstStyle/>
            <a:p>
              <a:r>
                <a:rPr lang="zh-CN" altLang="en-US" sz="2800" b="1" spc="300" dirty="0">
                  <a:latin typeface="微软雅黑" panose="020B0503020204020204" charset="-122"/>
                </a:rPr>
                <a:t>研究背景</a:t>
              </a:r>
            </a:p>
          </p:txBody>
        </p:sp>
        <p:sp>
          <p:nvSpPr>
            <p:cNvPr id="11" name="文本框 10"/>
            <p:cNvSpPr txBox="1"/>
            <p:nvPr/>
          </p:nvSpPr>
          <p:spPr>
            <a:xfrm>
              <a:off x="5576876" y="1461058"/>
              <a:ext cx="3114955" cy="338554"/>
            </a:xfrm>
            <a:prstGeom prst="rect">
              <a:avLst/>
            </a:prstGeom>
            <a:noFill/>
          </p:spPr>
          <p:txBody>
            <a:bodyPr wrap="none" rtlCol="0">
              <a:spAutoFit/>
            </a:bodyPr>
            <a:lstStyle/>
            <a:p>
              <a:r>
                <a:rPr lang="en-US" altLang="zh-CN" sz="1600" spc="100" dirty="0">
                  <a:solidFill>
                    <a:schemeClr val="bg1">
                      <a:lumMod val="75000"/>
                    </a:schemeClr>
                  </a:solidFill>
                </a:rPr>
                <a:t>Background of the project</a:t>
              </a:r>
              <a:endParaRPr lang="zh-CN" altLang="en-US" sz="1600" spc="100" dirty="0">
                <a:solidFill>
                  <a:schemeClr val="bg1">
                    <a:lumMod val="75000"/>
                  </a:schemeClr>
                </a:solidFill>
              </a:endParaRPr>
            </a:p>
          </p:txBody>
        </p:sp>
      </p:grpSp>
      <p:grpSp>
        <p:nvGrpSpPr>
          <p:cNvPr id="35" name="组合 34"/>
          <p:cNvGrpSpPr/>
          <p:nvPr/>
        </p:nvGrpSpPr>
        <p:grpSpPr>
          <a:xfrm>
            <a:off x="6477473" y="1028700"/>
            <a:ext cx="2967479" cy="1259572"/>
            <a:chOff x="8704421" y="540040"/>
            <a:chExt cx="2967479" cy="1259572"/>
          </a:xfrm>
        </p:grpSpPr>
        <p:sp>
          <p:nvSpPr>
            <p:cNvPr id="30" name="文本框 29"/>
            <p:cNvSpPr txBox="1"/>
            <p:nvPr/>
          </p:nvSpPr>
          <p:spPr>
            <a:xfrm>
              <a:off x="8704421" y="540040"/>
              <a:ext cx="886781" cy="769441"/>
            </a:xfrm>
            <a:prstGeom prst="rect">
              <a:avLst/>
            </a:prstGeom>
            <a:noFill/>
          </p:spPr>
          <p:txBody>
            <a:bodyPr wrap="none" rtlCol="0">
              <a:spAutoFit/>
            </a:bodyPr>
            <a:lstStyle/>
            <a:p>
              <a:r>
                <a:rPr lang="en-US" altLang="zh-CN" sz="4400" b="1" spc="300" dirty="0">
                  <a:gradFill>
                    <a:gsLst>
                      <a:gs pos="0">
                        <a:schemeClr val="accent1"/>
                      </a:gs>
                      <a:gs pos="90000">
                        <a:schemeClr val="accent1">
                          <a:alpha val="0"/>
                        </a:schemeClr>
                      </a:gs>
                    </a:gsLst>
                    <a:lin ang="5400000" scaled="1"/>
                  </a:gradFill>
                </a:rPr>
                <a:t>02</a:t>
              </a:r>
              <a:endParaRPr lang="zh-CN" altLang="en-US" sz="4400" b="1" spc="300" dirty="0">
                <a:gradFill>
                  <a:gsLst>
                    <a:gs pos="0">
                      <a:schemeClr val="accent1"/>
                    </a:gs>
                    <a:gs pos="90000">
                      <a:schemeClr val="accent1">
                        <a:alpha val="0"/>
                      </a:schemeClr>
                    </a:gs>
                  </a:gsLst>
                  <a:lin ang="5400000" scaled="1"/>
                </a:gradFill>
              </a:endParaRPr>
            </a:p>
          </p:txBody>
        </p:sp>
        <p:sp>
          <p:nvSpPr>
            <p:cNvPr id="14" name="文本框 13"/>
            <p:cNvSpPr txBox="1"/>
            <p:nvPr/>
          </p:nvSpPr>
          <p:spPr>
            <a:xfrm>
              <a:off x="8704421" y="977361"/>
              <a:ext cx="2967479" cy="523220"/>
            </a:xfrm>
            <a:prstGeom prst="rect">
              <a:avLst/>
            </a:prstGeom>
            <a:noFill/>
          </p:spPr>
          <p:txBody>
            <a:bodyPr wrap="none" rtlCol="0">
              <a:spAutoFit/>
            </a:bodyPr>
            <a:lstStyle/>
            <a:p>
              <a:r>
                <a:rPr lang="zh-CN" altLang="en-US" sz="2800" b="1" spc="300" dirty="0">
                  <a:latin typeface="微软雅黑" panose="020B0503020204020204" charset="-122"/>
                </a:rPr>
                <a:t>国内外研究情况</a:t>
              </a:r>
            </a:p>
          </p:txBody>
        </p:sp>
        <p:sp>
          <p:nvSpPr>
            <p:cNvPr id="15" name="文本框 14"/>
            <p:cNvSpPr txBox="1"/>
            <p:nvPr/>
          </p:nvSpPr>
          <p:spPr>
            <a:xfrm>
              <a:off x="8704421" y="1461058"/>
              <a:ext cx="1962397" cy="338554"/>
            </a:xfrm>
            <a:prstGeom prst="rect">
              <a:avLst/>
            </a:prstGeom>
            <a:noFill/>
          </p:spPr>
          <p:txBody>
            <a:bodyPr wrap="none" rtlCol="0">
              <a:spAutoFit/>
            </a:bodyPr>
            <a:lstStyle/>
            <a:p>
              <a:r>
                <a:rPr lang="en-US" altLang="zh-CN" sz="1600" spc="100" dirty="0">
                  <a:solidFill>
                    <a:schemeClr val="bg1">
                      <a:lumMod val="75000"/>
                    </a:schemeClr>
                  </a:solidFill>
                </a:rPr>
                <a:t>Project Progress</a:t>
              </a:r>
              <a:endParaRPr lang="zh-CN" altLang="en-US" sz="1600" spc="100" dirty="0">
                <a:solidFill>
                  <a:schemeClr val="bg1">
                    <a:lumMod val="75000"/>
                  </a:schemeClr>
                </a:solidFill>
              </a:endParaRPr>
            </a:p>
          </p:txBody>
        </p:sp>
      </p:grpSp>
      <p:grpSp>
        <p:nvGrpSpPr>
          <p:cNvPr id="37" name="组合 36"/>
          <p:cNvGrpSpPr/>
          <p:nvPr/>
        </p:nvGrpSpPr>
        <p:grpSpPr>
          <a:xfrm>
            <a:off x="4658729" y="3104543"/>
            <a:ext cx="1887855" cy="1227661"/>
            <a:chOff x="5576876" y="2230747"/>
            <a:chExt cx="1887855" cy="1227661"/>
          </a:xfrm>
        </p:grpSpPr>
        <p:sp>
          <p:nvSpPr>
            <p:cNvPr id="31" name="文本框 30"/>
            <p:cNvSpPr txBox="1"/>
            <p:nvPr/>
          </p:nvSpPr>
          <p:spPr>
            <a:xfrm>
              <a:off x="5576876" y="2230747"/>
              <a:ext cx="957313" cy="769441"/>
            </a:xfrm>
            <a:prstGeom prst="rect">
              <a:avLst/>
            </a:prstGeom>
            <a:noFill/>
          </p:spPr>
          <p:txBody>
            <a:bodyPr wrap="none" rtlCol="0">
              <a:spAutoFit/>
            </a:bodyPr>
            <a:lstStyle/>
            <a:p>
              <a:r>
                <a:rPr lang="en-US" altLang="zh-CN" sz="4400" b="1" spc="300" dirty="0">
                  <a:gradFill>
                    <a:gsLst>
                      <a:gs pos="0">
                        <a:schemeClr val="accent1"/>
                      </a:gs>
                      <a:gs pos="90000">
                        <a:schemeClr val="accent1">
                          <a:alpha val="0"/>
                        </a:schemeClr>
                      </a:gs>
                    </a:gsLst>
                    <a:lin ang="5400000" scaled="1"/>
                  </a:gradFill>
                </a:rPr>
                <a:t>04</a:t>
              </a:r>
              <a:endParaRPr lang="zh-CN" altLang="en-US" sz="4400" b="1" spc="300" dirty="0">
                <a:gradFill>
                  <a:gsLst>
                    <a:gs pos="0">
                      <a:schemeClr val="accent1"/>
                    </a:gs>
                    <a:gs pos="90000">
                      <a:schemeClr val="accent1">
                        <a:alpha val="0"/>
                      </a:schemeClr>
                    </a:gs>
                  </a:gsLst>
                  <a:lin ang="5400000" scaled="1"/>
                </a:gradFill>
              </a:endParaRPr>
            </a:p>
          </p:txBody>
        </p:sp>
        <p:sp>
          <p:nvSpPr>
            <p:cNvPr id="17" name="文本框 16"/>
            <p:cNvSpPr txBox="1"/>
            <p:nvPr/>
          </p:nvSpPr>
          <p:spPr>
            <a:xfrm>
              <a:off x="5576876" y="2637526"/>
              <a:ext cx="1774845" cy="523220"/>
            </a:xfrm>
            <a:prstGeom prst="rect">
              <a:avLst/>
            </a:prstGeom>
            <a:noFill/>
          </p:spPr>
          <p:txBody>
            <a:bodyPr wrap="none" rtlCol="0">
              <a:spAutoFit/>
            </a:bodyPr>
            <a:lstStyle/>
            <a:p>
              <a:r>
                <a:rPr lang="zh-CN" altLang="en-US" sz="2800" b="1" spc="300" dirty="0">
                  <a:latin typeface="微软雅黑" panose="020B0503020204020204" charset="-122"/>
                </a:rPr>
                <a:t>研究方案</a:t>
              </a:r>
            </a:p>
          </p:txBody>
        </p:sp>
        <p:sp>
          <p:nvSpPr>
            <p:cNvPr id="18" name="文本框 17"/>
            <p:cNvSpPr txBox="1"/>
            <p:nvPr/>
          </p:nvSpPr>
          <p:spPr>
            <a:xfrm>
              <a:off x="5576876" y="3121223"/>
              <a:ext cx="1887855" cy="337185"/>
            </a:xfrm>
            <a:prstGeom prst="rect">
              <a:avLst/>
            </a:prstGeom>
            <a:noFill/>
          </p:spPr>
          <p:txBody>
            <a:bodyPr wrap="none" rtlCol="0">
              <a:spAutoFit/>
            </a:bodyPr>
            <a:lstStyle/>
            <a:p>
              <a:r>
                <a:rPr lang="en-US" altLang="zh-CN" sz="1600" spc="100" dirty="0">
                  <a:solidFill>
                    <a:schemeClr val="bg1">
                      <a:lumMod val="75000"/>
                    </a:schemeClr>
                  </a:solidFill>
                </a:rPr>
                <a:t>Project Content</a:t>
              </a:r>
            </a:p>
          </p:txBody>
        </p:sp>
      </p:grpSp>
      <p:grpSp>
        <p:nvGrpSpPr>
          <p:cNvPr id="36" name="组合 35"/>
          <p:cNvGrpSpPr/>
          <p:nvPr/>
        </p:nvGrpSpPr>
        <p:grpSpPr>
          <a:xfrm>
            <a:off x="7364254" y="3104543"/>
            <a:ext cx="2313305" cy="1227661"/>
            <a:chOff x="8704421" y="2230747"/>
            <a:chExt cx="2313305" cy="1227661"/>
          </a:xfrm>
        </p:grpSpPr>
        <p:sp>
          <p:nvSpPr>
            <p:cNvPr id="32" name="文本框 31"/>
            <p:cNvSpPr txBox="1"/>
            <p:nvPr/>
          </p:nvSpPr>
          <p:spPr>
            <a:xfrm>
              <a:off x="8704421" y="2230747"/>
              <a:ext cx="957313" cy="769441"/>
            </a:xfrm>
            <a:prstGeom prst="rect">
              <a:avLst/>
            </a:prstGeom>
            <a:noFill/>
          </p:spPr>
          <p:txBody>
            <a:bodyPr wrap="none" rtlCol="0">
              <a:spAutoFit/>
            </a:bodyPr>
            <a:lstStyle/>
            <a:p>
              <a:r>
                <a:rPr lang="en-US" altLang="zh-CN" sz="4400" b="1" spc="300" dirty="0">
                  <a:gradFill>
                    <a:gsLst>
                      <a:gs pos="0">
                        <a:schemeClr val="accent1"/>
                      </a:gs>
                      <a:gs pos="90000">
                        <a:schemeClr val="accent1">
                          <a:alpha val="0"/>
                        </a:schemeClr>
                      </a:gs>
                    </a:gsLst>
                    <a:lin ang="5400000" scaled="1"/>
                  </a:gradFill>
                </a:rPr>
                <a:t>05</a:t>
              </a:r>
              <a:endParaRPr lang="zh-CN" altLang="en-US" sz="4400" b="1" spc="300" dirty="0">
                <a:gradFill>
                  <a:gsLst>
                    <a:gs pos="0">
                      <a:schemeClr val="accent1"/>
                    </a:gs>
                    <a:gs pos="90000">
                      <a:schemeClr val="accent1">
                        <a:alpha val="0"/>
                      </a:schemeClr>
                    </a:gs>
                  </a:gsLst>
                  <a:lin ang="5400000" scaled="1"/>
                </a:gradFill>
              </a:endParaRPr>
            </a:p>
          </p:txBody>
        </p:sp>
        <p:sp>
          <p:nvSpPr>
            <p:cNvPr id="20" name="文本框 19"/>
            <p:cNvSpPr txBox="1"/>
            <p:nvPr/>
          </p:nvSpPr>
          <p:spPr>
            <a:xfrm>
              <a:off x="8704421" y="2637526"/>
              <a:ext cx="1757680" cy="521970"/>
            </a:xfrm>
            <a:prstGeom prst="rect">
              <a:avLst/>
            </a:prstGeom>
            <a:noFill/>
          </p:spPr>
          <p:txBody>
            <a:bodyPr wrap="none" rtlCol="0">
              <a:spAutoFit/>
            </a:bodyPr>
            <a:lstStyle/>
            <a:p>
              <a:r>
                <a:rPr lang="zh-CN" altLang="en-US" sz="2800" b="1" spc="300" dirty="0">
                  <a:latin typeface="微软雅黑" panose="020B0503020204020204" charset="-122"/>
                </a:rPr>
                <a:t>时间安排</a:t>
              </a:r>
            </a:p>
          </p:txBody>
        </p:sp>
        <p:sp>
          <p:nvSpPr>
            <p:cNvPr id="21" name="文本框 20"/>
            <p:cNvSpPr txBox="1"/>
            <p:nvPr/>
          </p:nvSpPr>
          <p:spPr>
            <a:xfrm>
              <a:off x="8704421" y="3121223"/>
              <a:ext cx="2313305" cy="337185"/>
            </a:xfrm>
            <a:prstGeom prst="rect">
              <a:avLst/>
            </a:prstGeom>
            <a:noFill/>
          </p:spPr>
          <p:txBody>
            <a:bodyPr wrap="none" rtlCol="0">
              <a:spAutoFit/>
            </a:bodyPr>
            <a:lstStyle/>
            <a:p>
              <a:pPr algn="l"/>
              <a:r>
                <a:rPr lang="en-US" altLang="zh-CN" sz="1600" spc="100" dirty="0">
                  <a:solidFill>
                    <a:schemeClr val="bg1">
                      <a:lumMod val="75000"/>
                    </a:schemeClr>
                  </a:solidFill>
                  <a:sym typeface="+mn-ea"/>
                </a:rPr>
                <a:t>Plans of the Project</a:t>
              </a:r>
              <a:endParaRPr lang="zh-CN" altLang="en-US" sz="1600" spc="100" dirty="0">
                <a:solidFill>
                  <a:schemeClr val="bg1">
                    <a:lumMod val="75000"/>
                  </a:schemeClr>
                </a:solidFill>
              </a:endParaRPr>
            </a:p>
          </p:txBody>
        </p:sp>
      </p:grpSp>
      <p:grpSp>
        <p:nvGrpSpPr>
          <p:cNvPr id="5" name="组合 4"/>
          <p:cNvGrpSpPr/>
          <p:nvPr/>
        </p:nvGrpSpPr>
        <p:grpSpPr>
          <a:xfrm>
            <a:off x="10467218" y="5849866"/>
            <a:ext cx="1052654" cy="108000"/>
            <a:chOff x="10467218" y="6126091"/>
            <a:chExt cx="1052654" cy="108000"/>
          </a:xfrm>
          <a:solidFill>
            <a:schemeClr val="accent1"/>
          </a:solidFill>
        </p:grpSpPr>
        <p:sp>
          <p:nvSpPr>
            <p:cNvPr id="3" name="椭圆 2"/>
            <p:cNvSpPr/>
            <p:nvPr/>
          </p:nvSpPr>
          <p:spPr>
            <a:xfrm>
              <a:off x="10467218" y="6126091"/>
              <a:ext cx="108000" cy="10800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2" name="椭圆 91"/>
            <p:cNvSpPr/>
            <p:nvPr/>
          </p:nvSpPr>
          <p:spPr>
            <a:xfrm>
              <a:off x="10703381" y="6126091"/>
              <a:ext cx="108000" cy="10800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3" name="椭圆 92"/>
            <p:cNvSpPr/>
            <p:nvPr/>
          </p:nvSpPr>
          <p:spPr>
            <a:xfrm>
              <a:off x="10939545" y="6126091"/>
              <a:ext cx="108000" cy="10800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4" name="椭圆 93"/>
            <p:cNvSpPr/>
            <p:nvPr/>
          </p:nvSpPr>
          <p:spPr>
            <a:xfrm>
              <a:off x="11175708" y="6126091"/>
              <a:ext cx="108000" cy="10800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5" name="椭圆 94"/>
            <p:cNvSpPr/>
            <p:nvPr/>
          </p:nvSpPr>
          <p:spPr>
            <a:xfrm>
              <a:off x="11411872" y="6126091"/>
              <a:ext cx="108000" cy="10800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2" name="组合 1">
            <a:extLst>
              <a:ext uri="{FF2B5EF4-FFF2-40B4-BE49-F238E27FC236}">
                <a16:creationId xmlns:a16="http://schemas.microsoft.com/office/drawing/2014/main" id="{2E522DD6-6379-3B9E-FFBC-A3448987270C}"/>
              </a:ext>
            </a:extLst>
          </p:cNvPr>
          <p:cNvGrpSpPr/>
          <p:nvPr/>
        </p:nvGrpSpPr>
        <p:grpSpPr>
          <a:xfrm>
            <a:off x="2215249" y="3104543"/>
            <a:ext cx="1887855" cy="1227661"/>
            <a:chOff x="5576876" y="2230747"/>
            <a:chExt cx="1887855" cy="1227661"/>
          </a:xfrm>
        </p:grpSpPr>
        <p:sp>
          <p:nvSpPr>
            <p:cNvPr id="4" name="文本框 3">
              <a:extLst>
                <a:ext uri="{FF2B5EF4-FFF2-40B4-BE49-F238E27FC236}">
                  <a16:creationId xmlns:a16="http://schemas.microsoft.com/office/drawing/2014/main" id="{151F5998-AC8C-50A2-4931-C8651210E688}"/>
                </a:ext>
              </a:extLst>
            </p:cNvPr>
            <p:cNvSpPr txBox="1"/>
            <p:nvPr/>
          </p:nvSpPr>
          <p:spPr>
            <a:xfrm>
              <a:off x="5576876" y="2230747"/>
              <a:ext cx="886781" cy="769441"/>
            </a:xfrm>
            <a:prstGeom prst="rect">
              <a:avLst/>
            </a:prstGeom>
            <a:noFill/>
          </p:spPr>
          <p:txBody>
            <a:bodyPr wrap="none" rtlCol="0">
              <a:spAutoFit/>
            </a:bodyPr>
            <a:lstStyle/>
            <a:p>
              <a:r>
                <a:rPr lang="en-US" altLang="zh-CN" sz="4400" b="1" spc="300" dirty="0">
                  <a:gradFill>
                    <a:gsLst>
                      <a:gs pos="0">
                        <a:schemeClr val="accent1"/>
                      </a:gs>
                      <a:gs pos="90000">
                        <a:schemeClr val="accent1">
                          <a:alpha val="0"/>
                        </a:schemeClr>
                      </a:gs>
                    </a:gsLst>
                    <a:lin ang="5400000" scaled="1"/>
                  </a:gradFill>
                </a:rPr>
                <a:t>03</a:t>
              </a:r>
              <a:endParaRPr lang="zh-CN" altLang="en-US" sz="4400" b="1" spc="300" dirty="0">
                <a:gradFill>
                  <a:gsLst>
                    <a:gs pos="0">
                      <a:schemeClr val="accent1"/>
                    </a:gs>
                    <a:gs pos="90000">
                      <a:schemeClr val="accent1">
                        <a:alpha val="0"/>
                      </a:schemeClr>
                    </a:gs>
                  </a:gsLst>
                  <a:lin ang="5400000" scaled="1"/>
                </a:gradFill>
              </a:endParaRPr>
            </a:p>
          </p:txBody>
        </p:sp>
        <p:sp>
          <p:nvSpPr>
            <p:cNvPr id="6" name="文本框 5">
              <a:extLst>
                <a:ext uri="{FF2B5EF4-FFF2-40B4-BE49-F238E27FC236}">
                  <a16:creationId xmlns:a16="http://schemas.microsoft.com/office/drawing/2014/main" id="{1AD52729-0A27-4EDF-68F0-D07C546B5D4F}"/>
                </a:ext>
              </a:extLst>
            </p:cNvPr>
            <p:cNvSpPr txBox="1"/>
            <p:nvPr/>
          </p:nvSpPr>
          <p:spPr>
            <a:xfrm>
              <a:off x="5576876" y="2637526"/>
              <a:ext cx="1774845" cy="523220"/>
            </a:xfrm>
            <a:prstGeom prst="rect">
              <a:avLst/>
            </a:prstGeom>
            <a:noFill/>
          </p:spPr>
          <p:txBody>
            <a:bodyPr wrap="none" rtlCol="0">
              <a:spAutoFit/>
            </a:bodyPr>
            <a:lstStyle/>
            <a:p>
              <a:r>
                <a:rPr lang="zh-CN" altLang="en-US" sz="2800" b="1" spc="300" dirty="0">
                  <a:latin typeface="微软雅黑" panose="020B0503020204020204" charset="-122"/>
                </a:rPr>
                <a:t>研究内容</a:t>
              </a:r>
            </a:p>
          </p:txBody>
        </p:sp>
        <p:sp>
          <p:nvSpPr>
            <p:cNvPr id="7" name="文本框 6">
              <a:extLst>
                <a:ext uri="{FF2B5EF4-FFF2-40B4-BE49-F238E27FC236}">
                  <a16:creationId xmlns:a16="http://schemas.microsoft.com/office/drawing/2014/main" id="{C8AD0586-A246-8A32-0B36-6632696F4A8C}"/>
                </a:ext>
              </a:extLst>
            </p:cNvPr>
            <p:cNvSpPr txBox="1"/>
            <p:nvPr/>
          </p:nvSpPr>
          <p:spPr>
            <a:xfrm>
              <a:off x="5576876" y="3121223"/>
              <a:ext cx="1887855" cy="337185"/>
            </a:xfrm>
            <a:prstGeom prst="rect">
              <a:avLst/>
            </a:prstGeom>
            <a:noFill/>
          </p:spPr>
          <p:txBody>
            <a:bodyPr wrap="none" rtlCol="0">
              <a:spAutoFit/>
            </a:bodyPr>
            <a:lstStyle/>
            <a:p>
              <a:r>
                <a:rPr lang="en-US" altLang="zh-CN" sz="1600" spc="100" dirty="0">
                  <a:solidFill>
                    <a:schemeClr val="bg1">
                      <a:lumMod val="75000"/>
                    </a:schemeClr>
                  </a:solidFill>
                </a:rPr>
                <a:t>Project Content</a:t>
              </a:r>
            </a:p>
          </p:txBody>
        </p:sp>
      </p:gr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1606550" y="345305"/>
            <a:ext cx="8643848" cy="478155"/>
          </a:xfrm>
        </p:spPr>
        <p:txBody>
          <a:bodyPr/>
          <a:lstStyle/>
          <a:p>
            <a:r>
              <a:rPr lang="zh-CN" altLang="en-US" dirty="0"/>
              <a:t>研究背景</a:t>
            </a:r>
          </a:p>
        </p:txBody>
      </p:sp>
      <p:sp>
        <p:nvSpPr>
          <p:cNvPr id="10" name="文本框 9"/>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1</a:t>
            </a:r>
            <a:endParaRPr lang="zh-CN" altLang="en-US" sz="3600" b="1" dirty="0">
              <a:solidFill>
                <a:schemeClr val="bg1"/>
              </a:solidFill>
            </a:endParaRPr>
          </a:p>
        </p:txBody>
      </p:sp>
      <p:sp>
        <p:nvSpPr>
          <p:cNvPr id="11" name="内容占位符 1"/>
          <p:cNvSpPr txBox="1"/>
          <p:nvPr/>
        </p:nvSpPr>
        <p:spPr>
          <a:xfrm>
            <a:off x="1545981" y="2483074"/>
            <a:ext cx="9100038" cy="3851031"/>
          </a:xfrm>
          <a:prstGeom prst="rect">
            <a:avLst/>
          </a:prstGeom>
        </p:spPr>
        <p:txBody>
          <a:bodyPr vert="horz" lIns="0" tIns="0" rIns="0" bIns="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2000" dirty="0">
                <a:solidFill>
                  <a:srgbClr val="000000"/>
                </a:solidFill>
                <a:latin typeface="微软雅黑" panose="020B0503020204020204" charset="-122"/>
                <a:ea typeface="微软雅黑" panose="020B0503020204020204" charset="-122"/>
                <a:sym typeface="+mn-ea"/>
              </a:rPr>
              <a:t>传统上</a:t>
            </a:r>
            <a:r>
              <a:rPr lang="en-US" altLang="zh-CN" sz="2000" dirty="0">
                <a:solidFill>
                  <a:srgbClr val="000000"/>
                </a:solidFill>
                <a:latin typeface="微软雅黑" panose="020B0503020204020204" charset="-122"/>
                <a:ea typeface="微软雅黑" panose="020B0503020204020204" charset="-122"/>
                <a:sym typeface="+mn-ea"/>
              </a:rPr>
              <a:t>, </a:t>
            </a:r>
            <a:r>
              <a:rPr lang="zh-CN" altLang="en-US" sz="2000" dirty="0">
                <a:solidFill>
                  <a:srgbClr val="000000"/>
                </a:solidFill>
                <a:latin typeface="微软雅黑" panose="020B0503020204020204" charset="-122"/>
                <a:ea typeface="微软雅黑" panose="020B0503020204020204" charset="-122"/>
                <a:sym typeface="+mn-ea"/>
              </a:rPr>
              <a:t>由于硬件性能的限制，内核开发在性能和安全性之间更多关注性能，如今，硬件性能已经不再是限制内核发展的原因，提高内核安全性变得愈加重要，而</a:t>
            </a:r>
            <a:r>
              <a:rPr lang="zh-CN" altLang="en-US" sz="2000" b="1" dirty="0">
                <a:solidFill>
                  <a:srgbClr val="000000"/>
                </a:solidFill>
                <a:latin typeface="微软雅黑" panose="020B0503020204020204" charset="-122"/>
                <a:ea typeface="微软雅黑" panose="020B0503020204020204" charset="-122"/>
                <a:sym typeface="+mn-ea"/>
              </a:rPr>
              <a:t>缺少隔离是影响现代商用操作系统内核安全性的关键因素之一</a:t>
            </a:r>
            <a:r>
              <a:rPr lang="zh-CN" altLang="en-US" sz="2000" dirty="0">
                <a:solidFill>
                  <a:srgbClr val="000000"/>
                </a:solidFill>
                <a:latin typeface="微软雅黑" panose="020B0503020204020204" charset="-122"/>
                <a:ea typeface="微软雅黑" panose="020B0503020204020204" charset="-122"/>
                <a:sym typeface="+mn-ea"/>
              </a:rPr>
              <a:t>。内核庞大的代码库和共享地址空间导致模块之间形成了复杂的依赖关系，单个模块的错误可能引发其它模块乃至整个系统的崩溃，而内存错误是其中最常见的错误。</a:t>
            </a:r>
            <a:endParaRPr lang="zh-CN" altLang="en-US" sz="1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2" name="半闭框 11"/>
          <p:cNvSpPr/>
          <p:nvPr/>
        </p:nvSpPr>
        <p:spPr>
          <a:xfrm>
            <a:off x="1058985" y="1459875"/>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3" name="半闭框 12"/>
          <p:cNvSpPr/>
          <p:nvPr/>
        </p:nvSpPr>
        <p:spPr>
          <a:xfrm flipH="1" flipV="1">
            <a:off x="10639669" y="5185859"/>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1606550" y="345305"/>
            <a:ext cx="8643848" cy="478155"/>
          </a:xfrm>
        </p:spPr>
        <p:txBody>
          <a:bodyPr/>
          <a:lstStyle/>
          <a:p>
            <a:r>
              <a:rPr lang="zh-CN" altLang="en-US" dirty="0"/>
              <a:t>研究背景</a:t>
            </a:r>
          </a:p>
        </p:txBody>
      </p:sp>
      <p:sp>
        <p:nvSpPr>
          <p:cNvPr id="10" name="文本框 9"/>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1</a:t>
            </a:r>
            <a:endParaRPr lang="zh-CN" altLang="en-US" sz="3600" b="1" dirty="0">
              <a:solidFill>
                <a:schemeClr val="bg1"/>
              </a:solidFill>
            </a:endParaRPr>
          </a:p>
        </p:txBody>
      </p:sp>
      <p:sp>
        <p:nvSpPr>
          <p:cNvPr id="11" name="内容占位符 1"/>
          <p:cNvSpPr txBox="1"/>
          <p:nvPr/>
        </p:nvSpPr>
        <p:spPr>
          <a:xfrm>
            <a:off x="1539631" y="2689754"/>
            <a:ext cx="9100038" cy="1863457"/>
          </a:xfrm>
          <a:prstGeom prst="rect">
            <a:avLst/>
          </a:prstGeom>
        </p:spPr>
        <p:txBody>
          <a:bodyPr vert="horz" lIns="0" tIns="0" rIns="0" bIns="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2000" noProof="0" dirty="0">
                <a:ln>
                  <a:noFill/>
                </a:ln>
                <a:solidFill>
                  <a:srgbClr val="000000"/>
                </a:solidFill>
                <a:effectLst/>
                <a:uLnTx/>
                <a:uFillTx/>
                <a:latin typeface="微软雅黑" panose="020B0503020204020204" charset="-122"/>
                <a:ea typeface="微软雅黑" panose="020B0503020204020204" charset="-122"/>
                <a:sym typeface="+mn-ea"/>
              </a:rPr>
              <a:t>商品硬件通常只为用户态任务提供高效、细粒度的隔离接口。尽管一些研究尝试利用已有的硬件手段对内核模块进行隔离，但这些硬件方案通常难以适应内核运行环境，缺乏灵活性，并可能带来较大的性能开销。随着编程语言的演进，诸如</a:t>
            </a:r>
            <a:r>
              <a:rPr lang="en-US" altLang="zh-CN" sz="2000" noProof="0" dirty="0">
                <a:ln>
                  <a:noFill/>
                </a:ln>
                <a:solidFill>
                  <a:srgbClr val="000000"/>
                </a:solidFill>
                <a:effectLst/>
                <a:uLnTx/>
                <a:uFillTx/>
                <a:latin typeface="微软雅黑" panose="020B0503020204020204" charset="-122"/>
                <a:ea typeface="微软雅黑" panose="020B0503020204020204" charset="-122"/>
                <a:sym typeface="+mn-ea"/>
              </a:rPr>
              <a:t>Rust</a:t>
            </a:r>
            <a:r>
              <a:rPr lang="zh-CN" altLang="en-US" sz="2000" noProof="0" dirty="0">
                <a:ln>
                  <a:noFill/>
                </a:ln>
                <a:solidFill>
                  <a:srgbClr val="000000"/>
                </a:solidFill>
                <a:effectLst/>
                <a:uLnTx/>
                <a:uFillTx/>
                <a:latin typeface="微软雅黑" panose="020B0503020204020204" charset="-122"/>
                <a:ea typeface="微软雅黑" panose="020B0503020204020204" charset="-122"/>
                <a:sym typeface="+mn-ea"/>
              </a:rPr>
              <a:t>等兼具高性能和内存安全的现代语言为实现高效、轻量化且细粒度的隔离提供了新思路。</a:t>
            </a:r>
            <a:endParaRPr lang="en-US" altLang="zh-CN" sz="20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2" name="半闭框 11"/>
          <p:cNvSpPr/>
          <p:nvPr/>
        </p:nvSpPr>
        <p:spPr>
          <a:xfrm>
            <a:off x="1058985" y="1459875"/>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3" name="半闭框 12"/>
          <p:cNvSpPr/>
          <p:nvPr/>
        </p:nvSpPr>
        <p:spPr>
          <a:xfrm flipH="1" flipV="1">
            <a:off x="10639669" y="5185859"/>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029138190"/>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1606550" y="345305"/>
            <a:ext cx="8643848" cy="478155"/>
          </a:xfrm>
        </p:spPr>
        <p:txBody>
          <a:bodyPr/>
          <a:lstStyle/>
          <a:p>
            <a:r>
              <a:rPr lang="zh-CN" altLang="en-US" dirty="0"/>
              <a:t>国内外研究情况</a:t>
            </a:r>
            <a:r>
              <a:rPr lang="en-US" altLang="zh-CN" dirty="0"/>
              <a:t>-</a:t>
            </a:r>
            <a:r>
              <a:rPr lang="zh-CN" altLang="en-US" dirty="0"/>
              <a:t>基于硬件的隔离</a:t>
            </a:r>
          </a:p>
        </p:txBody>
      </p:sp>
      <p:sp>
        <p:nvSpPr>
          <p:cNvPr id="22" name="文本框 21"/>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2</a:t>
            </a:r>
            <a:endParaRPr lang="zh-CN" altLang="en-US" sz="3600" b="1" dirty="0">
              <a:solidFill>
                <a:schemeClr val="bg1"/>
              </a:solidFill>
            </a:endParaRPr>
          </a:p>
        </p:txBody>
      </p:sp>
      <p:sp>
        <p:nvSpPr>
          <p:cNvPr id="2" name="文本框 1">
            <a:extLst>
              <a:ext uri="{FF2B5EF4-FFF2-40B4-BE49-F238E27FC236}">
                <a16:creationId xmlns:a16="http://schemas.microsoft.com/office/drawing/2014/main" id="{44AF47C5-D748-0E1D-BB2E-3A261872BCB3}"/>
              </a:ext>
            </a:extLst>
          </p:cNvPr>
          <p:cNvSpPr txBox="1"/>
          <p:nvPr/>
        </p:nvSpPr>
        <p:spPr>
          <a:xfrm>
            <a:off x="632564" y="1252603"/>
            <a:ext cx="11085535" cy="2308324"/>
          </a:xfrm>
          <a:prstGeom prst="rect">
            <a:avLst/>
          </a:prstGeom>
          <a:noFill/>
        </p:spPr>
        <p:txBody>
          <a:bodyPr wrap="square" rtlCol="0">
            <a:spAutoFit/>
          </a:bodyPr>
          <a:lstStyle/>
          <a:p>
            <a:r>
              <a:rPr lang="zh-CN" altLang="en-US" dirty="0"/>
              <a:t>基于硬件的隔离方案通过硬件特性直接在物理层面实现对内核子系统的隔离，增强安全性和性能。</a:t>
            </a:r>
            <a:endParaRPr lang="en-US" altLang="zh-CN" dirty="0"/>
          </a:p>
          <a:p>
            <a:pPr marL="285750" indent="-285750">
              <a:buFont typeface="Arial" panose="020B0604020202020204" pitchFamily="34" charset="0"/>
              <a:buChar char="•"/>
            </a:pPr>
            <a:r>
              <a:rPr lang="en-US" altLang="zh-CN" dirty="0"/>
              <a:t>Intel VT-x</a:t>
            </a:r>
            <a:r>
              <a:rPr lang="zh-CN" altLang="en-US" dirty="0"/>
              <a:t>和</a:t>
            </a:r>
            <a:r>
              <a:rPr lang="en-US" altLang="zh-CN" dirty="0"/>
              <a:t>AMD-V</a:t>
            </a:r>
            <a:r>
              <a:rPr lang="zh-CN" altLang="en-US" dirty="0"/>
              <a:t>等硬件虚拟化技术允许虚拟机管理器（</a:t>
            </a:r>
            <a:r>
              <a:rPr lang="en-US" altLang="zh-CN" dirty="0"/>
              <a:t>Hypervisor</a:t>
            </a:r>
            <a:r>
              <a:rPr lang="zh-CN" altLang="en-US" dirty="0"/>
              <a:t>）高效地运行多个虚拟机，并在硬件层面隔离彼此的资源。</a:t>
            </a:r>
            <a:endParaRPr lang="en-US" altLang="zh-CN" dirty="0"/>
          </a:p>
          <a:p>
            <a:pPr marL="285750" indent="-285750">
              <a:buFont typeface="Arial" panose="020B0604020202020204" pitchFamily="34" charset="0"/>
              <a:buChar char="•"/>
            </a:pPr>
            <a:r>
              <a:rPr lang="zh-CN" altLang="en-US" dirty="0"/>
              <a:t>可信执行环境（</a:t>
            </a:r>
            <a:r>
              <a:rPr lang="en-US" altLang="zh-CN" dirty="0"/>
              <a:t>TEE</a:t>
            </a:r>
            <a:r>
              <a:rPr lang="zh-CN" altLang="en-US" dirty="0"/>
              <a:t>）技术如</a:t>
            </a:r>
            <a:r>
              <a:rPr lang="en-US" altLang="zh-CN" dirty="0"/>
              <a:t>Intel SGX</a:t>
            </a:r>
            <a:r>
              <a:rPr lang="zh-CN" altLang="en-US" dirty="0"/>
              <a:t>和</a:t>
            </a:r>
            <a:r>
              <a:rPr lang="en-US" altLang="zh-CN" dirty="0"/>
              <a:t>ARM </a:t>
            </a:r>
            <a:r>
              <a:rPr lang="en-US" altLang="zh-CN" dirty="0" err="1"/>
              <a:t>TrustZone</a:t>
            </a:r>
            <a:r>
              <a:rPr lang="zh-CN" altLang="en-US" dirty="0"/>
              <a:t>提供安全的硬件环境，用于执行敏感操作或存储关键数据，防止恶意软件或管理员的干扰。</a:t>
            </a:r>
            <a:endParaRPr lang="en-US" altLang="zh-CN" dirty="0"/>
          </a:p>
          <a:p>
            <a:pPr marL="285750" indent="-285750">
              <a:buFont typeface="Arial" panose="020B0604020202020204" pitchFamily="34" charset="0"/>
              <a:buChar char="•"/>
            </a:pPr>
            <a:r>
              <a:rPr lang="zh-CN" altLang="en-US" dirty="0"/>
              <a:t>最新的硬件架构探索了以内存标签和功能为中心的细粒度隔离的想法</a:t>
            </a:r>
            <a:r>
              <a:rPr lang="en-US" altLang="zh-CN" dirty="0"/>
              <a:t>, </a:t>
            </a:r>
            <a:r>
              <a:rPr lang="zh-CN" altLang="en-US" dirty="0"/>
              <a:t>内存保护密钥（</a:t>
            </a:r>
            <a:r>
              <a:rPr lang="en-US" altLang="zh-CN" dirty="0"/>
              <a:t>MPK</a:t>
            </a:r>
            <a:r>
              <a:rPr lang="zh-CN" altLang="en-US" dirty="0"/>
              <a:t>）是 </a:t>
            </a:r>
            <a:r>
              <a:rPr lang="en-US" altLang="zh-CN" dirty="0"/>
              <a:t>Intel </a:t>
            </a:r>
            <a:r>
              <a:rPr lang="zh-CN" altLang="en-US" dirty="0"/>
              <a:t>在 </a:t>
            </a:r>
            <a:r>
              <a:rPr lang="en-US" altLang="zh-CN" dirty="0" err="1"/>
              <a:t>SkyLake</a:t>
            </a:r>
            <a:r>
              <a:rPr lang="en-US" altLang="zh-CN" dirty="0"/>
              <a:t> CPU </a:t>
            </a:r>
            <a:r>
              <a:rPr lang="zh-CN" altLang="en-US" dirty="0"/>
              <a:t>中引入的一种新的隔离机制。 </a:t>
            </a:r>
            <a:r>
              <a:rPr lang="en-US" altLang="zh-CN" dirty="0"/>
              <a:t>MPK </a:t>
            </a:r>
            <a:r>
              <a:rPr lang="zh-CN" altLang="en-US" dirty="0"/>
              <a:t>允许通过使用 </a:t>
            </a:r>
            <a:r>
              <a:rPr lang="en-US" altLang="zh-CN" dirty="0"/>
              <a:t>4 </a:t>
            </a:r>
            <a:r>
              <a:rPr lang="zh-CN" altLang="en-US" dirty="0"/>
              <a:t>位保护密钥（保存在页表条目的未使用位中）标记各个页面，在单个地址空间（即单个页表）内强制实施隔离。</a:t>
            </a:r>
          </a:p>
        </p:txBody>
      </p:sp>
      <p:sp>
        <p:nvSpPr>
          <p:cNvPr id="3" name="文本框 2">
            <a:extLst>
              <a:ext uri="{FF2B5EF4-FFF2-40B4-BE49-F238E27FC236}">
                <a16:creationId xmlns:a16="http://schemas.microsoft.com/office/drawing/2014/main" id="{88CEB8D5-54A9-F81A-7D9E-84AAD3CB838F}"/>
              </a:ext>
            </a:extLst>
          </p:cNvPr>
          <p:cNvSpPr txBox="1"/>
          <p:nvPr/>
        </p:nvSpPr>
        <p:spPr>
          <a:xfrm>
            <a:off x="632564" y="4562606"/>
            <a:ext cx="10265079"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硬件方案对实施普通内核子系统的隔离过于昂贵</a:t>
            </a:r>
            <a:endParaRPr lang="en-US" altLang="zh-CN" dirty="0"/>
          </a:p>
          <a:p>
            <a:pPr marL="285750" indent="-285750">
              <a:buFont typeface="Arial" panose="020B0604020202020204" pitchFamily="34" charset="0"/>
              <a:buChar char="•"/>
            </a:pPr>
            <a:r>
              <a:rPr lang="zh-CN" altLang="en-US" dirty="0"/>
              <a:t>一些硬件</a:t>
            </a:r>
            <a:r>
              <a:rPr lang="en-US" altLang="zh-CN" dirty="0"/>
              <a:t>(MPK)</a:t>
            </a:r>
            <a:r>
              <a:rPr lang="zh-CN" altLang="en-US" dirty="0"/>
              <a:t>只能处理用户态的内存</a:t>
            </a:r>
            <a:endParaRPr lang="en-US" altLang="zh-CN" dirty="0"/>
          </a:p>
          <a:p>
            <a:pPr marL="285750" indent="-285750">
              <a:buFont typeface="Arial" panose="020B0604020202020204" pitchFamily="34" charset="0"/>
              <a:buChar char="•"/>
            </a:pPr>
            <a:r>
              <a:rPr lang="zh-CN" altLang="en-US" dirty="0"/>
              <a:t>由于单个子系统通常使用一个单独的虚拟机或者隔离域运行，随着隔离的子系统数量逐渐增多，这些方法也无法进行扩展</a:t>
            </a:r>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B264-EE46-07D4-A95A-27335B87E445}"/>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885DACE8-FB83-6B9E-6914-B1AEF12F4DA4}"/>
              </a:ext>
            </a:extLst>
          </p:cNvPr>
          <p:cNvSpPr>
            <a:spLocks noGrp="1"/>
          </p:cNvSpPr>
          <p:nvPr>
            <p:ph type="title"/>
          </p:nvPr>
        </p:nvSpPr>
        <p:spPr>
          <a:xfrm>
            <a:off x="1606550" y="345305"/>
            <a:ext cx="8643848" cy="478155"/>
          </a:xfrm>
        </p:spPr>
        <p:txBody>
          <a:bodyPr/>
          <a:lstStyle/>
          <a:p>
            <a:r>
              <a:rPr lang="zh-CN" altLang="en-US" dirty="0"/>
              <a:t>国内外研究情况</a:t>
            </a:r>
            <a:r>
              <a:rPr lang="en-US" altLang="zh-CN" dirty="0"/>
              <a:t>-</a:t>
            </a:r>
            <a:r>
              <a:rPr lang="zh-CN" altLang="en-US" dirty="0"/>
              <a:t>基于软件的隔离</a:t>
            </a:r>
          </a:p>
        </p:txBody>
      </p:sp>
      <p:sp>
        <p:nvSpPr>
          <p:cNvPr id="22" name="文本框 21">
            <a:extLst>
              <a:ext uri="{FF2B5EF4-FFF2-40B4-BE49-F238E27FC236}">
                <a16:creationId xmlns:a16="http://schemas.microsoft.com/office/drawing/2014/main" id="{18BFFE1D-D5F5-A96C-9644-EBFE84E04818}"/>
              </a:ext>
            </a:extLst>
          </p:cNvPr>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2</a:t>
            </a:r>
            <a:endParaRPr lang="zh-CN" altLang="en-US" sz="3600" b="1" dirty="0">
              <a:solidFill>
                <a:schemeClr val="bg1"/>
              </a:solidFill>
            </a:endParaRPr>
          </a:p>
        </p:txBody>
      </p:sp>
      <p:sp>
        <p:nvSpPr>
          <p:cNvPr id="2" name="文本框 1">
            <a:extLst>
              <a:ext uri="{FF2B5EF4-FFF2-40B4-BE49-F238E27FC236}">
                <a16:creationId xmlns:a16="http://schemas.microsoft.com/office/drawing/2014/main" id="{1DAF6CB1-81D7-D22A-9386-D86C3E98FAA7}"/>
              </a:ext>
            </a:extLst>
          </p:cNvPr>
          <p:cNvSpPr txBox="1"/>
          <p:nvPr/>
        </p:nvSpPr>
        <p:spPr>
          <a:xfrm>
            <a:off x="770351" y="1265129"/>
            <a:ext cx="10897644" cy="1754326"/>
          </a:xfrm>
          <a:prstGeom prst="rect">
            <a:avLst/>
          </a:prstGeom>
          <a:noFill/>
        </p:spPr>
        <p:txBody>
          <a:bodyPr wrap="square" rtlCol="0">
            <a:spAutoFit/>
          </a:bodyPr>
          <a:lstStyle/>
          <a:p>
            <a:r>
              <a:rPr lang="zh-CN" altLang="en-US" dirty="0"/>
              <a:t>基于软件的隔离通过逻辑层面的机制在操作系统中实现子系统的分离和限制。其中，软件故障隔离（</a:t>
            </a:r>
            <a:r>
              <a:rPr lang="en-US" altLang="zh-CN" dirty="0"/>
              <a:t>Software Fault Isolation, SFI</a:t>
            </a:r>
            <a:r>
              <a:rPr lang="zh-CN" altLang="en-US" dirty="0"/>
              <a:t>）是一种经典的技术，通过插入边界检查指令对内存访问和代码执行行为进行约束，以防止非可信代码访问未授权的内存区域或执行恶意操作。</a:t>
            </a:r>
            <a:r>
              <a:rPr lang="en-US" altLang="zh-CN" b="1" dirty="0"/>
              <a:t>SFI</a:t>
            </a:r>
            <a:r>
              <a:rPr lang="zh-CN" altLang="en-US" b="1" dirty="0"/>
              <a:t>的核心机制是对内存地址和控制流的动态检查，通过屏蔽地址或限制跳转目标，将代码的行为限制在预定义的合法范围内，同时通过静态验证器在加载代码时确保其符合安全策略</a:t>
            </a:r>
            <a:r>
              <a:rPr lang="zh-CN" altLang="en-US" dirty="0"/>
              <a:t>。软件故障隔离（</a:t>
            </a:r>
            <a:r>
              <a:rPr lang="en-US" altLang="zh-CN" dirty="0"/>
              <a:t>SFI</a:t>
            </a:r>
            <a:r>
              <a:rPr lang="zh-CN" altLang="en-US" dirty="0"/>
              <a:t>）在支持多种编程语言隔离的能力、强制隔离的开销和跨子系统通信的成本之间取得了平衡</a:t>
            </a:r>
          </a:p>
        </p:txBody>
      </p:sp>
      <p:sp>
        <p:nvSpPr>
          <p:cNvPr id="3" name="文本框 2">
            <a:extLst>
              <a:ext uri="{FF2B5EF4-FFF2-40B4-BE49-F238E27FC236}">
                <a16:creationId xmlns:a16="http://schemas.microsoft.com/office/drawing/2014/main" id="{E0D64EF4-5706-73B4-362A-CE51ABB517DD}"/>
              </a:ext>
            </a:extLst>
          </p:cNvPr>
          <p:cNvSpPr txBox="1"/>
          <p:nvPr/>
        </p:nvSpPr>
        <p:spPr>
          <a:xfrm>
            <a:off x="770351" y="3851072"/>
            <a:ext cx="10571967" cy="175432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没有适当的硬件支持，</a:t>
            </a:r>
            <a:r>
              <a:rPr lang="en-US" altLang="zh-CN" dirty="0"/>
              <a:t>SFI </a:t>
            </a:r>
            <a:r>
              <a:rPr lang="zh-CN" altLang="en-US" dirty="0"/>
              <a:t>的开销仍然很高</a:t>
            </a:r>
            <a:endParaRPr lang="en-US" altLang="zh-CN" dirty="0"/>
          </a:p>
          <a:p>
            <a:pPr marL="742950" lvl="1" indent="-285750">
              <a:buFont typeface="Arial" panose="020B0604020202020204" pitchFamily="34" charset="0"/>
              <a:buChar char="•"/>
            </a:pPr>
            <a:r>
              <a:rPr lang="en-US" altLang="zh-CN" dirty="0"/>
              <a:t>SFI</a:t>
            </a:r>
            <a:r>
              <a:rPr lang="zh-CN" altLang="en-US" dirty="0"/>
              <a:t>依赖编译器插件生成检查代码，由于编译器无法感知程序的功能，只能机械地为所有可能的代码生成检查，导致程序性能大大下降</a:t>
            </a:r>
            <a:endParaRPr lang="en-US" altLang="zh-CN" dirty="0"/>
          </a:p>
          <a:p>
            <a:pPr marL="742950" lvl="1" indent="-285750">
              <a:buFont typeface="Arial" panose="020B0604020202020204" pitchFamily="34" charset="0"/>
              <a:buChar char="•"/>
            </a:pPr>
            <a:r>
              <a:rPr lang="en-US" altLang="zh-CN" dirty="0"/>
              <a:t>SFI</a:t>
            </a:r>
            <a:r>
              <a:rPr lang="zh-CN" altLang="en-US" dirty="0"/>
              <a:t>依赖开发者的手工工作以指定</a:t>
            </a:r>
            <a:r>
              <a:rPr lang="en-US" altLang="zh-CN" dirty="0"/>
              <a:t>SFI</a:t>
            </a:r>
            <a:r>
              <a:rPr lang="zh-CN" altLang="en-US" dirty="0"/>
              <a:t>作用的模块和功能</a:t>
            </a:r>
            <a:endParaRPr lang="en-US" altLang="zh-CN" dirty="0"/>
          </a:p>
          <a:p>
            <a:pPr marL="285750" indent="-285750">
              <a:buFont typeface="Arial" panose="020B0604020202020204" pitchFamily="34" charset="0"/>
              <a:buChar char="•"/>
            </a:pPr>
            <a:r>
              <a:rPr lang="zh-CN" altLang="en-US" dirty="0"/>
              <a:t>和基于硬件隔离的方法一样，</a:t>
            </a:r>
            <a:r>
              <a:rPr lang="en-US" altLang="zh-CN" dirty="0"/>
              <a:t>SFI</a:t>
            </a:r>
            <a:r>
              <a:rPr lang="zh-CN" altLang="en-US" dirty="0"/>
              <a:t>只防止隔离的子系统破坏其它子系统，而不试图防止子系统本身的错误</a:t>
            </a:r>
          </a:p>
        </p:txBody>
      </p:sp>
    </p:spTree>
    <p:extLst>
      <p:ext uri="{BB962C8B-B14F-4D97-AF65-F5344CB8AC3E}">
        <p14:creationId xmlns:p14="http://schemas.microsoft.com/office/powerpoint/2010/main" val="453686082"/>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1606550" y="345305"/>
            <a:ext cx="8643848" cy="478155"/>
          </a:xfrm>
        </p:spPr>
        <p:txBody>
          <a:bodyPr/>
          <a:lstStyle/>
          <a:p>
            <a:r>
              <a:rPr lang="zh-CN" altLang="en-US" dirty="0"/>
              <a:t>国内外研究情况</a:t>
            </a:r>
            <a:r>
              <a:rPr lang="en-US" altLang="zh-CN" dirty="0"/>
              <a:t>-</a:t>
            </a:r>
            <a:r>
              <a:rPr lang="zh-CN" altLang="en-US" dirty="0"/>
              <a:t>微内核架构和用户态驱动</a:t>
            </a:r>
          </a:p>
        </p:txBody>
      </p:sp>
      <p:sp>
        <p:nvSpPr>
          <p:cNvPr id="22" name="文本框 21"/>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2</a:t>
            </a:r>
            <a:endParaRPr lang="zh-CN" altLang="en-US" sz="3600" b="1" dirty="0">
              <a:solidFill>
                <a:schemeClr val="bg1"/>
              </a:solidFill>
            </a:endParaRPr>
          </a:p>
        </p:txBody>
      </p:sp>
      <p:sp>
        <p:nvSpPr>
          <p:cNvPr id="2" name="文本框 1">
            <a:extLst>
              <a:ext uri="{FF2B5EF4-FFF2-40B4-BE49-F238E27FC236}">
                <a16:creationId xmlns:a16="http://schemas.microsoft.com/office/drawing/2014/main" id="{971BB23B-FADA-BCD3-EE40-05CADC6C88A1}"/>
              </a:ext>
            </a:extLst>
          </p:cNvPr>
          <p:cNvSpPr txBox="1"/>
          <p:nvPr/>
        </p:nvSpPr>
        <p:spPr>
          <a:xfrm>
            <a:off x="814192" y="1233814"/>
            <a:ext cx="10659649" cy="175432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微内核架构通过将操作系统的核心功能极度精简，仅保留进程管理、内存管理和进程间通信（</a:t>
            </a:r>
            <a:r>
              <a:rPr lang="en-US" altLang="zh-CN" dirty="0"/>
              <a:t>IPC</a:t>
            </a:r>
            <a:r>
              <a:rPr lang="zh-CN" altLang="en-US" dirty="0"/>
              <a:t>）等基本功能，其余诸如文件系统、驱动程序、网络协议栈等服务被移至用户态运行，从根本上改变了传统单体内核的设计。这样的设计实现了明确的模块边界，每个服务运行在独立的地址空间中，通过受控的</a:t>
            </a:r>
            <a:r>
              <a:rPr lang="en-US" altLang="zh-CN" dirty="0"/>
              <a:t>IPC</a:t>
            </a:r>
            <a:r>
              <a:rPr lang="zh-CN" altLang="en-US" dirty="0"/>
              <a:t>进行通信，这种强隔离不仅提高了系统的安全性，也增强了模块的可靠性</a:t>
            </a:r>
            <a:r>
              <a:rPr lang="en-US" altLang="zh-CN" dirty="0"/>
              <a:t>——</a:t>
            </a:r>
            <a:r>
              <a:rPr lang="zh-CN" altLang="en-US" dirty="0"/>
              <a:t>一个服务的崩溃通常不会直接导致整个系统的瘫痪。</a:t>
            </a:r>
            <a:endParaRPr lang="en-US" altLang="zh-CN" dirty="0"/>
          </a:p>
          <a:p>
            <a:pPr marL="285750" indent="-285750">
              <a:buFont typeface="Arial" panose="020B0604020202020204" pitchFamily="34" charset="0"/>
              <a:buChar char="•"/>
            </a:pPr>
            <a:r>
              <a:rPr lang="zh-CN" altLang="en-US" dirty="0"/>
              <a:t>与微内核类似的技术还有用户态用户驱动，比如</a:t>
            </a:r>
            <a:r>
              <a:rPr lang="en-US" altLang="zh-CN" dirty="0"/>
              <a:t>DPDK</a:t>
            </a:r>
            <a:r>
              <a:rPr lang="zh-CN" altLang="en-US" dirty="0"/>
              <a:t>，</a:t>
            </a:r>
            <a:r>
              <a:rPr lang="en-US" altLang="zh-CN" dirty="0"/>
              <a:t>DDK</a:t>
            </a:r>
            <a:r>
              <a:rPr lang="zh-CN" altLang="en-US" dirty="0"/>
              <a:t>、</a:t>
            </a:r>
            <a:r>
              <a:rPr lang="en-US" altLang="zh-CN" dirty="0"/>
              <a:t>Fuse</a:t>
            </a:r>
            <a:r>
              <a:rPr lang="zh-CN" altLang="en-US" dirty="0"/>
              <a:t>等</a:t>
            </a:r>
          </a:p>
        </p:txBody>
      </p:sp>
      <p:sp>
        <p:nvSpPr>
          <p:cNvPr id="3" name="文本框 2">
            <a:extLst>
              <a:ext uri="{FF2B5EF4-FFF2-40B4-BE49-F238E27FC236}">
                <a16:creationId xmlns:a16="http://schemas.microsoft.com/office/drawing/2014/main" id="{6207EC73-92D2-7577-01F1-73A519733162}"/>
              </a:ext>
            </a:extLst>
          </p:cNvPr>
          <p:cNvSpPr txBox="1"/>
          <p:nvPr/>
        </p:nvSpPr>
        <p:spPr>
          <a:xfrm>
            <a:off x="814192" y="4198734"/>
            <a:ext cx="10302657"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由于服务之间的频繁通信需要通过用户态和内核态的多次上下文切换，通信开销较高，导致性能上的损失</a:t>
            </a:r>
            <a:endParaRPr lang="en-US" altLang="zh-CN" dirty="0"/>
          </a:p>
          <a:p>
            <a:pPr marL="285750" indent="-285750">
              <a:buFont typeface="Arial" panose="020B0604020202020204" pitchFamily="34" charset="0"/>
              <a:buChar char="•"/>
            </a:pPr>
            <a:r>
              <a:rPr lang="zh-CN" altLang="en-US" dirty="0"/>
              <a:t>子系统交互方式的彻底改变导致现有的大量内核组件无法被复用，而在用户态提供这些组件所依赖的运行环境需要大量的工程工作，还面临内核子系统接口变化的问题</a:t>
            </a:r>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2805-79F9-FAB8-9983-8202552BB4F0}"/>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2453262C-A795-30D2-DD81-385BE8B96190}"/>
              </a:ext>
            </a:extLst>
          </p:cNvPr>
          <p:cNvSpPr>
            <a:spLocks noGrp="1"/>
          </p:cNvSpPr>
          <p:nvPr>
            <p:ph type="title"/>
          </p:nvPr>
        </p:nvSpPr>
        <p:spPr>
          <a:xfrm>
            <a:off x="1606550" y="345305"/>
            <a:ext cx="8643848" cy="478155"/>
          </a:xfrm>
        </p:spPr>
        <p:txBody>
          <a:bodyPr/>
          <a:lstStyle/>
          <a:p>
            <a:r>
              <a:rPr lang="zh-CN" altLang="en-US" dirty="0"/>
              <a:t>国内外研究情况</a:t>
            </a:r>
            <a:r>
              <a:rPr lang="en-US" altLang="zh-CN" dirty="0"/>
              <a:t>-</a:t>
            </a:r>
            <a:r>
              <a:rPr lang="zh-CN" altLang="en-US" dirty="0"/>
              <a:t>热升级</a:t>
            </a:r>
          </a:p>
        </p:txBody>
      </p:sp>
      <p:sp>
        <p:nvSpPr>
          <p:cNvPr id="22" name="文本框 21">
            <a:extLst>
              <a:ext uri="{FF2B5EF4-FFF2-40B4-BE49-F238E27FC236}">
                <a16:creationId xmlns:a16="http://schemas.microsoft.com/office/drawing/2014/main" id="{0EC66C8C-E4AE-C7D1-D4D9-C7FAF21E3674}"/>
              </a:ext>
            </a:extLst>
          </p:cNvPr>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2</a:t>
            </a:r>
            <a:endParaRPr lang="zh-CN" altLang="en-US" sz="3600" b="1" dirty="0">
              <a:solidFill>
                <a:schemeClr val="bg1"/>
              </a:solidFill>
            </a:endParaRPr>
          </a:p>
        </p:txBody>
      </p:sp>
      <p:sp>
        <p:nvSpPr>
          <p:cNvPr id="4" name="文本框 3">
            <a:extLst>
              <a:ext uri="{FF2B5EF4-FFF2-40B4-BE49-F238E27FC236}">
                <a16:creationId xmlns:a16="http://schemas.microsoft.com/office/drawing/2014/main" id="{2E9FAB1A-11CF-D479-FADA-1C01DBD41C8C}"/>
              </a:ext>
            </a:extLst>
          </p:cNvPr>
          <p:cNvSpPr txBox="1"/>
          <p:nvPr/>
        </p:nvSpPr>
        <p:spPr>
          <a:xfrm>
            <a:off x="647178" y="1276259"/>
            <a:ext cx="10897644" cy="2308324"/>
          </a:xfrm>
          <a:prstGeom prst="rect">
            <a:avLst/>
          </a:prstGeom>
          <a:noFill/>
        </p:spPr>
        <p:txBody>
          <a:bodyPr wrap="square" rtlCol="0">
            <a:spAutoFit/>
          </a:bodyPr>
          <a:lstStyle/>
          <a:p>
            <a:r>
              <a:rPr lang="zh-CN" altLang="en-US" dirty="0"/>
              <a:t>热升级是一种在不中断系统运行的情况下对内核子系统进行更新的技术，分为功能级别和组件级别两种主要方案。</a:t>
            </a:r>
            <a:endParaRPr lang="en-US" altLang="zh-CN" dirty="0"/>
          </a:p>
          <a:p>
            <a:pPr marL="285750" indent="-285750">
              <a:buFont typeface="Arial" panose="020B0604020202020204" pitchFamily="34" charset="0"/>
              <a:buChar char="•"/>
            </a:pPr>
            <a:r>
              <a:rPr lang="zh-CN" altLang="en-US" dirty="0"/>
              <a:t>功能级别的热升级通常以动态加载和更新特定功能为核心，例如内核的</a:t>
            </a:r>
            <a:r>
              <a:rPr lang="en-US" altLang="zh-CN" dirty="0" err="1"/>
              <a:t>Livepatching</a:t>
            </a:r>
            <a:r>
              <a:rPr lang="zh-CN" altLang="en-US" dirty="0"/>
              <a:t>技术。这种方法允许开发者通过补丁形式直接修改或替换内核中的特定函数，完成漏洞修复或功能增强，而无需重新启动系统。</a:t>
            </a:r>
            <a:endParaRPr lang="en-US" altLang="zh-CN" dirty="0"/>
          </a:p>
          <a:p>
            <a:pPr marL="285750" indent="-285750">
              <a:buFont typeface="Arial" panose="020B0604020202020204" pitchFamily="34" charset="0"/>
              <a:buChar char="•"/>
            </a:pPr>
            <a:r>
              <a:rPr lang="zh-CN" altLang="en-US" dirty="0"/>
              <a:t>组件级别的热升级旨在对整个模块或子系统进行全面替换</a:t>
            </a:r>
            <a:r>
              <a:rPr lang="en-US" altLang="zh-CN" dirty="0"/>
              <a:t>, </a:t>
            </a:r>
            <a:r>
              <a:rPr lang="zh-CN" altLang="en-US" dirty="0"/>
              <a:t>这种方法通过保存旧版本的运行状态，并在新组件加载后迁移状态来实现无缝切换。因此，实现内核子系统的热升级的核心在于维护升级前后的状态数据的一致性。一些作品使用对象替换或阴影数据结构来避免数据状态迁移。</a:t>
            </a:r>
            <a:endParaRPr lang="en-US" altLang="zh-CN" dirty="0"/>
          </a:p>
        </p:txBody>
      </p:sp>
      <p:sp>
        <p:nvSpPr>
          <p:cNvPr id="5" name="文本框 4">
            <a:extLst>
              <a:ext uri="{FF2B5EF4-FFF2-40B4-BE49-F238E27FC236}">
                <a16:creationId xmlns:a16="http://schemas.microsoft.com/office/drawing/2014/main" id="{CB93A03D-7DCD-7618-EF02-7696AEE77764}"/>
              </a:ext>
            </a:extLst>
          </p:cNvPr>
          <p:cNvSpPr txBox="1"/>
          <p:nvPr/>
        </p:nvSpPr>
        <p:spPr>
          <a:xfrm>
            <a:off x="647178" y="4122026"/>
            <a:ext cx="10546915"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功能级别的更新只能在变更对系统整体结构影响较小的情况下使用</a:t>
            </a:r>
            <a:endParaRPr lang="en-US" altLang="zh-CN" dirty="0"/>
          </a:p>
          <a:p>
            <a:pPr marL="285750" indent="-285750">
              <a:buFont typeface="Arial" panose="020B0604020202020204" pitchFamily="34" charset="0"/>
              <a:buChar char="•"/>
            </a:pPr>
            <a:r>
              <a:rPr lang="zh-CN" altLang="en-US" dirty="0"/>
              <a:t>由于不同的数据结构可能涉及大量不同的状态，不同子系统之间可能共享同一个状态数据，已有的支持组件级别的热升级方案不够通用</a:t>
            </a:r>
            <a:endParaRPr lang="en-US" altLang="zh-CN" dirty="0"/>
          </a:p>
          <a:p>
            <a:pPr marL="285750" indent="-285750">
              <a:buFont typeface="Arial" panose="020B0604020202020204" pitchFamily="34" charset="0"/>
              <a:buChar char="•"/>
            </a:pPr>
            <a:r>
              <a:rPr lang="zh-CN" altLang="en-US" dirty="0"/>
              <a:t>很少有作品建立内核子系统隔离和热升级之间的关系</a:t>
            </a:r>
          </a:p>
        </p:txBody>
      </p:sp>
    </p:spTree>
    <p:extLst>
      <p:ext uri="{BB962C8B-B14F-4D97-AF65-F5344CB8AC3E}">
        <p14:creationId xmlns:p14="http://schemas.microsoft.com/office/powerpoint/2010/main" val="50268822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A15F9-E5C8-C269-ECB4-D460A24FC795}"/>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633FFE21-B658-69C1-BA62-E79B71FECB53}"/>
              </a:ext>
            </a:extLst>
          </p:cNvPr>
          <p:cNvSpPr>
            <a:spLocks noGrp="1"/>
          </p:cNvSpPr>
          <p:nvPr>
            <p:ph type="title"/>
          </p:nvPr>
        </p:nvSpPr>
        <p:spPr>
          <a:xfrm>
            <a:off x="1606550" y="345305"/>
            <a:ext cx="8643848" cy="478155"/>
          </a:xfrm>
        </p:spPr>
        <p:txBody>
          <a:bodyPr/>
          <a:lstStyle/>
          <a:p>
            <a:r>
              <a:rPr lang="zh-CN" altLang="en-US" dirty="0"/>
              <a:t>国内外研究情况</a:t>
            </a:r>
            <a:r>
              <a:rPr lang="en-US" altLang="zh-CN" dirty="0"/>
              <a:t>-</a:t>
            </a:r>
            <a:r>
              <a:rPr lang="en-US" altLang="zh-CN" dirty="0" err="1"/>
              <a:t>Redleaf</a:t>
            </a:r>
            <a:r>
              <a:rPr lang="zh-CN" altLang="en-US" dirty="0"/>
              <a:t>和</a:t>
            </a:r>
            <a:r>
              <a:rPr lang="en-US" altLang="zh-CN" dirty="0"/>
              <a:t>Theseus</a:t>
            </a:r>
            <a:endParaRPr lang="zh-CN" altLang="en-US" dirty="0"/>
          </a:p>
        </p:txBody>
      </p:sp>
      <p:sp>
        <p:nvSpPr>
          <p:cNvPr id="22" name="文本框 21">
            <a:extLst>
              <a:ext uri="{FF2B5EF4-FFF2-40B4-BE49-F238E27FC236}">
                <a16:creationId xmlns:a16="http://schemas.microsoft.com/office/drawing/2014/main" id="{E9CEA1BC-A3CF-9078-027C-0C71E02BEB54}"/>
              </a:ext>
            </a:extLst>
          </p:cNvPr>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2</a:t>
            </a:r>
            <a:endParaRPr lang="zh-CN" altLang="en-US" sz="3600" b="1" dirty="0">
              <a:solidFill>
                <a:schemeClr val="bg1"/>
              </a:solidFill>
            </a:endParaRPr>
          </a:p>
        </p:txBody>
      </p:sp>
      <p:sp>
        <p:nvSpPr>
          <p:cNvPr id="2" name="文本框 1">
            <a:extLst>
              <a:ext uri="{FF2B5EF4-FFF2-40B4-BE49-F238E27FC236}">
                <a16:creationId xmlns:a16="http://schemas.microsoft.com/office/drawing/2014/main" id="{F57DE758-5A6D-5FEE-5051-882CE1B0B6CC}"/>
              </a:ext>
            </a:extLst>
          </p:cNvPr>
          <p:cNvSpPr txBox="1"/>
          <p:nvPr/>
        </p:nvSpPr>
        <p:spPr>
          <a:xfrm>
            <a:off x="807929" y="1127342"/>
            <a:ext cx="10841276" cy="1754326"/>
          </a:xfrm>
          <a:prstGeom prst="rect">
            <a:avLst/>
          </a:prstGeom>
          <a:noFill/>
        </p:spPr>
        <p:txBody>
          <a:bodyPr wrap="square" rtlCol="0">
            <a:spAutoFit/>
          </a:bodyPr>
          <a:lstStyle/>
          <a:p>
            <a:pPr marL="285750" indent="-285750">
              <a:buFont typeface="Arial" panose="020B0604020202020204" pitchFamily="34" charset="0"/>
              <a:buChar char="•"/>
            </a:pPr>
            <a:r>
              <a:rPr lang="en-US" altLang="zh-CN" dirty="0" err="1"/>
              <a:t>Redleaf</a:t>
            </a:r>
            <a:r>
              <a:rPr lang="zh-CN" altLang="en-US" dirty="0"/>
              <a:t>是一个使用</a:t>
            </a:r>
            <a:r>
              <a:rPr lang="en-US" altLang="zh-CN" dirty="0"/>
              <a:t>Rust</a:t>
            </a:r>
            <a:r>
              <a:rPr lang="zh-CN" altLang="en-US" dirty="0"/>
              <a:t>开发的微内核，旨在探索语言安全性对操作系统组织结构的影响，尤其是在实现细粒度隔离方面的潜力。</a:t>
            </a:r>
            <a:r>
              <a:rPr lang="en-US" altLang="zh-CN" dirty="0" err="1"/>
              <a:t>RedLeaf</a:t>
            </a:r>
            <a:r>
              <a:rPr lang="zh-CN" altLang="en-US" dirty="0"/>
              <a:t>中隔离的实现依赖以下原则：堆隔离、可交换类型、所有权追踪、接口验证和跨域调用代理。</a:t>
            </a:r>
            <a:endParaRPr lang="en-US" altLang="zh-CN" dirty="0"/>
          </a:p>
          <a:p>
            <a:pPr marL="285750" indent="-285750">
              <a:buFont typeface="Arial" panose="020B0604020202020204" pitchFamily="34" charset="0"/>
              <a:buChar char="•"/>
            </a:pPr>
            <a:r>
              <a:rPr lang="en-US" altLang="zh-CN" dirty="0"/>
              <a:t>Theseus</a:t>
            </a:r>
            <a:r>
              <a:rPr lang="zh-CN" altLang="en-US" dirty="0"/>
              <a:t>是另一个从零开始使用 </a:t>
            </a:r>
            <a:r>
              <a:rPr lang="en-US" altLang="zh-CN" dirty="0"/>
              <a:t>Rust </a:t>
            </a:r>
            <a:r>
              <a:rPr lang="zh-CN" altLang="en-US" dirty="0"/>
              <a:t>编写的实验性操作系统，它重新思考了操作系统的结构和状态管理问题。</a:t>
            </a:r>
            <a:r>
              <a:rPr lang="en-US" altLang="zh-CN" dirty="0"/>
              <a:t>Theseus </a:t>
            </a:r>
            <a:r>
              <a:rPr lang="zh-CN" altLang="en-US" dirty="0"/>
              <a:t>的设计核心在于通过明确划分操作系统模块边界、最大化利用语言特性以及消除模块间状态泄漏，构建一个可以动态演进和高效容错的系统。</a:t>
            </a:r>
          </a:p>
        </p:txBody>
      </p:sp>
      <p:sp>
        <p:nvSpPr>
          <p:cNvPr id="3" name="文本框 2">
            <a:extLst>
              <a:ext uri="{FF2B5EF4-FFF2-40B4-BE49-F238E27FC236}">
                <a16:creationId xmlns:a16="http://schemas.microsoft.com/office/drawing/2014/main" id="{E69D49D4-10A6-BBFC-F627-95D2BA8BFB45}"/>
              </a:ext>
            </a:extLst>
          </p:cNvPr>
          <p:cNvSpPr txBox="1"/>
          <p:nvPr/>
        </p:nvSpPr>
        <p:spPr>
          <a:xfrm>
            <a:off x="864296" y="3169085"/>
            <a:ext cx="10690964" cy="2554545"/>
          </a:xfrm>
          <a:prstGeom prst="rect">
            <a:avLst/>
          </a:prstGeom>
          <a:noFill/>
        </p:spPr>
        <p:txBody>
          <a:bodyPr wrap="square" rtlCol="0">
            <a:spAutoFit/>
          </a:bodyPr>
          <a:lstStyle/>
          <a:p>
            <a:pPr marL="285750" indent="-285750">
              <a:buFont typeface="Arial" panose="020B0604020202020204" pitchFamily="34" charset="0"/>
              <a:buChar char="•"/>
            </a:pPr>
            <a:r>
              <a:rPr lang="en-US" altLang="zh-CN" sz="1600" dirty="0" err="1"/>
              <a:t>Redleaf</a:t>
            </a:r>
            <a:r>
              <a:rPr lang="zh-CN" altLang="en-US" sz="1600" dirty="0"/>
              <a:t>缺乏对</a:t>
            </a:r>
            <a:r>
              <a:rPr lang="en-US" altLang="zh-CN" sz="1600" dirty="0"/>
              <a:t>safe</a:t>
            </a:r>
            <a:r>
              <a:rPr lang="zh-CN" altLang="en-US" sz="1600" dirty="0"/>
              <a:t>和</a:t>
            </a:r>
            <a:r>
              <a:rPr lang="en-US" altLang="zh-CN" sz="1600" dirty="0"/>
              <a:t>unsafe</a:t>
            </a:r>
            <a:r>
              <a:rPr lang="zh-CN" altLang="en-US" sz="1600" dirty="0"/>
              <a:t>边界的划分，虽然其要求开发的域中不能包含</a:t>
            </a:r>
            <a:r>
              <a:rPr lang="en-US" altLang="zh-CN" sz="1600" dirty="0"/>
              <a:t>unsafe</a:t>
            </a:r>
            <a:r>
              <a:rPr lang="zh-CN" altLang="en-US" sz="1600" dirty="0"/>
              <a:t>代码</a:t>
            </a:r>
            <a:r>
              <a:rPr lang="en-US" altLang="zh-CN" sz="1600" dirty="0"/>
              <a:t>, </a:t>
            </a:r>
            <a:r>
              <a:rPr lang="zh-CN" altLang="en-US" sz="1600" dirty="0"/>
              <a:t>但是大多数域都依赖于域相关的可信库，而可信库中大量的</a:t>
            </a:r>
            <a:r>
              <a:rPr lang="en-US" altLang="zh-CN" sz="1600" dirty="0"/>
              <a:t>unsafe</a:t>
            </a:r>
            <a:r>
              <a:rPr lang="zh-CN" altLang="en-US" sz="1600" dirty="0"/>
              <a:t>代码破坏了</a:t>
            </a:r>
            <a:r>
              <a:rPr lang="en-US" altLang="zh-CN" sz="1600" dirty="0"/>
              <a:t>Rust</a:t>
            </a:r>
            <a:r>
              <a:rPr lang="zh-CN" altLang="en-US" sz="1600" dirty="0"/>
              <a:t>语言提供的安全保证，使得整个系统中完全由</a:t>
            </a:r>
            <a:r>
              <a:rPr lang="en-US" altLang="zh-CN" sz="1600" dirty="0"/>
              <a:t>safe</a:t>
            </a:r>
            <a:r>
              <a:rPr lang="zh-CN" altLang="en-US" sz="1600" dirty="0"/>
              <a:t>代码构成的部分比例大大减少。</a:t>
            </a:r>
            <a:endParaRPr lang="en-US" altLang="zh-CN" sz="1600" dirty="0"/>
          </a:p>
          <a:p>
            <a:pPr marL="285750" indent="-285750">
              <a:buFont typeface="Arial" panose="020B0604020202020204" pitchFamily="34" charset="0"/>
              <a:buChar char="•"/>
            </a:pPr>
            <a:r>
              <a:rPr lang="en-US" altLang="zh-CN" sz="1600" dirty="0" err="1"/>
              <a:t>Redleaf</a:t>
            </a:r>
            <a:r>
              <a:rPr lang="zh-CN" altLang="en-US" sz="1600" dirty="0"/>
              <a:t>依靠状态检查点机制来实施故障隔离，然而，仅仅靠检查点状态的保存和恢复是无法正确释放由故障导致的资源泄露的，如果没有将检查点到故障点之间的分配的资源释放掉，即使可以再次对已经发生故障的域发起请求，域仍然处于一个不正确的状态</a:t>
            </a:r>
            <a:endParaRPr lang="en-US" altLang="zh-CN" sz="1600" dirty="0"/>
          </a:p>
          <a:p>
            <a:pPr marL="285750" indent="-285750">
              <a:buFont typeface="Arial" panose="020B0604020202020204" pitchFamily="34" charset="0"/>
              <a:buChar char="•"/>
            </a:pPr>
            <a:r>
              <a:rPr lang="en-US" altLang="zh-CN" sz="1600" dirty="0" err="1"/>
              <a:t>Redleaf</a:t>
            </a:r>
            <a:r>
              <a:rPr lang="zh-CN" altLang="en-US" sz="1600" dirty="0"/>
              <a:t>没有意识到，对子系统的隔离可以带来更多有趣的扩展功能，比如实现子系统的热升级</a:t>
            </a:r>
            <a:endParaRPr lang="en-US" altLang="zh-CN" sz="1600" dirty="0"/>
          </a:p>
          <a:p>
            <a:pPr marL="285750" indent="-285750">
              <a:buFont typeface="Arial" panose="020B0604020202020204" pitchFamily="34" charset="0"/>
              <a:buChar char="•"/>
            </a:pPr>
            <a:r>
              <a:rPr lang="zh-CN" altLang="en-US" sz="1600" dirty="0"/>
              <a:t>由于一贯的特权级分离设计，现代商用操作系统内核子系统中保存了大量用户任务的状态</a:t>
            </a:r>
            <a:endParaRPr lang="en-US" altLang="zh-CN" sz="1600" dirty="0"/>
          </a:p>
          <a:p>
            <a:pPr marL="285750" indent="-285750">
              <a:buFont typeface="Arial" panose="020B0604020202020204" pitchFamily="34" charset="0"/>
              <a:buChar char="•"/>
            </a:pPr>
            <a:r>
              <a:rPr lang="zh-CN" altLang="en-US" sz="1600" dirty="0"/>
              <a:t>各个子系统之间依靠复杂的状态数据进行交互，为了实现</a:t>
            </a:r>
            <a:r>
              <a:rPr lang="en-US" altLang="zh-CN" sz="1600" dirty="0"/>
              <a:t>Theseus</a:t>
            </a:r>
            <a:r>
              <a:rPr lang="zh-CN" altLang="en-US" sz="1600" dirty="0"/>
              <a:t>提倡的无状态设计方法，商用操作系统内核需要进行彻彻底底的推翻和重构，这在当前显然还不能实现</a:t>
            </a:r>
          </a:p>
        </p:txBody>
      </p:sp>
    </p:spTree>
    <p:extLst>
      <p:ext uri="{BB962C8B-B14F-4D97-AF65-F5344CB8AC3E}">
        <p14:creationId xmlns:p14="http://schemas.microsoft.com/office/powerpoint/2010/main" val="3529662727"/>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1606550" y="345305"/>
            <a:ext cx="8643848" cy="478155"/>
          </a:xfrm>
        </p:spPr>
        <p:txBody>
          <a:bodyPr/>
          <a:lstStyle/>
          <a:p>
            <a:r>
              <a:rPr lang="zh-CN" altLang="en-US" dirty="0"/>
              <a:t>研究内容</a:t>
            </a:r>
          </a:p>
        </p:txBody>
      </p:sp>
      <p:sp>
        <p:nvSpPr>
          <p:cNvPr id="53" name="文本框 52"/>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3</a:t>
            </a:r>
            <a:endParaRPr lang="zh-CN" altLang="en-US" sz="3600" b="1" dirty="0">
              <a:solidFill>
                <a:schemeClr val="bg1"/>
              </a:solidFill>
            </a:endParaRPr>
          </a:p>
        </p:txBody>
      </p:sp>
      <p:sp>
        <p:nvSpPr>
          <p:cNvPr id="2" name="文本框 1">
            <a:extLst>
              <a:ext uri="{FF2B5EF4-FFF2-40B4-BE49-F238E27FC236}">
                <a16:creationId xmlns:a16="http://schemas.microsoft.com/office/drawing/2014/main" id="{4E226004-E8D6-2AA7-1263-7466D3B1A666}"/>
              </a:ext>
            </a:extLst>
          </p:cNvPr>
          <p:cNvSpPr txBox="1"/>
          <p:nvPr/>
        </p:nvSpPr>
        <p:spPr>
          <a:xfrm>
            <a:off x="842251" y="2690336"/>
            <a:ext cx="10465496" cy="1477328"/>
          </a:xfrm>
          <a:prstGeom prst="rect">
            <a:avLst/>
          </a:prstGeom>
          <a:noFill/>
        </p:spPr>
        <p:txBody>
          <a:bodyPr wrap="square" rtlCol="0">
            <a:spAutoFit/>
          </a:bodyPr>
          <a:lstStyle/>
          <a:p>
            <a:r>
              <a:rPr lang="zh-CN" altLang="en-US"/>
              <a:t>为了探索</a:t>
            </a:r>
            <a:r>
              <a:rPr lang="en-US" altLang="zh-CN"/>
              <a:t>Rust</a:t>
            </a:r>
            <a:r>
              <a:rPr lang="zh-CN" altLang="en-US"/>
              <a:t>语言对操作系统设计的影响，以及其在内核中实现高效、细粒度隔离的能力和优势，我们设计了一种称为隔离内核的操作系统架构。隔离内核由一个负责启动和安全抽象的</a:t>
            </a:r>
            <a:r>
              <a:rPr lang="en-US" altLang="zh-CN"/>
              <a:t>TCB</a:t>
            </a:r>
            <a:r>
              <a:rPr lang="zh-CN" altLang="en-US"/>
              <a:t>和完全使用</a:t>
            </a:r>
            <a:r>
              <a:rPr lang="en-US" altLang="zh-CN"/>
              <a:t>safe Rust</a:t>
            </a:r>
            <a:r>
              <a:rPr lang="zh-CN" altLang="en-US"/>
              <a:t>实现的域集合组成，</a:t>
            </a:r>
            <a:r>
              <a:rPr lang="en-US" altLang="zh-CN"/>
              <a:t>TCB</a:t>
            </a:r>
            <a:r>
              <a:rPr lang="zh-CN" altLang="en-US"/>
              <a:t>封装了所有</a:t>
            </a:r>
            <a:r>
              <a:rPr lang="en-US" altLang="zh-CN"/>
              <a:t>unsafe</a:t>
            </a:r>
            <a:r>
              <a:rPr lang="zh-CN" altLang="en-US"/>
              <a:t>操作并向域提供基本服务，域是内核子系统和模块的抽象，依靠</a:t>
            </a:r>
            <a:r>
              <a:rPr lang="en-US" altLang="zh-CN"/>
              <a:t>Rust</a:t>
            </a:r>
            <a:r>
              <a:rPr lang="zh-CN" altLang="en-US"/>
              <a:t>语言的类型系统和内存安全实现隔离而不是硬件接口，域的故障被隔离并被安全地展开以正确释放资源。在隔离的基础上，我们进一步展示了实现域的热升级的可能性。</a:t>
            </a:r>
            <a:endParaRPr lang="zh-CN" altLang="en-US" dirty="0"/>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1606550" y="345305"/>
            <a:ext cx="8643848" cy="478155"/>
          </a:xfrm>
        </p:spPr>
        <p:txBody>
          <a:bodyPr/>
          <a:lstStyle/>
          <a:p>
            <a:r>
              <a:rPr lang="zh-CN" altLang="en-US" dirty="0"/>
              <a:t>研究方案</a:t>
            </a:r>
            <a:r>
              <a:rPr lang="en-US" altLang="zh-CN" dirty="0"/>
              <a:t>-</a:t>
            </a:r>
            <a:r>
              <a:rPr lang="zh-CN" altLang="en-US" dirty="0"/>
              <a:t>系统分解和抽象</a:t>
            </a:r>
          </a:p>
        </p:txBody>
      </p:sp>
      <p:sp>
        <p:nvSpPr>
          <p:cNvPr id="53" name="文本框 52"/>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4</a:t>
            </a:r>
            <a:endParaRPr lang="zh-CN" altLang="en-US" sz="3600" b="1" dirty="0">
              <a:solidFill>
                <a:schemeClr val="bg1"/>
              </a:solidFill>
            </a:endParaRPr>
          </a:p>
        </p:txBody>
      </p:sp>
      <p:pic>
        <p:nvPicPr>
          <p:cNvPr id="5" name="图形 4">
            <a:extLst>
              <a:ext uri="{FF2B5EF4-FFF2-40B4-BE49-F238E27FC236}">
                <a16:creationId xmlns:a16="http://schemas.microsoft.com/office/drawing/2014/main" id="{ED36E0DB-9EB4-D688-8156-FEB96D003F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7438" y="1899976"/>
            <a:ext cx="4221597" cy="3058047"/>
          </a:xfrm>
          <a:prstGeom prst="rect">
            <a:avLst/>
          </a:prstGeom>
        </p:spPr>
      </p:pic>
      <p:sp>
        <p:nvSpPr>
          <p:cNvPr id="6" name="文本框 5">
            <a:extLst>
              <a:ext uri="{FF2B5EF4-FFF2-40B4-BE49-F238E27FC236}">
                <a16:creationId xmlns:a16="http://schemas.microsoft.com/office/drawing/2014/main" id="{185E23C3-0119-DD21-4B97-BD92F2114B36}"/>
              </a:ext>
            </a:extLst>
          </p:cNvPr>
          <p:cNvSpPr txBox="1"/>
          <p:nvPr/>
        </p:nvSpPr>
        <p:spPr>
          <a:xfrm>
            <a:off x="657616" y="1720839"/>
            <a:ext cx="6169069" cy="3416320"/>
          </a:xfrm>
          <a:prstGeom prst="rect">
            <a:avLst/>
          </a:prstGeom>
          <a:noFill/>
        </p:spPr>
        <p:txBody>
          <a:bodyPr wrap="square" rtlCol="0">
            <a:spAutoFit/>
          </a:bodyPr>
          <a:lstStyle/>
          <a:p>
            <a:r>
              <a:rPr lang="zh-CN" altLang="en-US" dirty="0"/>
              <a:t>分解</a:t>
            </a:r>
            <a:endParaRPr lang="en-US" altLang="zh-CN" dirty="0"/>
          </a:p>
          <a:p>
            <a:pPr marL="285750" indent="-285750">
              <a:buFont typeface="Arial" panose="020B0604020202020204" pitchFamily="34" charset="0"/>
              <a:buChar char="•"/>
            </a:pPr>
            <a:r>
              <a:rPr lang="zh-CN" altLang="en-US" dirty="0"/>
              <a:t>允许使用</a:t>
            </a:r>
            <a:r>
              <a:rPr lang="en-US" altLang="zh-CN" dirty="0"/>
              <a:t>unsafe</a:t>
            </a:r>
            <a:r>
              <a:rPr lang="zh-CN" altLang="en-US" dirty="0"/>
              <a:t>代码的</a:t>
            </a:r>
            <a:r>
              <a:rPr lang="en-US" altLang="zh-CN" dirty="0"/>
              <a:t>TCB</a:t>
            </a:r>
            <a:r>
              <a:rPr lang="zh-CN" altLang="en-US" dirty="0"/>
              <a:t>和只能使用</a:t>
            </a:r>
            <a:r>
              <a:rPr lang="en-US" altLang="zh-CN" dirty="0"/>
              <a:t>Safe</a:t>
            </a:r>
            <a:r>
              <a:rPr lang="zh-CN" altLang="en-US" dirty="0"/>
              <a:t>代码的域集合</a:t>
            </a:r>
            <a:endParaRPr lang="en-US" altLang="zh-CN" dirty="0"/>
          </a:p>
          <a:p>
            <a:pPr marL="285750" indent="-285750">
              <a:buFont typeface="Arial" panose="020B0604020202020204" pitchFamily="34" charset="0"/>
              <a:buChar char="•"/>
            </a:pPr>
            <a:r>
              <a:rPr lang="zh-CN" altLang="en-US" dirty="0"/>
              <a:t>对于</a:t>
            </a:r>
            <a:r>
              <a:rPr lang="en-US" altLang="zh-CN" dirty="0"/>
              <a:t>TCB</a:t>
            </a:r>
            <a:r>
              <a:rPr lang="zh-CN" altLang="en-US" dirty="0"/>
              <a:t>，可以再次划分为运行时和</a:t>
            </a:r>
            <a:r>
              <a:rPr lang="en-US" altLang="zh-CN" dirty="0"/>
              <a:t>domain lib</a:t>
            </a:r>
          </a:p>
          <a:p>
            <a:r>
              <a:rPr lang="zh-CN" altLang="en-US" dirty="0"/>
              <a:t>抽象</a:t>
            </a:r>
            <a:endParaRPr lang="en-US" altLang="zh-CN" dirty="0"/>
          </a:p>
          <a:p>
            <a:pPr marL="285750" indent="-285750">
              <a:buFont typeface="Arial" panose="020B0604020202020204" pitchFamily="34" charset="0"/>
              <a:buChar char="•"/>
            </a:pPr>
            <a:r>
              <a:rPr lang="en-US" altLang="zh-CN" dirty="0"/>
              <a:t>Domain lib</a:t>
            </a:r>
            <a:r>
              <a:rPr lang="zh-CN" altLang="en-US" dirty="0"/>
              <a:t>遵循最小化原则：只将必须的不安全操作操作置于</a:t>
            </a:r>
            <a:r>
              <a:rPr lang="en-US" altLang="zh-CN" dirty="0"/>
              <a:t>Domain lib</a:t>
            </a:r>
            <a:r>
              <a:rPr lang="zh-CN" altLang="en-US" dirty="0"/>
              <a:t>中</a:t>
            </a:r>
            <a:r>
              <a:rPr lang="en-US" altLang="zh-CN" dirty="0"/>
              <a:t>, </a:t>
            </a:r>
            <a:r>
              <a:rPr lang="zh-CN" altLang="en-US" dirty="0"/>
              <a:t>而可以由安全接口组成的高级抽象和接口则是由域自行实施</a:t>
            </a:r>
            <a:endParaRPr lang="en-US" altLang="zh-CN" dirty="0"/>
          </a:p>
          <a:p>
            <a:pPr marL="285750" indent="-285750">
              <a:buFont typeface="Arial" panose="020B0604020202020204" pitchFamily="34" charset="0"/>
              <a:buChar char="•"/>
            </a:pPr>
            <a:r>
              <a:rPr lang="zh-CN" altLang="en-US" dirty="0"/>
              <a:t>内核资源的类型安全是通过实现一系列</a:t>
            </a:r>
            <a:r>
              <a:rPr lang="en-US" altLang="zh-CN" dirty="0"/>
              <a:t>Rust</a:t>
            </a:r>
            <a:r>
              <a:rPr lang="zh-CN" altLang="en-US" dirty="0"/>
              <a:t>内置的</a:t>
            </a:r>
            <a:r>
              <a:rPr lang="en-US" altLang="zh-CN" dirty="0"/>
              <a:t>trait</a:t>
            </a:r>
            <a:r>
              <a:rPr lang="zh-CN" altLang="en-US" dirty="0"/>
              <a:t>来完成的</a:t>
            </a:r>
            <a:endParaRPr lang="en-US" altLang="zh-CN" dirty="0"/>
          </a:p>
          <a:p>
            <a:pPr marL="285750" indent="-285750">
              <a:buFont typeface="Arial" panose="020B0604020202020204" pitchFamily="34" charset="0"/>
              <a:buChar char="•"/>
            </a:pPr>
            <a:r>
              <a:rPr lang="zh-CN" altLang="en-US" dirty="0"/>
              <a:t>为了正确处理内核中无处不在的内存读写和指针，我们引入了类型化和无类型内存以及不可伪造对象的设计</a:t>
            </a:r>
            <a:endParaRPr lang="en-US" altLang="zh-CN" dirty="0"/>
          </a:p>
        </p:txBody>
      </p:sp>
    </p:spTree>
    <p:extLst>
      <p:ext uri="{BB962C8B-B14F-4D97-AF65-F5344CB8AC3E}">
        <p14:creationId xmlns:p14="http://schemas.microsoft.com/office/powerpoint/2010/main" val="940122492"/>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0963-F82C-2628-319B-64A9D9E86CAA}"/>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916224DC-4DDA-8D87-F249-FC35C9637FDF}"/>
              </a:ext>
            </a:extLst>
          </p:cNvPr>
          <p:cNvSpPr>
            <a:spLocks noGrp="1"/>
          </p:cNvSpPr>
          <p:nvPr>
            <p:ph type="title"/>
          </p:nvPr>
        </p:nvSpPr>
        <p:spPr>
          <a:xfrm>
            <a:off x="1606550" y="345305"/>
            <a:ext cx="8643848" cy="478155"/>
          </a:xfrm>
        </p:spPr>
        <p:txBody>
          <a:bodyPr/>
          <a:lstStyle/>
          <a:p>
            <a:r>
              <a:rPr lang="zh-CN" altLang="en-US" dirty="0"/>
              <a:t>研究方案</a:t>
            </a:r>
            <a:r>
              <a:rPr lang="en-US" altLang="zh-CN" dirty="0"/>
              <a:t>-</a:t>
            </a:r>
            <a:r>
              <a:rPr lang="zh-CN" altLang="en-US" dirty="0"/>
              <a:t>内存隔离</a:t>
            </a:r>
          </a:p>
        </p:txBody>
      </p:sp>
      <p:sp>
        <p:nvSpPr>
          <p:cNvPr id="53" name="文本框 52">
            <a:extLst>
              <a:ext uri="{FF2B5EF4-FFF2-40B4-BE49-F238E27FC236}">
                <a16:creationId xmlns:a16="http://schemas.microsoft.com/office/drawing/2014/main" id="{8959F2E5-1476-40D7-771D-94990FC7587C}"/>
              </a:ext>
            </a:extLst>
          </p:cNvPr>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4</a:t>
            </a:r>
            <a:endParaRPr lang="zh-CN" altLang="en-US" sz="3600" b="1" dirty="0">
              <a:solidFill>
                <a:schemeClr val="bg1"/>
              </a:solidFill>
            </a:endParaRPr>
          </a:p>
        </p:txBody>
      </p:sp>
      <p:pic>
        <p:nvPicPr>
          <p:cNvPr id="3" name="图形 2">
            <a:extLst>
              <a:ext uri="{FF2B5EF4-FFF2-40B4-BE49-F238E27FC236}">
                <a16:creationId xmlns:a16="http://schemas.microsoft.com/office/drawing/2014/main" id="{CC1B2933-20AF-F6A1-1FCB-8B6777F91C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2786" y="2157349"/>
            <a:ext cx="4543425" cy="2781300"/>
          </a:xfrm>
          <a:prstGeom prst="rect">
            <a:avLst/>
          </a:prstGeom>
        </p:spPr>
      </p:pic>
      <p:sp>
        <p:nvSpPr>
          <p:cNvPr id="4" name="文本框 3">
            <a:extLst>
              <a:ext uri="{FF2B5EF4-FFF2-40B4-BE49-F238E27FC236}">
                <a16:creationId xmlns:a16="http://schemas.microsoft.com/office/drawing/2014/main" id="{F4CB438D-FA3C-9792-FB35-48E5350F83CF}"/>
              </a:ext>
            </a:extLst>
          </p:cNvPr>
          <p:cNvSpPr txBox="1"/>
          <p:nvPr/>
        </p:nvSpPr>
        <p:spPr>
          <a:xfrm>
            <a:off x="544882" y="1014783"/>
            <a:ext cx="10985325" cy="830997"/>
          </a:xfrm>
          <a:prstGeom prst="rect">
            <a:avLst/>
          </a:prstGeom>
          <a:noFill/>
        </p:spPr>
        <p:txBody>
          <a:bodyPr wrap="square" rtlCol="0">
            <a:spAutoFit/>
          </a:bodyPr>
          <a:lstStyle/>
          <a:p>
            <a:r>
              <a:rPr lang="zh-CN" altLang="en-US" sz="1600" dirty="0"/>
              <a:t>我们通过将域的实现限定在</a:t>
            </a:r>
            <a:r>
              <a:rPr lang="en-US" altLang="zh-CN" sz="1600" dirty="0"/>
              <a:t>Rust</a:t>
            </a:r>
            <a:r>
              <a:rPr lang="zh-CN" altLang="en-US" sz="1600" dirty="0"/>
              <a:t>的安全子集之内并提供</a:t>
            </a:r>
            <a:r>
              <a:rPr lang="en-US" altLang="zh-CN" sz="1600" dirty="0"/>
              <a:t>domain lib</a:t>
            </a:r>
            <a:r>
              <a:rPr lang="zh-CN" altLang="en-US" sz="1600" dirty="0"/>
              <a:t>以封装域所需的</a:t>
            </a:r>
            <a:r>
              <a:rPr lang="en-US" altLang="zh-CN" sz="1600" dirty="0"/>
              <a:t>unsafe </a:t>
            </a:r>
            <a:r>
              <a:rPr lang="zh-CN" altLang="en-US" sz="1600" dirty="0"/>
              <a:t>行为来确保域获得了</a:t>
            </a:r>
            <a:r>
              <a:rPr lang="en-US" altLang="zh-CN" sz="1600" dirty="0"/>
              <a:t>Rust</a:t>
            </a:r>
            <a:r>
              <a:rPr lang="zh-CN" altLang="en-US" sz="1600" dirty="0"/>
              <a:t>语言提供的安全保证。然而，这还不足以实现完全的内存隔离，因为域仍然可能通过接口传递包含复杂层次和引用关系的对象。为了解决这个问题，我们引入私有堆和共享堆来满足域自身所需的堆分配和域间通信所需的数据传输。</a:t>
            </a:r>
          </a:p>
        </p:txBody>
      </p:sp>
      <p:sp>
        <p:nvSpPr>
          <p:cNvPr id="5" name="文本框 4">
            <a:extLst>
              <a:ext uri="{FF2B5EF4-FFF2-40B4-BE49-F238E27FC236}">
                <a16:creationId xmlns:a16="http://schemas.microsoft.com/office/drawing/2014/main" id="{8309A2C1-0043-C05F-0A72-8B41EC9AB6E0}"/>
              </a:ext>
            </a:extLst>
          </p:cNvPr>
          <p:cNvSpPr txBox="1"/>
          <p:nvPr/>
        </p:nvSpPr>
        <p:spPr>
          <a:xfrm>
            <a:off x="544882" y="2157349"/>
            <a:ext cx="6488482" cy="2585323"/>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私有堆</a:t>
            </a:r>
            <a:endParaRPr lang="en-US" altLang="zh-CN" dirty="0"/>
          </a:p>
          <a:p>
            <a:pPr marL="742950" lvl="1" indent="-285750">
              <a:buFont typeface="Arial" panose="020B0604020202020204" pitchFamily="34" charset="0"/>
              <a:buChar char="•"/>
            </a:pPr>
            <a:r>
              <a:rPr lang="zh-CN" altLang="en-US" dirty="0"/>
              <a:t>用于域内部的堆分配，在域内自由使用</a:t>
            </a:r>
            <a:endParaRPr lang="en-US" altLang="zh-CN" dirty="0"/>
          </a:p>
          <a:p>
            <a:pPr marL="285750" indent="-285750">
              <a:buFont typeface="Arial" panose="020B0604020202020204" pitchFamily="34" charset="0"/>
              <a:buChar char="•"/>
            </a:pPr>
            <a:r>
              <a:rPr lang="zh-CN" altLang="en-US" dirty="0"/>
              <a:t>共享堆</a:t>
            </a:r>
            <a:endParaRPr lang="en-US" altLang="zh-CN" dirty="0"/>
          </a:p>
          <a:p>
            <a:pPr marL="742950" lvl="1" indent="-285750">
              <a:buFont typeface="Arial" panose="020B0604020202020204" pitchFamily="34" charset="0"/>
              <a:buChar char="•"/>
            </a:pPr>
            <a:r>
              <a:rPr lang="zh-CN" altLang="en-US" dirty="0"/>
              <a:t>通过</a:t>
            </a:r>
            <a:r>
              <a:rPr lang="en-US" altLang="zh-CN" dirty="0"/>
              <a:t>rust</a:t>
            </a:r>
            <a:r>
              <a:rPr lang="zh-CN" altLang="en-US" dirty="0"/>
              <a:t>的类型系统，共享堆限制了在域间通信时传递的数据，避免域拥有其它域的数据</a:t>
            </a:r>
          </a:p>
          <a:p>
            <a:pPr marL="742950" lvl="1" indent="-285750">
              <a:buFont typeface="Arial" panose="020B0604020202020204" pitchFamily="34" charset="0"/>
              <a:buChar char="•"/>
            </a:pPr>
            <a:r>
              <a:rPr lang="zh-CN" altLang="en-US" dirty="0"/>
              <a:t>利用</a:t>
            </a:r>
            <a:r>
              <a:rPr lang="en-US" altLang="zh-CN" dirty="0"/>
              <a:t>rust</a:t>
            </a:r>
            <a:r>
              <a:rPr lang="zh-CN" altLang="en-US" dirty="0"/>
              <a:t>的所有权机制，使得传递的数据只能有一个所有者，这可以避免数据传递后被原来的域所修改</a:t>
            </a:r>
          </a:p>
          <a:p>
            <a:pPr marL="742950" lvl="1" indent="-285750">
              <a:buFont typeface="Arial" panose="020B0604020202020204" pitchFamily="34" charset="0"/>
              <a:buChar char="•"/>
            </a:pPr>
            <a:r>
              <a:rPr lang="zh-CN" altLang="en-US" dirty="0"/>
              <a:t>通过移动数据的所有权，或者使用不可变数据，我们可以避免对数据的额外拷贝</a:t>
            </a:r>
          </a:p>
        </p:txBody>
      </p:sp>
    </p:spTree>
    <p:extLst>
      <p:ext uri="{BB962C8B-B14F-4D97-AF65-F5344CB8AC3E}">
        <p14:creationId xmlns:p14="http://schemas.microsoft.com/office/powerpoint/2010/main" val="2574806517"/>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AEC83-ED92-E219-9342-0DD5755C9277}"/>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4086FA47-AC28-45DE-FF76-F0F9C003BB91}"/>
              </a:ext>
            </a:extLst>
          </p:cNvPr>
          <p:cNvSpPr>
            <a:spLocks noGrp="1"/>
          </p:cNvSpPr>
          <p:nvPr>
            <p:ph type="title"/>
          </p:nvPr>
        </p:nvSpPr>
        <p:spPr>
          <a:xfrm>
            <a:off x="1606550" y="345305"/>
            <a:ext cx="8643848" cy="478155"/>
          </a:xfrm>
        </p:spPr>
        <p:txBody>
          <a:bodyPr/>
          <a:lstStyle/>
          <a:p>
            <a:r>
              <a:rPr lang="zh-CN" altLang="en-US" dirty="0"/>
              <a:t>研究方案</a:t>
            </a:r>
            <a:r>
              <a:rPr lang="en-US" altLang="zh-CN" dirty="0"/>
              <a:t>-</a:t>
            </a:r>
            <a:r>
              <a:rPr lang="zh-CN" altLang="en-US" dirty="0"/>
              <a:t>故障隔离</a:t>
            </a:r>
          </a:p>
        </p:txBody>
      </p:sp>
      <p:sp>
        <p:nvSpPr>
          <p:cNvPr id="53" name="文本框 52">
            <a:extLst>
              <a:ext uri="{FF2B5EF4-FFF2-40B4-BE49-F238E27FC236}">
                <a16:creationId xmlns:a16="http://schemas.microsoft.com/office/drawing/2014/main" id="{8D392670-A02B-6684-EC39-7EB75D32877E}"/>
              </a:ext>
            </a:extLst>
          </p:cNvPr>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4</a:t>
            </a:r>
            <a:endParaRPr lang="zh-CN" altLang="en-US" sz="3600" b="1" dirty="0">
              <a:solidFill>
                <a:schemeClr val="bg1"/>
              </a:solidFill>
            </a:endParaRPr>
          </a:p>
        </p:txBody>
      </p:sp>
      <p:sp>
        <p:nvSpPr>
          <p:cNvPr id="2" name="文本框 1">
            <a:extLst>
              <a:ext uri="{FF2B5EF4-FFF2-40B4-BE49-F238E27FC236}">
                <a16:creationId xmlns:a16="http://schemas.microsoft.com/office/drawing/2014/main" id="{D9DD332E-285D-E3ED-3647-1F356174F5A3}"/>
              </a:ext>
            </a:extLst>
          </p:cNvPr>
          <p:cNvSpPr txBox="1"/>
          <p:nvPr/>
        </p:nvSpPr>
        <p:spPr>
          <a:xfrm>
            <a:off x="751562" y="1277655"/>
            <a:ext cx="10928959" cy="1754326"/>
          </a:xfrm>
          <a:prstGeom prst="rect">
            <a:avLst/>
          </a:prstGeom>
          <a:noFill/>
        </p:spPr>
        <p:txBody>
          <a:bodyPr wrap="square" rtlCol="0">
            <a:spAutoFit/>
          </a:bodyPr>
          <a:lstStyle/>
          <a:p>
            <a:r>
              <a:rPr lang="zh-CN" altLang="en-US" dirty="0"/>
              <a:t>内核子系统的分解和域的内存隔离属性促进了故障隔离的实施。分解意味着故障首先影响的是系统的较小部分，也就是单个域，内存隔离属性确保了发生故障的域不会擅自修改其它域的内存。为了实现域的故障隔离，我们需要解决两个核心的问题</a:t>
            </a:r>
            <a:r>
              <a:rPr lang="en-US" altLang="zh-CN" dirty="0"/>
              <a:t>:</a:t>
            </a:r>
          </a:p>
          <a:p>
            <a:endParaRPr lang="en-US" altLang="zh-CN" dirty="0"/>
          </a:p>
          <a:p>
            <a:r>
              <a:rPr lang="en-US" altLang="zh-CN" dirty="0"/>
              <a:t>1. </a:t>
            </a:r>
            <a:r>
              <a:rPr lang="zh-CN" altLang="en-US" dirty="0"/>
              <a:t>如何正确处理故障？</a:t>
            </a:r>
          </a:p>
          <a:p>
            <a:r>
              <a:rPr lang="en-US" altLang="zh-CN" dirty="0"/>
              <a:t>2. </a:t>
            </a:r>
            <a:r>
              <a:rPr lang="zh-CN" altLang="en-US" dirty="0"/>
              <a:t>如何捕获域的故障？</a:t>
            </a:r>
          </a:p>
        </p:txBody>
      </p:sp>
      <p:sp>
        <p:nvSpPr>
          <p:cNvPr id="4" name="文本框 3">
            <a:extLst>
              <a:ext uri="{FF2B5EF4-FFF2-40B4-BE49-F238E27FC236}">
                <a16:creationId xmlns:a16="http://schemas.microsoft.com/office/drawing/2014/main" id="{60ECE7BD-942F-EE0A-5BC4-E71F9946FBB2}"/>
              </a:ext>
            </a:extLst>
          </p:cNvPr>
          <p:cNvSpPr txBox="1"/>
          <p:nvPr/>
        </p:nvSpPr>
        <p:spPr>
          <a:xfrm>
            <a:off x="751562" y="3306871"/>
            <a:ext cx="10478022" cy="2585323"/>
          </a:xfrm>
          <a:prstGeom prst="rect">
            <a:avLst/>
          </a:prstGeom>
          <a:noFill/>
        </p:spPr>
        <p:txBody>
          <a:bodyPr wrap="square" rtlCol="0">
            <a:spAutoFit/>
          </a:bodyPr>
          <a:lstStyle/>
          <a:p>
            <a:r>
              <a:rPr lang="zh-CN" altLang="en-US" dirty="0"/>
              <a:t>如何正确处理故障？</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使用</a:t>
            </a:r>
            <a:r>
              <a:rPr lang="en-US" altLang="zh-CN" dirty="0"/>
              <a:t>Rust</a:t>
            </a:r>
            <a:r>
              <a:rPr lang="zh-CN" altLang="en-US" dirty="0"/>
              <a:t>的</a:t>
            </a:r>
            <a:r>
              <a:rPr lang="en-US" altLang="zh-CN" dirty="0"/>
              <a:t>unwind</a:t>
            </a:r>
            <a:r>
              <a:rPr lang="zh-CN" altLang="en-US" dirty="0"/>
              <a:t>策略处理故障</a:t>
            </a:r>
            <a:endParaRPr lang="en-US" altLang="zh-CN" dirty="0"/>
          </a:p>
          <a:p>
            <a:pPr marL="285750" indent="-285750">
              <a:buFont typeface="Arial" panose="020B0604020202020204" pitchFamily="34" charset="0"/>
              <a:buChar char="•"/>
            </a:pPr>
            <a:r>
              <a:rPr lang="zh-CN" altLang="en-US" dirty="0"/>
              <a:t>通过在</a:t>
            </a:r>
            <a:r>
              <a:rPr lang="en-US" altLang="zh-CN" dirty="0"/>
              <a:t>domain lib</a:t>
            </a:r>
            <a:r>
              <a:rPr lang="zh-CN" altLang="en-US" dirty="0"/>
              <a:t>为所有内核资源结构实现</a:t>
            </a:r>
            <a:r>
              <a:rPr lang="en-US" altLang="zh-CN" dirty="0"/>
              <a:t>Drop trait</a:t>
            </a:r>
            <a:r>
              <a:rPr lang="zh-CN" altLang="en-US" dirty="0"/>
              <a:t>，我们可以在控制流的堆栈展开过程中自动释放这些资源，因此在展开过程中不会泄露内核的资源，这种异常处理在</a:t>
            </a:r>
            <a:r>
              <a:rPr lang="en-US" altLang="zh-CN" dirty="0"/>
              <a:t>C</a:t>
            </a:r>
            <a:r>
              <a:rPr lang="zh-CN" altLang="en-US" dirty="0"/>
              <a:t>语言内核中要困难的多</a:t>
            </a:r>
            <a:endParaRPr lang="en-US" altLang="zh-CN" dirty="0"/>
          </a:p>
          <a:p>
            <a:pPr marL="285750" indent="-285750">
              <a:buFont typeface="Arial" panose="020B0604020202020204" pitchFamily="34" charset="0"/>
              <a:buChar char="•"/>
            </a:pPr>
            <a:endParaRPr lang="en-US" altLang="zh-CN" dirty="0"/>
          </a:p>
          <a:p>
            <a:r>
              <a:rPr lang="zh-CN" altLang="en-US" dirty="0"/>
              <a:t>如何捕获域的故障？</a:t>
            </a:r>
            <a:endParaRPr lang="en-US" altLang="zh-CN" dirty="0"/>
          </a:p>
          <a:p>
            <a:pPr marL="285750" indent="-285750">
              <a:buFont typeface="Arial" panose="020B0604020202020204" pitchFamily="34" charset="0"/>
              <a:buChar char="•"/>
            </a:pPr>
            <a:r>
              <a:rPr lang="zh-CN" altLang="en-US" dirty="0"/>
              <a:t>在域的入口生成捕获点，将域的故障隔离在域中</a:t>
            </a:r>
            <a:endParaRPr lang="en-US" altLang="zh-CN" dirty="0"/>
          </a:p>
          <a:p>
            <a:pPr marL="285750" indent="-285750">
              <a:buFont typeface="Arial" panose="020B0604020202020204" pitchFamily="34" charset="0"/>
              <a:buChar char="•"/>
            </a:pPr>
            <a:endParaRPr lang="en-US" altLang="zh-CN" dirty="0"/>
          </a:p>
        </p:txBody>
      </p:sp>
    </p:spTree>
    <p:extLst>
      <p:ext uri="{BB962C8B-B14F-4D97-AF65-F5344CB8AC3E}">
        <p14:creationId xmlns:p14="http://schemas.microsoft.com/office/powerpoint/2010/main" val="3519979008"/>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EB313-C3E2-2A4F-F0F0-92876F98B30D}"/>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93101A05-17D4-48B4-2122-5464EEF191B5}"/>
              </a:ext>
            </a:extLst>
          </p:cNvPr>
          <p:cNvSpPr>
            <a:spLocks noGrp="1"/>
          </p:cNvSpPr>
          <p:nvPr>
            <p:ph type="title"/>
          </p:nvPr>
        </p:nvSpPr>
        <p:spPr>
          <a:xfrm>
            <a:off x="1606550" y="345305"/>
            <a:ext cx="8643848" cy="478155"/>
          </a:xfrm>
        </p:spPr>
        <p:txBody>
          <a:bodyPr/>
          <a:lstStyle/>
          <a:p>
            <a:r>
              <a:rPr lang="zh-CN" altLang="en-US" dirty="0"/>
              <a:t>研究方案</a:t>
            </a:r>
            <a:r>
              <a:rPr lang="en-US" altLang="zh-CN" dirty="0"/>
              <a:t>-</a:t>
            </a:r>
            <a:r>
              <a:rPr lang="zh-CN" altLang="en-US" dirty="0"/>
              <a:t>热升级</a:t>
            </a:r>
          </a:p>
        </p:txBody>
      </p:sp>
      <p:sp>
        <p:nvSpPr>
          <p:cNvPr id="53" name="文本框 52">
            <a:extLst>
              <a:ext uri="{FF2B5EF4-FFF2-40B4-BE49-F238E27FC236}">
                <a16:creationId xmlns:a16="http://schemas.microsoft.com/office/drawing/2014/main" id="{D6CA9EF2-BE91-37BA-75AD-3C0BF37A2F82}"/>
              </a:ext>
            </a:extLst>
          </p:cNvPr>
          <p:cNvSpPr txBox="1">
            <a:spLocks noChangeArrowheads="1"/>
          </p:cNvSpPr>
          <p:nvPr/>
        </p:nvSpPr>
        <p:spPr bwMode="auto">
          <a:xfrm>
            <a:off x="357352" y="235111"/>
            <a:ext cx="96979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4</a:t>
            </a:r>
            <a:endParaRPr lang="zh-CN" altLang="en-US" sz="3600" b="1" dirty="0">
              <a:solidFill>
                <a:schemeClr val="bg1"/>
              </a:solidFill>
            </a:endParaRPr>
          </a:p>
        </p:txBody>
      </p:sp>
      <p:sp>
        <p:nvSpPr>
          <p:cNvPr id="5" name="文本框 4">
            <a:extLst>
              <a:ext uri="{FF2B5EF4-FFF2-40B4-BE49-F238E27FC236}">
                <a16:creationId xmlns:a16="http://schemas.microsoft.com/office/drawing/2014/main" id="{ECF678BA-71F8-8498-CEF6-AAC77424CF9A}"/>
              </a:ext>
            </a:extLst>
          </p:cNvPr>
          <p:cNvSpPr txBox="1"/>
          <p:nvPr/>
        </p:nvSpPr>
        <p:spPr>
          <a:xfrm>
            <a:off x="609209" y="1891932"/>
            <a:ext cx="5159027" cy="923330"/>
          </a:xfrm>
          <a:prstGeom prst="rect">
            <a:avLst/>
          </a:prstGeom>
          <a:noFill/>
        </p:spPr>
        <p:txBody>
          <a:bodyPr wrap="square" rtlCol="0">
            <a:spAutoFit/>
          </a:bodyPr>
          <a:lstStyle/>
          <a:p>
            <a:r>
              <a:rPr lang="zh-CN" altLang="en-US" dirty="0"/>
              <a:t>状态保存和恢复</a:t>
            </a:r>
            <a:endParaRPr lang="en-US" altLang="zh-CN" dirty="0"/>
          </a:p>
          <a:p>
            <a:pPr marL="285750" indent="-285750">
              <a:buFont typeface="Arial" panose="020B0604020202020204" pitchFamily="34" charset="0"/>
              <a:buChar char="•"/>
            </a:pPr>
            <a:r>
              <a:rPr lang="zh-CN" altLang="en-US" dirty="0"/>
              <a:t>分解域的数据存储</a:t>
            </a:r>
            <a:endParaRPr lang="en-US" altLang="zh-CN" dirty="0"/>
          </a:p>
          <a:p>
            <a:pPr marL="285750" indent="-285750">
              <a:buFont typeface="Arial" panose="020B0604020202020204" pitchFamily="34" charset="0"/>
              <a:buChar char="•"/>
            </a:pPr>
            <a:r>
              <a:rPr lang="zh-CN" altLang="en-US" dirty="0"/>
              <a:t>使用自定义堆存储域的状态数据</a:t>
            </a:r>
          </a:p>
        </p:txBody>
      </p:sp>
      <p:pic>
        <p:nvPicPr>
          <p:cNvPr id="9" name="图形 8">
            <a:extLst>
              <a:ext uri="{FF2B5EF4-FFF2-40B4-BE49-F238E27FC236}">
                <a16:creationId xmlns:a16="http://schemas.microsoft.com/office/drawing/2014/main" id="{FFE1ED3D-449C-C7A9-2356-7737D12615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44016" y="2353597"/>
            <a:ext cx="5438775" cy="2314575"/>
          </a:xfrm>
          <a:prstGeom prst="rect">
            <a:avLst/>
          </a:prstGeom>
        </p:spPr>
      </p:pic>
      <p:sp>
        <p:nvSpPr>
          <p:cNvPr id="11" name="文本框 10">
            <a:extLst>
              <a:ext uri="{FF2B5EF4-FFF2-40B4-BE49-F238E27FC236}">
                <a16:creationId xmlns:a16="http://schemas.microsoft.com/office/drawing/2014/main" id="{08E1349D-471A-AC8F-2731-224FEE384A8E}"/>
              </a:ext>
            </a:extLst>
          </p:cNvPr>
          <p:cNvSpPr txBox="1"/>
          <p:nvPr/>
        </p:nvSpPr>
        <p:spPr>
          <a:xfrm>
            <a:off x="609209" y="3569765"/>
            <a:ext cx="4576566" cy="1200329"/>
          </a:xfrm>
          <a:prstGeom prst="rect">
            <a:avLst/>
          </a:prstGeom>
          <a:noFill/>
        </p:spPr>
        <p:txBody>
          <a:bodyPr wrap="square" rtlCol="0">
            <a:spAutoFit/>
          </a:bodyPr>
          <a:lstStyle/>
          <a:p>
            <a:r>
              <a:rPr lang="zh-CN" altLang="en-US" dirty="0"/>
              <a:t>状态同步</a:t>
            </a:r>
            <a:endParaRPr lang="en-US" altLang="zh-CN" dirty="0"/>
          </a:p>
          <a:p>
            <a:pPr marL="285750" indent="-285750">
              <a:buFont typeface="Arial" panose="020B0604020202020204" pitchFamily="34" charset="0"/>
              <a:buChar char="•"/>
            </a:pPr>
            <a:r>
              <a:rPr lang="zh-CN" altLang="en-US" dirty="0"/>
              <a:t>使用</a:t>
            </a:r>
            <a:r>
              <a:rPr lang="en-US" altLang="zh-CN" dirty="0"/>
              <a:t>RCU</a:t>
            </a:r>
            <a:r>
              <a:rPr lang="zh-CN" altLang="en-US" dirty="0"/>
              <a:t>进行无状态域的热升级</a:t>
            </a:r>
            <a:endParaRPr lang="en-US" altLang="zh-CN" dirty="0"/>
          </a:p>
          <a:p>
            <a:pPr marL="285750" indent="-285750">
              <a:buFont typeface="Arial" panose="020B0604020202020204" pitchFamily="34" charset="0"/>
              <a:buChar char="•"/>
            </a:pPr>
            <a:r>
              <a:rPr lang="zh-CN" altLang="en-US" dirty="0"/>
              <a:t>使用优化的互斥锁进行有状态域的热升级</a:t>
            </a:r>
          </a:p>
        </p:txBody>
      </p:sp>
    </p:spTree>
    <p:extLst>
      <p:ext uri="{BB962C8B-B14F-4D97-AF65-F5344CB8AC3E}">
        <p14:creationId xmlns:p14="http://schemas.microsoft.com/office/powerpoint/2010/main" val="3094925139"/>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206302" y="1232515"/>
            <a:ext cx="10221361" cy="4804360"/>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67"/>
          <p:cNvSpPr txBox="1"/>
          <p:nvPr/>
        </p:nvSpPr>
        <p:spPr>
          <a:xfrm>
            <a:off x="798789" y="1125538"/>
            <a:ext cx="10532646" cy="4826556"/>
          </a:xfrm>
          <a:prstGeom prst="rect">
            <a:avLst/>
          </a:prstGeom>
          <a:solidFill>
            <a:schemeClr val="bg1"/>
          </a:solidFill>
          <a:effectLst>
            <a:outerShdw blurRad="50800" dist="38100" dir="2700000" algn="tl" rotWithShape="0">
              <a:prstClr val="black">
                <a:alpha val="40000"/>
              </a:prstClr>
            </a:outerShdw>
          </a:effectLst>
        </p:spPr>
        <p:txBody>
          <a:bodyPr anchor="ctr">
            <a:normAutofit/>
          </a:bodyPr>
          <a:lstStyle>
            <a:lvl1pPr marL="0" indent="0" algn="l" rtl="0" eaLnBrk="0" fontAlgn="base" hangingPunct="0">
              <a:lnSpc>
                <a:spcPct val="125000"/>
              </a:lnSpc>
              <a:spcBef>
                <a:spcPts val="0"/>
              </a:spcBef>
              <a:spcAft>
                <a:spcPct val="0"/>
              </a:spcAft>
              <a:buFont typeface="Arial" panose="020B0604020202020204" pitchFamily="34" charset="0"/>
              <a:buNone/>
              <a:defRPr sz="2400" kern="1200">
                <a:solidFill>
                  <a:schemeClr val="tx1"/>
                </a:solidFill>
                <a:latin typeface="+mn-ea"/>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0" name="标题 9"/>
          <p:cNvSpPr>
            <a:spLocks noGrp="1"/>
          </p:cNvSpPr>
          <p:nvPr>
            <p:ph type="title"/>
          </p:nvPr>
        </p:nvSpPr>
        <p:spPr>
          <a:xfrm>
            <a:off x="1606550" y="345305"/>
            <a:ext cx="8643848" cy="478155"/>
          </a:xfrm>
        </p:spPr>
        <p:txBody>
          <a:bodyPr/>
          <a:lstStyle/>
          <a:p>
            <a:r>
              <a:rPr lang="zh-CN" altLang="en-US" dirty="0"/>
              <a:t>时间安排</a:t>
            </a:r>
          </a:p>
        </p:txBody>
      </p:sp>
      <p:sp>
        <p:nvSpPr>
          <p:cNvPr id="33" name="文本框 32"/>
          <p:cNvSpPr txBox="1">
            <a:spLocks noChangeArrowheads="1"/>
          </p:cNvSpPr>
          <p:nvPr/>
        </p:nvSpPr>
        <p:spPr bwMode="auto">
          <a:xfrm>
            <a:off x="357352" y="235111"/>
            <a:ext cx="969798"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hangingPunct="1">
              <a:defRPr/>
            </a:pPr>
            <a:r>
              <a:rPr lang="en-US" altLang="zh-CN" sz="3600" b="1" dirty="0">
                <a:solidFill>
                  <a:schemeClr val="bg1"/>
                </a:solidFill>
              </a:rPr>
              <a:t>5</a:t>
            </a:r>
          </a:p>
        </p:txBody>
      </p:sp>
      <p:graphicFrame>
        <p:nvGraphicFramePr>
          <p:cNvPr id="3" name="表格 3">
            <a:extLst>
              <a:ext uri="{FF2B5EF4-FFF2-40B4-BE49-F238E27FC236}">
                <a16:creationId xmlns:a16="http://schemas.microsoft.com/office/drawing/2014/main" id="{F125C9BB-A6E0-4347-9085-CD3EC96BFC75}"/>
              </a:ext>
            </a:extLst>
          </p:cNvPr>
          <p:cNvGraphicFramePr>
            <a:graphicFrameLocks noGrp="1"/>
          </p:cNvGraphicFramePr>
          <p:nvPr>
            <p:extLst>
              <p:ext uri="{D42A27DB-BD31-4B8C-83A1-F6EECF244321}">
                <p14:modId xmlns:p14="http://schemas.microsoft.com/office/powerpoint/2010/main" val="3936114417"/>
              </p:ext>
            </p:extLst>
          </p:nvPr>
        </p:nvGraphicFramePr>
        <p:xfrm>
          <a:off x="764337" y="1125538"/>
          <a:ext cx="10628874" cy="3924886"/>
        </p:xfrm>
        <a:graphic>
          <a:graphicData uri="http://schemas.openxmlformats.org/drawingml/2006/table">
            <a:tbl>
              <a:tblPr firstRow="1" bandRow="1">
                <a:tableStyleId>{5C22544A-7EE6-4342-B048-85BDC9FD1C3A}</a:tableStyleId>
              </a:tblPr>
              <a:tblGrid>
                <a:gridCol w="2472639">
                  <a:extLst>
                    <a:ext uri="{9D8B030D-6E8A-4147-A177-3AD203B41FA5}">
                      <a16:colId xmlns:a16="http://schemas.microsoft.com/office/drawing/2014/main" val="2178551751"/>
                    </a:ext>
                  </a:extLst>
                </a:gridCol>
                <a:gridCol w="8156235">
                  <a:extLst>
                    <a:ext uri="{9D8B030D-6E8A-4147-A177-3AD203B41FA5}">
                      <a16:colId xmlns:a16="http://schemas.microsoft.com/office/drawing/2014/main" val="976313567"/>
                    </a:ext>
                  </a:extLst>
                </a:gridCol>
              </a:tblGrid>
              <a:tr h="560698">
                <a:tc>
                  <a:txBody>
                    <a:bodyPr/>
                    <a:lstStyle/>
                    <a:p>
                      <a:pPr algn="ctr"/>
                      <a:r>
                        <a:rPr lang="zh-CN" altLang="en-US" dirty="0"/>
                        <a:t>时间</a:t>
                      </a:r>
                    </a:p>
                  </a:txBody>
                  <a:tcPr/>
                </a:tc>
                <a:tc>
                  <a:txBody>
                    <a:bodyPr/>
                    <a:lstStyle/>
                    <a:p>
                      <a:pPr algn="ctr"/>
                      <a:r>
                        <a:rPr lang="zh-CN" altLang="en-US" dirty="0"/>
                        <a:t>工作</a:t>
                      </a:r>
                    </a:p>
                  </a:txBody>
                  <a:tcPr/>
                </a:tc>
                <a:extLst>
                  <a:ext uri="{0D108BD9-81ED-4DB2-BD59-A6C34878D82A}">
                    <a16:rowId xmlns:a16="http://schemas.microsoft.com/office/drawing/2014/main" val="1485200229"/>
                  </a:ext>
                </a:extLst>
              </a:tr>
              <a:tr h="560698">
                <a:tc>
                  <a:txBody>
                    <a:bodyPr/>
                    <a:lstStyle/>
                    <a:p>
                      <a:r>
                        <a:rPr lang="en-US" altLang="zh-CN" dirty="0"/>
                        <a:t>2024.12-2025.2</a:t>
                      </a:r>
                      <a:endParaRPr lang="zh-CN" altLang="en-US" dirty="0"/>
                    </a:p>
                  </a:txBody>
                  <a:tcPr/>
                </a:tc>
                <a:tc>
                  <a:txBody>
                    <a:bodyPr/>
                    <a:lstStyle/>
                    <a:p>
                      <a:r>
                        <a:rPr lang="zh-CN" altLang="en-US" dirty="0"/>
                        <a:t>文献调研，开题报告</a:t>
                      </a:r>
                    </a:p>
                  </a:txBody>
                  <a:tcPr/>
                </a:tc>
                <a:extLst>
                  <a:ext uri="{0D108BD9-81ED-4DB2-BD59-A6C34878D82A}">
                    <a16:rowId xmlns:a16="http://schemas.microsoft.com/office/drawing/2014/main" val="3856685629"/>
                  </a:ext>
                </a:extLst>
              </a:tr>
              <a:tr h="560698">
                <a:tc>
                  <a:txBody>
                    <a:bodyPr/>
                    <a:lstStyle/>
                    <a:p>
                      <a:r>
                        <a:rPr lang="en-US" altLang="zh-CN" dirty="0"/>
                        <a:t>2025.2</a:t>
                      </a:r>
                      <a:endParaRPr lang="zh-CN" altLang="en-US" dirty="0"/>
                    </a:p>
                  </a:txBody>
                  <a:tcPr/>
                </a:tc>
                <a:tc>
                  <a:txBody>
                    <a:bodyPr/>
                    <a:lstStyle/>
                    <a:p>
                      <a:r>
                        <a:rPr lang="zh-CN" altLang="en-US" dirty="0"/>
                        <a:t>开题</a:t>
                      </a:r>
                    </a:p>
                  </a:txBody>
                  <a:tcPr/>
                </a:tc>
                <a:extLst>
                  <a:ext uri="{0D108BD9-81ED-4DB2-BD59-A6C34878D82A}">
                    <a16:rowId xmlns:a16="http://schemas.microsoft.com/office/drawing/2014/main" val="3708988456"/>
                  </a:ext>
                </a:extLst>
              </a:tr>
              <a:tr h="560698">
                <a:tc>
                  <a:txBody>
                    <a:bodyPr/>
                    <a:lstStyle/>
                    <a:p>
                      <a:r>
                        <a:rPr lang="en-US" altLang="zh-CN" dirty="0"/>
                        <a:t>2025.3-2025.4</a:t>
                      </a:r>
                      <a:endParaRPr lang="zh-CN" altLang="en-US" dirty="0"/>
                    </a:p>
                  </a:txBody>
                  <a:tcPr/>
                </a:tc>
                <a:tc>
                  <a:txBody>
                    <a:bodyPr/>
                    <a:lstStyle/>
                    <a:p>
                      <a:r>
                        <a:rPr lang="zh-CN" altLang="en-US" dirty="0"/>
                        <a:t>架构设计</a:t>
                      </a:r>
                    </a:p>
                  </a:txBody>
                  <a:tcPr/>
                </a:tc>
                <a:extLst>
                  <a:ext uri="{0D108BD9-81ED-4DB2-BD59-A6C34878D82A}">
                    <a16:rowId xmlns:a16="http://schemas.microsoft.com/office/drawing/2014/main" val="4253686165"/>
                  </a:ext>
                </a:extLst>
              </a:tr>
              <a:tr h="560698">
                <a:tc>
                  <a:txBody>
                    <a:bodyPr/>
                    <a:lstStyle/>
                    <a:p>
                      <a:r>
                        <a:rPr lang="en-US" altLang="zh-CN" dirty="0"/>
                        <a:t>2025.4-2025.6</a:t>
                      </a:r>
                      <a:endParaRPr lang="zh-CN" altLang="en-US" dirty="0"/>
                    </a:p>
                  </a:txBody>
                  <a:tcPr/>
                </a:tc>
                <a:tc>
                  <a:txBody>
                    <a:bodyPr/>
                    <a:lstStyle/>
                    <a:p>
                      <a:r>
                        <a:rPr lang="zh-CN" altLang="en-US" dirty="0"/>
                        <a:t>原型系统实现与</a:t>
                      </a:r>
                      <a:r>
                        <a:rPr lang="en-US" altLang="zh-CN" dirty="0"/>
                        <a:t>Linux</a:t>
                      </a:r>
                      <a:r>
                        <a:rPr lang="zh-CN" altLang="en-US" dirty="0"/>
                        <a:t>系统移植</a:t>
                      </a:r>
                    </a:p>
                  </a:txBody>
                  <a:tcPr/>
                </a:tc>
                <a:extLst>
                  <a:ext uri="{0D108BD9-81ED-4DB2-BD59-A6C34878D82A}">
                    <a16:rowId xmlns:a16="http://schemas.microsoft.com/office/drawing/2014/main" val="3704711721"/>
                  </a:ext>
                </a:extLst>
              </a:tr>
              <a:tr h="560698">
                <a:tc>
                  <a:txBody>
                    <a:bodyPr/>
                    <a:lstStyle/>
                    <a:p>
                      <a:r>
                        <a:rPr lang="en-US" altLang="zh-CN" dirty="0"/>
                        <a:t>2025.7-2025.8</a:t>
                      </a:r>
                      <a:endParaRPr lang="zh-CN" altLang="en-US" dirty="0"/>
                    </a:p>
                  </a:txBody>
                  <a:tcPr/>
                </a:tc>
                <a:tc>
                  <a:txBody>
                    <a:bodyPr/>
                    <a:lstStyle/>
                    <a:p>
                      <a:r>
                        <a:rPr lang="zh-CN" altLang="en-US" dirty="0"/>
                        <a:t>测试和分析</a:t>
                      </a:r>
                    </a:p>
                  </a:txBody>
                  <a:tcPr/>
                </a:tc>
                <a:extLst>
                  <a:ext uri="{0D108BD9-81ED-4DB2-BD59-A6C34878D82A}">
                    <a16:rowId xmlns:a16="http://schemas.microsoft.com/office/drawing/2014/main" val="1374663576"/>
                  </a:ext>
                </a:extLst>
              </a:tr>
              <a:tr h="5606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2025.8-2025.10</a:t>
                      </a:r>
                      <a:endParaRPr lang="zh-CN" altLang="en-US" dirty="0"/>
                    </a:p>
                  </a:txBody>
                  <a:tcPr/>
                </a:tc>
                <a:tc>
                  <a:txBody>
                    <a:bodyPr/>
                    <a:lstStyle/>
                    <a:p>
                      <a:r>
                        <a:rPr lang="zh-CN" altLang="en-US" dirty="0"/>
                        <a:t>论文撰写</a:t>
                      </a:r>
                    </a:p>
                  </a:txBody>
                  <a:tcPr/>
                </a:tc>
                <a:extLst>
                  <a:ext uri="{0D108BD9-81ED-4DB2-BD59-A6C34878D82A}">
                    <a16:rowId xmlns:a16="http://schemas.microsoft.com/office/drawing/2014/main" val="4190193076"/>
                  </a:ext>
                </a:extLst>
              </a:tr>
            </a:tbl>
          </a:graphicData>
        </a:graphic>
      </p:graphicFrame>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833795" y="2336758"/>
            <a:ext cx="8524408" cy="1446550"/>
          </a:xfrm>
          <a:prstGeom prst="rect">
            <a:avLst/>
          </a:prstGeom>
          <a:noFill/>
        </p:spPr>
        <p:txBody>
          <a:bodyPr wrap="square" rtlCol="0">
            <a:spAutoFit/>
          </a:bodyPr>
          <a:lstStyle/>
          <a:p>
            <a:pPr algn="ctr"/>
            <a:r>
              <a:rPr lang="zh-CN" altLang="en-US" sz="4400" dirty="0">
                <a:solidFill>
                  <a:schemeClr val="bg1"/>
                </a:solidFill>
                <a:latin typeface="+mn-ea"/>
                <a:ea typeface="+mn-ea"/>
              </a:rPr>
              <a:t>谢谢观看</a:t>
            </a:r>
            <a:endParaRPr lang="en-US" altLang="zh-CN" sz="4400" dirty="0">
              <a:solidFill>
                <a:schemeClr val="bg1"/>
              </a:solidFill>
              <a:latin typeface="+mn-ea"/>
              <a:ea typeface="+mn-ea"/>
            </a:endParaRPr>
          </a:p>
          <a:p>
            <a:pPr algn="ctr"/>
            <a:r>
              <a:rPr lang="zh-CN" altLang="en-US" sz="4400" dirty="0">
                <a:solidFill>
                  <a:schemeClr val="bg1"/>
                </a:solidFill>
                <a:latin typeface="+mn-ea"/>
                <a:ea typeface="+mn-ea"/>
              </a:rPr>
              <a:t>敬请各位老师批评指正</a:t>
            </a:r>
          </a:p>
        </p:txBody>
      </p:sp>
    </p:spTree>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ags/tag2.xml><?xml version="1.0" encoding="utf-8"?>
<p:tagLst xmlns:a="http://schemas.openxmlformats.org/drawingml/2006/main" xmlns:r="http://schemas.openxmlformats.org/officeDocument/2006/relationships" xmlns:p="http://schemas.openxmlformats.org/presentationml/2006/main">
  <p:tag name="PA" val="v5.1.2"/>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PA" val="v5.1.2"/>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PA" val="v5.1.2"/>
</p:tagLst>
</file>

<file path=ppt/tags/tag7.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封2​​">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3297</TotalTime>
  <Words>2196</Words>
  <Application>Microsoft Office PowerPoint</Application>
  <PresentationFormat>宽屏</PresentationFormat>
  <Paragraphs>138</Paragraphs>
  <Slides>16</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微软雅黑</vt:lpstr>
      <vt:lpstr>微软雅黑 Light</vt:lpstr>
      <vt:lpstr>Arial</vt:lpstr>
      <vt:lpstr>Calibri</vt:lpstr>
      <vt:lpstr>Century Gothic</vt:lpstr>
      <vt:lpstr>封2​​</vt:lpstr>
      <vt:lpstr>基于语言机制的隔离内核架构设计和实现</vt:lpstr>
      <vt:lpstr>PowerPoint 演示文稿</vt:lpstr>
      <vt:lpstr>研究背景</vt:lpstr>
      <vt:lpstr>研究背景</vt:lpstr>
      <vt:lpstr>国内外研究情况-基于硬件的隔离</vt:lpstr>
      <vt:lpstr>国内外研究情况-基于软件的隔离</vt:lpstr>
      <vt:lpstr>国内外研究情况-微内核架构和用户态驱动</vt:lpstr>
      <vt:lpstr>国内外研究情况-热升级</vt:lpstr>
      <vt:lpstr>国内外研究情况-Redleaf和Theseus</vt:lpstr>
      <vt:lpstr>研究内容</vt:lpstr>
      <vt:lpstr>研究方案-系统分解和抽象</vt:lpstr>
      <vt:lpstr>研究方案-内存隔离</vt:lpstr>
      <vt:lpstr>研究方案-故障隔离</vt:lpstr>
      <vt:lpstr>研究方案-热升级</vt:lpstr>
      <vt:lpstr>时间安排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wan</dc:creator>
  <cp:lastModifiedBy>linfeng chen</cp:lastModifiedBy>
  <cp:revision>174</cp:revision>
  <dcterms:created xsi:type="dcterms:W3CDTF">2019-06-19T02:08:00Z</dcterms:created>
  <dcterms:modified xsi:type="dcterms:W3CDTF">2025-12-22T11:20:16Z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DA582315202048708D54D22309C1893A</vt:lpwstr>
  </property>
</Properties>
</file>